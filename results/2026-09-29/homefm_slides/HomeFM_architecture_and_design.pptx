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gain from pretraining</c:v>
                </c:pt>
              </c:strCache>
            </c:strRef>
          </c:tx>
          <c:spPr>
            <a:solidFill>
              <a:srgbClr val="1E5AA8"/>
            </a:solidFill>
            <a:effectLst/>
          </c:spPr>
          <c:invertIfNegative val="0"/>
          <c:dLbls>
            <c:numFmt formatCode="+0.000" sourceLinked="0"/>
            <c:txPr>
              <a:bodyPr/>
              <a:lstStyle/>
              <a:p>
                <a:pPr>
                  <a:defRPr b="0" i="0" strike="noStrike" sz="1100" u="none">
                    <a:solidFill>
                      <a:srgbClr val="3D4757"/>
                    </a:solidFill>
                    <a:latin typeface="Arial"/>
                  </a:defRPr>
                </a:pPr>
              </a:p>
            </c:txPr>
            <c:showLegendKey val="0"/>
            <c:showVal val="1"/>
            <c:showCatName val="0"/>
            <c:showSerName val="0"/>
            <c:showPercent val="0"/>
            <c:showBubbleSize val="0"/>
            <c:showLeaderLines val="0"/>
          </c:dLbls>
          <c:cat>
            <c:multiLvlStrRef>
              <c:f>Sheet1!$A$2:$A$6</c:f>
              <c:multiLvlStrCache>
                <c:ptCount val="5"/>
                <c:lvl>
                  <c:pt idx="0">
                    <c:v>UCI B model</c:v>
                  </c:pt>
                  <c:pt idx="1">
                    <c:v>Kasteren A model</c:v>
                  </c:pt>
                  <c:pt idx="2">
                    <c:v>MuRAL model</c:v>
                  </c:pt>
                  <c:pt idx="3">
                    <c:v>CASAS model</c:v>
                  </c:pt>
                  <c:pt idx="4">
                    <c:v>Kasteren C model</c:v>
                  </c:pt>
                </c:lvl>
              </c:multiLvlStrCache>
            </c:multiLvlStrRef>
          </c:cat>
          <c:val>
            <c:numRef>
              <c:f>Sheet1!$B$2:$B$6</c:f>
              <c:numCache>
                <c:formatCode>General</c:formatCode>
                <c:ptCount val="5"/>
                <c:pt idx="0">
                  <c:v>0.1216</c:v>
                </c:pt>
                <c:pt idx="1">
                  <c:v>0.1138</c:v>
                </c:pt>
                <c:pt idx="2">
                  <c:v>0.0987</c:v>
                </c:pt>
                <c:pt idx="3">
                  <c:v>0.0442</c:v>
                </c:pt>
                <c:pt idx="4">
                  <c:v>0.0107</c:v>
                </c:pt>
              </c:numCache>
            </c:numRef>
          </c:val>
        </c:ser>
        <c:dLbls>
          <c:numFmt formatCode="+0.000" sourceLinked="0"/>
          <c:txPr>
            <a:bodyPr/>
            <a:lstStyle/>
            <a:p>
              <a:pPr>
                <a:defRPr b="0" i="0" strike="noStrike" sz="1100" u="none">
                  <a:solidFill>
                    <a:srgbClr val="3D475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max val="0.14"/>
          <c:min val="0"/>
        </c:scaling>
        <c:delete val="0"/>
        <c:axPos val="b"/>
        <c:majorGridlines>
          <c:spPr>
            <a:ln w="9525" cap="flat">
              <a:solidFill>
                <a:srgbClr val="E3E0D7"/>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Activity recognition</c:v>
                </c:pt>
              </c:strCache>
            </c:strRef>
          </c:tx>
          <c:spPr>
            <a:solidFill>
              <a:srgbClr val="1E5AA8"/>
            </a:solidFill>
            <a:effectLst/>
          </c:spPr>
          <c:invertIfNegative val="0"/>
          <c:dLbls>
            <c:numFmt formatCode="+0.00;-0.00;0.00" sourceLinked="0"/>
            <c:txPr>
              <a:bodyPr/>
              <a:lstStyle/>
              <a:p>
                <a:pPr>
                  <a:defRPr b="0" i="0" strike="noStrike" sz="1100" u="none">
                    <a:solidFill>
                      <a:srgbClr val="3D4757"/>
                    </a:solidFill>
                    <a:latin typeface="Arial"/>
                  </a:defRPr>
                </a:pPr>
              </a:p>
            </c:txPr>
            <c:showLegendKey val="0"/>
            <c:showVal val="1"/>
            <c:showCatName val="0"/>
            <c:showSerName val="0"/>
            <c:showPercent val="0"/>
            <c:showBubbleSize val="0"/>
            <c:showLeaderLines val="0"/>
          </c:dLbls>
          <c:cat>
            <c:multiLvlStrRef>
              <c:f>Sheet1!$A$2:$A$11</c:f>
              <c:multiLvlStrCache>
                <c:ptCount val="10"/>
                <c:lvl>
                  <c:pt idx="0">
                    <c:v>UCI B</c:v>
                  </c:pt>
                  <c:pt idx="1">
                    <c:v>Kasteren A</c:v>
                  </c:pt>
                  <c:pt idx="2">
                    <c:v>Kasteren C</c:v>
                  </c:pt>
                  <c:pt idx="3">
                    <c:v>MuRAL</c:v>
                  </c:pt>
                  <c:pt idx="4">
                    <c:v>hh101</c:v>
                  </c:pt>
                  <c:pt idx="5">
                    <c:v>hh103</c:v>
                  </c:pt>
                  <c:pt idx="6">
                    <c:v>hh105</c:v>
                  </c:pt>
                  <c:pt idx="7">
                    <c:v>hh110</c:v>
                  </c:pt>
                  <c:pt idx="8">
                    <c:v>hh119</c:v>
                  </c:pt>
                  <c:pt idx="9">
                    <c:v>hh122</c:v>
                  </c:pt>
                </c:lvl>
              </c:multiLvlStrCache>
            </c:multiLvlStrRef>
          </c:cat>
          <c:val>
            <c:numRef>
              <c:f>Sheet1!$B$2:$B$11</c:f>
              <c:numCache>
                <c:formatCode>General</c:formatCode>
                <c:ptCount val="10"/>
                <c:pt idx="0">
                  <c:v>0.25</c:v>
                </c:pt>
                <c:pt idx="1">
                  <c:v>0.24</c:v>
                </c:pt>
                <c:pt idx="2">
                  <c:v>0.02</c:v>
                </c:pt>
                <c:pt idx="3">
                  <c:v>0.19</c:v>
                </c:pt>
                <c:pt idx="4">
                  <c:v>0.01</c:v>
                </c:pt>
                <c:pt idx="5">
                  <c:v>0.06</c:v>
                </c:pt>
                <c:pt idx="6">
                  <c:v>0.03</c:v>
                </c:pt>
                <c:pt idx="7">
                  <c:v>0.09</c:v>
                </c:pt>
                <c:pt idx="8">
                  <c:v>0.04</c:v>
                </c:pt>
                <c:pt idx="9">
                  <c:v>0.05</c:v>
                </c:pt>
              </c:numCache>
            </c:numRef>
          </c:val>
        </c:ser>
        <c:ser>
          <c:idx val="1"/>
          <c:order val="1"/>
          <c:tx>
            <c:strRef>
              <c:f>Sheet1!$C$1</c:f>
              <c:strCache>
                <c:ptCount val="1"/>
                <c:pt idx="0">
                  <c:v>Next-30 prediction</c:v>
                </c:pt>
              </c:strCache>
            </c:strRef>
          </c:tx>
          <c:spPr>
            <a:solidFill>
              <a:srgbClr val="C46A1B"/>
            </a:solidFill>
            <a:effectLst/>
          </c:spPr>
          <c:invertIfNegative val="0"/>
          <c:dLbls>
            <c:numFmt formatCode="+0.00;-0.00;0.00" sourceLinked="0"/>
            <c:txPr>
              <a:bodyPr/>
              <a:lstStyle/>
              <a:p>
                <a:pPr>
                  <a:defRPr b="0" i="0" strike="noStrike" sz="1100" u="none">
                    <a:solidFill>
                      <a:srgbClr val="3D4757"/>
                    </a:solidFill>
                    <a:latin typeface="Arial"/>
                  </a:defRPr>
                </a:pPr>
              </a:p>
            </c:txPr>
            <c:showLegendKey val="0"/>
            <c:showVal val="1"/>
            <c:showCatName val="0"/>
            <c:showSerName val="0"/>
            <c:showPercent val="0"/>
            <c:showBubbleSize val="0"/>
            <c:showLeaderLines val="0"/>
          </c:dLbls>
          <c:cat>
            <c:multiLvlStrRef>
              <c:f>Sheet1!$A$2:$A$11</c:f>
              <c:multiLvlStrCache>
                <c:ptCount val="10"/>
                <c:lvl>
                  <c:pt idx="0">
                    <c:v>UCI B</c:v>
                  </c:pt>
                  <c:pt idx="1">
                    <c:v>Kasteren A</c:v>
                  </c:pt>
                  <c:pt idx="2">
                    <c:v>Kasteren C</c:v>
                  </c:pt>
                  <c:pt idx="3">
                    <c:v>MuRAL</c:v>
                  </c:pt>
                  <c:pt idx="4">
                    <c:v>hh101</c:v>
                  </c:pt>
                  <c:pt idx="5">
                    <c:v>hh103</c:v>
                  </c:pt>
                  <c:pt idx="6">
                    <c:v>hh105</c:v>
                  </c:pt>
                  <c:pt idx="7">
                    <c:v>hh110</c:v>
                  </c:pt>
                  <c:pt idx="8">
                    <c:v>hh119</c:v>
                  </c:pt>
                  <c:pt idx="9">
                    <c:v>hh122</c:v>
                  </c:pt>
                </c:lvl>
              </c:multiLvlStrCache>
            </c:multiLvlStrRef>
          </c:cat>
          <c:val>
            <c:numRef>
              <c:f>Sheet1!$C$2:$C$11</c:f>
              <c:numCache>
                <c:formatCode>General</c:formatCode>
                <c:ptCount val="10"/>
                <c:pt idx="0">
                  <c:v>-0.01</c:v>
                </c:pt>
                <c:pt idx="1">
                  <c:v>-0.01</c:v>
                </c:pt>
                <c:pt idx="2">
                  <c:v>0</c:v>
                </c:pt>
                <c:pt idx="3">
                  <c:v>0.01</c:v>
                </c:pt>
                <c:pt idx="4">
                  <c:v>0.04</c:v>
                </c:pt>
                <c:pt idx="5">
                  <c:v>0.06</c:v>
                </c:pt>
                <c:pt idx="6">
                  <c:v>0.03</c:v>
                </c:pt>
                <c:pt idx="7">
                  <c:v>0.04</c:v>
                </c:pt>
                <c:pt idx="8">
                  <c:v>0.04</c:v>
                </c:pt>
                <c:pt idx="9">
                  <c:v>0.03</c:v>
                </c:pt>
              </c:numCache>
            </c:numRef>
          </c:val>
        </c:ser>
        <c:dLbls>
          <c:numFmt formatCode="+0.00;-0.00;0.00" sourceLinked="0"/>
          <c:txPr>
            <a:bodyPr/>
            <a:lstStyle/>
            <a:p>
              <a:pPr>
                <a:defRPr b="0" i="0" strike="noStrike" sz="1100" u="none">
                  <a:solidFill>
                    <a:srgbClr val="3D4757"/>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14213D"/>
                </a:solidFill>
                <a:latin typeface="Arial"/>
              </a:defRPr>
            </a:pPr>
            <a:endParaRPr lang="en-US"/>
          </a:p>
        </c:txPr>
        <c:crossAx val="2094734552"/>
        <c:crosses val="autoZero"/>
        <c:auto val="1"/>
        <c:lblAlgn val="ctr"/>
        <c:noMultiLvlLbl val="1"/>
      </c:catAx>
      <c:valAx>
        <c:axId val="2094734552"/>
        <c:scaling>
          <c:orientation val="minMax"/>
          <c:max val="0.35"/>
          <c:min val="-0.05"/>
        </c:scaling>
        <c:delete val="0"/>
        <c:axPos val="b"/>
        <c:majorGridlines>
          <c:spPr>
            <a:ln w="9525" cap="flat">
              <a:solidFill>
                <a:srgbClr val="E3E0D7"/>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HomeFM design deck. Every number and diagram comes from the design doc and our DomusFM reproduction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span activities, security, pets, childcare, elderly care, device defects, energy and anomalies.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type maps to a tool path. The 'unanswerable' type matters: the capability registry lets the agent refuse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DomusFM is the primary baseline. It is a strong idea: describing sensors in words is what makes cross-home transfer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requirements missing, three partial, one met. R8, transfer through text-described sensors, is the one we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results/domusfm_corpus and results/domusfm_corpus_fixed. The fixed DomusFM is the baseline HomeFM must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tables: results/2026-09-29/domusfm_corpus_clean/comparison.md. Run took 10.1 h on one RTX 4090, 5 pretraining runs of 40,000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 40,000 steps (20,000 attribute masking + 20,000 event masking), about 68 min on one RTX 4090. Loss at end = contrastive loss at the last logged step. Model 5 is shared by the six CASAS test homes, which are never pretrained on. Config: configs/domusfm_corpus_clean.yaml (pretrain_groups).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Gains are averaged over activity and next-30 at 5 % and 30 % labels (4 settings per home; the CASAS model covers 6 homes, 24 settings). Pretrained models are near-identical, so 'best model' means where pretraining paid off most. Source: results/2026-09-29/domusfm_corpus_clean/results.json.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right of each row: activity gain · next-30 gain, each the mean of the 5 % and 30 % label settings. Per-setting tables: results/2026-09-29/domusfm_corpus_clean/comparison.md.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Random-fold diagnostic reuses run 3's pretrained backbones for UCI B, Kasteren A and MuRAL; only the fold split changes. Results in results/2026-09-29/domusfm_corpus_clean/random_folds/.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and averages from results/2026-09-29/domusfm_corpus_clean/results.json; random-fold numbers from random_folds/results.json. Plain-language write-up: results/2026-09-29/domusfm_corpus_clean/SUMMARY.md.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slides take them two at a time. L11, the training game, gets its own section in pretraining.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events go both to the event store and to HomeFM. The agent never reads vectors; it calls tools over the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Encoder-only: every transformer turns inputs into vectors. No text is produced on the model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trick is used at both ends: devices are sentences at the input (an ingredient), activities are sentences at the output (a comparison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Self-supervised games need no labels, except captions for game 3. Labels come later, only for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phases use the same contrastive game. Only the kind of damage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DESIGN.md sections 8.0, 8.1 and 8.6, and our reproduction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masking game is not wrong for everything: with fixes it helps activity recognition with labels. It just never trains forecasting, surprise, per-minute meaning, robustness to missing sensors or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a marked temporal point process. It trains live mode, forecasting (L7) and the surprise score (L6).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HomeFM corpus run has been started. We are on DomusFM only for now; these run on request, one at a time on the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50" kern="0" dirty="0">
                <a:solidFill>
                  <a:srgbClr val="8DB8F2"/>
                </a:solidFill>
                <a:latin typeface="Arial" pitchFamily="34" charset="0"/>
                <a:ea typeface="Arial" pitchFamily="34" charset="-122"/>
                <a:cs typeface="Arial" pitchFamily="34" charset="-120"/>
              </a:rPr>
              <a:t>DESIGN OVERVIEW · 29 SEPTEMBER 2026</a:t>
            </a:r>
            <a:endParaRPr lang="en-US" sz="1200" dirty="0"/>
          </a:p>
        </p:txBody>
      </p:sp>
      <p:sp>
        <p:nvSpPr>
          <p:cNvPr id="3" name="Text 1"/>
          <p:cNvSpPr txBox="1"/>
          <p:nvPr/>
        </p:nvSpPr>
        <p:spPr>
          <a:xfrm>
            <a:off x="812800" y="901700"/>
            <a:ext cx="10670032" cy="1136650"/>
          </a:xfrm>
          <a:prstGeom prst="rect">
            <a:avLst/>
          </a:prstGeom>
          <a:noFill/>
          <a:ln/>
        </p:spPr>
        <p:txBody>
          <a:bodyPr wrap="square" lIns="0" tIns="0" rIns="0" bIns="0" rtlCol="0" anchor="t"/>
          <a:lstStyle/>
          <a:p>
            <a:pPr algn="l" indent="0" marL="0">
              <a:lnSpc>
                <a:spcPts val="8000"/>
              </a:lnSpc>
              <a:buNone/>
            </a:pPr>
            <a:r>
              <a:rPr lang="en-US" sz="8000" b="1" dirty="0">
                <a:solidFill>
                  <a:srgbClr val="F6F5F1"/>
                </a:solidFill>
                <a:latin typeface="Arial" pitchFamily="34" charset="0"/>
                <a:ea typeface="Arial" pitchFamily="34" charset="-122"/>
                <a:cs typeface="Arial" pitchFamily="34" charset="-120"/>
              </a:rPr>
              <a:t>HomeFM</a:t>
            </a:r>
            <a:endParaRPr lang="en-US" sz="8000" dirty="0"/>
          </a:p>
        </p:txBody>
      </p:sp>
      <p:sp>
        <p:nvSpPr>
          <p:cNvPr id="4" name="Text 2"/>
          <p:cNvSpPr txBox="1"/>
          <p:nvPr/>
        </p:nvSpPr>
        <p:spPr>
          <a:xfrm>
            <a:off x="812800" y="2127250"/>
            <a:ext cx="8985250" cy="660400"/>
          </a:xfrm>
          <a:prstGeom prst="rect">
            <a:avLst/>
          </a:prstGeom>
          <a:noFill/>
          <a:ln/>
        </p:spPr>
        <p:txBody>
          <a:bodyPr wrap="square" lIns="0" tIns="0" rIns="0" bIns="0" rtlCol="0" anchor="t"/>
          <a:lstStyle/>
          <a:p>
            <a:pPr algn="l" indent="0" marL="0">
              <a:lnSpc>
                <a:spcPts val="2750"/>
              </a:lnSpc>
              <a:buNone/>
            </a:pPr>
            <a:r>
              <a:rPr lang="en-US" sz="2200" dirty="0">
                <a:solidFill>
                  <a:srgbClr val="F6F5F1"/>
                </a:solidFill>
                <a:latin typeface="Arial" pitchFamily="34" charset="0"/>
                <a:ea typeface="Arial" pitchFamily="34" charset="-122"/>
                <a:cs typeface="Arial" pitchFamily="34" charset="-120"/>
              </a:rPr>
              <a:t>A foundation model for the whole smart home: architecture, use cases, pretraining, and what we change from DomusFM</a:t>
            </a:r>
            <a:endParaRPr lang="en-US" sz="2200" dirty="0"/>
          </a:p>
        </p:txBody>
      </p:sp>
      <p:sp>
        <p:nvSpPr>
          <p:cNvPr id="5" name="Text 3"/>
          <p:cNvSpPr txBox="1"/>
          <p:nvPr/>
        </p:nvSpPr>
        <p:spPr>
          <a:xfrm>
            <a:off x="812800" y="5633839"/>
            <a:ext cx="5794375" cy="445691"/>
          </a:xfrm>
          <a:prstGeom prst="rect">
            <a:avLst/>
          </a:prstGeom>
          <a:noFill/>
          <a:ln/>
        </p:spPr>
        <p:txBody>
          <a:bodyPr wrap="square" lIns="0" tIns="0" rIns="0" bIns="0" rtlCol="0" anchor="t"/>
          <a:lstStyle/>
          <a:p>
            <a:pPr algn="l" indent="0" marL="0">
              <a:lnSpc>
                <a:spcPts val="1960"/>
              </a:lnSpc>
              <a:buNone/>
            </a:pPr>
            <a:r>
              <a:rPr lang="en-US" sz="1400" dirty="0">
                <a:solidFill>
                  <a:srgbClr val="C5CFDD"/>
                </a:solidFill>
                <a:latin typeface="Arial" pitchFamily="34" charset="0"/>
                <a:ea typeface="Arial" pitchFamily="34" charset="-122"/>
                <a:cs typeface="Arial" pitchFamily="34" charset="-120"/>
              </a:rPr>
              <a:t>Status: design and scaffold built; DomusFM baseline reproduced on 77 homes; HomeFM corpus runs not started</a:t>
            </a:r>
            <a:endParaRPr lang="en-US" sz="1400" dirty="0"/>
          </a:p>
        </p:txBody>
      </p:sp>
      <p:sp>
        <p:nvSpPr>
          <p:cNvPr id="6" name="Text 4"/>
          <p:cNvSpPr txBox="1"/>
          <p:nvPr/>
        </p:nvSpPr>
        <p:spPr>
          <a:xfrm>
            <a:off x="6832600" y="5627489"/>
            <a:ext cx="4518025" cy="598091"/>
          </a:xfrm>
          <a:prstGeom prst="rect">
            <a:avLst/>
          </a:prstGeom>
          <a:noFill/>
          <a:ln/>
        </p:spPr>
        <p:txBody>
          <a:bodyPr wrap="square" lIns="0" tIns="0" rIns="0" bIns="0" rtlCol="0" anchor="t"/>
          <a:lstStyle/>
          <a:p>
            <a:pPr algn="l" indent="0" marL="0">
              <a:lnSpc>
                <a:spcPts val="1680"/>
              </a:lnSpc>
              <a:buNone/>
            </a:pPr>
            <a:r>
              <a:rPr lang="en-US" sz="1200" dirty="0">
                <a:solidFill>
                  <a:srgbClr val="C5CFDD"/>
                </a:solidFill>
                <a:latin typeface="Arial" pitchFamily="34" charset="0"/>
                <a:ea typeface="Arial" pitchFamily="34" charset="-122"/>
                <a:cs typeface="Arial" pitchFamily="34" charset="-120"/>
              </a:rPr>
              <a:t>Sources: docs/DESIGN.md · LIMITATIONS_AND_REMEDIES.md · DOMUSFM_REPRODUCTION.md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AGENDA</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Seven parts</a:t>
            </a:r>
            <a:endParaRPr lang="en-US" sz="2800" dirty="0"/>
          </a:p>
        </p:txBody>
      </p:sp>
      <p:sp>
        <p:nvSpPr>
          <p:cNvPr id="4" name="Text 2"/>
          <p:cNvSpPr txBox="1"/>
          <p:nvPr/>
        </p:nvSpPr>
        <p:spPr>
          <a:xfrm>
            <a:off x="812800" y="1432520"/>
            <a:ext cx="459232" cy="400050"/>
          </a:xfrm>
          <a:prstGeom prst="rect">
            <a:avLst/>
          </a:prstGeom>
          <a:noFill/>
          <a:ln/>
        </p:spPr>
        <p:txBody>
          <a:bodyPr wrap="square" lIns="0" tIns="0" rIns="0" bIns="0" rtlCol="0" anchor="t"/>
          <a:lstStyle/>
          <a:p>
            <a:pPr algn="l" indent="0" marL="0">
              <a:lnSpc>
                <a:spcPts val="2800"/>
              </a:lnSpc>
              <a:buNone/>
            </a:pPr>
            <a:r>
              <a:rPr lang="en-US" sz="2800" b="1" dirty="0">
                <a:solidFill>
                  <a:srgbClr val="1E5AA8"/>
                </a:solidFill>
                <a:latin typeface="Arial" pitchFamily="34" charset="0"/>
                <a:ea typeface="Arial" pitchFamily="34" charset="-122"/>
                <a:cs typeface="Arial" pitchFamily="34" charset="-120"/>
              </a:rPr>
              <a:t>1</a:t>
            </a:r>
            <a:endParaRPr lang="en-US" sz="2800" dirty="0"/>
          </a:p>
        </p:txBody>
      </p:sp>
      <p:sp>
        <p:nvSpPr>
          <p:cNvPr id="5" name="Text 3"/>
          <p:cNvSpPr txBox="1"/>
          <p:nvPr/>
        </p:nvSpPr>
        <p:spPr>
          <a:xfrm>
            <a:off x="1320800" y="1464270"/>
            <a:ext cx="4273823"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Why HomeFM</a:t>
            </a:r>
            <a:endParaRPr lang="en-US" sz="1600" dirty="0"/>
          </a:p>
        </p:txBody>
      </p:sp>
      <p:sp>
        <p:nvSpPr>
          <p:cNvPr id="6" name="Text 4"/>
          <p:cNvSpPr txBox="1"/>
          <p:nvPr/>
        </p:nvSpPr>
        <p:spPr>
          <a:xfrm>
            <a:off x="1320800" y="1746151"/>
            <a:ext cx="4273823"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 questions a home should answer, goals and requirements</a:t>
            </a:r>
            <a:endParaRPr lang="en-US" sz="1200" dirty="0"/>
          </a:p>
        </p:txBody>
      </p:sp>
      <p:sp>
        <p:nvSpPr>
          <p:cNvPr id="7" name="Text 5"/>
          <p:cNvSpPr txBox="1"/>
          <p:nvPr/>
        </p:nvSpPr>
        <p:spPr>
          <a:xfrm>
            <a:off x="6210300" y="1432520"/>
            <a:ext cx="459232" cy="400050"/>
          </a:xfrm>
          <a:prstGeom prst="rect">
            <a:avLst/>
          </a:prstGeom>
          <a:noFill/>
          <a:ln/>
        </p:spPr>
        <p:txBody>
          <a:bodyPr wrap="square" lIns="0" tIns="0" rIns="0" bIns="0" rtlCol="0" anchor="t"/>
          <a:lstStyle/>
          <a:p>
            <a:pPr algn="l" indent="0" marL="0">
              <a:lnSpc>
                <a:spcPts val="2800"/>
              </a:lnSpc>
              <a:buNone/>
            </a:pPr>
            <a:r>
              <a:rPr lang="en-US" sz="2800" b="1" dirty="0">
                <a:solidFill>
                  <a:srgbClr val="1E5AA8"/>
                </a:solidFill>
                <a:latin typeface="Arial" pitchFamily="34" charset="0"/>
                <a:ea typeface="Arial" pitchFamily="34" charset="-122"/>
                <a:cs typeface="Arial" pitchFamily="34" charset="-120"/>
              </a:rPr>
              <a:t>2</a:t>
            </a:r>
            <a:endParaRPr lang="en-US" sz="2800" dirty="0"/>
          </a:p>
        </p:txBody>
      </p:sp>
      <p:sp>
        <p:nvSpPr>
          <p:cNvPr id="8" name="Text 6"/>
          <p:cNvSpPr txBox="1"/>
          <p:nvPr/>
        </p:nvSpPr>
        <p:spPr>
          <a:xfrm>
            <a:off x="6718300" y="1464270"/>
            <a:ext cx="3796688"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DomusFM, the baseline</a:t>
            </a:r>
            <a:endParaRPr lang="en-US" sz="1600" dirty="0"/>
          </a:p>
        </p:txBody>
      </p:sp>
      <p:sp>
        <p:nvSpPr>
          <p:cNvPr id="9" name="Text 7"/>
          <p:cNvSpPr txBox="1"/>
          <p:nvPr/>
        </p:nvSpPr>
        <p:spPr>
          <a:xfrm>
            <a:off x="6718300" y="1746151"/>
            <a:ext cx="3796688"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What it is, what it keeps, what our reproduction showed</a:t>
            </a:r>
            <a:endParaRPr lang="en-US" sz="1200" dirty="0"/>
          </a:p>
        </p:txBody>
      </p:sp>
      <p:sp>
        <p:nvSpPr>
          <p:cNvPr id="10" name="Text 8"/>
          <p:cNvSpPr txBox="1"/>
          <p:nvPr/>
        </p:nvSpPr>
        <p:spPr>
          <a:xfrm>
            <a:off x="812800" y="2143621"/>
            <a:ext cx="445970" cy="400050"/>
          </a:xfrm>
          <a:prstGeom prst="rect">
            <a:avLst/>
          </a:prstGeom>
          <a:noFill/>
          <a:ln/>
        </p:spPr>
        <p:txBody>
          <a:bodyPr wrap="square" lIns="0" tIns="0" rIns="0" bIns="0" rtlCol="0" anchor="t"/>
          <a:lstStyle/>
          <a:p>
            <a:pPr algn="l" indent="0" marL="0">
              <a:lnSpc>
                <a:spcPts val="2800"/>
              </a:lnSpc>
              <a:buNone/>
            </a:pPr>
            <a:r>
              <a:rPr lang="en-US" sz="2800" b="1" dirty="0">
                <a:solidFill>
                  <a:srgbClr val="1E5AA8"/>
                </a:solidFill>
                <a:latin typeface="Arial" pitchFamily="34" charset="0"/>
                <a:ea typeface="Arial" pitchFamily="34" charset="-122"/>
                <a:cs typeface="Arial" pitchFamily="34" charset="-120"/>
              </a:rPr>
              <a:t>3</a:t>
            </a:r>
            <a:endParaRPr lang="en-US" sz="2800" dirty="0"/>
          </a:p>
        </p:txBody>
      </p:sp>
      <p:sp>
        <p:nvSpPr>
          <p:cNvPr id="11" name="Text 9"/>
          <p:cNvSpPr txBox="1"/>
          <p:nvPr/>
        </p:nvSpPr>
        <p:spPr>
          <a:xfrm>
            <a:off x="1307604" y="2175371"/>
            <a:ext cx="4748267"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11 limitations</a:t>
            </a:r>
            <a:endParaRPr lang="en-US" sz="1600" dirty="0"/>
          </a:p>
        </p:txBody>
      </p:sp>
      <p:sp>
        <p:nvSpPr>
          <p:cNvPr id="12" name="Text 10"/>
          <p:cNvSpPr txBox="1"/>
          <p:nvPr/>
        </p:nvSpPr>
        <p:spPr>
          <a:xfrm>
            <a:off x="1307604" y="2457252"/>
            <a:ext cx="4748267"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Each DomusFM limitation, an example that breaks it, and HomeFM's fix</a:t>
            </a:r>
            <a:endParaRPr lang="en-US" sz="1200" dirty="0"/>
          </a:p>
        </p:txBody>
      </p:sp>
      <p:sp>
        <p:nvSpPr>
          <p:cNvPr id="13" name="Text 11"/>
          <p:cNvSpPr txBox="1"/>
          <p:nvPr/>
        </p:nvSpPr>
        <p:spPr>
          <a:xfrm>
            <a:off x="6210300" y="2143621"/>
            <a:ext cx="459232" cy="400050"/>
          </a:xfrm>
          <a:prstGeom prst="rect">
            <a:avLst/>
          </a:prstGeom>
          <a:noFill/>
          <a:ln/>
        </p:spPr>
        <p:txBody>
          <a:bodyPr wrap="square" lIns="0" tIns="0" rIns="0" bIns="0" rtlCol="0" anchor="t"/>
          <a:lstStyle/>
          <a:p>
            <a:pPr algn="l" indent="0" marL="0">
              <a:lnSpc>
                <a:spcPts val="2800"/>
              </a:lnSpc>
              <a:buNone/>
            </a:pPr>
            <a:r>
              <a:rPr lang="en-US" sz="2800" b="1" dirty="0">
                <a:solidFill>
                  <a:srgbClr val="1E5AA8"/>
                </a:solidFill>
                <a:latin typeface="Arial" pitchFamily="34" charset="0"/>
                <a:ea typeface="Arial" pitchFamily="34" charset="-122"/>
                <a:cs typeface="Arial" pitchFamily="34" charset="-120"/>
              </a:rPr>
              <a:t>4</a:t>
            </a:r>
            <a:endParaRPr lang="en-US" sz="2800" dirty="0"/>
          </a:p>
        </p:txBody>
      </p:sp>
      <p:sp>
        <p:nvSpPr>
          <p:cNvPr id="14" name="Text 12"/>
          <p:cNvSpPr txBox="1"/>
          <p:nvPr/>
        </p:nvSpPr>
        <p:spPr>
          <a:xfrm>
            <a:off x="6718300" y="2175371"/>
            <a:ext cx="4508752"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Architecture</a:t>
            </a:r>
            <a:endParaRPr lang="en-US" sz="1600" dirty="0"/>
          </a:p>
        </p:txBody>
      </p:sp>
      <p:sp>
        <p:nvSpPr>
          <p:cNvPr id="15" name="Text 13"/>
          <p:cNvSpPr txBox="1"/>
          <p:nvPr/>
        </p:nvSpPr>
        <p:spPr>
          <a:xfrm>
            <a:off x="6718300" y="2457252"/>
            <a:ext cx="4508752"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System layers, answer paths, Home Tokens, model blocks, heads</a:t>
            </a:r>
            <a:endParaRPr lang="en-US" sz="1200" dirty="0"/>
          </a:p>
        </p:txBody>
      </p:sp>
      <p:sp>
        <p:nvSpPr>
          <p:cNvPr id="16" name="Text 14"/>
          <p:cNvSpPr txBox="1"/>
          <p:nvPr/>
        </p:nvSpPr>
        <p:spPr>
          <a:xfrm>
            <a:off x="812800" y="3068042"/>
            <a:ext cx="421340" cy="400050"/>
          </a:xfrm>
          <a:prstGeom prst="rect">
            <a:avLst/>
          </a:prstGeom>
          <a:noFill/>
          <a:ln/>
        </p:spPr>
        <p:txBody>
          <a:bodyPr wrap="square" lIns="0" tIns="0" rIns="0" bIns="0" rtlCol="0" anchor="t"/>
          <a:lstStyle/>
          <a:p>
            <a:pPr algn="l" indent="0" marL="0">
              <a:lnSpc>
                <a:spcPts val="2800"/>
              </a:lnSpc>
              <a:buNone/>
            </a:pPr>
            <a:r>
              <a:rPr lang="en-US" sz="2800" b="1" dirty="0">
                <a:solidFill>
                  <a:srgbClr val="1E5AA8"/>
                </a:solidFill>
                <a:latin typeface="Arial" pitchFamily="34" charset="0"/>
                <a:ea typeface="Arial" pitchFamily="34" charset="-122"/>
                <a:cs typeface="Arial" pitchFamily="34" charset="-120"/>
              </a:rPr>
              <a:t>5</a:t>
            </a:r>
            <a:endParaRPr lang="en-US" sz="2800" dirty="0"/>
          </a:p>
        </p:txBody>
      </p:sp>
      <p:sp>
        <p:nvSpPr>
          <p:cNvPr id="17" name="Text 15"/>
          <p:cNvSpPr txBox="1"/>
          <p:nvPr/>
        </p:nvSpPr>
        <p:spPr>
          <a:xfrm>
            <a:off x="1283097" y="3099792"/>
            <a:ext cx="4772896"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Pretraining</a:t>
            </a:r>
            <a:endParaRPr lang="en-US" sz="1600" dirty="0"/>
          </a:p>
        </p:txBody>
      </p:sp>
      <p:sp>
        <p:nvSpPr>
          <p:cNvPr id="18" name="Text 16"/>
          <p:cNvSpPr txBox="1"/>
          <p:nvPr/>
        </p:nvSpPr>
        <p:spPr>
          <a:xfrm>
            <a:off x="1283097" y="3381673"/>
            <a:ext cx="4772896"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Why DomusFM's masking games go, and the three games that replace them</a:t>
            </a:r>
            <a:endParaRPr lang="en-US" sz="1200" dirty="0"/>
          </a:p>
        </p:txBody>
      </p:sp>
      <p:sp>
        <p:nvSpPr>
          <p:cNvPr id="19" name="Text 17"/>
          <p:cNvSpPr txBox="1"/>
          <p:nvPr/>
        </p:nvSpPr>
        <p:spPr>
          <a:xfrm>
            <a:off x="6210300" y="3068042"/>
            <a:ext cx="459232" cy="400050"/>
          </a:xfrm>
          <a:prstGeom prst="rect">
            <a:avLst/>
          </a:prstGeom>
          <a:noFill/>
          <a:ln/>
        </p:spPr>
        <p:txBody>
          <a:bodyPr wrap="square" lIns="0" tIns="0" rIns="0" bIns="0" rtlCol="0" anchor="t"/>
          <a:lstStyle/>
          <a:p>
            <a:pPr algn="l" indent="0" marL="0">
              <a:lnSpc>
                <a:spcPts val="2800"/>
              </a:lnSpc>
              <a:buNone/>
            </a:pPr>
            <a:r>
              <a:rPr lang="en-US" sz="2800" b="1" dirty="0">
                <a:solidFill>
                  <a:srgbClr val="1E5AA8"/>
                </a:solidFill>
                <a:latin typeface="Arial" pitchFamily="34" charset="0"/>
                <a:ea typeface="Arial" pitchFamily="34" charset="-122"/>
                <a:cs typeface="Arial" pitchFamily="34" charset="-120"/>
              </a:rPr>
              <a:t>6</a:t>
            </a:r>
            <a:endParaRPr lang="en-US" sz="2800" dirty="0"/>
          </a:p>
        </p:txBody>
      </p:sp>
      <p:sp>
        <p:nvSpPr>
          <p:cNvPr id="20" name="Text 18"/>
          <p:cNvSpPr txBox="1"/>
          <p:nvPr/>
        </p:nvSpPr>
        <p:spPr>
          <a:xfrm>
            <a:off x="6718300" y="3099792"/>
            <a:ext cx="3737756"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From model to answers</a:t>
            </a:r>
            <a:endParaRPr lang="en-US" sz="1600" dirty="0"/>
          </a:p>
        </p:txBody>
      </p:sp>
      <p:sp>
        <p:nvSpPr>
          <p:cNvPr id="21" name="Text 19"/>
          <p:cNvSpPr txBox="1"/>
          <p:nvPr/>
        </p:nvSpPr>
        <p:spPr>
          <a:xfrm>
            <a:off x="6718300" y="3381673"/>
            <a:ext cx="3737756"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Episodes, anomaly and device health, the query agent</a:t>
            </a:r>
            <a:endParaRPr lang="en-US" sz="1200" dirty="0"/>
          </a:p>
        </p:txBody>
      </p:sp>
      <p:sp>
        <p:nvSpPr>
          <p:cNvPr id="22" name="Text 20"/>
          <p:cNvSpPr txBox="1"/>
          <p:nvPr/>
        </p:nvSpPr>
        <p:spPr>
          <a:xfrm>
            <a:off x="812800" y="3992463"/>
            <a:ext cx="456639" cy="400050"/>
          </a:xfrm>
          <a:prstGeom prst="rect">
            <a:avLst/>
          </a:prstGeom>
          <a:noFill/>
          <a:ln/>
        </p:spPr>
        <p:txBody>
          <a:bodyPr wrap="square" lIns="0" tIns="0" rIns="0" bIns="0" rtlCol="0" anchor="t"/>
          <a:lstStyle/>
          <a:p>
            <a:pPr algn="l" indent="0" marL="0">
              <a:lnSpc>
                <a:spcPts val="2800"/>
              </a:lnSpc>
              <a:buNone/>
            </a:pPr>
            <a:r>
              <a:rPr lang="en-US" sz="2800" b="1" dirty="0">
                <a:solidFill>
                  <a:srgbClr val="1E5AA8"/>
                </a:solidFill>
                <a:latin typeface="Arial" pitchFamily="34" charset="0"/>
                <a:ea typeface="Arial" pitchFamily="34" charset="-122"/>
                <a:cs typeface="Arial" pitchFamily="34" charset="-120"/>
              </a:rPr>
              <a:t>7</a:t>
            </a:r>
            <a:endParaRPr lang="en-US" sz="2800" dirty="0"/>
          </a:p>
        </p:txBody>
      </p:sp>
      <p:sp>
        <p:nvSpPr>
          <p:cNvPr id="23" name="Text 21"/>
          <p:cNvSpPr txBox="1"/>
          <p:nvPr/>
        </p:nvSpPr>
        <p:spPr>
          <a:xfrm>
            <a:off x="1318220" y="4024213"/>
            <a:ext cx="4737597"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Plan</a:t>
            </a:r>
            <a:endParaRPr lang="en-US" sz="1600" dirty="0"/>
          </a:p>
        </p:txBody>
      </p:sp>
      <p:sp>
        <p:nvSpPr>
          <p:cNvPr id="24" name="Text 22"/>
          <p:cNvSpPr txBox="1"/>
          <p:nvPr/>
        </p:nvSpPr>
        <p:spPr>
          <a:xfrm>
            <a:off x="1318220" y="4306094"/>
            <a:ext cx="4737597"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Data, evaluation, deployment, roadmap, build status, risks, next steps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WHY HOMEFM</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Ask the home anything, in plain words</a:t>
            </a:r>
            <a:endParaRPr lang="en-US" sz="2800" dirty="0"/>
          </a:p>
        </p:txBody>
      </p:sp>
      <p:sp>
        <p:nvSpPr>
          <p:cNvPr id="4" name="Shape 2"/>
          <p:cNvSpPr/>
          <p:nvPr/>
        </p:nvSpPr>
        <p:spPr>
          <a:xfrm>
            <a:off x="819150" y="1464270"/>
            <a:ext cx="3424734" cy="1066602"/>
          </a:xfrm>
          <a:prstGeom prst="roundRect">
            <a:avLst>
              <a:gd name="adj" fmla="val 8930"/>
            </a:avLst>
          </a:prstGeom>
          <a:solidFill>
            <a:srgbClr val="FDFCFA"/>
          </a:solidFill>
          <a:ln w="12700">
            <a:solidFill>
              <a:srgbClr val="E3E0D7"/>
            </a:solidFill>
            <a:prstDash val="solid"/>
          </a:ln>
        </p:spPr>
      </p:sp>
      <p:sp>
        <p:nvSpPr>
          <p:cNvPr id="5" name="Text 3"/>
          <p:cNvSpPr txBox="1"/>
          <p:nvPr/>
        </p:nvSpPr>
        <p:spPr>
          <a:xfrm>
            <a:off x="977900" y="1642070"/>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Energy</a:t>
            </a:r>
            <a:endParaRPr lang="en-US" sz="1200" dirty="0"/>
          </a:p>
        </p:txBody>
      </p:sp>
      <p:sp>
        <p:nvSpPr>
          <p:cNvPr id="6" name="Text 4"/>
          <p:cNvSpPr txBox="1"/>
          <p:nvPr/>
        </p:nvSpPr>
        <p:spPr>
          <a:xfrm>
            <a:off x="977900" y="1899841"/>
            <a:ext cx="3173570" cy="445691"/>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How much energy was used in the last hour?</a:t>
            </a:r>
            <a:endParaRPr lang="en-US" sz="1400" dirty="0"/>
          </a:p>
        </p:txBody>
      </p:sp>
      <p:sp>
        <p:nvSpPr>
          <p:cNvPr id="7" name="Shape 5"/>
          <p:cNvSpPr/>
          <p:nvPr/>
        </p:nvSpPr>
        <p:spPr>
          <a:xfrm>
            <a:off x="4383584" y="1464270"/>
            <a:ext cx="3424734" cy="1066602"/>
          </a:xfrm>
          <a:prstGeom prst="roundRect">
            <a:avLst>
              <a:gd name="adj" fmla="val 8930"/>
            </a:avLst>
          </a:prstGeom>
          <a:solidFill>
            <a:srgbClr val="FDFCFA"/>
          </a:solidFill>
          <a:ln w="12700">
            <a:solidFill>
              <a:srgbClr val="E3E0D7"/>
            </a:solidFill>
            <a:prstDash val="solid"/>
          </a:ln>
        </p:spPr>
      </p:sp>
      <p:sp>
        <p:nvSpPr>
          <p:cNvPr id="8" name="Text 6"/>
          <p:cNvSpPr txBox="1"/>
          <p:nvPr/>
        </p:nvSpPr>
        <p:spPr>
          <a:xfrm>
            <a:off x="4542334" y="1642070"/>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Childcare</a:t>
            </a:r>
            <a:endParaRPr lang="en-US" sz="1200" dirty="0"/>
          </a:p>
        </p:txBody>
      </p:sp>
      <p:sp>
        <p:nvSpPr>
          <p:cNvPr id="9" name="Text 7"/>
          <p:cNvSpPr txBox="1"/>
          <p:nvPr/>
        </p:nvSpPr>
        <p:spPr>
          <a:xfrm>
            <a:off x="4542334" y="1899841"/>
            <a:ext cx="3173570" cy="248920"/>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How many times did my kid cry today?</a:t>
            </a:r>
            <a:endParaRPr lang="en-US" sz="1400" dirty="0"/>
          </a:p>
        </p:txBody>
      </p:sp>
      <p:sp>
        <p:nvSpPr>
          <p:cNvPr id="10" name="Shape 8"/>
          <p:cNvSpPr/>
          <p:nvPr/>
        </p:nvSpPr>
        <p:spPr>
          <a:xfrm>
            <a:off x="7948017" y="1464270"/>
            <a:ext cx="3424734" cy="1066602"/>
          </a:xfrm>
          <a:prstGeom prst="roundRect">
            <a:avLst>
              <a:gd name="adj" fmla="val 8930"/>
            </a:avLst>
          </a:prstGeom>
          <a:solidFill>
            <a:srgbClr val="FDFCFA"/>
          </a:solidFill>
          <a:ln w="12700">
            <a:solidFill>
              <a:srgbClr val="E3E0D7"/>
            </a:solidFill>
            <a:prstDash val="solid"/>
          </a:ln>
        </p:spPr>
      </p:sp>
      <p:sp>
        <p:nvSpPr>
          <p:cNvPr id="11" name="Text 9"/>
          <p:cNvSpPr txBox="1"/>
          <p:nvPr/>
        </p:nvSpPr>
        <p:spPr>
          <a:xfrm>
            <a:off x="8106767" y="1642070"/>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Activities</a:t>
            </a:r>
            <a:endParaRPr lang="en-US" sz="1200" dirty="0"/>
          </a:p>
        </p:txBody>
      </p:sp>
      <p:sp>
        <p:nvSpPr>
          <p:cNvPr id="12" name="Text 10"/>
          <p:cNvSpPr txBox="1"/>
          <p:nvPr/>
        </p:nvSpPr>
        <p:spPr>
          <a:xfrm>
            <a:off x="8106767" y="1899841"/>
            <a:ext cx="3173570" cy="445691"/>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How many times did cooking happen in the last 4 hours?</a:t>
            </a:r>
            <a:endParaRPr lang="en-US" sz="1400" dirty="0"/>
          </a:p>
        </p:txBody>
      </p:sp>
      <p:sp>
        <p:nvSpPr>
          <p:cNvPr id="13" name="Shape 11"/>
          <p:cNvSpPr/>
          <p:nvPr/>
        </p:nvSpPr>
        <p:spPr>
          <a:xfrm>
            <a:off x="819150" y="2670572"/>
            <a:ext cx="3424734" cy="1066602"/>
          </a:xfrm>
          <a:prstGeom prst="roundRect">
            <a:avLst>
              <a:gd name="adj" fmla="val 8930"/>
            </a:avLst>
          </a:prstGeom>
          <a:solidFill>
            <a:srgbClr val="FDFCFA"/>
          </a:solidFill>
          <a:ln w="12700">
            <a:solidFill>
              <a:srgbClr val="E3E0D7"/>
            </a:solidFill>
            <a:prstDash val="solid"/>
          </a:ln>
        </p:spPr>
      </p:sp>
      <p:sp>
        <p:nvSpPr>
          <p:cNvPr id="14" name="Text 12"/>
          <p:cNvSpPr txBox="1"/>
          <p:nvPr/>
        </p:nvSpPr>
        <p:spPr>
          <a:xfrm>
            <a:off x="977900" y="2848372"/>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Deliveries</a:t>
            </a:r>
            <a:endParaRPr lang="en-US" sz="1200" dirty="0"/>
          </a:p>
        </p:txBody>
      </p:sp>
      <p:sp>
        <p:nvSpPr>
          <p:cNvPr id="15" name="Text 13"/>
          <p:cNvSpPr txBox="1"/>
          <p:nvPr/>
        </p:nvSpPr>
        <p:spPr>
          <a:xfrm>
            <a:off x="977900" y="3106142"/>
            <a:ext cx="3173570" cy="445691"/>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How many parcels did we receive yesterday?</a:t>
            </a:r>
            <a:endParaRPr lang="en-US" sz="1400" dirty="0"/>
          </a:p>
        </p:txBody>
      </p:sp>
      <p:sp>
        <p:nvSpPr>
          <p:cNvPr id="16" name="Shape 14"/>
          <p:cNvSpPr/>
          <p:nvPr/>
        </p:nvSpPr>
        <p:spPr>
          <a:xfrm>
            <a:off x="4383584" y="2670572"/>
            <a:ext cx="3424734" cy="1066602"/>
          </a:xfrm>
          <a:prstGeom prst="roundRect">
            <a:avLst>
              <a:gd name="adj" fmla="val 8930"/>
            </a:avLst>
          </a:prstGeom>
          <a:solidFill>
            <a:srgbClr val="FDFCFA"/>
          </a:solidFill>
          <a:ln w="12700">
            <a:solidFill>
              <a:srgbClr val="E3E0D7"/>
            </a:solidFill>
            <a:prstDash val="solid"/>
          </a:ln>
        </p:spPr>
      </p:sp>
      <p:sp>
        <p:nvSpPr>
          <p:cNvPr id="17" name="Text 15"/>
          <p:cNvSpPr txBox="1"/>
          <p:nvPr/>
        </p:nvSpPr>
        <p:spPr>
          <a:xfrm>
            <a:off x="4542334" y="2848372"/>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Occupancy</a:t>
            </a:r>
            <a:endParaRPr lang="en-US" sz="1200" dirty="0"/>
          </a:p>
        </p:txBody>
      </p:sp>
      <p:sp>
        <p:nvSpPr>
          <p:cNvPr id="18" name="Text 16"/>
          <p:cNvSpPr txBox="1"/>
          <p:nvPr/>
        </p:nvSpPr>
        <p:spPr>
          <a:xfrm>
            <a:off x="4542334" y="3106142"/>
            <a:ext cx="3173570" cy="445691"/>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How many people are in the living room?</a:t>
            </a:r>
            <a:endParaRPr lang="en-US" sz="1400" dirty="0"/>
          </a:p>
        </p:txBody>
      </p:sp>
      <p:sp>
        <p:nvSpPr>
          <p:cNvPr id="19" name="Shape 17"/>
          <p:cNvSpPr/>
          <p:nvPr/>
        </p:nvSpPr>
        <p:spPr>
          <a:xfrm>
            <a:off x="7948017" y="2670572"/>
            <a:ext cx="3424734" cy="1066602"/>
          </a:xfrm>
          <a:prstGeom prst="roundRect">
            <a:avLst>
              <a:gd name="adj" fmla="val 8930"/>
            </a:avLst>
          </a:prstGeom>
          <a:solidFill>
            <a:srgbClr val="FDFCFA"/>
          </a:solidFill>
          <a:ln w="12700">
            <a:solidFill>
              <a:srgbClr val="E3E0D7"/>
            </a:solidFill>
            <a:prstDash val="solid"/>
          </a:ln>
        </p:spPr>
      </p:sp>
      <p:sp>
        <p:nvSpPr>
          <p:cNvPr id="20" name="Text 18"/>
          <p:cNvSpPr txBox="1"/>
          <p:nvPr/>
        </p:nvSpPr>
        <p:spPr>
          <a:xfrm>
            <a:off x="8106767" y="2848372"/>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Device health</a:t>
            </a:r>
            <a:endParaRPr lang="en-US" sz="1200" dirty="0"/>
          </a:p>
        </p:txBody>
      </p:sp>
      <p:sp>
        <p:nvSpPr>
          <p:cNvPr id="21" name="Text 19"/>
          <p:cNvSpPr txBox="1"/>
          <p:nvPr/>
        </p:nvSpPr>
        <p:spPr>
          <a:xfrm>
            <a:off x="8106767" y="3106142"/>
            <a:ext cx="3173570" cy="248920"/>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Is anything wrong with the fridge?</a:t>
            </a:r>
            <a:endParaRPr lang="en-US" sz="1400" dirty="0"/>
          </a:p>
        </p:txBody>
      </p:sp>
      <p:sp>
        <p:nvSpPr>
          <p:cNvPr id="22" name="Shape 20"/>
          <p:cNvSpPr/>
          <p:nvPr/>
        </p:nvSpPr>
        <p:spPr>
          <a:xfrm>
            <a:off x="819150" y="3876873"/>
            <a:ext cx="3424734" cy="817761"/>
          </a:xfrm>
          <a:prstGeom prst="roundRect">
            <a:avLst>
              <a:gd name="adj" fmla="val 11648"/>
            </a:avLst>
          </a:prstGeom>
          <a:solidFill>
            <a:srgbClr val="FDFCFA"/>
          </a:solidFill>
          <a:ln w="12700">
            <a:solidFill>
              <a:srgbClr val="E3E0D7"/>
            </a:solidFill>
            <a:prstDash val="solid"/>
          </a:ln>
        </p:spPr>
      </p:sp>
      <p:sp>
        <p:nvSpPr>
          <p:cNvPr id="23" name="Text 21"/>
          <p:cNvSpPr txBox="1"/>
          <p:nvPr/>
        </p:nvSpPr>
        <p:spPr>
          <a:xfrm>
            <a:off x="977900" y="4054673"/>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Elderly care</a:t>
            </a:r>
            <a:endParaRPr lang="en-US" sz="1200" dirty="0"/>
          </a:p>
        </p:txBody>
      </p:sp>
      <p:sp>
        <p:nvSpPr>
          <p:cNvPr id="24" name="Text 22"/>
          <p:cNvSpPr txBox="1"/>
          <p:nvPr/>
        </p:nvSpPr>
        <p:spPr>
          <a:xfrm>
            <a:off x="977900" y="4312444"/>
            <a:ext cx="3173570" cy="248920"/>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Did grandma eat lunch?</a:t>
            </a:r>
            <a:endParaRPr lang="en-US" sz="1400" dirty="0"/>
          </a:p>
        </p:txBody>
      </p:sp>
      <p:sp>
        <p:nvSpPr>
          <p:cNvPr id="25" name="Shape 23"/>
          <p:cNvSpPr/>
          <p:nvPr/>
        </p:nvSpPr>
        <p:spPr>
          <a:xfrm>
            <a:off x="4383584" y="3876873"/>
            <a:ext cx="3424734" cy="817761"/>
          </a:xfrm>
          <a:prstGeom prst="roundRect">
            <a:avLst>
              <a:gd name="adj" fmla="val 11648"/>
            </a:avLst>
          </a:prstGeom>
          <a:solidFill>
            <a:srgbClr val="FDFCFA"/>
          </a:solidFill>
          <a:ln w="12700">
            <a:solidFill>
              <a:srgbClr val="E3E0D7"/>
            </a:solidFill>
            <a:prstDash val="solid"/>
          </a:ln>
        </p:spPr>
      </p:sp>
      <p:sp>
        <p:nvSpPr>
          <p:cNvPr id="26" name="Text 24"/>
          <p:cNvSpPr txBox="1"/>
          <p:nvPr/>
        </p:nvSpPr>
        <p:spPr>
          <a:xfrm>
            <a:off x="4542334" y="4054673"/>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Security</a:t>
            </a:r>
            <a:endParaRPr lang="en-US" sz="1200" dirty="0"/>
          </a:p>
        </p:txBody>
      </p:sp>
      <p:sp>
        <p:nvSpPr>
          <p:cNvPr id="27" name="Text 25"/>
          <p:cNvSpPr txBox="1"/>
          <p:nvPr/>
        </p:nvSpPr>
        <p:spPr>
          <a:xfrm>
            <a:off x="4542334" y="4312444"/>
            <a:ext cx="3173570" cy="248920"/>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Anything unusual last night?</a:t>
            </a:r>
            <a:endParaRPr lang="en-US" sz="1400" dirty="0"/>
          </a:p>
        </p:txBody>
      </p:sp>
      <p:sp>
        <p:nvSpPr>
          <p:cNvPr id="28" name="Shape 26"/>
          <p:cNvSpPr/>
          <p:nvPr/>
        </p:nvSpPr>
        <p:spPr>
          <a:xfrm>
            <a:off x="7948017" y="3876873"/>
            <a:ext cx="3424734" cy="817761"/>
          </a:xfrm>
          <a:prstGeom prst="roundRect">
            <a:avLst>
              <a:gd name="adj" fmla="val 11648"/>
            </a:avLst>
          </a:prstGeom>
          <a:solidFill>
            <a:srgbClr val="FDFCFA"/>
          </a:solidFill>
          <a:ln w="12700">
            <a:solidFill>
              <a:srgbClr val="E3E0D7"/>
            </a:solidFill>
            <a:prstDash val="solid"/>
          </a:ln>
        </p:spPr>
      </p:sp>
      <p:sp>
        <p:nvSpPr>
          <p:cNvPr id="29" name="Text 27"/>
          <p:cNvSpPr txBox="1"/>
          <p:nvPr/>
        </p:nvSpPr>
        <p:spPr>
          <a:xfrm>
            <a:off x="8106767" y="4054673"/>
            <a:ext cx="3173570" cy="21336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Pets</a:t>
            </a:r>
            <a:endParaRPr lang="en-US" sz="1200" dirty="0"/>
          </a:p>
        </p:txBody>
      </p:sp>
      <p:sp>
        <p:nvSpPr>
          <p:cNvPr id="30" name="Text 28"/>
          <p:cNvSpPr txBox="1"/>
          <p:nvPr/>
        </p:nvSpPr>
        <p:spPr>
          <a:xfrm>
            <a:off x="8106767" y="4312444"/>
            <a:ext cx="3173570" cy="248920"/>
          </a:xfrm>
          <a:prstGeom prst="rect">
            <a:avLst/>
          </a:prstGeom>
          <a:noFill/>
          <a:ln/>
        </p:spPr>
        <p:txBody>
          <a:bodyPr wrap="square" lIns="0" tIns="0" rIns="0" bIns="0" rtlCol="0" anchor="t"/>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Did the dog bark while we were out?</a:t>
            </a:r>
            <a:endParaRPr lang="en-US" sz="1400" dirty="0"/>
          </a:p>
        </p:txBody>
      </p:sp>
      <p:sp>
        <p:nvSpPr>
          <p:cNvPr id="31" name="Text 29"/>
          <p:cNvSpPr txBox="1"/>
          <p:nvPr/>
        </p:nvSpPr>
        <p:spPr>
          <a:xfrm>
            <a:off x="812800" y="4897834"/>
            <a:ext cx="10670032" cy="421580"/>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Domains are open-ended, so the system is built around a </a:t>
            </a:r>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small set of question types</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and an </a:t>
            </a:r>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open-vocabulary model</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not one detector per question.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8DB8F2"/>
                </a:solidFill>
                <a:latin typeface="Arial" pitchFamily="34" charset="0"/>
                <a:ea typeface="Arial" pitchFamily="34" charset="-122"/>
                <a:cs typeface="Arial" pitchFamily="34" charset="-120"/>
              </a:rPr>
              <a:t>CORE PRINCIPLE</a:t>
            </a:r>
            <a:endParaRPr lang="en-US" sz="1200" dirty="0"/>
          </a:p>
        </p:txBody>
      </p:sp>
      <p:sp>
        <p:nvSpPr>
          <p:cNvPr id="3" name="Text 1"/>
          <p:cNvSpPr txBox="1"/>
          <p:nvPr/>
        </p:nvSpPr>
        <p:spPr>
          <a:xfrm>
            <a:off x="812800" y="1009650"/>
            <a:ext cx="10670032" cy="1010841"/>
          </a:xfrm>
          <a:prstGeom prst="rect">
            <a:avLst/>
          </a:prstGeom>
          <a:noFill/>
          <a:ln/>
        </p:spPr>
        <p:txBody>
          <a:bodyPr wrap="square" lIns="0" tIns="0" rIns="0" bIns="0" rtlCol="0" anchor="t"/>
          <a:lstStyle/>
          <a:p>
            <a:pPr algn="l" indent="0" marL="0">
              <a:lnSpc>
                <a:spcPts val="3960"/>
              </a:lnSpc>
              <a:buNone/>
            </a:pPr>
            <a:r>
              <a:rPr lang="en-US" sz="3600" b="1" dirty="0">
                <a:solidFill>
                  <a:srgbClr val="F6F5F1"/>
                </a:solidFill>
                <a:latin typeface="Arial" pitchFamily="34" charset="0"/>
                <a:ea typeface="Arial" pitchFamily="34" charset="-122"/>
                <a:cs typeface="Arial" pitchFamily="34" charset="-120"/>
              </a:rPr>
              <a:t>The model understands. The database counts. The agent plans.</a:t>
            </a:r>
            <a:endParaRPr lang="en-US" sz="3600" dirty="0"/>
          </a:p>
        </p:txBody>
      </p:sp>
      <p:sp>
        <p:nvSpPr>
          <p:cNvPr id="4" name="Shape 2"/>
          <p:cNvSpPr/>
          <p:nvPr/>
        </p:nvSpPr>
        <p:spPr>
          <a:xfrm>
            <a:off x="819150" y="4540647"/>
            <a:ext cx="3373934" cy="1701403"/>
          </a:xfrm>
          <a:prstGeom prst="roundRect">
            <a:avLst>
              <a:gd name="adj" fmla="val 5598"/>
            </a:avLst>
          </a:prstGeom>
          <a:solidFill>
            <a:srgbClr val="1F2E4F"/>
          </a:solidFill>
          <a:ln w="12700">
            <a:solidFill>
              <a:srgbClr val="2E4270"/>
            </a:solidFill>
            <a:prstDash val="solid"/>
          </a:ln>
        </p:spPr>
      </p:sp>
      <p:sp>
        <p:nvSpPr>
          <p:cNvPr id="5" name="Text 3"/>
          <p:cNvSpPr txBox="1"/>
          <p:nvPr/>
        </p:nvSpPr>
        <p:spPr>
          <a:xfrm>
            <a:off x="1003300" y="4731147"/>
            <a:ext cx="3071462" cy="274320"/>
          </a:xfrm>
          <a:prstGeom prst="rect">
            <a:avLst/>
          </a:prstGeom>
          <a:noFill/>
          <a:ln/>
        </p:spPr>
        <p:txBody>
          <a:bodyPr wrap="square" lIns="0" tIns="0" rIns="0" bIns="0" rtlCol="0" anchor="t"/>
          <a:lstStyle/>
          <a:p>
            <a:pPr algn="l" indent="0" marL="0">
              <a:lnSpc>
                <a:spcPts val="2160"/>
              </a:lnSpc>
              <a:buNone/>
            </a:pPr>
            <a:r>
              <a:rPr lang="en-US" sz="1800" b="1" dirty="0">
                <a:solidFill>
                  <a:srgbClr val="8DB8F2"/>
                </a:solidFill>
                <a:latin typeface="Arial" pitchFamily="34" charset="0"/>
                <a:ea typeface="Arial" pitchFamily="34" charset="-122"/>
                <a:cs typeface="Arial" pitchFamily="34" charset="-120"/>
              </a:rPr>
              <a:t>Understand</a:t>
            </a:r>
            <a:endParaRPr lang="en-US" sz="1800" dirty="0"/>
          </a:p>
        </p:txBody>
      </p:sp>
      <p:sp>
        <p:nvSpPr>
          <p:cNvPr id="6" name="Text 4"/>
          <p:cNvSpPr txBox="1"/>
          <p:nvPr/>
        </p:nvSpPr>
        <p:spPr>
          <a:xfrm>
            <a:off x="1003300" y="5087938"/>
            <a:ext cx="3071462" cy="943372"/>
          </a:xfrm>
          <a:prstGeom prst="rect">
            <a:avLst/>
          </a:prstGeom>
          <a:noFill/>
          <a:ln/>
        </p:spPr>
        <p:txBody>
          <a:bodyPr wrap="square" lIns="0" tIns="0" rIns="0" bIns="0" rtlCol="0" anchor="t"/>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HomeFM and the perception experts turn raw signals into structured, searchable facts: events, episodes, states, scores.</a:t>
            </a:r>
            <a:endParaRPr lang="en-US" sz="1400" dirty="0"/>
          </a:p>
        </p:txBody>
      </p:sp>
      <p:sp>
        <p:nvSpPr>
          <p:cNvPr id="7" name="Shape 5"/>
          <p:cNvSpPr/>
          <p:nvPr/>
        </p:nvSpPr>
        <p:spPr>
          <a:xfrm>
            <a:off x="4408984" y="4540647"/>
            <a:ext cx="3373934" cy="1701403"/>
          </a:xfrm>
          <a:prstGeom prst="roundRect">
            <a:avLst>
              <a:gd name="adj" fmla="val 5598"/>
            </a:avLst>
          </a:prstGeom>
          <a:solidFill>
            <a:srgbClr val="1F2E4F"/>
          </a:solidFill>
          <a:ln w="12700">
            <a:solidFill>
              <a:srgbClr val="2E4270"/>
            </a:solidFill>
            <a:prstDash val="solid"/>
          </a:ln>
        </p:spPr>
      </p:sp>
      <p:sp>
        <p:nvSpPr>
          <p:cNvPr id="8" name="Text 6"/>
          <p:cNvSpPr txBox="1"/>
          <p:nvPr/>
        </p:nvSpPr>
        <p:spPr>
          <a:xfrm>
            <a:off x="4593134" y="4731147"/>
            <a:ext cx="3071462" cy="274320"/>
          </a:xfrm>
          <a:prstGeom prst="rect">
            <a:avLst/>
          </a:prstGeom>
          <a:noFill/>
          <a:ln/>
        </p:spPr>
        <p:txBody>
          <a:bodyPr wrap="square" lIns="0" tIns="0" rIns="0" bIns="0" rtlCol="0" anchor="t"/>
          <a:lstStyle/>
          <a:p>
            <a:pPr algn="l" indent="0" marL="0">
              <a:lnSpc>
                <a:spcPts val="2160"/>
              </a:lnSpc>
              <a:buNone/>
            </a:pPr>
            <a:r>
              <a:rPr lang="en-US" sz="1800" b="1" dirty="0">
                <a:solidFill>
                  <a:srgbClr val="8DB8F2"/>
                </a:solidFill>
                <a:latin typeface="Arial" pitchFamily="34" charset="0"/>
                <a:ea typeface="Arial" pitchFamily="34" charset="-122"/>
                <a:cs typeface="Arial" pitchFamily="34" charset="-120"/>
              </a:rPr>
              <a:t>Count</a:t>
            </a:r>
            <a:endParaRPr lang="en-US" sz="1800" dirty="0"/>
          </a:p>
        </p:txBody>
      </p:sp>
      <p:sp>
        <p:nvSpPr>
          <p:cNvPr id="9" name="Text 7"/>
          <p:cNvSpPr txBox="1"/>
          <p:nvPr/>
        </p:nvSpPr>
        <p:spPr>
          <a:xfrm>
            <a:off x="4593134" y="5087938"/>
            <a:ext cx="3071462" cy="694531"/>
          </a:xfrm>
          <a:prstGeom prst="rect">
            <a:avLst/>
          </a:prstGeom>
          <a:noFill/>
          <a:ln/>
        </p:spPr>
        <p:txBody>
          <a:bodyPr wrap="square" lIns="0" tIns="0" rIns="0" bIns="0" rtlCol="0" anchor="t"/>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A database does the counting. Every number in an answer comes from a tool, never from the LLM.</a:t>
            </a:r>
            <a:endParaRPr lang="en-US" sz="1400" dirty="0"/>
          </a:p>
        </p:txBody>
      </p:sp>
      <p:sp>
        <p:nvSpPr>
          <p:cNvPr id="10" name="Shape 8"/>
          <p:cNvSpPr/>
          <p:nvPr/>
        </p:nvSpPr>
        <p:spPr>
          <a:xfrm>
            <a:off x="7998817" y="4540647"/>
            <a:ext cx="3373934" cy="1701403"/>
          </a:xfrm>
          <a:prstGeom prst="roundRect">
            <a:avLst>
              <a:gd name="adj" fmla="val 5598"/>
            </a:avLst>
          </a:prstGeom>
          <a:solidFill>
            <a:srgbClr val="1F2E4F"/>
          </a:solidFill>
          <a:ln w="12700">
            <a:solidFill>
              <a:srgbClr val="2E4270"/>
            </a:solidFill>
            <a:prstDash val="solid"/>
          </a:ln>
        </p:spPr>
      </p:sp>
      <p:sp>
        <p:nvSpPr>
          <p:cNvPr id="11" name="Text 9"/>
          <p:cNvSpPr txBox="1"/>
          <p:nvPr/>
        </p:nvSpPr>
        <p:spPr>
          <a:xfrm>
            <a:off x="8182967" y="4731147"/>
            <a:ext cx="3071462" cy="274320"/>
          </a:xfrm>
          <a:prstGeom prst="rect">
            <a:avLst/>
          </a:prstGeom>
          <a:noFill/>
          <a:ln/>
        </p:spPr>
        <p:txBody>
          <a:bodyPr wrap="square" lIns="0" tIns="0" rIns="0" bIns="0" rtlCol="0" anchor="t"/>
          <a:lstStyle/>
          <a:p>
            <a:pPr algn="l" indent="0" marL="0">
              <a:lnSpc>
                <a:spcPts val="2160"/>
              </a:lnSpc>
              <a:buNone/>
            </a:pPr>
            <a:r>
              <a:rPr lang="en-US" sz="1800" b="1" dirty="0">
                <a:solidFill>
                  <a:srgbClr val="8DB8F2"/>
                </a:solidFill>
                <a:latin typeface="Arial" pitchFamily="34" charset="0"/>
                <a:ea typeface="Arial" pitchFamily="34" charset="-122"/>
                <a:cs typeface="Arial" pitchFamily="34" charset="-120"/>
              </a:rPr>
              <a:t>Plan</a:t>
            </a:r>
            <a:endParaRPr lang="en-US" sz="1800" dirty="0"/>
          </a:p>
        </p:txBody>
      </p:sp>
      <p:sp>
        <p:nvSpPr>
          <p:cNvPr id="12" name="Text 10"/>
          <p:cNvSpPr txBox="1"/>
          <p:nvPr/>
        </p:nvSpPr>
        <p:spPr>
          <a:xfrm>
            <a:off x="8182967" y="5087938"/>
            <a:ext cx="3071462" cy="694531"/>
          </a:xfrm>
          <a:prstGeom prst="rect">
            <a:avLst/>
          </a:prstGeom>
          <a:noFill/>
          <a:ln/>
        </p:spPr>
        <p:txBody>
          <a:bodyPr wrap="square" lIns="0" tIns="0" rIns="0" bIns="0" rtlCol="0" anchor="t"/>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An LLM agent reads the question, picks the tools and writes the answer with evidence and confidence.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WHY HOMEFM</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Domains are open; question types are a closed set of 11</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220833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Question type</a:t>
            </a:r>
            <a:endParaRPr lang="en-US" sz="1200" dirty="0"/>
          </a:p>
        </p:txBody>
      </p:sp>
      <p:sp>
        <p:nvSpPr>
          <p:cNvPr id="6" name="Text 4"/>
          <p:cNvSpPr txBox="1"/>
          <p:nvPr/>
        </p:nvSpPr>
        <p:spPr>
          <a:xfrm>
            <a:off x="3226296" y="1521420"/>
            <a:ext cx="454454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Example</a:t>
            </a:r>
            <a:endParaRPr lang="en-US" sz="1200" dirty="0"/>
          </a:p>
        </p:txBody>
      </p:sp>
      <p:sp>
        <p:nvSpPr>
          <p:cNvPr id="7" name="Text 5"/>
          <p:cNvSpPr txBox="1"/>
          <p:nvPr/>
        </p:nvSpPr>
        <p:spPr>
          <a:xfrm>
            <a:off x="7875488" y="1521420"/>
            <a:ext cx="348268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Answered by</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Count / aggregate</a:t>
            </a:r>
            <a:endParaRPr lang="en-US" sz="1200" dirty="0"/>
          </a:p>
        </p:txBody>
      </p:sp>
      <p:sp>
        <p:nvSpPr>
          <p:cNvPr id="10" name="Text 8"/>
          <p:cNvSpPr txBox="1"/>
          <p:nvPr/>
        </p:nvSpPr>
        <p:spPr>
          <a:xfrm>
            <a:off x="3226296" y="18262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How many times did the dog bark today?</a:t>
            </a:r>
            <a:endParaRPr lang="en-US" sz="1200" dirty="0"/>
          </a:p>
        </p:txBody>
      </p:sp>
      <p:sp>
        <p:nvSpPr>
          <p:cNvPr id="11" name="Text 9"/>
          <p:cNvSpPr txBox="1"/>
          <p:nvPr/>
        </p:nvSpPr>
        <p:spPr>
          <a:xfrm>
            <a:off x="7875488" y="18262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Event / episode store (SQL)</a:t>
            </a:r>
            <a:endParaRPr lang="en-US" sz="1200" dirty="0"/>
          </a:p>
        </p:txBody>
      </p:sp>
      <p:sp>
        <p:nvSpPr>
          <p:cNvPr id="12" name="Shape 10"/>
          <p:cNvSpPr/>
          <p:nvPr/>
        </p:nvSpPr>
        <p:spPr>
          <a:xfrm>
            <a:off x="812800" y="2067520"/>
            <a:ext cx="10566400" cy="304800"/>
          </a:xfrm>
          <a:prstGeom prst="rect">
            <a:avLst/>
          </a:prstGeom>
          <a:solidFill>
            <a:srgbClr val="F6F5F1"/>
          </a:solidFill>
          <a:ln/>
        </p:spPr>
      </p:sp>
      <p:sp>
        <p:nvSpPr>
          <p:cNvPr id="13" name="Text 11"/>
          <p:cNvSpPr txBox="1"/>
          <p:nvPr/>
        </p:nvSpPr>
        <p:spPr>
          <a:xfrm>
            <a:off x="901700" y="2131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Current state</a:t>
            </a:r>
            <a:endParaRPr lang="en-US" sz="1200" dirty="0"/>
          </a:p>
        </p:txBody>
      </p:sp>
      <p:sp>
        <p:nvSpPr>
          <p:cNvPr id="14" name="Text 12"/>
          <p:cNvSpPr txBox="1"/>
          <p:nvPr/>
        </p:nvSpPr>
        <p:spPr>
          <a:xfrm>
            <a:off x="3226296" y="21310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How many people are in the living room?</a:t>
            </a:r>
            <a:endParaRPr lang="en-US" sz="1200" dirty="0"/>
          </a:p>
        </p:txBody>
      </p:sp>
      <p:sp>
        <p:nvSpPr>
          <p:cNvPr id="15" name="Text 13"/>
          <p:cNvSpPr txBox="1"/>
          <p:nvPr/>
        </p:nvSpPr>
        <p:spPr>
          <a:xfrm>
            <a:off x="7875488" y="21310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State table</a:t>
            </a:r>
            <a:endParaRPr lang="en-US" sz="1200" dirty="0"/>
          </a:p>
        </p:txBody>
      </p:sp>
      <p:sp>
        <p:nvSpPr>
          <p:cNvPr id="16" name="Shape 14"/>
          <p:cNvSpPr/>
          <p:nvPr/>
        </p:nvSpPr>
        <p:spPr>
          <a:xfrm>
            <a:off x="812800" y="2372320"/>
            <a:ext cx="10566400" cy="304800"/>
          </a:xfrm>
          <a:prstGeom prst="rect">
            <a:avLst/>
          </a:prstGeom>
          <a:solidFill>
            <a:srgbClr val="FDFCFA"/>
          </a:solidFill>
          <a:ln/>
        </p:spPr>
      </p:sp>
      <p:sp>
        <p:nvSpPr>
          <p:cNvPr id="17" name="Text 15"/>
          <p:cNvSpPr txBox="1"/>
          <p:nvPr/>
        </p:nvSpPr>
        <p:spPr>
          <a:xfrm>
            <a:off x="901700" y="24358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When / last time</a:t>
            </a:r>
            <a:endParaRPr lang="en-US" sz="1200" dirty="0"/>
          </a:p>
        </p:txBody>
      </p:sp>
      <p:sp>
        <p:nvSpPr>
          <p:cNvPr id="18" name="Text 16"/>
          <p:cNvSpPr txBox="1"/>
          <p:nvPr/>
        </p:nvSpPr>
        <p:spPr>
          <a:xfrm>
            <a:off x="3226296" y="24358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When did grandma last take her medicine?</a:t>
            </a:r>
            <a:endParaRPr lang="en-US" sz="1200" dirty="0"/>
          </a:p>
        </p:txBody>
      </p:sp>
      <p:sp>
        <p:nvSpPr>
          <p:cNvPr id="19" name="Text 17"/>
          <p:cNvSpPr txBox="1"/>
          <p:nvPr/>
        </p:nvSpPr>
        <p:spPr>
          <a:xfrm>
            <a:off x="7875488" y="24358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Episodes</a:t>
            </a:r>
            <a:endParaRPr lang="en-US" sz="1200" dirty="0"/>
          </a:p>
        </p:txBody>
      </p:sp>
      <p:sp>
        <p:nvSpPr>
          <p:cNvPr id="20" name="Shape 18"/>
          <p:cNvSpPr/>
          <p:nvPr/>
        </p:nvSpPr>
        <p:spPr>
          <a:xfrm>
            <a:off x="812800" y="2677120"/>
            <a:ext cx="10566400" cy="304800"/>
          </a:xfrm>
          <a:prstGeom prst="rect">
            <a:avLst/>
          </a:prstGeom>
          <a:solidFill>
            <a:srgbClr val="F6F5F1"/>
          </a:solidFill>
          <a:ln/>
        </p:spPr>
      </p:sp>
      <p:sp>
        <p:nvSpPr>
          <p:cNvPr id="21" name="Text 19"/>
          <p:cNvSpPr txBox="1"/>
          <p:nvPr/>
        </p:nvSpPr>
        <p:spPr>
          <a:xfrm>
            <a:off x="901700" y="27406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Duration</a:t>
            </a:r>
            <a:endParaRPr lang="en-US" sz="1200" dirty="0"/>
          </a:p>
        </p:txBody>
      </p:sp>
      <p:sp>
        <p:nvSpPr>
          <p:cNvPr id="22" name="Text 20"/>
          <p:cNvSpPr txBox="1"/>
          <p:nvPr/>
        </p:nvSpPr>
        <p:spPr>
          <a:xfrm>
            <a:off x="3226296" y="27406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How long did the kids watch TV?</a:t>
            </a:r>
            <a:endParaRPr lang="en-US" sz="1200" dirty="0"/>
          </a:p>
        </p:txBody>
      </p:sp>
      <p:sp>
        <p:nvSpPr>
          <p:cNvPr id="23" name="Text 21"/>
          <p:cNvSpPr txBox="1"/>
          <p:nvPr/>
        </p:nvSpPr>
        <p:spPr>
          <a:xfrm>
            <a:off x="7875488" y="27406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Episodes</a:t>
            </a:r>
            <a:endParaRPr lang="en-US" sz="1200" dirty="0"/>
          </a:p>
        </p:txBody>
      </p:sp>
      <p:sp>
        <p:nvSpPr>
          <p:cNvPr id="24" name="Shape 22"/>
          <p:cNvSpPr/>
          <p:nvPr/>
        </p:nvSpPr>
        <p:spPr>
          <a:xfrm>
            <a:off x="812800" y="2981920"/>
            <a:ext cx="10566400" cy="304800"/>
          </a:xfrm>
          <a:prstGeom prst="rect">
            <a:avLst/>
          </a:prstGeom>
          <a:solidFill>
            <a:srgbClr val="FDFCFA"/>
          </a:solidFill>
          <a:ln/>
        </p:spPr>
      </p:sp>
      <p:sp>
        <p:nvSpPr>
          <p:cNvPr id="25" name="Text 23"/>
          <p:cNvSpPr txBox="1"/>
          <p:nvPr/>
        </p:nvSpPr>
        <p:spPr>
          <a:xfrm>
            <a:off x="901700" y="30454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Comparison / trend</a:t>
            </a:r>
            <a:endParaRPr lang="en-US" sz="1200" dirty="0"/>
          </a:p>
        </p:txBody>
      </p:sp>
      <p:sp>
        <p:nvSpPr>
          <p:cNvPr id="26" name="Text 24"/>
          <p:cNvSpPr txBox="1"/>
          <p:nvPr/>
        </p:nvSpPr>
        <p:spPr>
          <a:xfrm>
            <a:off x="3226296" y="30454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Am I cooking less than last month?</a:t>
            </a:r>
            <a:endParaRPr lang="en-US" sz="1200" dirty="0"/>
          </a:p>
        </p:txBody>
      </p:sp>
      <p:sp>
        <p:nvSpPr>
          <p:cNvPr id="27" name="Text 25"/>
          <p:cNvSpPr txBox="1"/>
          <p:nvPr/>
        </p:nvSpPr>
        <p:spPr>
          <a:xfrm>
            <a:off x="7875488" y="30454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Aggregates + baselines</a:t>
            </a:r>
            <a:endParaRPr lang="en-US" sz="1200" dirty="0"/>
          </a:p>
        </p:txBody>
      </p:sp>
      <p:sp>
        <p:nvSpPr>
          <p:cNvPr id="28" name="Shape 26"/>
          <p:cNvSpPr/>
          <p:nvPr/>
        </p:nvSpPr>
        <p:spPr>
          <a:xfrm>
            <a:off x="812800" y="3286720"/>
            <a:ext cx="10566400" cy="304800"/>
          </a:xfrm>
          <a:prstGeom prst="rect">
            <a:avLst/>
          </a:prstGeom>
          <a:solidFill>
            <a:srgbClr val="F6F5F1"/>
          </a:solidFill>
          <a:ln/>
        </p:spPr>
      </p:sp>
      <p:sp>
        <p:nvSpPr>
          <p:cNvPr id="29" name="Text 27"/>
          <p:cNvSpPr txBox="1"/>
          <p:nvPr/>
        </p:nvSpPr>
        <p:spPr>
          <a:xfrm>
            <a:off x="901700" y="3350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Anomaly</a:t>
            </a:r>
            <a:endParaRPr lang="en-US" sz="1200" dirty="0"/>
          </a:p>
        </p:txBody>
      </p:sp>
      <p:sp>
        <p:nvSpPr>
          <p:cNvPr id="30" name="Text 28"/>
          <p:cNvSpPr txBox="1"/>
          <p:nvPr/>
        </p:nvSpPr>
        <p:spPr>
          <a:xfrm>
            <a:off x="3226296" y="33502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Anything unusual last night?</a:t>
            </a:r>
            <a:endParaRPr lang="en-US" sz="1200" dirty="0"/>
          </a:p>
        </p:txBody>
      </p:sp>
      <p:sp>
        <p:nvSpPr>
          <p:cNvPr id="31" name="Text 29"/>
          <p:cNvSpPr txBox="1"/>
          <p:nvPr/>
        </p:nvSpPr>
        <p:spPr>
          <a:xfrm>
            <a:off x="7875488" y="33502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Anomaly engine</a:t>
            </a:r>
            <a:endParaRPr lang="en-US" sz="1200" dirty="0"/>
          </a:p>
        </p:txBody>
      </p:sp>
      <p:sp>
        <p:nvSpPr>
          <p:cNvPr id="32" name="Shape 30"/>
          <p:cNvSpPr/>
          <p:nvPr/>
        </p:nvSpPr>
        <p:spPr>
          <a:xfrm>
            <a:off x="812800" y="3591520"/>
            <a:ext cx="10566400" cy="304800"/>
          </a:xfrm>
          <a:prstGeom prst="rect">
            <a:avLst/>
          </a:prstGeom>
          <a:solidFill>
            <a:srgbClr val="FDFCFA"/>
          </a:solidFill>
          <a:ln/>
        </p:spPr>
      </p:sp>
      <p:sp>
        <p:nvSpPr>
          <p:cNvPr id="33" name="Text 31"/>
          <p:cNvSpPr txBox="1"/>
          <p:nvPr/>
        </p:nvSpPr>
        <p:spPr>
          <a:xfrm>
            <a:off x="901700" y="3655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Diagnosis</a:t>
            </a:r>
            <a:endParaRPr lang="en-US" sz="1200" dirty="0"/>
          </a:p>
        </p:txBody>
      </p:sp>
      <p:sp>
        <p:nvSpPr>
          <p:cNvPr id="34" name="Text 32"/>
          <p:cNvSpPr txBox="1"/>
          <p:nvPr/>
        </p:nvSpPr>
        <p:spPr>
          <a:xfrm>
            <a:off x="3226296" y="36550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Is my fridge OK? Why is the bill high?</a:t>
            </a:r>
            <a:endParaRPr lang="en-US" sz="1200" dirty="0"/>
          </a:p>
        </p:txBody>
      </p:sp>
      <p:sp>
        <p:nvSpPr>
          <p:cNvPr id="35" name="Text 33"/>
          <p:cNvSpPr txBox="1"/>
          <p:nvPr/>
        </p:nvSpPr>
        <p:spPr>
          <a:xfrm>
            <a:off x="7875488" y="36550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Device health + energy breakdown</a:t>
            </a:r>
            <a:endParaRPr lang="en-US" sz="1200" dirty="0"/>
          </a:p>
        </p:txBody>
      </p:sp>
      <p:sp>
        <p:nvSpPr>
          <p:cNvPr id="36" name="Shape 34"/>
          <p:cNvSpPr/>
          <p:nvPr/>
        </p:nvSpPr>
        <p:spPr>
          <a:xfrm>
            <a:off x="812800" y="3896320"/>
            <a:ext cx="10566400" cy="304800"/>
          </a:xfrm>
          <a:prstGeom prst="rect">
            <a:avLst/>
          </a:prstGeom>
          <a:solidFill>
            <a:srgbClr val="F6F5F1"/>
          </a:solidFill>
          <a:ln/>
        </p:spPr>
      </p:sp>
      <p:sp>
        <p:nvSpPr>
          <p:cNvPr id="37" name="Text 35"/>
          <p:cNvSpPr txBox="1"/>
          <p:nvPr/>
        </p:nvSpPr>
        <p:spPr>
          <a:xfrm>
            <a:off x="901700" y="39598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Well-being / routine</a:t>
            </a:r>
            <a:endParaRPr lang="en-US" sz="1200" dirty="0"/>
          </a:p>
        </p:txBody>
      </p:sp>
      <p:sp>
        <p:nvSpPr>
          <p:cNvPr id="38" name="Text 36"/>
          <p:cNvSpPr txBox="1"/>
          <p:nvPr/>
        </p:nvSpPr>
        <p:spPr>
          <a:xfrm>
            <a:off x="3226296" y="39598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Did Dad eat lunch? Is Mum sleeping well?</a:t>
            </a:r>
            <a:endParaRPr lang="en-US" sz="1200" dirty="0"/>
          </a:p>
        </p:txBody>
      </p:sp>
      <p:sp>
        <p:nvSpPr>
          <p:cNvPr id="39" name="Text 37"/>
          <p:cNvSpPr txBox="1"/>
          <p:nvPr/>
        </p:nvSpPr>
        <p:spPr>
          <a:xfrm>
            <a:off x="7875488" y="39598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Routine model + episodes</a:t>
            </a:r>
            <a:endParaRPr lang="en-US" sz="1200" dirty="0"/>
          </a:p>
        </p:txBody>
      </p:sp>
      <p:sp>
        <p:nvSpPr>
          <p:cNvPr id="40" name="Shape 38"/>
          <p:cNvSpPr/>
          <p:nvPr/>
        </p:nvSpPr>
        <p:spPr>
          <a:xfrm>
            <a:off x="812800" y="4201120"/>
            <a:ext cx="10566400" cy="304800"/>
          </a:xfrm>
          <a:prstGeom prst="rect">
            <a:avLst/>
          </a:prstGeom>
          <a:solidFill>
            <a:srgbClr val="FDFCFA"/>
          </a:solidFill>
          <a:ln/>
        </p:spPr>
      </p:sp>
      <p:sp>
        <p:nvSpPr>
          <p:cNvPr id="41" name="Text 39"/>
          <p:cNvSpPr txBox="1"/>
          <p:nvPr/>
        </p:nvSpPr>
        <p:spPr>
          <a:xfrm>
            <a:off x="901700" y="42646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Summary</a:t>
            </a:r>
            <a:endParaRPr lang="en-US" sz="1200" dirty="0"/>
          </a:p>
        </p:txBody>
      </p:sp>
      <p:sp>
        <p:nvSpPr>
          <p:cNvPr id="42" name="Text 40"/>
          <p:cNvSpPr txBox="1"/>
          <p:nvPr/>
        </p:nvSpPr>
        <p:spPr>
          <a:xfrm>
            <a:off x="3226296" y="42646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What happened while I was away?</a:t>
            </a:r>
            <a:endParaRPr lang="en-US" sz="1200" dirty="0"/>
          </a:p>
        </p:txBody>
      </p:sp>
      <p:sp>
        <p:nvSpPr>
          <p:cNvPr id="43" name="Text 41"/>
          <p:cNvSpPr txBox="1"/>
          <p:nvPr/>
        </p:nvSpPr>
        <p:spPr>
          <a:xfrm>
            <a:off x="7875488" y="42646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Semantic retrieval + LLM summary</a:t>
            </a:r>
            <a:endParaRPr lang="en-US" sz="1200" dirty="0"/>
          </a:p>
        </p:txBody>
      </p:sp>
      <p:sp>
        <p:nvSpPr>
          <p:cNvPr id="44" name="Shape 42"/>
          <p:cNvSpPr/>
          <p:nvPr/>
        </p:nvSpPr>
        <p:spPr>
          <a:xfrm>
            <a:off x="812800" y="4505920"/>
            <a:ext cx="10566400" cy="304800"/>
          </a:xfrm>
          <a:prstGeom prst="rect">
            <a:avLst/>
          </a:prstGeom>
          <a:solidFill>
            <a:srgbClr val="F6F5F1"/>
          </a:solidFill>
          <a:ln/>
        </p:spPr>
      </p:sp>
      <p:sp>
        <p:nvSpPr>
          <p:cNvPr id="45" name="Text 43"/>
          <p:cNvSpPr txBox="1"/>
          <p:nvPr/>
        </p:nvSpPr>
        <p:spPr>
          <a:xfrm>
            <a:off x="901700" y="45694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Prediction</a:t>
            </a:r>
            <a:endParaRPr lang="en-US" sz="1200" dirty="0"/>
          </a:p>
        </p:txBody>
      </p:sp>
      <p:sp>
        <p:nvSpPr>
          <p:cNvPr id="46" name="Text 44"/>
          <p:cNvSpPr txBox="1"/>
          <p:nvPr/>
        </p:nvSpPr>
        <p:spPr>
          <a:xfrm>
            <a:off x="3226296" y="45694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Will the guest room be warm by 6?</a:t>
            </a:r>
            <a:endParaRPr lang="en-US" sz="1200" dirty="0"/>
          </a:p>
        </p:txBody>
      </p:sp>
      <p:sp>
        <p:nvSpPr>
          <p:cNvPr id="47" name="Text 45"/>
          <p:cNvSpPr txBox="1"/>
          <p:nvPr/>
        </p:nvSpPr>
        <p:spPr>
          <a:xfrm>
            <a:off x="7875488" y="45694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Forecast head</a:t>
            </a:r>
            <a:endParaRPr lang="en-US" sz="1200" dirty="0"/>
          </a:p>
        </p:txBody>
      </p:sp>
      <p:sp>
        <p:nvSpPr>
          <p:cNvPr id="48" name="Shape 46"/>
          <p:cNvSpPr/>
          <p:nvPr/>
        </p:nvSpPr>
        <p:spPr>
          <a:xfrm>
            <a:off x="812800" y="4810720"/>
            <a:ext cx="10566400" cy="304800"/>
          </a:xfrm>
          <a:prstGeom prst="rect">
            <a:avLst/>
          </a:prstGeom>
          <a:solidFill>
            <a:srgbClr val="FDFCFA"/>
          </a:solidFill>
          <a:ln/>
        </p:spPr>
      </p:sp>
      <p:sp>
        <p:nvSpPr>
          <p:cNvPr id="49" name="Text 47"/>
          <p:cNvSpPr txBox="1"/>
          <p:nvPr/>
        </p:nvSpPr>
        <p:spPr>
          <a:xfrm>
            <a:off x="901700" y="4874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Unanswerable</a:t>
            </a:r>
            <a:endParaRPr lang="en-US" sz="1200" dirty="0"/>
          </a:p>
        </p:txBody>
      </p:sp>
      <p:sp>
        <p:nvSpPr>
          <p:cNvPr id="50" name="Text 48"/>
          <p:cNvSpPr txBox="1"/>
          <p:nvPr/>
        </p:nvSpPr>
        <p:spPr>
          <a:xfrm>
            <a:off x="3226296" y="48742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Were the plants watered? (no sensor)</a:t>
            </a:r>
            <a:endParaRPr lang="en-US" sz="1200" dirty="0"/>
          </a:p>
        </p:txBody>
      </p:sp>
      <p:sp>
        <p:nvSpPr>
          <p:cNvPr id="51" name="Text 49"/>
          <p:cNvSpPr txBox="1"/>
          <p:nvPr/>
        </p:nvSpPr>
        <p:spPr>
          <a:xfrm>
            <a:off x="7875488" y="4874220"/>
            <a:ext cx="34826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Capability registry: honest refusal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WHY HOMEFM</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Goals, non-goals and targets</a:t>
            </a:r>
            <a:endParaRPr lang="en-US" sz="2800" dirty="0"/>
          </a:p>
        </p:txBody>
      </p:sp>
      <p:sp>
        <p:nvSpPr>
          <p:cNvPr id="4" name="Shape 2"/>
          <p:cNvSpPr/>
          <p:nvPr/>
        </p:nvSpPr>
        <p:spPr>
          <a:xfrm>
            <a:off x="812800" y="1457920"/>
            <a:ext cx="406499" cy="254000"/>
          </a:xfrm>
          <a:prstGeom prst="roundRect">
            <a:avLst>
              <a:gd name="adj" fmla="val 50000"/>
            </a:avLst>
          </a:prstGeom>
          <a:solidFill>
            <a:srgbClr val="E6EEF8"/>
          </a:solidFill>
          <a:ln/>
        </p:spPr>
      </p:sp>
      <p:sp>
        <p:nvSpPr>
          <p:cNvPr id="5" name="Text 3"/>
          <p:cNvSpPr txBox="1"/>
          <p:nvPr/>
        </p:nvSpPr>
        <p:spPr>
          <a:xfrm>
            <a:off x="914400" y="1496020"/>
            <a:ext cx="255116"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G1</a:t>
            </a:r>
            <a:endParaRPr lang="en-US" sz="1200" dirty="0"/>
          </a:p>
        </p:txBody>
      </p:sp>
      <p:sp>
        <p:nvSpPr>
          <p:cNvPr id="6" name="Text 4"/>
          <p:cNvSpPr txBox="1"/>
          <p:nvPr/>
        </p:nvSpPr>
        <p:spPr>
          <a:xfrm>
            <a:off x="1320899" y="1488380"/>
            <a:ext cx="5704632" cy="23114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One pretrained model that transfers to unseen homes with any set of devices</a:t>
            </a:r>
            <a:endParaRPr lang="en-US" sz="1300" dirty="0"/>
          </a:p>
        </p:txBody>
      </p:sp>
      <p:sp>
        <p:nvSpPr>
          <p:cNvPr id="7" name="Shape 5"/>
          <p:cNvSpPr/>
          <p:nvPr/>
        </p:nvSpPr>
        <p:spPr>
          <a:xfrm>
            <a:off x="812800" y="1800820"/>
            <a:ext cx="406499" cy="254000"/>
          </a:xfrm>
          <a:prstGeom prst="roundRect">
            <a:avLst>
              <a:gd name="adj" fmla="val 50000"/>
            </a:avLst>
          </a:prstGeom>
          <a:solidFill>
            <a:srgbClr val="E6EEF8"/>
          </a:solidFill>
          <a:ln/>
        </p:spPr>
      </p:sp>
      <p:sp>
        <p:nvSpPr>
          <p:cNvPr id="8" name="Text 6"/>
          <p:cNvSpPr txBox="1"/>
          <p:nvPr/>
        </p:nvSpPr>
        <p:spPr>
          <a:xfrm>
            <a:off x="914400" y="1838920"/>
            <a:ext cx="255116"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G2</a:t>
            </a:r>
            <a:endParaRPr lang="en-US" sz="1200" dirty="0"/>
          </a:p>
        </p:txBody>
      </p:sp>
      <p:sp>
        <p:nvSpPr>
          <p:cNvPr id="9" name="Text 7"/>
          <p:cNvSpPr txBox="1"/>
          <p:nvPr/>
        </p:nvSpPr>
        <p:spPr>
          <a:xfrm>
            <a:off x="1320899" y="1819870"/>
            <a:ext cx="5758577" cy="42158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Open vocabulary: recognise and search concepts never labelled (“vacuuming”, “guest arrived”)</a:t>
            </a:r>
            <a:endParaRPr lang="en-US" sz="1300" dirty="0"/>
          </a:p>
        </p:txBody>
      </p:sp>
      <p:sp>
        <p:nvSpPr>
          <p:cNvPr id="10" name="Shape 8"/>
          <p:cNvSpPr/>
          <p:nvPr/>
        </p:nvSpPr>
        <p:spPr>
          <a:xfrm>
            <a:off x="812800" y="2351881"/>
            <a:ext cx="406499" cy="254000"/>
          </a:xfrm>
          <a:prstGeom prst="roundRect">
            <a:avLst>
              <a:gd name="adj" fmla="val 50000"/>
            </a:avLst>
          </a:prstGeom>
          <a:solidFill>
            <a:srgbClr val="E6EEF8"/>
          </a:solidFill>
          <a:ln/>
        </p:spPr>
      </p:sp>
      <p:sp>
        <p:nvSpPr>
          <p:cNvPr id="11" name="Text 9"/>
          <p:cNvSpPr txBox="1"/>
          <p:nvPr/>
        </p:nvSpPr>
        <p:spPr>
          <a:xfrm>
            <a:off x="914400" y="2389981"/>
            <a:ext cx="255116"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G3</a:t>
            </a:r>
            <a:endParaRPr lang="en-US" sz="1200" dirty="0"/>
          </a:p>
        </p:txBody>
      </p:sp>
      <p:sp>
        <p:nvSpPr>
          <p:cNvPr id="12" name="Text 10"/>
          <p:cNvSpPr txBox="1"/>
          <p:nvPr/>
        </p:nvSpPr>
        <p:spPr>
          <a:xfrm>
            <a:off x="1320899" y="2370931"/>
            <a:ext cx="5758577" cy="42158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Binary events, continuous telemetry and audio/vision detector outputs in one representation</a:t>
            </a:r>
            <a:endParaRPr lang="en-US" sz="1300" dirty="0"/>
          </a:p>
        </p:txBody>
      </p:sp>
      <p:sp>
        <p:nvSpPr>
          <p:cNvPr id="13" name="Shape 11"/>
          <p:cNvSpPr/>
          <p:nvPr/>
        </p:nvSpPr>
        <p:spPr>
          <a:xfrm>
            <a:off x="812800" y="2902942"/>
            <a:ext cx="406499" cy="254000"/>
          </a:xfrm>
          <a:prstGeom prst="roundRect">
            <a:avLst>
              <a:gd name="adj" fmla="val 50000"/>
            </a:avLst>
          </a:prstGeom>
          <a:solidFill>
            <a:srgbClr val="E6EEF8"/>
          </a:solidFill>
          <a:ln/>
        </p:spPr>
      </p:sp>
      <p:sp>
        <p:nvSpPr>
          <p:cNvPr id="14" name="Text 12"/>
          <p:cNvSpPr txBox="1"/>
          <p:nvPr/>
        </p:nvSpPr>
        <p:spPr>
          <a:xfrm>
            <a:off x="914400" y="2941042"/>
            <a:ext cx="255116"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G4</a:t>
            </a:r>
            <a:endParaRPr lang="en-US" sz="1200" dirty="0"/>
          </a:p>
        </p:txBody>
      </p:sp>
      <p:sp>
        <p:nvSpPr>
          <p:cNvPr id="15" name="Text 13"/>
          <p:cNvSpPr txBox="1"/>
          <p:nvPr/>
        </p:nvSpPr>
        <p:spPr>
          <a:xfrm>
            <a:off x="1320899" y="2921992"/>
            <a:ext cx="5758577" cy="42158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Reasons over seconds, hours and weeks (cries, cooking, routines, device degradation)</a:t>
            </a:r>
            <a:endParaRPr lang="en-US" sz="1300" dirty="0"/>
          </a:p>
        </p:txBody>
      </p:sp>
      <p:sp>
        <p:nvSpPr>
          <p:cNvPr id="16" name="Shape 14"/>
          <p:cNvSpPr/>
          <p:nvPr/>
        </p:nvSpPr>
        <p:spPr>
          <a:xfrm>
            <a:off x="812800" y="3454003"/>
            <a:ext cx="406499" cy="254000"/>
          </a:xfrm>
          <a:prstGeom prst="roundRect">
            <a:avLst>
              <a:gd name="adj" fmla="val 50000"/>
            </a:avLst>
          </a:prstGeom>
          <a:solidFill>
            <a:srgbClr val="E6EEF8"/>
          </a:solidFill>
          <a:ln/>
        </p:spPr>
      </p:sp>
      <p:sp>
        <p:nvSpPr>
          <p:cNvPr id="17" name="Text 15"/>
          <p:cNvSpPr txBox="1"/>
          <p:nvPr/>
        </p:nvSpPr>
        <p:spPr>
          <a:xfrm>
            <a:off x="914400" y="3492103"/>
            <a:ext cx="255116"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G5</a:t>
            </a:r>
            <a:endParaRPr lang="en-US" sz="1200" dirty="0"/>
          </a:p>
        </p:txBody>
      </p:sp>
      <p:sp>
        <p:nvSpPr>
          <p:cNvPr id="18" name="Text 16"/>
          <p:cNvSpPr txBox="1"/>
          <p:nvPr/>
        </p:nvSpPr>
        <p:spPr>
          <a:xfrm>
            <a:off x="1320899" y="3473053"/>
            <a:ext cx="5758577" cy="42158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Exact counts and durations, calibrated anomaly and device-health scores, forecasts</a:t>
            </a:r>
            <a:endParaRPr lang="en-US" sz="1300" dirty="0"/>
          </a:p>
        </p:txBody>
      </p:sp>
      <p:sp>
        <p:nvSpPr>
          <p:cNvPr id="19" name="Shape 17"/>
          <p:cNvSpPr/>
          <p:nvPr/>
        </p:nvSpPr>
        <p:spPr>
          <a:xfrm>
            <a:off x="812800" y="4005064"/>
            <a:ext cx="406499" cy="254000"/>
          </a:xfrm>
          <a:prstGeom prst="roundRect">
            <a:avLst>
              <a:gd name="adj" fmla="val 50000"/>
            </a:avLst>
          </a:prstGeom>
          <a:solidFill>
            <a:srgbClr val="E6EEF8"/>
          </a:solidFill>
          <a:ln/>
        </p:spPr>
      </p:sp>
      <p:sp>
        <p:nvSpPr>
          <p:cNvPr id="20" name="Text 18"/>
          <p:cNvSpPr txBox="1"/>
          <p:nvPr/>
        </p:nvSpPr>
        <p:spPr>
          <a:xfrm>
            <a:off x="914400" y="4043164"/>
            <a:ext cx="255116"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G6</a:t>
            </a:r>
            <a:endParaRPr lang="en-US" sz="1200" dirty="0"/>
          </a:p>
        </p:txBody>
      </p:sp>
      <p:sp>
        <p:nvSpPr>
          <p:cNvPr id="21" name="Text 19"/>
          <p:cNvSpPr txBox="1"/>
          <p:nvPr/>
        </p:nvSpPr>
        <p:spPr>
          <a:xfrm>
            <a:off x="1320899" y="4035524"/>
            <a:ext cx="5087297" cy="23114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Streams on an edge hub; raw audio and video never leave the home</a:t>
            </a:r>
            <a:endParaRPr lang="en-US" sz="1300" dirty="0"/>
          </a:p>
        </p:txBody>
      </p:sp>
      <p:sp>
        <p:nvSpPr>
          <p:cNvPr id="22" name="Shape 20"/>
          <p:cNvSpPr/>
          <p:nvPr/>
        </p:nvSpPr>
        <p:spPr>
          <a:xfrm>
            <a:off x="7260630" y="1464270"/>
            <a:ext cx="4112220" cy="1854002"/>
          </a:xfrm>
          <a:prstGeom prst="roundRect">
            <a:avLst>
              <a:gd name="adj" fmla="val 5138"/>
            </a:avLst>
          </a:prstGeom>
          <a:solidFill>
            <a:srgbClr val="FDFCFA"/>
          </a:solidFill>
          <a:ln w="12700">
            <a:solidFill>
              <a:srgbClr val="E3E0D7"/>
            </a:solidFill>
            <a:prstDash val="solid"/>
          </a:ln>
        </p:spPr>
      </p:sp>
      <p:sp>
        <p:nvSpPr>
          <p:cNvPr id="23" name="Text 21"/>
          <p:cNvSpPr txBox="1"/>
          <p:nvPr/>
        </p:nvSpPr>
        <p:spPr>
          <a:xfrm>
            <a:off x="7444780" y="1654770"/>
            <a:ext cx="381344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Not in v1</a:t>
            </a:r>
            <a:endParaRPr lang="en-US" sz="1500" dirty="0"/>
          </a:p>
        </p:txBody>
      </p:sp>
      <p:sp>
        <p:nvSpPr>
          <p:cNvPr id="24" name="Text 22"/>
          <p:cNvSpPr txBox="1"/>
          <p:nvPr/>
        </p:nvSpPr>
        <p:spPr>
          <a:xfrm>
            <a:off x="7444780" y="1959570"/>
            <a:ext cx="3813440"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Raw video or audio inside HomeFM: on-device experts handle it</a:t>
            </a:r>
            <a:endParaRPr lang="en-US" sz="1200" dirty="0"/>
          </a:p>
        </p:txBody>
      </p:sp>
      <p:sp>
        <p:nvSpPr>
          <p:cNvPr id="25" name="Text 23"/>
          <p:cNvSpPr txBox="1"/>
          <p:nvPr/>
        </p:nvSpPr>
        <p:spPr>
          <a:xfrm>
            <a:off x="7444780" y="2449711"/>
            <a:ext cx="3813440"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Home automation control</a:t>
            </a:r>
            <a:endParaRPr lang="en-US" sz="1200" dirty="0"/>
          </a:p>
        </p:txBody>
      </p:sp>
      <p:sp>
        <p:nvSpPr>
          <p:cNvPr id="26" name="Text 24"/>
          <p:cNvSpPr txBox="1"/>
          <p:nvPr/>
        </p:nvSpPr>
        <p:spPr>
          <a:xfrm>
            <a:off x="7444780" y="2726531"/>
            <a:ext cx="3813440"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Medical diagnosis: elderly-care outputs are behavioural signals</a:t>
            </a:r>
            <a:endParaRPr lang="en-US" sz="1200" dirty="0"/>
          </a:p>
        </p:txBody>
      </p:sp>
      <p:sp>
        <p:nvSpPr>
          <p:cNvPr id="27" name="Shape 25"/>
          <p:cNvSpPr/>
          <p:nvPr/>
        </p:nvSpPr>
        <p:spPr>
          <a:xfrm>
            <a:off x="7260630" y="3457972"/>
            <a:ext cx="4112220" cy="1854002"/>
          </a:xfrm>
          <a:prstGeom prst="roundRect">
            <a:avLst>
              <a:gd name="adj" fmla="val 5138"/>
            </a:avLst>
          </a:prstGeom>
          <a:solidFill>
            <a:srgbClr val="FDFCFA"/>
          </a:solidFill>
          <a:ln w="12700">
            <a:solidFill>
              <a:srgbClr val="E3E0D7"/>
            </a:solidFill>
            <a:prstDash val="solid"/>
          </a:ln>
        </p:spPr>
      </p:sp>
      <p:sp>
        <p:nvSpPr>
          <p:cNvPr id="28" name="Text 26"/>
          <p:cNvSpPr txBox="1"/>
          <p:nvPr/>
        </p:nvSpPr>
        <p:spPr>
          <a:xfrm>
            <a:off x="7444780" y="3648472"/>
            <a:ext cx="381344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Non-functional targets</a:t>
            </a:r>
            <a:endParaRPr lang="en-US" sz="1500" dirty="0"/>
          </a:p>
        </p:txBody>
      </p:sp>
      <p:sp>
        <p:nvSpPr>
          <p:cNvPr id="29" name="Text 27"/>
          <p:cNvSpPr txBox="1"/>
          <p:nvPr/>
        </p:nvSpPr>
        <p:spPr>
          <a:xfrm>
            <a:off x="7444780" y="3953272"/>
            <a:ext cx="3813440"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Answers in under 2 s for stored facts</a:t>
            </a:r>
            <a:endParaRPr lang="en-US" sz="1200" dirty="0"/>
          </a:p>
        </p:txBody>
      </p:sp>
      <p:sp>
        <p:nvSpPr>
          <p:cNvPr id="30" name="Text 28"/>
          <p:cNvSpPr txBox="1"/>
          <p:nvPr/>
        </p:nvSpPr>
        <p:spPr>
          <a:xfrm>
            <a:off x="7444780" y="4230092"/>
            <a:ext cx="3813440"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Hub student under 500 MB RAM, under 20 ms per minute update</a:t>
            </a:r>
            <a:endParaRPr lang="en-US" sz="1200" dirty="0"/>
          </a:p>
        </p:txBody>
      </p:sp>
      <p:sp>
        <p:nvSpPr>
          <p:cNvPr id="31" name="Text 29"/>
          <p:cNvSpPr txBox="1"/>
          <p:nvPr/>
        </p:nvSpPr>
        <p:spPr>
          <a:xfrm>
            <a:off x="7444780" y="4720233"/>
            <a:ext cx="3813440"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Only events and embeddings stored; every answer carries evidence and confidence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DomusFM in one slide (Fiori et al., arXiv 2602.01910)</a:t>
            </a:r>
            <a:endParaRPr lang="en-US" sz="2800" dirty="0"/>
          </a:p>
        </p:txBody>
      </p:sp>
      <p:sp>
        <p:nvSpPr>
          <p:cNvPr id="4" name="Shape 2"/>
          <p:cNvSpPr/>
          <p:nvPr/>
        </p:nvSpPr>
        <p:spPr>
          <a:xfrm>
            <a:off x="819150" y="1464270"/>
            <a:ext cx="1755180" cy="982662"/>
          </a:xfrm>
          <a:prstGeom prst="roundRect">
            <a:avLst>
              <a:gd name="adj" fmla="val 7108"/>
            </a:avLst>
          </a:prstGeom>
          <a:solidFill>
            <a:srgbClr val="FBEBDD"/>
          </a:solidFill>
          <a:ln w="12700">
            <a:solidFill>
              <a:srgbClr val="E9C3A2"/>
            </a:solidFill>
            <a:prstDash val="solid"/>
          </a:ln>
        </p:spPr>
      </p:sp>
      <p:sp>
        <p:nvSpPr>
          <p:cNvPr id="5" name="Text 3"/>
          <p:cNvSpPr txBox="1"/>
          <p:nvPr/>
        </p:nvSpPr>
        <p:spPr>
          <a:xfrm>
            <a:off x="897852" y="1572220"/>
            <a:ext cx="1597776"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Event</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time · sensor · ON/OFF</a:t>
            </a:r>
            <a:endParaRPr lang="en-US" sz="1200" dirty="0"/>
          </a:p>
        </p:txBody>
      </p:sp>
      <p:sp>
        <p:nvSpPr>
          <p:cNvPr id="6" name="Shape 4"/>
          <p:cNvSpPr/>
          <p:nvPr/>
        </p:nvSpPr>
        <p:spPr>
          <a:xfrm>
            <a:off x="2656880" y="1885752"/>
            <a:ext cx="279400" cy="139700"/>
          </a:xfrm>
          <a:prstGeom prst="rightArrow">
            <a:avLst/>
          </a:prstGeom>
          <a:solidFill>
            <a:srgbClr val="9AA3B2"/>
          </a:solidFill>
          <a:ln/>
        </p:spPr>
      </p:sp>
      <p:sp>
        <p:nvSpPr>
          <p:cNvPr id="7" name="Shape 5"/>
          <p:cNvSpPr/>
          <p:nvPr/>
        </p:nvSpPr>
        <p:spPr>
          <a:xfrm>
            <a:off x="3018830" y="1464270"/>
            <a:ext cx="1755180" cy="982662"/>
          </a:xfrm>
          <a:prstGeom prst="roundRect">
            <a:avLst>
              <a:gd name="adj" fmla="val 7108"/>
            </a:avLst>
          </a:prstGeom>
          <a:solidFill>
            <a:srgbClr val="FBEBDD"/>
          </a:solidFill>
          <a:ln w="12700">
            <a:solidFill>
              <a:srgbClr val="E9C3A2"/>
            </a:solidFill>
            <a:prstDash val="solid"/>
          </a:ln>
        </p:spPr>
      </p:sp>
      <p:sp>
        <p:nvSpPr>
          <p:cNvPr id="8" name="Text 6"/>
          <p:cNvSpPr txBox="1"/>
          <p:nvPr/>
        </p:nvSpPr>
        <p:spPr>
          <a:xfrm>
            <a:off x="3097531" y="1572220"/>
            <a:ext cx="1597776" cy="765572"/>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Sensor as text</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item, type, room → MiniLM (frozen) + status + cyclic time</a:t>
            </a:r>
            <a:endParaRPr lang="en-US" sz="1200" dirty="0"/>
          </a:p>
        </p:txBody>
      </p:sp>
      <p:sp>
        <p:nvSpPr>
          <p:cNvPr id="9" name="Shape 7"/>
          <p:cNvSpPr/>
          <p:nvPr/>
        </p:nvSpPr>
        <p:spPr>
          <a:xfrm>
            <a:off x="4856559" y="1885752"/>
            <a:ext cx="279400" cy="139700"/>
          </a:xfrm>
          <a:prstGeom prst="rightArrow">
            <a:avLst/>
          </a:prstGeom>
          <a:solidFill>
            <a:srgbClr val="9AA3B2"/>
          </a:solidFill>
          <a:ln/>
        </p:spPr>
      </p:sp>
      <p:sp>
        <p:nvSpPr>
          <p:cNvPr id="10" name="Shape 8"/>
          <p:cNvSpPr/>
          <p:nvPr/>
        </p:nvSpPr>
        <p:spPr>
          <a:xfrm>
            <a:off x="5218509" y="1464270"/>
            <a:ext cx="1755180" cy="982662"/>
          </a:xfrm>
          <a:prstGeom prst="roundRect">
            <a:avLst>
              <a:gd name="adj" fmla="val 7108"/>
            </a:avLst>
          </a:prstGeom>
          <a:solidFill>
            <a:srgbClr val="FBEBDD"/>
          </a:solidFill>
          <a:ln w="12700">
            <a:solidFill>
              <a:srgbClr val="E9C3A2"/>
            </a:solidFill>
            <a:prstDash val="solid"/>
          </a:ln>
        </p:spPr>
      </p:sp>
      <p:sp>
        <p:nvSpPr>
          <p:cNvPr id="11" name="Text 9"/>
          <p:cNvSpPr txBox="1"/>
          <p:nvPr/>
        </p:nvSpPr>
        <p:spPr>
          <a:xfrm>
            <a:off x="5297211" y="1572220"/>
            <a:ext cx="1597776"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Attribute self-attention</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 one event vector</a:t>
            </a:r>
            <a:endParaRPr lang="en-US" sz="1200" dirty="0"/>
          </a:p>
        </p:txBody>
      </p:sp>
      <p:sp>
        <p:nvSpPr>
          <p:cNvPr id="12" name="Shape 10"/>
          <p:cNvSpPr/>
          <p:nvPr/>
        </p:nvSpPr>
        <p:spPr>
          <a:xfrm>
            <a:off x="7056239" y="1885752"/>
            <a:ext cx="279400" cy="139700"/>
          </a:xfrm>
          <a:prstGeom prst="rightArrow">
            <a:avLst/>
          </a:prstGeom>
          <a:solidFill>
            <a:srgbClr val="9AA3B2"/>
          </a:solidFill>
          <a:ln/>
        </p:spPr>
      </p:sp>
      <p:sp>
        <p:nvSpPr>
          <p:cNvPr id="13" name="Shape 11"/>
          <p:cNvSpPr/>
          <p:nvPr/>
        </p:nvSpPr>
        <p:spPr>
          <a:xfrm>
            <a:off x="7418189" y="1464270"/>
            <a:ext cx="1755180" cy="982662"/>
          </a:xfrm>
          <a:prstGeom prst="roundRect">
            <a:avLst>
              <a:gd name="adj" fmla="val 7108"/>
            </a:avLst>
          </a:prstGeom>
          <a:solidFill>
            <a:srgbClr val="FBEBDD"/>
          </a:solidFill>
          <a:ln w="12700">
            <a:solidFill>
              <a:srgbClr val="E9C3A2"/>
            </a:solidFill>
            <a:prstDash val="solid"/>
          </a:ln>
        </p:spPr>
      </p:sp>
      <p:sp>
        <p:nvSpPr>
          <p:cNvPr id="14" name="Text 12"/>
          <p:cNvSpPr txBox="1"/>
          <p:nvPr/>
        </p:nvSpPr>
        <p:spPr>
          <a:xfrm>
            <a:off x="7496891" y="1572220"/>
            <a:ext cx="1597776"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12-layer transformer</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over the last 30 events, d = 384</a:t>
            </a:r>
            <a:endParaRPr lang="en-US" sz="1200" dirty="0"/>
          </a:p>
        </p:txBody>
      </p:sp>
      <p:sp>
        <p:nvSpPr>
          <p:cNvPr id="15" name="Shape 13"/>
          <p:cNvSpPr/>
          <p:nvPr/>
        </p:nvSpPr>
        <p:spPr>
          <a:xfrm>
            <a:off x="9255919" y="1885752"/>
            <a:ext cx="279400" cy="139700"/>
          </a:xfrm>
          <a:prstGeom prst="rightArrow">
            <a:avLst/>
          </a:prstGeom>
          <a:solidFill>
            <a:srgbClr val="9AA3B2"/>
          </a:solidFill>
          <a:ln/>
        </p:spPr>
      </p:sp>
      <p:sp>
        <p:nvSpPr>
          <p:cNvPr id="16" name="Shape 14"/>
          <p:cNvSpPr/>
          <p:nvPr/>
        </p:nvSpPr>
        <p:spPr>
          <a:xfrm>
            <a:off x="9617869" y="1464270"/>
            <a:ext cx="1755180" cy="982662"/>
          </a:xfrm>
          <a:prstGeom prst="roundRect">
            <a:avLst>
              <a:gd name="adj" fmla="val 7108"/>
            </a:avLst>
          </a:prstGeom>
          <a:solidFill>
            <a:srgbClr val="FBEBDD"/>
          </a:solidFill>
          <a:ln w="12700">
            <a:solidFill>
              <a:srgbClr val="E9C3A2"/>
            </a:solidFill>
            <a:prstDash val="solid"/>
          </a:ln>
        </p:spPr>
      </p:sp>
      <p:sp>
        <p:nvSpPr>
          <p:cNvPr id="17" name="Text 15"/>
          <p:cNvSpPr txBox="1"/>
          <p:nvPr/>
        </p:nvSpPr>
        <p:spPr>
          <a:xfrm>
            <a:off x="9696571" y="1572220"/>
            <a:ext cx="1597776"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Heads</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activity (linear) · next-k bag of events</a:t>
            </a:r>
            <a:endParaRPr lang="en-US" sz="1200" dirty="0"/>
          </a:p>
        </p:txBody>
      </p:sp>
      <p:sp>
        <p:nvSpPr>
          <p:cNvPr id="18" name="Shape 16"/>
          <p:cNvSpPr/>
          <p:nvPr/>
        </p:nvSpPr>
        <p:spPr>
          <a:xfrm>
            <a:off x="819150" y="2637433"/>
            <a:ext cx="3407866" cy="1513681"/>
          </a:xfrm>
          <a:prstGeom prst="roundRect">
            <a:avLst>
              <a:gd name="adj" fmla="val 6293"/>
            </a:avLst>
          </a:prstGeom>
          <a:solidFill>
            <a:srgbClr val="FDFCFA"/>
          </a:solidFill>
          <a:ln w="12700">
            <a:solidFill>
              <a:srgbClr val="E3E0D7"/>
            </a:solidFill>
            <a:prstDash val="solid"/>
          </a:ln>
        </p:spPr>
      </p:sp>
      <p:sp>
        <p:nvSpPr>
          <p:cNvPr id="19" name="Text 17"/>
          <p:cNvSpPr txBox="1"/>
          <p:nvPr/>
        </p:nvSpPr>
        <p:spPr>
          <a:xfrm>
            <a:off x="1003300" y="2827933"/>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Pretraining, no labels</a:t>
            </a:r>
            <a:endParaRPr lang="en-US" sz="1500" dirty="0"/>
          </a:p>
        </p:txBody>
      </p:sp>
      <p:sp>
        <p:nvSpPr>
          <p:cNvPr id="20" name="Text 18"/>
          <p:cNvSpPr txBox="1"/>
          <p:nvPr/>
        </p:nvSpPr>
        <p:spPr>
          <a:xfrm>
            <a:off x="1003300" y="3132733"/>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Two contrastive phases (InfoNCE): hide one attribute of some events, then hide whole events with the event layers frozen.</a:t>
            </a:r>
            <a:endParaRPr lang="en-US" sz="1200" dirty="0"/>
          </a:p>
        </p:txBody>
      </p:sp>
      <p:sp>
        <p:nvSpPr>
          <p:cNvPr id="21" name="Shape 19"/>
          <p:cNvSpPr/>
          <p:nvPr/>
        </p:nvSpPr>
        <p:spPr>
          <a:xfrm>
            <a:off x="4392116" y="2637433"/>
            <a:ext cx="3407866" cy="1513681"/>
          </a:xfrm>
          <a:prstGeom prst="roundRect">
            <a:avLst>
              <a:gd name="adj" fmla="val 6293"/>
            </a:avLst>
          </a:prstGeom>
          <a:solidFill>
            <a:srgbClr val="FDFCFA"/>
          </a:solidFill>
          <a:ln w="12700">
            <a:solidFill>
              <a:srgbClr val="E3E0D7"/>
            </a:solidFill>
            <a:prstDash val="solid"/>
          </a:ln>
        </p:spPr>
      </p:sp>
      <p:sp>
        <p:nvSpPr>
          <p:cNvPr id="22" name="Text 20"/>
          <p:cNvSpPr txBox="1"/>
          <p:nvPr/>
        </p:nvSpPr>
        <p:spPr>
          <a:xfrm>
            <a:off x="4576266" y="2827933"/>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Fine-tuning</a:t>
            </a:r>
            <a:endParaRPr lang="en-US" sz="1500" dirty="0"/>
          </a:p>
        </p:txBody>
      </p:sp>
      <p:sp>
        <p:nvSpPr>
          <p:cNvPr id="23" name="Text 21"/>
          <p:cNvSpPr txBox="1"/>
          <p:nvPr/>
        </p:nvSpPr>
        <p:spPr>
          <a:xfrm>
            <a:off x="4576266" y="3132733"/>
            <a:ext cx="3105564"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 small head trained on 5–30 % of the target dataset's human-made activity labels. Leave-one-dataset-out over 7 public datasets.</a:t>
            </a:r>
            <a:endParaRPr lang="en-US" sz="1200" dirty="0"/>
          </a:p>
        </p:txBody>
      </p:sp>
      <p:sp>
        <p:nvSpPr>
          <p:cNvPr id="24" name="Shape 22"/>
          <p:cNvSpPr/>
          <p:nvPr/>
        </p:nvSpPr>
        <p:spPr>
          <a:xfrm>
            <a:off x="7965083" y="2637433"/>
            <a:ext cx="3407866" cy="1513681"/>
          </a:xfrm>
          <a:prstGeom prst="roundRect">
            <a:avLst>
              <a:gd name="adj" fmla="val 6293"/>
            </a:avLst>
          </a:prstGeom>
          <a:solidFill>
            <a:srgbClr val="FDFCFA"/>
          </a:solidFill>
          <a:ln w="12700">
            <a:solidFill>
              <a:srgbClr val="E3E0D7"/>
            </a:solidFill>
            <a:prstDash val="solid"/>
          </a:ln>
        </p:spPr>
      </p:sp>
      <p:sp>
        <p:nvSpPr>
          <p:cNvPr id="25" name="Text 23"/>
          <p:cNvSpPr txBox="1"/>
          <p:nvPr/>
        </p:nvSpPr>
        <p:spPr>
          <a:xfrm>
            <a:off x="8149233" y="2827933"/>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Edge-sized</a:t>
            </a:r>
            <a:endParaRPr lang="en-US" sz="1500" dirty="0"/>
          </a:p>
        </p:txBody>
      </p:sp>
      <p:sp>
        <p:nvSpPr>
          <p:cNvPr id="26" name="Text 24"/>
          <p:cNvSpPr txBox="1"/>
          <p:nvPr/>
        </p:nvSpPr>
        <p:spPr>
          <a:xfrm>
            <a:off x="8149233" y="3132733"/>
            <a:ext cx="3105564"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36M parameters, under 500 MB, ~10 ms per window on a Celeron mini-PC. Beats DeepCASAS, Chronos and a GPT-2 baseline.</a:t>
            </a:r>
            <a:endParaRPr lang="en-US" sz="1200" dirty="0"/>
          </a:p>
        </p:txBody>
      </p:sp>
      <p:sp>
        <p:nvSpPr>
          <p:cNvPr id="27" name="Text 25"/>
          <p:cNvSpPr txBox="1"/>
          <p:nvPr/>
        </p:nvSpPr>
        <p:spPr>
          <a:xfrm>
            <a:off x="812800" y="4354314"/>
            <a:ext cx="10670032"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Our reimplementation: </a:t>
            </a:r>
            <a:pPr algn="l" indent="0" marL="0">
              <a:lnSpc>
                <a:spcPts val="1680"/>
              </a:lnSpc>
              <a:buNone/>
            </a:pPr>
            <a:r>
              <a:rPr lang="en-US" sz="1200" b="1" dirty="0">
                <a:solidFill>
                  <a:srgbClr val="5B6472"/>
                </a:solidFill>
                <a:latin typeface="Arial" pitchFamily="34" charset="0"/>
                <a:ea typeface="Arial" pitchFamily="34" charset="-122"/>
                <a:cs typeface="Arial" pitchFamily="34" charset="-120"/>
              </a:rPr>
              <a:t>28.6M parameters</a:t>
            </a:r>
            <a:pPr algn="l" indent="0" marL="0">
              <a:lnSpc>
                <a:spcPts val="1680"/>
              </a:lnSpc>
              <a:buNone/>
            </a:pPr>
            <a:r>
              <a:rPr lang="en-US" sz="1200" dirty="0">
                <a:solidFill>
                  <a:srgbClr val="5B6472"/>
                </a:solidFill>
                <a:latin typeface="Arial" pitchFamily="34" charset="0"/>
                <a:ea typeface="Arial" pitchFamily="34" charset="-122"/>
                <a:cs typeface="Arial" pitchFamily="34" charset="-120"/>
              </a:rPr>
              <a:t> (the paper leaves some sizes unspecified), in </a:t>
            </a:r>
            <a:pPr algn="l" indent="0" marL="0">
              <a:lnSpc>
                <a:spcPts val="1680"/>
              </a:lnSpc>
              <a:buNone/>
            </a:pPr>
            <a:r>
              <a:rPr lang="en-US" sz="1200" b="1" dirty="0">
                <a:solidFill>
                  <a:srgbClr val="5B6472"/>
                </a:solidFill>
                <a:latin typeface="Arial" pitchFamily="34" charset="0"/>
                <a:ea typeface="Arial" pitchFamily="34" charset="-122"/>
                <a:cs typeface="Arial" pitchFamily="34" charset="-120"/>
              </a:rPr>
              <a:t>src/homefm/baselines/domusfm/</a:t>
            </a:r>
            <a:pPr algn="l" indent="0" marL="0">
              <a:lnSpc>
                <a:spcPts val="1680"/>
              </a:lnSpc>
              <a:buNone/>
            </a:pPr>
            <a:r>
              <a:rPr lang="en-US" sz="1200" dirty="0">
                <a:solidFill>
                  <a:srgbClr val="5B6472"/>
                </a:solidFill>
                <a:latin typeface="Arial" pitchFamily="34" charset="0"/>
                <a:ea typeface="Arial" pitchFamily="34" charset="-122"/>
                <a:cs typeface="Arial" pitchFamily="34" charset="-120"/>
              </a:rPr>
              <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DomusFM against our 10 model requirements</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17835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Requirement</a:t>
            </a:r>
            <a:endParaRPr lang="en-US" sz="1200" dirty="0"/>
          </a:p>
        </p:txBody>
      </p:sp>
      <p:sp>
        <p:nvSpPr>
          <p:cNvPr id="6" name="Text 4"/>
          <p:cNvSpPr txBox="1"/>
          <p:nvPr/>
        </p:nvSpPr>
        <p:spPr>
          <a:xfrm>
            <a:off x="2803624" y="1521420"/>
            <a:ext cx="295160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DomusFM</a:t>
            </a:r>
            <a:endParaRPr lang="en-US" sz="1200" dirty="0"/>
          </a:p>
        </p:txBody>
      </p:sp>
      <p:sp>
        <p:nvSpPr>
          <p:cNvPr id="7" name="Text 5"/>
          <p:cNvSpPr txBox="1"/>
          <p:nvPr/>
        </p:nvSpPr>
        <p:spPr>
          <a:xfrm>
            <a:off x="5867797" y="1521420"/>
            <a:ext cx="104017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Gap</a:t>
            </a:r>
            <a:endParaRPr lang="en-US" sz="1200" dirty="0"/>
          </a:p>
        </p:txBody>
      </p:sp>
      <p:sp>
        <p:nvSpPr>
          <p:cNvPr id="8" name="Text 6"/>
          <p:cNvSpPr txBox="1"/>
          <p:nvPr/>
        </p:nvSpPr>
        <p:spPr>
          <a:xfrm>
            <a:off x="7030045" y="1521420"/>
            <a:ext cx="433235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HomeFM answer</a:t>
            </a:r>
            <a:endParaRPr lang="en-US" sz="1200" dirty="0"/>
          </a:p>
        </p:txBody>
      </p:sp>
      <p:sp>
        <p:nvSpPr>
          <p:cNvPr id="9" name="Shape 7"/>
          <p:cNvSpPr/>
          <p:nvPr/>
        </p:nvSpPr>
        <p:spPr>
          <a:xfrm>
            <a:off x="812800" y="1762720"/>
            <a:ext cx="10566400" cy="304800"/>
          </a:xfrm>
          <a:prstGeom prst="rect">
            <a:avLst/>
          </a:prstGeom>
          <a:solidFill>
            <a:srgbClr val="FDFCFA"/>
          </a:solidFill>
          <a:ln/>
        </p:spPr>
      </p:sp>
      <p:sp>
        <p:nvSpPr>
          <p:cNvPr id="10" name="Text 8"/>
          <p:cNvSpPr txBox="1"/>
          <p:nvPr/>
        </p:nvSpPr>
        <p:spPr>
          <a:xfrm>
            <a:off x="901700" y="1826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R1 Open vocabulary</a:t>
            </a:r>
            <a:endParaRPr lang="en-US" sz="1200" dirty="0"/>
          </a:p>
        </p:txBody>
      </p:sp>
      <p:sp>
        <p:nvSpPr>
          <p:cNvPr id="11" name="Text 9"/>
          <p:cNvSpPr txBox="1"/>
          <p:nvPr/>
        </p:nvSpPr>
        <p:spPr>
          <a:xfrm>
            <a:off x="2803624" y="18262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Only activities with labels</a:t>
            </a:r>
            <a:endParaRPr lang="en-US" sz="1200" dirty="0"/>
          </a:p>
        </p:txBody>
      </p:sp>
      <p:sp>
        <p:nvSpPr>
          <p:cNvPr id="12" name="Text 10"/>
          <p:cNvSpPr txBox="1"/>
          <p:nvPr/>
        </p:nvSpPr>
        <p:spPr>
          <a:xfrm>
            <a:off x="5867797" y="18262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Missing</a:t>
            </a:r>
            <a:endParaRPr lang="en-US" sz="1200" dirty="0"/>
          </a:p>
        </p:txBody>
      </p:sp>
      <p:sp>
        <p:nvSpPr>
          <p:cNvPr id="13" name="Text 11"/>
          <p:cNvSpPr txBox="1"/>
          <p:nvPr/>
        </p:nvSpPr>
        <p:spPr>
          <a:xfrm>
            <a:off x="7030045" y="18262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Minutes aligned with sentences: tagger, search</a:t>
            </a:r>
            <a:endParaRPr lang="en-US" sz="1200" dirty="0"/>
          </a:p>
        </p:txBody>
      </p:sp>
      <p:sp>
        <p:nvSpPr>
          <p:cNvPr id="14" name="Shape 12"/>
          <p:cNvSpPr/>
          <p:nvPr/>
        </p:nvSpPr>
        <p:spPr>
          <a:xfrm>
            <a:off x="812800" y="2067520"/>
            <a:ext cx="10566400" cy="304800"/>
          </a:xfrm>
          <a:prstGeom prst="rect">
            <a:avLst/>
          </a:prstGeom>
          <a:solidFill>
            <a:srgbClr val="F6F5F1"/>
          </a:solidFill>
          <a:ln/>
        </p:spPr>
      </p:sp>
      <p:sp>
        <p:nvSpPr>
          <p:cNvPr id="15" name="Text 13"/>
          <p:cNvSpPr txBox="1"/>
          <p:nvPr/>
        </p:nvSpPr>
        <p:spPr>
          <a:xfrm>
            <a:off x="901700" y="2131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R2 Multi-modal</a:t>
            </a:r>
            <a:endParaRPr lang="en-US" sz="1200" dirty="0"/>
          </a:p>
        </p:txBody>
      </p:sp>
      <p:sp>
        <p:nvSpPr>
          <p:cNvPr id="16" name="Text 14"/>
          <p:cNvSpPr txBox="1"/>
          <p:nvPr/>
        </p:nvSpPr>
        <p:spPr>
          <a:xfrm>
            <a:off x="2803624" y="21310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Binary only; numbers binarised</a:t>
            </a:r>
            <a:endParaRPr lang="en-US" sz="1200" dirty="0"/>
          </a:p>
        </p:txBody>
      </p:sp>
      <p:sp>
        <p:nvSpPr>
          <p:cNvPr id="17" name="Text 15"/>
          <p:cNvSpPr txBox="1"/>
          <p:nvPr/>
        </p:nvSpPr>
        <p:spPr>
          <a:xfrm>
            <a:off x="5867797" y="21310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Missing</a:t>
            </a:r>
            <a:endParaRPr lang="en-US" sz="1200" dirty="0"/>
          </a:p>
        </p:txBody>
      </p:sp>
      <p:sp>
        <p:nvSpPr>
          <p:cNvPr id="18" name="Text 16"/>
          <p:cNvSpPr txBox="1"/>
          <p:nvPr/>
        </p:nvSpPr>
        <p:spPr>
          <a:xfrm>
            <a:off x="7030045" y="21310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Numbers stay numbers; audio/vision tags</a:t>
            </a:r>
            <a:endParaRPr lang="en-US" sz="1200" dirty="0"/>
          </a:p>
        </p:txBody>
      </p:sp>
      <p:sp>
        <p:nvSpPr>
          <p:cNvPr id="19" name="Shape 17"/>
          <p:cNvSpPr/>
          <p:nvPr/>
        </p:nvSpPr>
        <p:spPr>
          <a:xfrm>
            <a:off x="812800" y="2372320"/>
            <a:ext cx="10566400" cy="304800"/>
          </a:xfrm>
          <a:prstGeom prst="rect">
            <a:avLst/>
          </a:prstGeom>
          <a:solidFill>
            <a:srgbClr val="FDFCFA"/>
          </a:solidFill>
          <a:ln/>
        </p:spPr>
      </p:sp>
      <p:sp>
        <p:nvSpPr>
          <p:cNvPr id="20" name="Text 18"/>
          <p:cNvSpPr txBox="1"/>
          <p:nvPr/>
        </p:nvSpPr>
        <p:spPr>
          <a:xfrm>
            <a:off x="901700" y="2435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R3 Multi-scale time</a:t>
            </a:r>
            <a:endParaRPr lang="en-US" sz="1200" dirty="0"/>
          </a:p>
        </p:txBody>
      </p:sp>
      <p:sp>
        <p:nvSpPr>
          <p:cNvPr id="21" name="Text 19"/>
          <p:cNvSpPr txBox="1"/>
          <p:nvPr/>
        </p:nvSpPr>
        <p:spPr>
          <a:xfrm>
            <a:off x="2803624" y="24358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Fixed 30-event window</a:t>
            </a:r>
            <a:endParaRPr lang="en-US" sz="1200" dirty="0"/>
          </a:p>
        </p:txBody>
      </p:sp>
      <p:sp>
        <p:nvSpPr>
          <p:cNvPr id="22" name="Text 20"/>
          <p:cNvSpPr txBox="1"/>
          <p:nvPr/>
        </p:nvSpPr>
        <p:spPr>
          <a:xfrm>
            <a:off x="5867797" y="24358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Missing</a:t>
            </a:r>
            <a:endParaRPr lang="en-US" sz="1200" dirty="0"/>
          </a:p>
        </p:txBody>
      </p:sp>
      <p:sp>
        <p:nvSpPr>
          <p:cNvPr id="23" name="Text 21"/>
          <p:cNvSpPr txBox="1"/>
          <p:nvPr/>
        </p:nvSpPr>
        <p:spPr>
          <a:xfrm>
            <a:off x="7030045" y="24358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1-minute steps, hours of stream, day tokens</a:t>
            </a:r>
            <a:endParaRPr lang="en-US" sz="1200" dirty="0"/>
          </a:p>
        </p:txBody>
      </p:sp>
      <p:sp>
        <p:nvSpPr>
          <p:cNvPr id="24" name="Shape 22"/>
          <p:cNvSpPr/>
          <p:nvPr/>
        </p:nvSpPr>
        <p:spPr>
          <a:xfrm>
            <a:off x="812800" y="2677120"/>
            <a:ext cx="10566400" cy="304800"/>
          </a:xfrm>
          <a:prstGeom prst="rect">
            <a:avLst/>
          </a:prstGeom>
          <a:solidFill>
            <a:srgbClr val="F6F5F1"/>
          </a:solidFill>
          <a:ln/>
        </p:spPr>
      </p:sp>
      <p:sp>
        <p:nvSpPr>
          <p:cNvPr id="25" name="Text 23"/>
          <p:cNvSpPr txBox="1"/>
          <p:nvPr/>
        </p:nvSpPr>
        <p:spPr>
          <a:xfrm>
            <a:off x="901700" y="27406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R4 Multi-occupant</a:t>
            </a:r>
            <a:endParaRPr lang="en-US" sz="1200" dirty="0"/>
          </a:p>
        </p:txBody>
      </p:sp>
      <p:sp>
        <p:nvSpPr>
          <p:cNvPr id="26" name="Text 24"/>
          <p:cNvSpPr txBox="1"/>
          <p:nvPr/>
        </p:nvSpPr>
        <p:spPr>
          <a:xfrm>
            <a:off x="2803624" y="27406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resident assumed</a:t>
            </a:r>
            <a:endParaRPr lang="en-US" sz="1200" dirty="0"/>
          </a:p>
        </p:txBody>
      </p:sp>
      <p:sp>
        <p:nvSpPr>
          <p:cNvPr id="27" name="Text 25"/>
          <p:cNvSpPr txBox="1"/>
          <p:nvPr/>
        </p:nvSpPr>
        <p:spPr>
          <a:xfrm>
            <a:off x="5867797" y="27406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Missing</a:t>
            </a:r>
            <a:endParaRPr lang="en-US" sz="1200" dirty="0"/>
          </a:p>
        </p:txBody>
      </p:sp>
      <p:sp>
        <p:nvSpPr>
          <p:cNvPr id="28" name="Text 26"/>
          <p:cNvSpPr txBox="1"/>
          <p:nvPr/>
        </p:nvSpPr>
        <p:spPr>
          <a:xfrm>
            <a:off x="7030045" y="27406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Person cards, per-room counts</a:t>
            </a:r>
            <a:endParaRPr lang="en-US" sz="1200" dirty="0"/>
          </a:p>
        </p:txBody>
      </p:sp>
      <p:sp>
        <p:nvSpPr>
          <p:cNvPr id="29" name="Shape 27"/>
          <p:cNvSpPr/>
          <p:nvPr/>
        </p:nvSpPr>
        <p:spPr>
          <a:xfrm>
            <a:off x="812800" y="2981920"/>
            <a:ext cx="10566400" cy="304800"/>
          </a:xfrm>
          <a:prstGeom prst="rect">
            <a:avLst/>
          </a:prstGeom>
          <a:solidFill>
            <a:srgbClr val="FDFCFA"/>
          </a:solidFill>
          <a:ln/>
        </p:spPr>
      </p:sp>
      <p:sp>
        <p:nvSpPr>
          <p:cNvPr id="30" name="Text 28"/>
          <p:cNvSpPr txBox="1"/>
          <p:nvPr/>
        </p:nvSpPr>
        <p:spPr>
          <a:xfrm>
            <a:off x="901700" y="30454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R5 Episodes</a:t>
            </a:r>
            <a:endParaRPr lang="en-US" sz="1200" dirty="0"/>
          </a:p>
        </p:txBody>
      </p:sp>
      <p:sp>
        <p:nvSpPr>
          <p:cNvPr id="31" name="Text 29"/>
          <p:cNvSpPr txBox="1"/>
          <p:nvPr/>
        </p:nvSpPr>
        <p:spPr>
          <a:xfrm>
            <a:off x="2803624" y="30454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label per window</a:t>
            </a:r>
            <a:endParaRPr lang="en-US" sz="1200" dirty="0"/>
          </a:p>
        </p:txBody>
      </p:sp>
      <p:sp>
        <p:nvSpPr>
          <p:cNvPr id="32" name="Text 30"/>
          <p:cNvSpPr txBox="1"/>
          <p:nvPr/>
        </p:nvSpPr>
        <p:spPr>
          <a:xfrm>
            <a:off x="5867797" y="30454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Partial</a:t>
            </a:r>
            <a:endParaRPr lang="en-US" sz="1200" dirty="0"/>
          </a:p>
        </p:txBody>
      </p:sp>
      <p:sp>
        <p:nvSpPr>
          <p:cNvPr id="33" name="Text 31"/>
          <p:cNvSpPr txBox="1"/>
          <p:nvPr/>
        </p:nvSpPr>
        <p:spPr>
          <a:xfrm>
            <a:off x="7030045" y="30454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Start/end head + per-activity episode rules</a:t>
            </a:r>
            <a:endParaRPr lang="en-US" sz="1200" dirty="0"/>
          </a:p>
        </p:txBody>
      </p:sp>
      <p:sp>
        <p:nvSpPr>
          <p:cNvPr id="34" name="Shape 32"/>
          <p:cNvSpPr/>
          <p:nvPr/>
        </p:nvSpPr>
        <p:spPr>
          <a:xfrm>
            <a:off x="812800" y="3286720"/>
            <a:ext cx="10566400" cy="304800"/>
          </a:xfrm>
          <a:prstGeom prst="rect">
            <a:avLst/>
          </a:prstGeom>
          <a:solidFill>
            <a:srgbClr val="F6F5F1"/>
          </a:solidFill>
          <a:ln/>
        </p:spPr>
      </p:sp>
      <p:sp>
        <p:nvSpPr>
          <p:cNvPr id="35" name="Text 33"/>
          <p:cNvSpPr txBox="1"/>
          <p:nvPr/>
        </p:nvSpPr>
        <p:spPr>
          <a:xfrm>
            <a:off x="901700" y="3350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R6 Anomaly / health</a:t>
            </a:r>
            <a:endParaRPr lang="en-US" sz="1200" dirty="0"/>
          </a:p>
        </p:txBody>
      </p:sp>
      <p:sp>
        <p:nvSpPr>
          <p:cNvPr id="36" name="Text 34"/>
          <p:cNvSpPr txBox="1"/>
          <p:nvPr/>
        </p:nvSpPr>
        <p:spPr>
          <a:xfrm>
            <a:off x="2803624" y="33502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Not addressed</a:t>
            </a:r>
            <a:endParaRPr lang="en-US" sz="1200" dirty="0"/>
          </a:p>
        </p:txBody>
      </p:sp>
      <p:sp>
        <p:nvSpPr>
          <p:cNvPr id="37" name="Text 35"/>
          <p:cNvSpPr txBox="1"/>
          <p:nvPr/>
        </p:nvSpPr>
        <p:spPr>
          <a:xfrm>
            <a:off x="5867797" y="33502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Missing</a:t>
            </a:r>
            <a:endParaRPr lang="en-US" sz="1200" dirty="0"/>
          </a:p>
        </p:txBody>
      </p:sp>
      <p:sp>
        <p:nvSpPr>
          <p:cNvPr id="38" name="Text 36"/>
          <p:cNvSpPr txBox="1"/>
          <p:nvPr/>
        </p:nvSpPr>
        <p:spPr>
          <a:xfrm>
            <a:off x="7030045" y="33502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Surprise score, anomaly and health engines</a:t>
            </a:r>
            <a:endParaRPr lang="en-US" sz="1200" dirty="0"/>
          </a:p>
        </p:txBody>
      </p:sp>
      <p:sp>
        <p:nvSpPr>
          <p:cNvPr id="39" name="Shape 37"/>
          <p:cNvSpPr/>
          <p:nvPr/>
        </p:nvSpPr>
        <p:spPr>
          <a:xfrm>
            <a:off x="812800" y="3591520"/>
            <a:ext cx="10566400" cy="304800"/>
          </a:xfrm>
          <a:prstGeom prst="rect">
            <a:avLst/>
          </a:prstGeom>
          <a:solidFill>
            <a:srgbClr val="FDFCFA"/>
          </a:solidFill>
          <a:ln/>
        </p:spPr>
      </p:sp>
      <p:sp>
        <p:nvSpPr>
          <p:cNvPr id="40" name="Text 38"/>
          <p:cNvSpPr txBox="1"/>
          <p:nvPr/>
        </p:nvSpPr>
        <p:spPr>
          <a:xfrm>
            <a:off x="901700" y="3655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R7 Forecasting</a:t>
            </a:r>
            <a:endParaRPr lang="en-US" sz="1200" dirty="0"/>
          </a:p>
        </p:txBody>
      </p:sp>
      <p:sp>
        <p:nvSpPr>
          <p:cNvPr id="41" name="Text 39"/>
          <p:cNvSpPr txBox="1"/>
          <p:nvPr/>
        </p:nvSpPr>
        <p:spPr>
          <a:xfrm>
            <a:off x="2803624" y="36550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Next-k bag, no timing</a:t>
            </a:r>
            <a:endParaRPr lang="en-US" sz="1200" dirty="0"/>
          </a:p>
        </p:txBody>
      </p:sp>
      <p:sp>
        <p:nvSpPr>
          <p:cNvPr id="42" name="Text 40"/>
          <p:cNvSpPr txBox="1"/>
          <p:nvPr/>
        </p:nvSpPr>
        <p:spPr>
          <a:xfrm>
            <a:off x="5867797" y="36550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Partial</a:t>
            </a:r>
            <a:endParaRPr lang="en-US" sz="1200" dirty="0"/>
          </a:p>
        </p:txBody>
      </p:sp>
      <p:sp>
        <p:nvSpPr>
          <p:cNvPr id="43" name="Text 41"/>
          <p:cNvSpPr txBox="1"/>
          <p:nvPr/>
        </p:nvSpPr>
        <p:spPr>
          <a:xfrm>
            <a:off x="7030045" y="36550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 event + time until (Δt)</a:t>
            </a:r>
            <a:endParaRPr lang="en-US" sz="1200" dirty="0"/>
          </a:p>
        </p:txBody>
      </p:sp>
      <p:sp>
        <p:nvSpPr>
          <p:cNvPr id="44" name="Shape 42"/>
          <p:cNvSpPr/>
          <p:nvPr/>
        </p:nvSpPr>
        <p:spPr>
          <a:xfrm>
            <a:off x="812800" y="3896320"/>
            <a:ext cx="10566400" cy="304800"/>
          </a:xfrm>
          <a:prstGeom prst="rect">
            <a:avLst/>
          </a:prstGeom>
          <a:solidFill>
            <a:srgbClr val="E6EEF8"/>
          </a:solidFill>
          <a:ln/>
        </p:spPr>
      </p:sp>
      <p:sp>
        <p:nvSpPr>
          <p:cNvPr id="45" name="Text 43"/>
          <p:cNvSpPr txBox="1"/>
          <p:nvPr/>
        </p:nvSpPr>
        <p:spPr>
          <a:xfrm>
            <a:off x="901700" y="3959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R8 Transfer</a:t>
            </a:r>
            <a:endParaRPr lang="en-US" sz="1200" dirty="0"/>
          </a:p>
        </p:txBody>
      </p:sp>
      <p:sp>
        <p:nvSpPr>
          <p:cNvPr id="46" name="Text 44"/>
          <p:cNvSpPr txBox="1"/>
          <p:nvPr/>
        </p:nvSpPr>
        <p:spPr>
          <a:xfrm>
            <a:off x="2803624" y="39598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Sensor attributes as text</a:t>
            </a:r>
            <a:endParaRPr lang="en-US" sz="1200" dirty="0"/>
          </a:p>
        </p:txBody>
      </p:sp>
      <p:sp>
        <p:nvSpPr>
          <p:cNvPr id="47" name="Text 45"/>
          <p:cNvSpPr txBox="1"/>
          <p:nvPr/>
        </p:nvSpPr>
        <p:spPr>
          <a:xfrm>
            <a:off x="5867797" y="39598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Has it</a:t>
            </a:r>
            <a:endParaRPr lang="en-US" sz="1200" dirty="0"/>
          </a:p>
        </p:txBody>
      </p:sp>
      <p:sp>
        <p:nvSpPr>
          <p:cNvPr id="48" name="Text 46"/>
          <p:cNvSpPr txBox="1"/>
          <p:nvPr/>
        </p:nvSpPr>
        <p:spPr>
          <a:xfrm>
            <a:off x="7030045" y="39598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Kept: devices described in words</a:t>
            </a:r>
            <a:endParaRPr lang="en-US" sz="1200" dirty="0"/>
          </a:p>
        </p:txBody>
      </p:sp>
      <p:sp>
        <p:nvSpPr>
          <p:cNvPr id="49" name="Shape 47"/>
          <p:cNvSpPr/>
          <p:nvPr/>
        </p:nvSpPr>
        <p:spPr>
          <a:xfrm>
            <a:off x="812800" y="4201120"/>
            <a:ext cx="10566400" cy="304800"/>
          </a:xfrm>
          <a:prstGeom prst="rect">
            <a:avLst/>
          </a:prstGeom>
          <a:solidFill>
            <a:srgbClr val="FDFCFA"/>
          </a:solidFill>
          <a:ln/>
        </p:spPr>
      </p:sp>
      <p:sp>
        <p:nvSpPr>
          <p:cNvPr id="50" name="Text 48"/>
          <p:cNvSpPr txBox="1"/>
          <p:nvPr/>
        </p:nvSpPr>
        <p:spPr>
          <a:xfrm>
            <a:off x="901700" y="42646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R9 Edge streaming</a:t>
            </a:r>
            <a:endParaRPr lang="en-US" sz="1200" dirty="0"/>
          </a:p>
        </p:txBody>
      </p:sp>
      <p:sp>
        <p:nvSpPr>
          <p:cNvPr id="51" name="Text 49"/>
          <p:cNvSpPr txBox="1"/>
          <p:nvPr/>
        </p:nvSpPr>
        <p:spPr>
          <a:xfrm>
            <a:off x="2803624" y="42646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Small, recomputes each window</a:t>
            </a:r>
            <a:endParaRPr lang="en-US" sz="1200" dirty="0"/>
          </a:p>
        </p:txBody>
      </p:sp>
      <p:sp>
        <p:nvSpPr>
          <p:cNvPr id="52" name="Text 50"/>
          <p:cNvSpPr txBox="1"/>
          <p:nvPr/>
        </p:nvSpPr>
        <p:spPr>
          <a:xfrm>
            <a:off x="5867797" y="42646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Partial</a:t>
            </a:r>
            <a:endParaRPr lang="en-US" sz="1200" dirty="0"/>
          </a:p>
        </p:txBody>
      </p:sp>
      <p:sp>
        <p:nvSpPr>
          <p:cNvPr id="53" name="Text 51"/>
          <p:cNvSpPr txBox="1"/>
          <p:nvPr/>
        </p:nvSpPr>
        <p:spPr>
          <a:xfrm>
            <a:off x="7030045" y="42646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Causal mode + cache, int8 student</a:t>
            </a:r>
            <a:endParaRPr lang="en-US" sz="1200" dirty="0"/>
          </a:p>
        </p:txBody>
      </p:sp>
      <p:sp>
        <p:nvSpPr>
          <p:cNvPr id="54" name="Shape 52"/>
          <p:cNvSpPr/>
          <p:nvPr/>
        </p:nvSpPr>
        <p:spPr>
          <a:xfrm>
            <a:off x="812800" y="4505920"/>
            <a:ext cx="10566400" cy="304800"/>
          </a:xfrm>
          <a:prstGeom prst="rect">
            <a:avLst/>
          </a:prstGeom>
          <a:solidFill>
            <a:srgbClr val="F6F5F1"/>
          </a:solidFill>
          <a:ln/>
        </p:spPr>
      </p:sp>
      <p:sp>
        <p:nvSpPr>
          <p:cNvPr id="55" name="Text 53"/>
          <p:cNvSpPr txBox="1"/>
          <p:nvPr/>
        </p:nvSpPr>
        <p:spPr>
          <a:xfrm>
            <a:off x="901700" y="45694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R10 Searchable</a:t>
            </a:r>
            <a:endParaRPr lang="en-US" sz="1200" dirty="0"/>
          </a:p>
        </p:txBody>
      </p:sp>
      <p:sp>
        <p:nvSpPr>
          <p:cNvPr id="56" name="Text 54"/>
          <p:cNvSpPr txBox="1"/>
          <p:nvPr/>
        </p:nvSpPr>
        <p:spPr>
          <a:xfrm>
            <a:off x="2803624" y="4569420"/>
            <a:ext cx="295160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Not aligned with text</a:t>
            </a:r>
            <a:endParaRPr lang="en-US" sz="1200" dirty="0"/>
          </a:p>
        </p:txBody>
      </p:sp>
      <p:sp>
        <p:nvSpPr>
          <p:cNvPr id="57" name="Text 55"/>
          <p:cNvSpPr txBox="1"/>
          <p:nvPr/>
        </p:nvSpPr>
        <p:spPr>
          <a:xfrm>
            <a:off x="5867797" y="45694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Missing</a:t>
            </a:r>
            <a:endParaRPr lang="en-US" sz="1200" dirty="0"/>
          </a:p>
        </p:txBody>
      </p:sp>
      <p:sp>
        <p:nvSpPr>
          <p:cNvPr id="58" name="Text 56"/>
          <p:cNvSpPr txBox="1"/>
          <p:nvPr/>
        </p:nvSpPr>
        <p:spPr>
          <a:xfrm>
            <a:off x="7030045" y="45694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Shared text–minute space, vector store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What DomusFM gets right, and HomeFM keeps</a:t>
            </a:r>
            <a:endParaRPr lang="en-US" sz="2800" dirty="0"/>
          </a:p>
        </p:txBody>
      </p:sp>
      <p:sp>
        <p:nvSpPr>
          <p:cNvPr id="4" name="Shape 2"/>
          <p:cNvSpPr/>
          <p:nvPr/>
        </p:nvSpPr>
        <p:spPr>
          <a:xfrm>
            <a:off x="819150" y="1464270"/>
            <a:ext cx="3407767" cy="1592461"/>
          </a:xfrm>
          <a:prstGeom prst="roundRect">
            <a:avLst>
              <a:gd name="adj" fmla="val 5981"/>
            </a:avLst>
          </a:prstGeom>
          <a:solidFill>
            <a:srgbClr val="FDFCFA"/>
          </a:solidFill>
          <a:ln w="12700">
            <a:solidFill>
              <a:srgbClr val="E3E0D7"/>
            </a:solidFill>
            <a:prstDash val="solid"/>
          </a:ln>
        </p:spPr>
      </p:sp>
      <p:pic>
        <p:nvPicPr>
          <p:cNvPr id="5" name="Image 0" descr="preencoded.png">    </p:cNvPr>
          <p:cNvPicPr>
            <a:picLocks noChangeAspect="1"/>
          </p:cNvPicPr>
          <p:nvPr/>
        </p:nvPicPr>
        <p:blipFill>
          <a:blip r:embed="rId1"/>
          <a:stretch>
            <a:fillRect/>
          </a:stretch>
        </p:blipFill>
        <p:spPr>
          <a:xfrm>
            <a:off x="1003300" y="1648420"/>
            <a:ext cx="228600" cy="228600"/>
          </a:xfrm>
          <a:prstGeom prst="rect">
            <a:avLst/>
          </a:prstGeom>
        </p:spPr>
      </p:pic>
      <p:sp>
        <p:nvSpPr>
          <p:cNvPr id="6" name="Text 3"/>
          <p:cNvSpPr txBox="1"/>
          <p:nvPr/>
        </p:nvSpPr>
        <p:spPr>
          <a:xfrm>
            <a:off x="1003300" y="1946870"/>
            <a:ext cx="3105465"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Devices described in words</a:t>
            </a:r>
            <a:endParaRPr lang="en-US" sz="1500" dirty="0"/>
          </a:p>
        </p:txBody>
      </p:sp>
      <p:sp>
        <p:nvSpPr>
          <p:cNvPr id="7" name="Text 4"/>
          <p:cNvSpPr txBox="1"/>
          <p:nvPr/>
        </p:nvSpPr>
        <p:spPr>
          <a:xfrm>
            <a:off x="1003300" y="2251670"/>
            <a:ext cx="3105465"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Item, room and type go through a frozen text encoder. This is what makes transfer to unseen homes work.</a:t>
            </a:r>
            <a:endParaRPr lang="en-US" sz="1200" dirty="0"/>
          </a:p>
        </p:txBody>
      </p:sp>
      <p:sp>
        <p:nvSpPr>
          <p:cNvPr id="8" name="Shape 5"/>
          <p:cNvSpPr/>
          <p:nvPr/>
        </p:nvSpPr>
        <p:spPr>
          <a:xfrm>
            <a:off x="4392017" y="1464270"/>
            <a:ext cx="3407866" cy="1592461"/>
          </a:xfrm>
          <a:prstGeom prst="roundRect">
            <a:avLst>
              <a:gd name="adj" fmla="val 5981"/>
            </a:avLst>
          </a:prstGeom>
          <a:solidFill>
            <a:srgbClr val="FDFCFA"/>
          </a:solidFill>
          <a:ln w="12700">
            <a:solidFill>
              <a:srgbClr val="E3E0D7"/>
            </a:solidFill>
            <a:prstDash val="solid"/>
          </a:ln>
        </p:spPr>
      </p:sp>
      <p:pic>
        <p:nvPicPr>
          <p:cNvPr id="9" name="Image 1" descr="preencoded.png">    </p:cNvPr>
          <p:cNvPicPr>
            <a:picLocks noChangeAspect="1"/>
          </p:cNvPicPr>
          <p:nvPr/>
        </p:nvPicPr>
        <p:blipFill>
          <a:blip r:embed="rId2"/>
          <a:stretch>
            <a:fillRect/>
          </a:stretch>
        </p:blipFill>
        <p:spPr>
          <a:xfrm>
            <a:off x="4576167" y="1648420"/>
            <a:ext cx="228600" cy="228600"/>
          </a:xfrm>
          <a:prstGeom prst="rect">
            <a:avLst/>
          </a:prstGeom>
        </p:spPr>
      </p:pic>
      <p:sp>
        <p:nvSpPr>
          <p:cNvPr id="10" name="Text 6"/>
          <p:cNvSpPr txBox="1"/>
          <p:nvPr/>
        </p:nvSpPr>
        <p:spPr>
          <a:xfrm>
            <a:off x="4576167" y="19468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Attribute fusion</a:t>
            </a:r>
            <a:endParaRPr lang="en-US" sz="1500" dirty="0"/>
          </a:p>
        </p:txBody>
      </p:sp>
      <p:sp>
        <p:nvSpPr>
          <p:cNvPr id="11" name="Text 7"/>
          <p:cNvSpPr txBox="1"/>
          <p:nvPr/>
        </p:nvSpPr>
        <p:spPr>
          <a:xfrm>
            <a:off x="4576167" y="2251670"/>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What, where, state and time attend to each other before being pooled into one event vector.</a:t>
            </a:r>
            <a:endParaRPr lang="en-US" sz="1200" dirty="0"/>
          </a:p>
        </p:txBody>
      </p:sp>
      <p:sp>
        <p:nvSpPr>
          <p:cNvPr id="12" name="Shape 8"/>
          <p:cNvSpPr/>
          <p:nvPr/>
        </p:nvSpPr>
        <p:spPr>
          <a:xfrm>
            <a:off x="7964984" y="1464270"/>
            <a:ext cx="3407866" cy="1592461"/>
          </a:xfrm>
          <a:prstGeom prst="roundRect">
            <a:avLst>
              <a:gd name="adj" fmla="val 5981"/>
            </a:avLst>
          </a:prstGeom>
          <a:solidFill>
            <a:srgbClr val="FDFCFA"/>
          </a:solidFill>
          <a:ln w="12700">
            <a:solidFill>
              <a:srgbClr val="E3E0D7"/>
            </a:solidFill>
            <a:prstDash val="solid"/>
          </a:ln>
        </p:spPr>
      </p:sp>
      <p:pic>
        <p:nvPicPr>
          <p:cNvPr id="13" name="Image 2" descr="preencoded.png">    </p:cNvPr>
          <p:cNvPicPr>
            <a:picLocks noChangeAspect="1"/>
          </p:cNvPicPr>
          <p:nvPr/>
        </p:nvPicPr>
        <p:blipFill>
          <a:blip r:embed="rId3"/>
          <a:stretch>
            <a:fillRect/>
          </a:stretch>
        </p:blipFill>
        <p:spPr>
          <a:xfrm>
            <a:off x="8149134" y="1648420"/>
            <a:ext cx="228600" cy="228600"/>
          </a:xfrm>
          <a:prstGeom prst="rect">
            <a:avLst/>
          </a:prstGeom>
        </p:spPr>
      </p:pic>
      <p:sp>
        <p:nvSpPr>
          <p:cNvPr id="14" name="Text 9"/>
          <p:cNvSpPr txBox="1"/>
          <p:nvPr/>
        </p:nvSpPr>
        <p:spPr>
          <a:xfrm>
            <a:off x="8149134" y="19468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Cyclic time</a:t>
            </a:r>
            <a:endParaRPr lang="en-US" sz="1500" dirty="0"/>
          </a:p>
        </p:txBody>
      </p:sp>
      <p:sp>
        <p:nvSpPr>
          <p:cNvPr id="15" name="Text 10"/>
          <p:cNvSpPr txBox="1"/>
          <p:nvPr/>
        </p:nvSpPr>
        <p:spPr>
          <a:xfrm>
            <a:off x="8149134" y="2251670"/>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Hour and weekday as positions on circles, so 23:59 and 00:01 are neighbours.</a:t>
            </a:r>
            <a:endParaRPr lang="en-US" sz="1200" dirty="0"/>
          </a:p>
        </p:txBody>
      </p:sp>
      <p:sp>
        <p:nvSpPr>
          <p:cNvPr id="16" name="Shape 11"/>
          <p:cNvSpPr/>
          <p:nvPr/>
        </p:nvSpPr>
        <p:spPr>
          <a:xfrm>
            <a:off x="819150" y="3221831"/>
            <a:ext cx="3407767" cy="1379141"/>
          </a:xfrm>
          <a:prstGeom prst="roundRect">
            <a:avLst>
              <a:gd name="adj" fmla="val 6906"/>
            </a:avLst>
          </a:prstGeom>
          <a:solidFill>
            <a:srgbClr val="FDFCFA"/>
          </a:solidFill>
          <a:ln w="12700">
            <a:solidFill>
              <a:srgbClr val="E3E0D7"/>
            </a:solidFill>
            <a:prstDash val="solid"/>
          </a:ln>
        </p:spPr>
      </p:sp>
      <p:pic>
        <p:nvPicPr>
          <p:cNvPr id="17" name="Image 3" descr="preencoded.png">    </p:cNvPr>
          <p:cNvPicPr>
            <a:picLocks noChangeAspect="1"/>
          </p:cNvPicPr>
          <p:nvPr/>
        </p:nvPicPr>
        <p:blipFill>
          <a:blip r:embed="rId4"/>
          <a:stretch>
            <a:fillRect/>
          </a:stretch>
        </p:blipFill>
        <p:spPr>
          <a:xfrm>
            <a:off x="1003300" y="3405981"/>
            <a:ext cx="228600" cy="228600"/>
          </a:xfrm>
          <a:prstGeom prst="rect">
            <a:avLst/>
          </a:prstGeom>
        </p:spPr>
      </p:pic>
      <p:sp>
        <p:nvSpPr>
          <p:cNvPr id="18" name="Text 12"/>
          <p:cNvSpPr txBox="1"/>
          <p:nvPr/>
        </p:nvSpPr>
        <p:spPr>
          <a:xfrm>
            <a:off x="1003300" y="3704431"/>
            <a:ext cx="3105465"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Self-supervised pretraining</a:t>
            </a:r>
            <a:endParaRPr lang="en-US" sz="1500" dirty="0"/>
          </a:p>
        </p:txBody>
      </p:sp>
      <p:sp>
        <p:nvSpPr>
          <p:cNvPr id="19" name="Text 13"/>
          <p:cNvSpPr txBox="1"/>
          <p:nvPr/>
        </p:nvSpPr>
        <p:spPr>
          <a:xfrm>
            <a:off x="1003300" y="4009231"/>
            <a:ext cx="3105465"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Learn from unlabelled streams first; labels only name things later.</a:t>
            </a:r>
            <a:endParaRPr lang="en-US" sz="1200" dirty="0"/>
          </a:p>
        </p:txBody>
      </p:sp>
      <p:sp>
        <p:nvSpPr>
          <p:cNvPr id="20" name="Shape 14"/>
          <p:cNvSpPr/>
          <p:nvPr/>
        </p:nvSpPr>
        <p:spPr>
          <a:xfrm>
            <a:off x="4392017" y="3221831"/>
            <a:ext cx="3407866" cy="1379141"/>
          </a:xfrm>
          <a:prstGeom prst="roundRect">
            <a:avLst>
              <a:gd name="adj" fmla="val 6906"/>
            </a:avLst>
          </a:prstGeom>
          <a:solidFill>
            <a:srgbClr val="FDFCFA"/>
          </a:solidFill>
          <a:ln w="12700">
            <a:solidFill>
              <a:srgbClr val="E3E0D7"/>
            </a:solidFill>
            <a:prstDash val="solid"/>
          </a:ln>
        </p:spPr>
      </p:sp>
      <p:pic>
        <p:nvPicPr>
          <p:cNvPr id="21" name="Image 4" descr="preencoded.png">    </p:cNvPr>
          <p:cNvPicPr>
            <a:picLocks noChangeAspect="1"/>
          </p:cNvPicPr>
          <p:nvPr/>
        </p:nvPicPr>
        <p:blipFill>
          <a:blip r:embed="rId5"/>
          <a:stretch>
            <a:fillRect/>
          </a:stretch>
        </p:blipFill>
        <p:spPr>
          <a:xfrm>
            <a:off x="4576167" y="3405981"/>
            <a:ext cx="228600" cy="228600"/>
          </a:xfrm>
          <a:prstGeom prst="rect">
            <a:avLst/>
          </a:prstGeom>
        </p:spPr>
      </p:pic>
      <p:sp>
        <p:nvSpPr>
          <p:cNvPr id="22" name="Text 15"/>
          <p:cNvSpPr txBox="1"/>
          <p:nvPr/>
        </p:nvSpPr>
        <p:spPr>
          <a:xfrm>
            <a:off x="4576167" y="3704431"/>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Edge-sized</a:t>
            </a:r>
            <a:endParaRPr lang="en-US" sz="1500" dirty="0"/>
          </a:p>
        </p:txBody>
      </p:sp>
      <p:sp>
        <p:nvSpPr>
          <p:cNvPr id="23" name="Text 16"/>
          <p:cNvSpPr txBox="1"/>
          <p:nvPr/>
        </p:nvSpPr>
        <p:spPr>
          <a:xfrm>
            <a:off x="4576167" y="4009231"/>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36M parameters, under 500 MB, about 10 ms per window on a Celeron CPU.</a:t>
            </a:r>
            <a:endParaRPr lang="en-US" sz="1200" dirty="0"/>
          </a:p>
        </p:txBody>
      </p:sp>
      <p:sp>
        <p:nvSpPr>
          <p:cNvPr id="24" name="Shape 17"/>
          <p:cNvSpPr/>
          <p:nvPr/>
        </p:nvSpPr>
        <p:spPr>
          <a:xfrm>
            <a:off x="7964984" y="3221831"/>
            <a:ext cx="3407866" cy="1379141"/>
          </a:xfrm>
          <a:prstGeom prst="roundRect">
            <a:avLst>
              <a:gd name="adj" fmla="val 6906"/>
            </a:avLst>
          </a:prstGeom>
          <a:solidFill>
            <a:srgbClr val="FDFCFA"/>
          </a:solidFill>
          <a:ln w="12700">
            <a:solidFill>
              <a:srgbClr val="E3E0D7"/>
            </a:solidFill>
            <a:prstDash val="solid"/>
          </a:ln>
        </p:spPr>
      </p:sp>
      <p:pic>
        <p:nvPicPr>
          <p:cNvPr id="25" name="Image 5" descr="preencoded.png">    </p:cNvPr>
          <p:cNvPicPr>
            <a:picLocks noChangeAspect="1"/>
          </p:cNvPicPr>
          <p:nvPr/>
        </p:nvPicPr>
        <p:blipFill>
          <a:blip r:embed="rId6"/>
          <a:stretch>
            <a:fillRect/>
          </a:stretch>
        </p:blipFill>
        <p:spPr>
          <a:xfrm>
            <a:off x="8149134" y="3405981"/>
            <a:ext cx="228600" cy="228600"/>
          </a:xfrm>
          <a:prstGeom prst="rect">
            <a:avLst/>
          </a:prstGeom>
        </p:spPr>
      </p:pic>
      <p:sp>
        <p:nvSpPr>
          <p:cNvPr id="26" name="Text 18"/>
          <p:cNvSpPr txBox="1"/>
          <p:nvPr/>
        </p:nvSpPr>
        <p:spPr>
          <a:xfrm>
            <a:off x="8149134" y="3704431"/>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Leave-one-dataset-out</a:t>
            </a:r>
            <a:endParaRPr lang="en-US" sz="1500" dirty="0"/>
          </a:p>
        </p:txBody>
      </p:sp>
      <p:sp>
        <p:nvSpPr>
          <p:cNvPr id="27" name="Text 19"/>
          <p:cNvSpPr txBox="1"/>
          <p:nvPr/>
        </p:nvSpPr>
        <p:spPr>
          <a:xfrm>
            <a:off x="8149134" y="4009231"/>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Test on homes never seen in pretraining. We adopt it as our protocol.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Our reproduction: the paper's game collapsed; a harder game fixed it</a:t>
            </a:r>
            <a:endParaRPr lang="en-US" sz="2800" dirty="0"/>
          </a:p>
        </p:txBody>
      </p:sp>
      <p:sp>
        <p:nvSpPr>
          <p:cNvPr id="4" name="Shape 2"/>
          <p:cNvSpPr/>
          <p:nvPr/>
        </p:nvSpPr>
        <p:spPr>
          <a:xfrm>
            <a:off x="819150" y="1855391"/>
            <a:ext cx="3390900" cy="2054622"/>
          </a:xfrm>
          <a:prstGeom prst="roundRect">
            <a:avLst>
              <a:gd name="adj" fmla="val 4636"/>
            </a:avLst>
          </a:prstGeom>
          <a:solidFill>
            <a:srgbClr val="FDFCFA"/>
          </a:solidFill>
          <a:ln w="12700">
            <a:solidFill>
              <a:srgbClr val="E3E0D7"/>
            </a:solidFill>
            <a:prstDash val="solid"/>
          </a:ln>
        </p:spPr>
      </p:sp>
      <p:sp>
        <p:nvSpPr>
          <p:cNvPr id="5" name="Text 3"/>
          <p:cNvSpPr txBox="1"/>
          <p:nvPr/>
        </p:nvSpPr>
        <p:spPr>
          <a:xfrm>
            <a:off x="1028700" y="2026841"/>
            <a:ext cx="3037459" cy="679450"/>
          </a:xfrm>
          <a:prstGeom prst="rect">
            <a:avLst/>
          </a:prstGeom>
          <a:noFill/>
          <a:ln/>
        </p:spPr>
        <p:txBody>
          <a:bodyPr wrap="square" lIns="0" tIns="0" rIns="0" bIns="0" rtlCol="0" anchor="t"/>
          <a:lstStyle/>
          <a:p>
            <a:pPr algn="l" indent="0" marL="0">
              <a:lnSpc>
                <a:spcPts val="4800"/>
              </a:lnSpc>
              <a:buNone/>
            </a:pPr>
            <a:r>
              <a:rPr lang="en-US" sz="4800" b="1" dirty="0">
                <a:solidFill>
                  <a:srgbClr val="A8470B"/>
                </a:solidFill>
                <a:latin typeface="Arial" pitchFamily="34" charset="0"/>
                <a:ea typeface="Arial" pitchFamily="34" charset="-122"/>
                <a:cs typeface="Arial" pitchFamily="34" charset="-120"/>
              </a:rPr>
              <a:t>0.0005</a:t>
            </a:r>
            <a:endParaRPr lang="en-US" sz="4800" dirty="0"/>
          </a:p>
        </p:txBody>
      </p:sp>
      <p:sp>
        <p:nvSpPr>
          <p:cNvPr id="6" name="Text 4"/>
          <p:cNvSpPr txBox="1"/>
          <p:nvPr/>
        </p:nvSpPr>
        <p:spPr>
          <a:xfrm>
            <a:off x="1028700" y="2795191"/>
            <a:ext cx="3037459" cy="883741"/>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contrastive loss by step 5,000 of 40,000 with the paper's game on 77 homes (chance 4.85): the game was solved, not learned</a:t>
            </a:r>
            <a:endParaRPr lang="en-US" sz="1300" dirty="0"/>
          </a:p>
        </p:txBody>
      </p:sp>
      <p:sp>
        <p:nvSpPr>
          <p:cNvPr id="7" name="Shape 5"/>
          <p:cNvSpPr/>
          <p:nvPr/>
        </p:nvSpPr>
        <p:spPr>
          <a:xfrm>
            <a:off x="4400550" y="1855391"/>
            <a:ext cx="3390900" cy="2054622"/>
          </a:xfrm>
          <a:prstGeom prst="roundRect">
            <a:avLst>
              <a:gd name="adj" fmla="val 4636"/>
            </a:avLst>
          </a:prstGeom>
          <a:solidFill>
            <a:srgbClr val="FDFCFA"/>
          </a:solidFill>
          <a:ln w="12700">
            <a:solidFill>
              <a:srgbClr val="E3E0D7"/>
            </a:solidFill>
            <a:prstDash val="solid"/>
          </a:ln>
        </p:spPr>
      </p:sp>
      <p:sp>
        <p:nvSpPr>
          <p:cNvPr id="8" name="Text 6"/>
          <p:cNvSpPr txBox="1"/>
          <p:nvPr/>
        </p:nvSpPr>
        <p:spPr>
          <a:xfrm>
            <a:off x="4610100" y="2026841"/>
            <a:ext cx="3037459" cy="679450"/>
          </a:xfrm>
          <a:prstGeom prst="rect">
            <a:avLst/>
          </a:prstGeom>
          <a:noFill/>
          <a:ln/>
        </p:spPr>
        <p:txBody>
          <a:bodyPr wrap="square" lIns="0" tIns="0" rIns="0" bIns="0" rtlCol="0" anchor="t"/>
          <a:lstStyle/>
          <a:p>
            <a:pPr algn="l" indent="0" marL="0">
              <a:lnSpc>
                <a:spcPts val="4800"/>
              </a:lnSpc>
              <a:buNone/>
            </a:pPr>
            <a:r>
              <a:rPr lang="en-US" sz="4800" b="1" dirty="0">
                <a:solidFill>
                  <a:srgbClr val="A8470B"/>
                </a:solidFill>
                <a:latin typeface="Arial" pitchFamily="34" charset="0"/>
                <a:ea typeface="Arial" pitchFamily="34" charset="-122"/>
                <a:cs typeface="Arial" pitchFamily="34" charset="-120"/>
              </a:rPr>
              <a:t>6 of 7</a:t>
            </a:r>
            <a:endParaRPr lang="en-US" sz="4800" dirty="0"/>
          </a:p>
        </p:txBody>
      </p:sp>
      <p:sp>
        <p:nvSpPr>
          <p:cNvPr id="9" name="Text 7"/>
          <p:cNvSpPr txBox="1"/>
          <p:nvPr/>
        </p:nvSpPr>
        <p:spPr>
          <a:xfrm>
            <a:off x="4610100" y="2795191"/>
            <a:ext cx="3037459" cy="883741"/>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held-out homes where the paper's pretraining made activity recognition </a:t>
            </a:r>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worse</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(mean 0.385 vs 0.435 at 5 % labels)</a:t>
            </a:r>
            <a:endParaRPr lang="en-US" sz="1300" dirty="0"/>
          </a:p>
        </p:txBody>
      </p:sp>
      <p:sp>
        <p:nvSpPr>
          <p:cNvPr id="10" name="Shape 8"/>
          <p:cNvSpPr/>
          <p:nvPr/>
        </p:nvSpPr>
        <p:spPr>
          <a:xfrm>
            <a:off x="7981950" y="1855391"/>
            <a:ext cx="3390900" cy="2054622"/>
          </a:xfrm>
          <a:prstGeom prst="roundRect">
            <a:avLst>
              <a:gd name="adj" fmla="val 4636"/>
            </a:avLst>
          </a:prstGeom>
          <a:solidFill>
            <a:srgbClr val="FDFCFA"/>
          </a:solidFill>
          <a:ln w="12700">
            <a:solidFill>
              <a:srgbClr val="E3E0D7"/>
            </a:solidFill>
            <a:prstDash val="solid"/>
          </a:ln>
        </p:spPr>
      </p:sp>
      <p:sp>
        <p:nvSpPr>
          <p:cNvPr id="11" name="Text 9"/>
          <p:cNvSpPr txBox="1"/>
          <p:nvPr/>
        </p:nvSpPr>
        <p:spPr>
          <a:xfrm>
            <a:off x="8191500" y="2026841"/>
            <a:ext cx="3037459" cy="679450"/>
          </a:xfrm>
          <a:prstGeom prst="rect">
            <a:avLst/>
          </a:prstGeom>
          <a:noFill/>
          <a:ln/>
        </p:spPr>
        <p:txBody>
          <a:bodyPr wrap="square" lIns="0" tIns="0" rIns="0" bIns="0" rtlCol="0" anchor="t"/>
          <a:lstStyle/>
          <a:p>
            <a:pPr algn="l" indent="0" marL="0">
              <a:lnSpc>
                <a:spcPts val="4800"/>
              </a:lnSpc>
              <a:buNone/>
            </a:pPr>
            <a:r>
              <a:rPr lang="en-US" sz="4800" b="1" dirty="0">
                <a:solidFill>
                  <a:srgbClr val="2F6B45"/>
                </a:solidFill>
                <a:latin typeface="Arial" pitchFamily="34" charset="0"/>
                <a:ea typeface="Arial" pitchFamily="34" charset="-122"/>
                <a:cs typeface="Arial" pitchFamily="34" charset="-120"/>
              </a:rPr>
              <a:t>26 of 28</a:t>
            </a:r>
            <a:endParaRPr lang="en-US" sz="4800" dirty="0"/>
          </a:p>
        </p:txBody>
      </p:sp>
      <p:sp>
        <p:nvSpPr>
          <p:cNvPr id="12" name="Text 10"/>
          <p:cNvSpPr txBox="1"/>
          <p:nvPr/>
        </p:nvSpPr>
        <p:spPr>
          <a:xfrm>
            <a:off x="8191500" y="2795191"/>
            <a:ext cx="3037459" cy="652661"/>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settings where pretraining </a:t>
            </a:r>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helps</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after our six fixes to the game (activity, 5 % labels: 0.517 vs 0.441)</a:t>
            </a:r>
            <a:endParaRPr lang="en-US" sz="1300" dirty="0"/>
          </a:p>
        </p:txBody>
      </p:sp>
      <p:sp>
        <p:nvSpPr>
          <p:cNvPr id="13" name="Shape 11"/>
          <p:cNvSpPr/>
          <p:nvPr/>
        </p:nvSpPr>
        <p:spPr>
          <a:xfrm>
            <a:off x="819150" y="4100513"/>
            <a:ext cx="10553700" cy="1714897"/>
          </a:xfrm>
          <a:prstGeom prst="roundRect">
            <a:avLst>
              <a:gd name="adj" fmla="val 5554"/>
            </a:avLst>
          </a:prstGeom>
          <a:solidFill>
            <a:srgbClr val="FDFCFA"/>
          </a:solidFill>
          <a:ln w="12700">
            <a:solidFill>
              <a:srgbClr val="E3E0D7"/>
            </a:solidFill>
            <a:prstDash val="solid"/>
          </a:ln>
        </p:spPr>
      </p:sp>
      <p:sp>
        <p:nvSpPr>
          <p:cNvPr id="14" name="Text 12"/>
          <p:cNvSpPr txBox="1"/>
          <p:nvPr/>
        </p:nvSpPr>
        <p:spPr>
          <a:xfrm>
            <a:off x="1003300" y="4303713"/>
            <a:ext cx="10287127" cy="59809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The six fixes: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wrong answers from the same home, ±15-min clock jitter, both copies masked at 40 %, a separate projector head, a fill-in-the-blanks loss, gentler fine-tuning.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Run 3 (29 Sep):</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cleaned data (paper Appendix A), the paper's own Kasteren and MuRAL test sets, leave-one-dataset-out pretraining: pretraining now wins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34 of 40</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settings (next two slides).</a:t>
            </a:r>
            <a:endParaRPr lang="en-US" sz="1200" dirty="0"/>
          </a:p>
        </p:txBody>
      </p:sp>
      <p:sp>
        <p:nvSpPr>
          <p:cNvPr id="15" name="Text 13"/>
          <p:cNvSpPr txBox="1"/>
          <p:nvPr/>
        </p:nvSpPr>
        <p:spPr>
          <a:xfrm>
            <a:off x="812800" y="6024959"/>
            <a:ext cx="10670032" cy="248920"/>
          </a:xfrm>
          <a:prstGeom prst="rect">
            <a:avLst/>
          </a:prstGeom>
          <a:noFill/>
          <a:ln/>
        </p:spPr>
        <p:txBody>
          <a:bodyPr wrap="square" lIns="0" tIns="0" rIns="0" bIns="0" rtlCol="0" anchor="t"/>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Lesson for HomeFM:</a:t>
            </a:r>
            <a:pPr algn="l" indent="0" marL="0">
              <a:lnSpc>
                <a:spcPts val="1960"/>
              </a:lnSpc>
              <a:buNone/>
            </a:pPr>
            <a:r>
              <a:rPr lang="en-US" sz="1400" dirty="0">
                <a:solidFill>
                  <a:srgbClr val="14213D"/>
                </a:solidFill>
                <a:latin typeface="Arial" pitchFamily="34" charset="0"/>
                <a:ea typeface="Arial" pitchFamily="34" charset="-122"/>
                <a:cs typeface="Arial" pitchFamily="34" charset="-120"/>
              </a:rPr>
              <a:t> the pretraining game decides what the model learns.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Run 3: cleaned data, the paper's test sets, one pretraining per test set</a:t>
            </a:r>
            <a:endParaRPr lang="en-US" sz="2800" dirty="0"/>
          </a:p>
        </p:txBody>
      </p:sp>
      <p:sp>
        <p:nvSpPr>
          <p:cNvPr id="4" name="Shape 2"/>
          <p:cNvSpPr/>
          <p:nvPr/>
        </p:nvSpPr>
        <p:spPr>
          <a:xfrm>
            <a:off x="819150" y="1855391"/>
            <a:ext cx="3407866" cy="1379141"/>
          </a:xfrm>
          <a:prstGeom prst="roundRect">
            <a:avLst>
              <a:gd name="adj" fmla="val 6906"/>
            </a:avLst>
          </a:prstGeom>
          <a:solidFill>
            <a:srgbClr val="FDFCFA"/>
          </a:solidFill>
          <a:ln w="12700">
            <a:solidFill>
              <a:srgbClr val="E3E0D7"/>
            </a:solidFill>
            <a:prstDash val="solid"/>
          </a:ln>
        </p:spPr>
      </p:sp>
      <p:sp>
        <p:nvSpPr>
          <p:cNvPr id="5" name="Text 3"/>
          <p:cNvSpPr txBox="1"/>
          <p:nvPr/>
        </p:nvSpPr>
        <p:spPr>
          <a:xfrm>
            <a:off x="1003300" y="2007791"/>
            <a:ext cx="3105564" cy="565150"/>
          </a:xfrm>
          <a:prstGeom prst="rect">
            <a:avLst/>
          </a:prstGeom>
          <a:noFill/>
          <a:ln/>
        </p:spPr>
        <p:txBody>
          <a:bodyPr wrap="square" lIns="0" tIns="0" rIns="0" bIns="0" rtlCol="0" anchor="t"/>
          <a:lstStyle/>
          <a:p>
            <a:pPr algn="l" indent="0" marL="0">
              <a:lnSpc>
                <a:spcPts val="4000"/>
              </a:lnSpc>
              <a:buNone/>
            </a:pPr>
            <a:r>
              <a:rPr lang="en-US" sz="4000" b="1" dirty="0">
                <a:solidFill>
                  <a:srgbClr val="2F6B45"/>
                </a:solidFill>
                <a:latin typeface="Arial" pitchFamily="34" charset="0"/>
                <a:ea typeface="Arial" pitchFamily="34" charset="-122"/>
                <a:cs typeface="Arial" pitchFamily="34" charset="-120"/>
              </a:rPr>
              <a:t>34 of 40</a:t>
            </a:r>
            <a:endParaRPr lang="en-US" sz="4000" dirty="0"/>
          </a:p>
        </p:txBody>
      </p:sp>
      <p:sp>
        <p:nvSpPr>
          <p:cNvPr id="6" name="Text 4"/>
          <p:cNvSpPr txBox="1"/>
          <p:nvPr/>
        </p:nvSpPr>
        <p:spPr>
          <a:xfrm>
            <a:off x="1003300" y="2642791"/>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settings where pretraining helps (10 test homes × 2 tasks × 2 label amounts)</a:t>
            </a:r>
            <a:endParaRPr lang="en-US" sz="1200" dirty="0"/>
          </a:p>
        </p:txBody>
      </p:sp>
      <p:sp>
        <p:nvSpPr>
          <p:cNvPr id="7" name="Shape 5"/>
          <p:cNvSpPr/>
          <p:nvPr/>
        </p:nvSpPr>
        <p:spPr>
          <a:xfrm>
            <a:off x="4392116" y="1855391"/>
            <a:ext cx="3407866" cy="1379141"/>
          </a:xfrm>
          <a:prstGeom prst="roundRect">
            <a:avLst>
              <a:gd name="adj" fmla="val 6906"/>
            </a:avLst>
          </a:prstGeom>
          <a:solidFill>
            <a:srgbClr val="FDFCFA"/>
          </a:solidFill>
          <a:ln w="12700">
            <a:solidFill>
              <a:srgbClr val="E3E0D7"/>
            </a:solidFill>
            <a:prstDash val="solid"/>
          </a:ln>
        </p:spPr>
      </p:sp>
      <p:sp>
        <p:nvSpPr>
          <p:cNvPr id="8" name="Text 6"/>
          <p:cNvSpPr txBox="1"/>
          <p:nvPr/>
        </p:nvSpPr>
        <p:spPr>
          <a:xfrm>
            <a:off x="4576266" y="2007791"/>
            <a:ext cx="3105564" cy="565150"/>
          </a:xfrm>
          <a:prstGeom prst="rect">
            <a:avLst/>
          </a:prstGeom>
          <a:noFill/>
          <a:ln/>
        </p:spPr>
        <p:txBody>
          <a:bodyPr wrap="square" lIns="0" tIns="0" rIns="0" bIns="0" rtlCol="0" anchor="t"/>
          <a:lstStyle/>
          <a:p>
            <a:pPr algn="l" indent="0" marL="0">
              <a:lnSpc>
                <a:spcPts val="4000"/>
              </a:lnSpc>
              <a:buNone/>
            </a:pPr>
            <a:r>
              <a:rPr lang="en-US" sz="4000" b="1" dirty="0">
                <a:solidFill>
                  <a:srgbClr val="2F6B45"/>
                </a:solidFill>
                <a:latin typeface="Arial" pitchFamily="34" charset="0"/>
                <a:ea typeface="Arial" pitchFamily="34" charset="-122"/>
                <a:cs typeface="Arial" pitchFamily="34" charset="-120"/>
              </a:rPr>
              <a:t>10 of 10</a:t>
            </a:r>
            <a:endParaRPr lang="en-US" sz="4000" dirty="0"/>
          </a:p>
        </p:txBody>
      </p:sp>
      <p:sp>
        <p:nvSpPr>
          <p:cNvPr id="9" name="Text 7"/>
          <p:cNvSpPr txBox="1"/>
          <p:nvPr/>
        </p:nvSpPr>
        <p:spPr>
          <a:xfrm>
            <a:off x="4576266" y="2642791"/>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homes where pretraining helps activity recognition with 5 % of labels</a:t>
            </a:r>
            <a:endParaRPr lang="en-US" sz="1200" dirty="0"/>
          </a:p>
        </p:txBody>
      </p:sp>
      <p:sp>
        <p:nvSpPr>
          <p:cNvPr id="10" name="Shape 8"/>
          <p:cNvSpPr/>
          <p:nvPr/>
        </p:nvSpPr>
        <p:spPr>
          <a:xfrm>
            <a:off x="7965083" y="1855391"/>
            <a:ext cx="3407866" cy="1379141"/>
          </a:xfrm>
          <a:prstGeom prst="roundRect">
            <a:avLst>
              <a:gd name="adj" fmla="val 6906"/>
            </a:avLst>
          </a:prstGeom>
          <a:solidFill>
            <a:srgbClr val="FDFCFA"/>
          </a:solidFill>
          <a:ln w="12700">
            <a:solidFill>
              <a:srgbClr val="E3E0D7"/>
            </a:solidFill>
            <a:prstDash val="solid"/>
          </a:ln>
        </p:spPr>
      </p:sp>
      <p:sp>
        <p:nvSpPr>
          <p:cNvPr id="11" name="Text 9"/>
          <p:cNvSpPr txBox="1"/>
          <p:nvPr/>
        </p:nvSpPr>
        <p:spPr>
          <a:xfrm>
            <a:off x="8149233" y="2007791"/>
            <a:ext cx="3105564" cy="565150"/>
          </a:xfrm>
          <a:prstGeom prst="rect">
            <a:avLst/>
          </a:prstGeom>
          <a:noFill/>
          <a:ln/>
        </p:spPr>
        <p:txBody>
          <a:bodyPr wrap="square" lIns="0" tIns="0" rIns="0" bIns="0" rtlCol="0" anchor="t"/>
          <a:lstStyle/>
          <a:p>
            <a:pPr algn="l" indent="0" marL="0">
              <a:lnSpc>
                <a:spcPts val="4000"/>
              </a:lnSpc>
              <a:buNone/>
            </a:pPr>
            <a:r>
              <a:rPr lang="en-US" sz="4000" b="1" dirty="0">
                <a:solidFill>
                  <a:srgbClr val="1E5AA8"/>
                </a:solidFill>
                <a:latin typeface="Arial" pitchFamily="34" charset="0"/>
                <a:ea typeface="Arial" pitchFamily="34" charset="-122"/>
                <a:cs typeface="Arial" pitchFamily="34" charset="-120"/>
              </a:rPr>
              <a:t>+0.087</a:t>
            </a:r>
            <a:endParaRPr lang="en-US" sz="4000" dirty="0"/>
          </a:p>
        </p:txBody>
      </p:sp>
      <p:sp>
        <p:nvSpPr>
          <p:cNvPr id="12" name="Text 10"/>
          <p:cNvSpPr txBox="1"/>
          <p:nvPr/>
        </p:nvSpPr>
        <p:spPr>
          <a:xfrm>
            <a:off x="8149233" y="2642791"/>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activity gain at 5 % labels on the 7 homes shared with run 2 (run 2: +0.076)</a:t>
            </a:r>
            <a:endParaRPr lang="en-US" sz="1200" dirty="0"/>
          </a:p>
        </p:txBody>
      </p:sp>
      <p:sp>
        <p:nvSpPr>
          <p:cNvPr id="13" name="Text 11"/>
          <p:cNvSpPr txBox="1"/>
          <p:nvPr/>
        </p:nvSpPr>
        <p:spPr>
          <a:xfrm>
            <a:off x="812800" y="3437731"/>
            <a:ext cx="10670032"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Mean gain from pretraining (pretrained − no pretraining), 3 time-ordered folds</a:t>
            </a:r>
            <a:endParaRPr lang="en-US" sz="1200" dirty="0"/>
          </a:p>
        </p:txBody>
      </p:sp>
      <p:sp>
        <p:nvSpPr>
          <p:cNvPr id="14" name="Shape 12"/>
          <p:cNvSpPr/>
          <p:nvPr/>
        </p:nvSpPr>
        <p:spPr>
          <a:xfrm>
            <a:off x="812800" y="3809802"/>
            <a:ext cx="10566400" cy="304800"/>
          </a:xfrm>
          <a:prstGeom prst="rect">
            <a:avLst/>
          </a:prstGeom>
          <a:solidFill>
            <a:srgbClr val="14213D"/>
          </a:solidFill>
          <a:ln/>
        </p:spPr>
      </p:sp>
      <p:sp>
        <p:nvSpPr>
          <p:cNvPr id="15" name="Text 13"/>
          <p:cNvSpPr txBox="1"/>
          <p:nvPr/>
        </p:nvSpPr>
        <p:spPr>
          <a:xfrm>
            <a:off x="901700" y="3873302"/>
            <a:ext cx="2420723"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Setting</a:t>
            </a:r>
            <a:endParaRPr lang="en-US" sz="1200" dirty="0"/>
          </a:p>
        </p:txBody>
      </p:sp>
      <p:sp>
        <p:nvSpPr>
          <p:cNvPr id="16" name="Text 14"/>
          <p:cNvSpPr txBox="1"/>
          <p:nvPr/>
        </p:nvSpPr>
        <p:spPr>
          <a:xfrm>
            <a:off x="3437632" y="3873302"/>
            <a:ext cx="146495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All 10 homes</a:t>
            </a:r>
            <a:endParaRPr lang="en-US" sz="1200" dirty="0"/>
          </a:p>
        </p:txBody>
      </p:sp>
      <p:sp>
        <p:nvSpPr>
          <p:cNvPr id="17" name="Text 15"/>
          <p:cNvSpPr txBox="1"/>
          <p:nvPr/>
        </p:nvSpPr>
        <p:spPr>
          <a:xfrm>
            <a:off x="5022552" y="3873302"/>
            <a:ext cx="146495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6 CASAS homes</a:t>
            </a:r>
            <a:endParaRPr lang="en-US" sz="1200" dirty="0"/>
          </a:p>
        </p:txBody>
      </p:sp>
      <p:sp>
        <p:nvSpPr>
          <p:cNvPr id="18" name="Text 16"/>
          <p:cNvSpPr txBox="1"/>
          <p:nvPr/>
        </p:nvSpPr>
        <p:spPr>
          <a:xfrm>
            <a:off x="6607473" y="3873302"/>
            <a:ext cx="157115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4 paper datasets</a:t>
            </a:r>
            <a:endParaRPr lang="en-US" sz="1200" dirty="0"/>
          </a:p>
        </p:txBody>
      </p:sp>
      <p:sp>
        <p:nvSpPr>
          <p:cNvPr id="19" name="Text 17"/>
          <p:cNvSpPr txBox="1"/>
          <p:nvPr/>
        </p:nvSpPr>
        <p:spPr>
          <a:xfrm>
            <a:off x="8298061" y="3873302"/>
            <a:ext cx="146495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Pretraining wins</a:t>
            </a:r>
            <a:endParaRPr lang="en-US" sz="1200" dirty="0"/>
          </a:p>
        </p:txBody>
      </p:sp>
      <p:sp>
        <p:nvSpPr>
          <p:cNvPr id="20" name="Text 18"/>
          <p:cNvSpPr txBox="1"/>
          <p:nvPr/>
        </p:nvSpPr>
        <p:spPr>
          <a:xfrm>
            <a:off x="9882981" y="3873302"/>
            <a:ext cx="146515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Run 2 (7 homes)</a:t>
            </a:r>
            <a:endParaRPr lang="en-US" sz="1200" dirty="0"/>
          </a:p>
        </p:txBody>
      </p:sp>
      <p:sp>
        <p:nvSpPr>
          <p:cNvPr id="21" name="Shape 19"/>
          <p:cNvSpPr/>
          <p:nvPr/>
        </p:nvSpPr>
        <p:spPr>
          <a:xfrm>
            <a:off x="812800" y="4114602"/>
            <a:ext cx="10566400" cy="304800"/>
          </a:xfrm>
          <a:prstGeom prst="rect">
            <a:avLst/>
          </a:prstGeom>
          <a:solidFill>
            <a:srgbClr val="FDFCFA"/>
          </a:solidFill>
          <a:ln/>
        </p:spPr>
      </p:sp>
      <p:sp>
        <p:nvSpPr>
          <p:cNvPr id="22" name="Text 20"/>
          <p:cNvSpPr txBox="1"/>
          <p:nvPr/>
        </p:nvSpPr>
        <p:spPr>
          <a:xfrm>
            <a:off x="901700" y="4178102"/>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Activity, 5 % labels</a:t>
            </a:r>
            <a:endParaRPr lang="en-US" sz="1200" dirty="0"/>
          </a:p>
        </p:txBody>
      </p:sp>
      <p:sp>
        <p:nvSpPr>
          <p:cNvPr id="23" name="Text 21"/>
          <p:cNvSpPr txBox="1"/>
          <p:nvPr/>
        </p:nvSpPr>
        <p:spPr>
          <a:xfrm>
            <a:off x="3437632" y="41781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+0.097</a:t>
            </a:r>
            <a:endParaRPr lang="en-US" sz="1200" dirty="0"/>
          </a:p>
        </p:txBody>
      </p:sp>
      <p:sp>
        <p:nvSpPr>
          <p:cNvPr id="24" name="Text 22"/>
          <p:cNvSpPr txBox="1"/>
          <p:nvPr/>
        </p:nvSpPr>
        <p:spPr>
          <a:xfrm>
            <a:off x="5022552" y="41781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+0.068</a:t>
            </a:r>
            <a:endParaRPr lang="en-US" sz="1200" dirty="0"/>
          </a:p>
        </p:txBody>
      </p:sp>
      <p:sp>
        <p:nvSpPr>
          <p:cNvPr id="25" name="Text 23"/>
          <p:cNvSpPr txBox="1"/>
          <p:nvPr/>
        </p:nvSpPr>
        <p:spPr>
          <a:xfrm>
            <a:off x="6607473" y="4178102"/>
            <a:ext cx="157115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+0.140</a:t>
            </a:r>
            <a:endParaRPr lang="en-US" sz="1200" dirty="0"/>
          </a:p>
        </p:txBody>
      </p:sp>
      <p:sp>
        <p:nvSpPr>
          <p:cNvPr id="26" name="Text 24"/>
          <p:cNvSpPr txBox="1"/>
          <p:nvPr/>
        </p:nvSpPr>
        <p:spPr>
          <a:xfrm>
            <a:off x="8298061" y="41781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10 / 10</a:t>
            </a:r>
            <a:endParaRPr lang="en-US" sz="1200" dirty="0"/>
          </a:p>
        </p:txBody>
      </p:sp>
      <p:sp>
        <p:nvSpPr>
          <p:cNvPr id="27" name="Text 25"/>
          <p:cNvSpPr txBox="1"/>
          <p:nvPr/>
        </p:nvSpPr>
        <p:spPr>
          <a:xfrm>
            <a:off x="9882981" y="4178102"/>
            <a:ext cx="14651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+0.076</a:t>
            </a:r>
            <a:endParaRPr lang="en-US" sz="1200" dirty="0"/>
          </a:p>
        </p:txBody>
      </p:sp>
      <p:sp>
        <p:nvSpPr>
          <p:cNvPr id="28" name="Shape 26"/>
          <p:cNvSpPr/>
          <p:nvPr/>
        </p:nvSpPr>
        <p:spPr>
          <a:xfrm>
            <a:off x="812800" y="4419402"/>
            <a:ext cx="10566400" cy="304800"/>
          </a:xfrm>
          <a:prstGeom prst="rect">
            <a:avLst/>
          </a:prstGeom>
          <a:solidFill>
            <a:srgbClr val="F6F5F1"/>
          </a:solidFill>
          <a:ln/>
        </p:spPr>
      </p:sp>
      <p:sp>
        <p:nvSpPr>
          <p:cNvPr id="29" name="Text 27"/>
          <p:cNvSpPr txBox="1"/>
          <p:nvPr/>
        </p:nvSpPr>
        <p:spPr>
          <a:xfrm>
            <a:off x="901700" y="4482902"/>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Activity, 30 % labels</a:t>
            </a:r>
            <a:endParaRPr lang="en-US" sz="1200" dirty="0"/>
          </a:p>
        </p:txBody>
      </p:sp>
      <p:sp>
        <p:nvSpPr>
          <p:cNvPr id="30" name="Text 28"/>
          <p:cNvSpPr txBox="1"/>
          <p:nvPr/>
        </p:nvSpPr>
        <p:spPr>
          <a:xfrm>
            <a:off x="3437632" y="44829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+0.099</a:t>
            </a:r>
            <a:endParaRPr lang="en-US" sz="1200" dirty="0"/>
          </a:p>
        </p:txBody>
      </p:sp>
      <p:sp>
        <p:nvSpPr>
          <p:cNvPr id="31" name="Text 29"/>
          <p:cNvSpPr txBox="1"/>
          <p:nvPr/>
        </p:nvSpPr>
        <p:spPr>
          <a:xfrm>
            <a:off x="5022552" y="44829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+0.027</a:t>
            </a:r>
            <a:endParaRPr lang="en-US" sz="1200" dirty="0"/>
          </a:p>
        </p:txBody>
      </p:sp>
      <p:sp>
        <p:nvSpPr>
          <p:cNvPr id="32" name="Text 30"/>
          <p:cNvSpPr txBox="1"/>
          <p:nvPr/>
        </p:nvSpPr>
        <p:spPr>
          <a:xfrm>
            <a:off x="6607473" y="4482902"/>
            <a:ext cx="157115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+0.208</a:t>
            </a:r>
            <a:endParaRPr lang="en-US" sz="1200" dirty="0"/>
          </a:p>
        </p:txBody>
      </p:sp>
      <p:sp>
        <p:nvSpPr>
          <p:cNvPr id="33" name="Text 31"/>
          <p:cNvSpPr txBox="1"/>
          <p:nvPr/>
        </p:nvSpPr>
        <p:spPr>
          <a:xfrm>
            <a:off x="8298061" y="44829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9 / 10</a:t>
            </a:r>
            <a:endParaRPr lang="en-US" sz="1200" dirty="0"/>
          </a:p>
        </p:txBody>
      </p:sp>
      <p:sp>
        <p:nvSpPr>
          <p:cNvPr id="34" name="Text 32"/>
          <p:cNvSpPr txBox="1"/>
          <p:nvPr/>
        </p:nvSpPr>
        <p:spPr>
          <a:xfrm>
            <a:off x="9882981" y="4482902"/>
            <a:ext cx="14651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+0.059</a:t>
            </a:r>
            <a:endParaRPr lang="en-US" sz="1200" dirty="0"/>
          </a:p>
        </p:txBody>
      </p:sp>
      <p:sp>
        <p:nvSpPr>
          <p:cNvPr id="35" name="Shape 33"/>
          <p:cNvSpPr/>
          <p:nvPr/>
        </p:nvSpPr>
        <p:spPr>
          <a:xfrm>
            <a:off x="812800" y="4724202"/>
            <a:ext cx="10566400" cy="304800"/>
          </a:xfrm>
          <a:prstGeom prst="rect">
            <a:avLst/>
          </a:prstGeom>
          <a:solidFill>
            <a:srgbClr val="FDFCFA"/>
          </a:solidFill>
          <a:ln/>
        </p:spPr>
      </p:sp>
      <p:sp>
        <p:nvSpPr>
          <p:cNvPr id="36" name="Text 34"/>
          <p:cNvSpPr txBox="1"/>
          <p:nvPr/>
        </p:nvSpPr>
        <p:spPr>
          <a:xfrm>
            <a:off x="901700" y="4787702"/>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Next-30, 5 % labels</a:t>
            </a:r>
            <a:endParaRPr lang="en-US" sz="1200" dirty="0"/>
          </a:p>
        </p:txBody>
      </p:sp>
      <p:sp>
        <p:nvSpPr>
          <p:cNvPr id="37" name="Text 35"/>
          <p:cNvSpPr txBox="1"/>
          <p:nvPr/>
        </p:nvSpPr>
        <p:spPr>
          <a:xfrm>
            <a:off x="3437632" y="47877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+0.038</a:t>
            </a:r>
            <a:endParaRPr lang="en-US" sz="1200" dirty="0"/>
          </a:p>
        </p:txBody>
      </p:sp>
      <p:sp>
        <p:nvSpPr>
          <p:cNvPr id="38" name="Text 36"/>
          <p:cNvSpPr txBox="1"/>
          <p:nvPr/>
        </p:nvSpPr>
        <p:spPr>
          <a:xfrm>
            <a:off x="5022552" y="47877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+0.055</a:t>
            </a:r>
            <a:endParaRPr lang="en-US" sz="1200" dirty="0"/>
          </a:p>
        </p:txBody>
      </p:sp>
      <p:sp>
        <p:nvSpPr>
          <p:cNvPr id="39" name="Text 37"/>
          <p:cNvSpPr txBox="1"/>
          <p:nvPr/>
        </p:nvSpPr>
        <p:spPr>
          <a:xfrm>
            <a:off x="6607473" y="4787702"/>
            <a:ext cx="157115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+0.014</a:t>
            </a:r>
            <a:endParaRPr lang="en-US" sz="1200" dirty="0"/>
          </a:p>
        </p:txBody>
      </p:sp>
      <p:sp>
        <p:nvSpPr>
          <p:cNvPr id="40" name="Text 38"/>
          <p:cNvSpPr txBox="1"/>
          <p:nvPr/>
        </p:nvSpPr>
        <p:spPr>
          <a:xfrm>
            <a:off x="8298061" y="47877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9 / 10</a:t>
            </a:r>
            <a:endParaRPr lang="en-US" sz="1200" dirty="0"/>
          </a:p>
        </p:txBody>
      </p:sp>
      <p:sp>
        <p:nvSpPr>
          <p:cNvPr id="41" name="Text 39"/>
          <p:cNvSpPr txBox="1"/>
          <p:nvPr/>
        </p:nvSpPr>
        <p:spPr>
          <a:xfrm>
            <a:off x="9882981" y="4787702"/>
            <a:ext cx="14651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+0.053</a:t>
            </a:r>
            <a:endParaRPr lang="en-US" sz="1200" dirty="0"/>
          </a:p>
        </p:txBody>
      </p:sp>
      <p:sp>
        <p:nvSpPr>
          <p:cNvPr id="42" name="Shape 40"/>
          <p:cNvSpPr/>
          <p:nvPr/>
        </p:nvSpPr>
        <p:spPr>
          <a:xfrm>
            <a:off x="812800" y="5029002"/>
            <a:ext cx="10566400" cy="304800"/>
          </a:xfrm>
          <a:prstGeom prst="rect">
            <a:avLst/>
          </a:prstGeom>
          <a:solidFill>
            <a:srgbClr val="F6F5F1"/>
          </a:solidFill>
          <a:ln/>
        </p:spPr>
      </p:sp>
      <p:sp>
        <p:nvSpPr>
          <p:cNvPr id="43" name="Text 41"/>
          <p:cNvSpPr txBox="1"/>
          <p:nvPr/>
        </p:nvSpPr>
        <p:spPr>
          <a:xfrm>
            <a:off x="901700" y="5092502"/>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Next-30, 30 % labels</a:t>
            </a:r>
            <a:endParaRPr lang="en-US" sz="1200" dirty="0"/>
          </a:p>
        </p:txBody>
      </p:sp>
      <p:sp>
        <p:nvSpPr>
          <p:cNvPr id="44" name="Text 42"/>
          <p:cNvSpPr txBox="1"/>
          <p:nvPr/>
        </p:nvSpPr>
        <p:spPr>
          <a:xfrm>
            <a:off x="3437632" y="50925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+0.009</a:t>
            </a:r>
            <a:endParaRPr lang="en-US" sz="1200" dirty="0"/>
          </a:p>
        </p:txBody>
      </p:sp>
      <p:sp>
        <p:nvSpPr>
          <p:cNvPr id="45" name="Text 43"/>
          <p:cNvSpPr txBox="1"/>
          <p:nvPr/>
        </p:nvSpPr>
        <p:spPr>
          <a:xfrm>
            <a:off x="5022552" y="50925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+0.027</a:t>
            </a:r>
            <a:endParaRPr lang="en-US" sz="1200" dirty="0"/>
          </a:p>
        </p:txBody>
      </p:sp>
      <p:sp>
        <p:nvSpPr>
          <p:cNvPr id="46" name="Text 44"/>
          <p:cNvSpPr txBox="1"/>
          <p:nvPr/>
        </p:nvSpPr>
        <p:spPr>
          <a:xfrm>
            <a:off x="6607473" y="5092502"/>
            <a:ext cx="157115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−0.017</a:t>
            </a:r>
            <a:endParaRPr lang="en-US" sz="1200" dirty="0"/>
          </a:p>
        </p:txBody>
      </p:sp>
      <p:sp>
        <p:nvSpPr>
          <p:cNvPr id="47" name="Text 45"/>
          <p:cNvSpPr txBox="1"/>
          <p:nvPr/>
        </p:nvSpPr>
        <p:spPr>
          <a:xfrm>
            <a:off x="8298061" y="5092502"/>
            <a:ext cx="14649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6 / 10</a:t>
            </a:r>
            <a:endParaRPr lang="en-US" sz="1200" dirty="0"/>
          </a:p>
        </p:txBody>
      </p:sp>
      <p:sp>
        <p:nvSpPr>
          <p:cNvPr id="48" name="Text 46"/>
          <p:cNvSpPr txBox="1"/>
          <p:nvPr/>
        </p:nvSpPr>
        <p:spPr>
          <a:xfrm>
            <a:off x="9882981" y="5092502"/>
            <a:ext cx="14651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+0.030</a:t>
            </a:r>
            <a:endParaRPr lang="en-US" sz="1200" dirty="0"/>
          </a:p>
        </p:txBody>
      </p:sp>
      <p:sp>
        <p:nvSpPr>
          <p:cNvPr id="49" name="Text 47"/>
          <p:cNvSpPr txBox="1"/>
          <p:nvPr/>
        </p:nvSpPr>
        <p:spPr>
          <a:xfrm>
            <a:off x="812800" y="5530652"/>
            <a:ext cx="10670032" cy="598091"/>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Changes from run 2: repeated ON/ON states removed (paper Appendix A, 10.1 % of events), Kasteren A/C and MuRAL added, each paper test set pretrained on the others plus 77 CASAS homes. Pretrained activity scores on the 7 shared homes barely move (0.530 vs 0.517 at 5 %); next-30 is about 0.02 lower because cleaning changes what the next 30 events are.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Run 3 trained five pretrained models, one per test group</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17835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Pretrained model</a:t>
            </a:r>
            <a:endParaRPr lang="en-US" sz="1200" dirty="0"/>
          </a:p>
        </p:txBody>
      </p:sp>
      <p:sp>
        <p:nvSpPr>
          <p:cNvPr id="6" name="Text 4"/>
          <p:cNvSpPr txBox="1"/>
          <p:nvPr/>
        </p:nvSpPr>
        <p:spPr>
          <a:xfrm>
            <a:off x="2803624" y="1521420"/>
            <a:ext cx="358878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Pretrained on (unlabelled)</a:t>
            </a:r>
            <a:endParaRPr lang="en-US" sz="1200" dirty="0"/>
          </a:p>
        </p:txBody>
      </p:sp>
      <p:sp>
        <p:nvSpPr>
          <p:cNvPr id="7" name="Text 5"/>
          <p:cNvSpPr txBox="1"/>
          <p:nvPr/>
        </p:nvSpPr>
        <p:spPr>
          <a:xfrm>
            <a:off x="6501805" y="1521420"/>
            <a:ext cx="252691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Fine-tuned and tested on</a:t>
            </a:r>
            <a:endParaRPr lang="en-US" sz="1200" dirty="0"/>
          </a:p>
        </p:txBody>
      </p:sp>
      <p:sp>
        <p:nvSpPr>
          <p:cNvPr id="8" name="Text 6"/>
          <p:cNvSpPr txBox="1"/>
          <p:nvPr/>
        </p:nvSpPr>
        <p:spPr>
          <a:xfrm>
            <a:off x="9143405" y="1521420"/>
            <a:ext cx="104017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Events seen</a:t>
            </a:r>
            <a:endParaRPr lang="en-US" sz="1200" dirty="0"/>
          </a:p>
        </p:txBody>
      </p:sp>
      <p:sp>
        <p:nvSpPr>
          <p:cNvPr id="9" name="Text 7"/>
          <p:cNvSpPr txBox="1"/>
          <p:nvPr/>
        </p:nvSpPr>
        <p:spPr>
          <a:xfrm>
            <a:off x="10305653" y="1521420"/>
            <a:ext cx="104037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Loss at end</a:t>
            </a:r>
            <a:endParaRPr lang="en-US" sz="1200" dirty="0"/>
          </a:p>
        </p:txBody>
      </p:sp>
      <p:sp>
        <p:nvSpPr>
          <p:cNvPr id="10" name="Shape 8"/>
          <p:cNvSpPr/>
          <p:nvPr/>
        </p:nvSpPr>
        <p:spPr>
          <a:xfrm>
            <a:off x="812800" y="1762720"/>
            <a:ext cx="10566400" cy="482600"/>
          </a:xfrm>
          <a:prstGeom prst="rect">
            <a:avLst/>
          </a:prstGeom>
          <a:solidFill>
            <a:srgbClr val="FDFCFA"/>
          </a:solidFill>
          <a:ln/>
        </p:spPr>
      </p:sp>
      <p:sp>
        <p:nvSpPr>
          <p:cNvPr id="11" name="Text 9"/>
          <p:cNvSpPr txBox="1"/>
          <p:nvPr/>
        </p:nvSpPr>
        <p:spPr>
          <a:xfrm>
            <a:off x="901700" y="19151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 · UCI B model</a:t>
            </a:r>
            <a:endParaRPr lang="en-US" sz="1200" dirty="0"/>
          </a:p>
        </p:txBody>
      </p:sp>
      <p:sp>
        <p:nvSpPr>
          <p:cNvPr id="12" name="Text 10"/>
          <p:cNvSpPr txBox="1"/>
          <p:nvPr/>
        </p:nvSpPr>
        <p:spPr>
          <a:xfrm>
            <a:off x="2803624" y="1826220"/>
            <a:ext cx="3588782"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77 CASAS homes + Kasteren A, Kasteren C, MuRAL</a:t>
            </a:r>
            <a:endParaRPr lang="en-US" sz="1200" dirty="0"/>
          </a:p>
        </p:txBody>
      </p:sp>
      <p:sp>
        <p:nvSpPr>
          <p:cNvPr id="13" name="Text 11"/>
          <p:cNvSpPr txBox="1"/>
          <p:nvPr/>
        </p:nvSpPr>
        <p:spPr>
          <a:xfrm>
            <a:off x="6501805" y="1915120"/>
            <a:ext cx="252691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UCI B</a:t>
            </a:r>
            <a:endParaRPr lang="en-US" sz="1200" dirty="0"/>
          </a:p>
        </p:txBody>
      </p:sp>
      <p:sp>
        <p:nvSpPr>
          <p:cNvPr id="14" name="Text 12"/>
          <p:cNvSpPr txBox="1"/>
          <p:nvPr/>
        </p:nvSpPr>
        <p:spPr>
          <a:xfrm>
            <a:off x="9143405" y="19151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24.6 M</a:t>
            </a:r>
            <a:endParaRPr lang="en-US" sz="1200" dirty="0"/>
          </a:p>
        </p:txBody>
      </p:sp>
      <p:sp>
        <p:nvSpPr>
          <p:cNvPr id="15" name="Text 13"/>
          <p:cNvSpPr txBox="1"/>
          <p:nvPr/>
        </p:nvSpPr>
        <p:spPr>
          <a:xfrm>
            <a:off x="10305653" y="1915120"/>
            <a:ext cx="104037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0.78</a:t>
            </a:r>
            <a:endParaRPr lang="en-US" sz="1200" dirty="0"/>
          </a:p>
        </p:txBody>
      </p:sp>
      <p:sp>
        <p:nvSpPr>
          <p:cNvPr id="16" name="Shape 14"/>
          <p:cNvSpPr/>
          <p:nvPr/>
        </p:nvSpPr>
        <p:spPr>
          <a:xfrm>
            <a:off x="812800" y="2245320"/>
            <a:ext cx="10566400" cy="304800"/>
          </a:xfrm>
          <a:prstGeom prst="rect">
            <a:avLst/>
          </a:prstGeom>
          <a:solidFill>
            <a:srgbClr val="F6F5F1"/>
          </a:solidFill>
          <a:ln/>
        </p:spPr>
      </p:sp>
      <p:sp>
        <p:nvSpPr>
          <p:cNvPr id="17" name="Text 15"/>
          <p:cNvSpPr txBox="1"/>
          <p:nvPr/>
        </p:nvSpPr>
        <p:spPr>
          <a:xfrm>
            <a:off x="901700" y="2308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 · Kasteren A model</a:t>
            </a:r>
            <a:endParaRPr lang="en-US" sz="1200" dirty="0"/>
          </a:p>
        </p:txBody>
      </p:sp>
      <p:sp>
        <p:nvSpPr>
          <p:cNvPr id="18" name="Text 16"/>
          <p:cNvSpPr txBox="1"/>
          <p:nvPr/>
        </p:nvSpPr>
        <p:spPr>
          <a:xfrm>
            <a:off x="2803624" y="23088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77 CASAS homes + UCI B, Kasteren C, MuRAL</a:t>
            </a:r>
            <a:endParaRPr lang="en-US" sz="1200" dirty="0"/>
          </a:p>
        </p:txBody>
      </p:sp>
      <p:sp>
        <p:nvSpPr>
          <p:cNvPr id="19" name="Text 17"/>
          <p:cNvSpPr txBox="1"/>
          <p:nvPr/>
        </p:nvSpPr>
        <p:spPr>
          <a:xfrm>
            <a:off x="6501805" y="2308820"/>
            <a:ext cx="252691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Kasteren A</a:t>
            </a:r>
            <a:endParaRPr lang="en-US" sz="1200" dirty="0"/>
          </a:p>
        </p:txBody>
      </p:sp>
      <p:sp>
        <p:nvSpPr>
          <p:cNvPr id="20" name="Text 18"/>
          <p:cNvSpPr txBox="1"/>
          <p:nvPr/>
        </p:nvSpPr>
        <p:spPr>
          <a:xfrm>
            <a:off x="9143405" y="23088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24.6 M</a:t>
            </a:r>
            <a:endParaRPr lang="en-US" sz="1200" dirty="0"/>
          </a:p>
        </p:txBody>
      </p:sp>
      <p:sp>
        <p:nvSpPr>
          <p:cNvPr id="21" name="Text 19"/>
          <p:cNvSpPr txBox="1"/>
          <p:nvPr/>
        </p:nvSpPr>
        <p:spPr>
          <a:xfrm>
            <a:off x="10305653" y="2308820"/>
            <a:ext cx="104037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0.77</a:t>
            </a:r>
            <a:endParaRPr lang="en-US" sz="1200" dirty="0"/>
          </a:p>
        </p:txBody>
      </p:sp>
      <p:sp>
        <p:nvSpPr>
          <p:cNvPr id="22" name="Shape 20"/>
          <p:cNvSpPr/>
          <p:nvPr/>
        </p:nvSpPr>
        <p:spPr>
          <a:xfrm>
            <a:off x="812800" y="2550120"/>
            <a:ext cx="10566400" cy="304800"/>
          </a:xfrm>
          <a:prstGeom prst="rect">
            <a:avLst/>
          </a:prstGeom>
          <a:solidFill>
            <a:srgbClr val="FDFCFA"/>
          </a:solidFill>
          <a:ln/>
        </p:spPr>
      </p:sp>
      <p:sp>
        <p:nvSpPr>
          <p:cNvPr id="23" name="Text 21"/>
          <p:cNvSpPr txBox="1"/>
          <p:nvPr/>
        </p:nvSpPr>
        <p:spPr>
          <a:xfrm>
            <a:off x="901700" y="26136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 · Kasteren C model</a:t>
            </a:r>
            <a:endParaRPr lang="en-US" sz="1200" dirty="0"/>
          </a:p>
        </p:txBody>
      </p:sp>
      <p:sp>
        <p:nvSpPr>
          <p:cNvPr id="24" name="Text 22"/>
          <p:cNvSpPr txBox="1"/>
          <p:nvPr/>
        </p:nvSpPr>
        <p:spPr>
          <a:xfrm>
            <a:off x="2803624" y="26136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77 CASAS homes + UCI B, Kasteren A, MuRAL</a:t>
            </a:r>
            <a:endParaRPr lang="en-US" sz="1200" dirty="0"/>
          </a:p>
        </p:txBody>
      </p:sp>
      <p:sp>
        <p:nvSpPr>
          <p:cNvPr id="25" name="Text 23"/>
          <p:cNvSpPr txBox="1"/>
          <p:nvPr/>
        </p:nvSpPr>
        <p:spPr>
          <a:xfrm>
            <a:off x="6501805" y="2613620"/>
            <a:ext cx="252691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Kasteren C</a:t>
            </a:r>
            <a:endParaRPr lang="en-US" sz="1200" dirty="0"/>
          </a:p>
        </p:txBody>
      </p:sp>
      <p:sp>
        <p:nvSpPr>
          <p:cNvPr id="26" name="Text 24"/>
          <p:cNvSpPr txBox="1"/>
          <p:nvPr/>
        </p:nvSpPr>
        <p:spPr>
          <a:xfrm>
            <a:off x="9143405" y="26136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24.5 M</a:t>
            </a:r>
            <a:endParaRPr lang="en-US" sz="1200" dirty="0"/>
          </a:p>
        </p:txBody>
      </p:sp>
      <p:sp>
        <p:nvSpPr>
          <p:cNvPr id="27" name="Text 25"/>
          <p:cNvSpPr txBox="1"/>
          <p:nvPr/>
        </p:nvSpPr>
        <p:spPr>
          <a:xfrm>
            <a:off x="10305653" y="2613620"/>
            <a:ext cx="104037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0.81</a:t>
            </a:r>
            <a:endParaRPr lang="en-US" sz="1200" dirty="0"/>
          </a:p>
        </p:txBody>
      </p:sp>
      <p:sp>
        <p:nvSpPr>
          <p:cNvPr id="28" name="Shape 26"/>
          <p:cNvSpPr/>
          <p:nvPr/>
        </p:nvSpPr>
        <p:spPr>
          <a:xfrm>
            <a:off x="812800" y="2854920"/>
            <a:ext cx="10566400" cy="304800"/>
          </a:xfrm>
          <a:prstGeom prst="rect">
            <a:avLst/>
          </a:prstGeom>
          <a:solidFill>
            <a:srgbClr val="F6F5F1"/>
          </a:solidFill>
          <a:ln/>
        </p:spPr>
      </p:sp>
      <p:sp>
        <p:nvSpPr>
          <p:cNvPr id="29" name="Text 27"/>
          <p:cNvSpPr txBox="1"/>
          <p:nvPr/>
        </p:nvSpPr>
        <p:spPr>
          <a:xfrm>
            <a:off x="901700" y="29184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4 · MuRAL model</a:t>
            </a:r>
            <a:endParaRPr lang="en-US" sz="1200" dirty="0"/>
          </a:p>
        </p:txBody>
      </p:sp>
      <p:sp>
        <p:nvSpPr>
          <p:cNvPr id="30" name="Text 28"/>
          <p:cNvSpPr txBox="1"/>
          <p:nvPr/>
        </p:nvSpPr>
        <p:spPr>
          <a:xfrm>
            <a:off x="2803624" y="29184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77 CASAS homes + UCI B, Kasteren A, Kasteren C</a:t>
            </a:r>
            <a:endParaRPr lang="en-US" sz="1200" dirty="0"/>
          </a:p>
        </p:txBody>
      </p:sp>
      <p:sp>
        <p:nvSpPr>
          <p:cNvPr id="31" name="Text 29"/>
          <p:cNvSpPr txBox="1"/>
          <p:nvPr/>
        </p:nvSpPr>
        <p:spPr>
          <a:xfrm>
            <a:off x="6501805" y="2918420"/>
            <a:ext cx="252691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MuRAL</a:t>
            </a:r>
            <a:endParaRPr lang="en-US" sz="1200" dirty="0"/>
          </a:p>
        </p:txBody>
      </p:sp>
      <p:sp>
        <p:nvSpPr>
          <p:cNvPr id="32" name="Text 30"/>
          <p:cNvSpPr txBox="1"/>
          <p:nvPr/>
        </p:nvSpPr>
        <p:spPr>
          <a:xfrm>
            <a:off x="9143405" y="29184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24.6 M</a:t>
            </a:r>
            <a:endParaRPr lang="en-US" sz="1200" dirty="0"/>
          </a:p>
        </p:txBody>
      </p:sp>
      <p:sp>
        <p:nvSpPr>
          <p:cNvPr id="33" name="Text 31"/>
          <p:cNvSpPr txBox="1"/>
          <p:nvPr/>
        </p:nvSpPr>
        <p:spPr>
          <a:xfrm>
            <a:off x="10305653" y="2918420"/>
            <a:ext cx="104037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0.77</a:t>
            </a:r>
            <a:endParaRPr lang="en-US" sz="1200" dirty="0"/>
          </a:p>
        </p:txBody>
      </p:sp>
      <p:sp>
        <p:nvSpPr>
          <p:cNvPr id="34" name="Shape 32"/>
          <p:cNvSpPr/>
          <p:nvPr/>
        </p:nvSpPr>
        <p:spPr>
          <a:xfrm>
            <a:off x="812800" y="3159720"/>
            <a:ext cx="10566400" cy="482600"/>
          </a:xfrm>
          <a:prstGeom prst="rect">
            <a:avLst/>
          </a:prstGeom>
          <a:solidFill>
            <a:srgbClr val="E6EEF8"/>
          </a:solidFill>
          <a:ln/>
        </p:spPr>
      </p:sp>
      <p:sp>
        <p:nvSpPr>
          <p:cNvPr id="35" name="Text 33"/>
          <p:cNvSpPr txBox="1"/>
          <p:nvPr/>
        </p:nvSpPr>
        <p:spPr>
          <a:xfrm>
            <a:off x="901700" y="33121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5 · CASAS model</a:t>
            </a:r>
            <a:endParaRPr lang="en-US" sz="1200" dirty="0"/>
          </a:p>
        </p:txBody>
      </p:sp>
      <p:sp>
        <p:nvSpPr>
          <p:cNvPr id="36" name="Text 34"/>
          <p:cNvSpPr txBox="1"/>
          <p:nvPr/>
        </p:nvSpPr>
        <p:spPr>
          <a:xfrm>
            <a:off x="2803624" y="33121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77 CASAS homes + all 4 paper datasets</a:t>
            </a:r>
            <a:endParaRPr lang="en-US" sz="1200" dirty="0"/>
          </a:p>
        </p:txBody>
      </p:sp>
      <p:sp>
        <p:nvSpPr>
          <p:cNvPr id="37" name="Text 35"/>
          <p:cNvSpPr txBox="1"/>
          <p:nvPr/>
        </p:nvSpPr>
        <p:spPr>
          <a:xfrm>
            <a:off x="6501805" y="3223220"/>
            <a:ext cx="2526919"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6 CASAS homes: hh101, 103, 105, 110, 119, 122</a:t>
            </a:r>
            <a:endParaRPr lang="en-US" sz="1200" dirty="0"/>
          </a:p>
        </p:txBody>
      </p:sp>
      <p:sp>
        <p:nvSpPr>
          <p:cNvPr id="38" name="Text 36"/>
          <p:cNvSpPr txBox="1"/>
          <p:nvPr/>
        </p:nvSpPr>
        <p:spPr>
          <a:xfrm>
            <a:off x="9143405" y="3312120"/>
            <a:ext cx="10401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24.6 M</a:t>
            </a:r>
            <a:endParaRPr lang="en-US" sz="1200" dirty="0"/>
          </a:p>
        </p:txBody>
      </p:sp>
      <p:sp>
        <p:nvSpPr>
          <p:cNvPr id="39" name="Text 37"/>
          <p:cNvSpPr txBox="1"/>
          <p:nvPr/>
        </p:nvSpPr>
        <p:spPr>
          <a:xfrm>
            <a:off x="10305653" y="3312120"/>
            <a:ext cx="104037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0.76</a:t>
            </a:r>
            <a:endParaRPr lang="en-US" sz="1200" dirty="0"/>
          </a:p>
        </p:txBody>
      </p:sp>
      <p:sp>
        <p:nvSpPr>
          <p:cNvPr id="40" name="Shape 38"/>
          <p:cNvSpPr/>
          <p:nvPr/>
        </p:nvSpPr>
        <p:spPr>
          <a:xfrm>
            <a:off x="819150" y="3826470"/>
            <a:ext cx="5194300" cy="1513681"/>
          </a:xfrm>
          <a:prstGeom prst="roundRect">
            <a:avLst>
              <a:gd name="adj" fmla="val 6293"/>
            </a:avLst>
          </a:prstGeom>
          <a:solidFill>
            <a:srgbClr val="FDFCFA"/>
          </a:solidFill>
          <a:ln w="12700">
            <a:solidFill>
              <a:srgbClr val="E3E0D7"/>
            </a:solidFill>
            <a:prstDash val="solid"/>
          </a:ln>
        </p:spPr>
      </p:sp>
      <p:sp>
        <p:nvSpPr>
          <p:cNvPr id="41" name="Text 39"/>
          <p:cNvSpPr txBox="1"/>
          <p:nvPr/>
        </p:nvSpPr>
        <p:spPr>
          <a:xfrm>
            <a:off x="1003300" y="4016970"/>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Why five</a:t>
            </a:r>
            <a:endParaRPr lang="en-US" sz="1500" dirty="0"/>
          </a:p>
        </p:txBody>
      </p:sp>
      <p:sp>
        <p:nvSpPr>
          <p:cNvPr id="42" name="Text 40"/>
          <p:cNvSpPr txBox="1"/>
          <p:nvPr/>
        </p:nvSpPr>
        <p:spPr>
          <a:xfrm>
            <a:off x="1003300" y="4321770"/>
            <a:ext cx="4900930"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The paper's rule: a test dataset never appears in its own pretraining, but the other paper datasets do. So homes with cupboard, fridge and flush sensors have similar homes in pretraining (run 2 had one CASAS-only model).</a:t>
            </a:r>
            <a:endParaRPr lang="en-US" sz="1200" dirty="0"/>
          </a:p>
        </p:txBody>
      </p:sp>
      <p:sp>
        <p:nvSpPr>
          <p:cNvPr id="43" name="Shape 41"/>
          <p:cNvSpPr/>
          <p:nvPr/>
        </p:nvSpPr>
        <p:spPr>
          <a:xfrm>
            <a:off x="6178550" y="3826470"/>
            <a:ext cx="5194300" cy="1513681"/>
          </a:xfrm>
          <a:prstGeom prst="roundRect">
            <a:avLst>
              <a:gd name="adj" fmla="val 6293"/>
            </a:avLst>
          </a:prstGeom>
          <a:solidFill>
            <a:srgbClr val="FDFCFA"/>
          </a:solidFill>
          <a:ln w="12700">
            <a:solidFill>
              <a:srgbClr val="E3E0D7"/>
            </a:solidFill>
            <a:prstDash val="solid"/>
          </a:ln>
        </p:spPr>
      </p:sp>
      <p:sp>
        <p:nvSpPr>
          <p:cNvPr id="44" name="Text 42"/>
          <p:cNvSpPr txBox="1"/>
          <p:nvPr/>
        </p:nvSpPr>
        <p:spPr>
          <a:xfrm>
            <a:off x="6362700" y="4016970"/>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Near-twins</a:t>
            </a:r>
            <a:endParaRPr lang="en-US" sz="1500" dirty="0"/>
          </a:p>
        </p:txBody>
      </p:sp>
      <p:sp>
        <p:nvSpPr>
          <p:cNvPr id="45" name="Text 43"/>
          <p:cNvSpPr txBox="1"/>
          <p:nvPr/>
        </p:nvSpPr>
        <p:spPr>
          <a:xfrm>
            <a:off x="6362700" y="4321770"/>
            <a:ext cx="4900930"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The 77 CASAS homes are about 95 % of every model's batches, and all five end at the same loss (0.76–0.81). Differences in results come from the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test homes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not from one model being better trained.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Which model helped most: UCI B and Kasteren A gained most, CASAS was steadiest</a:t>
            </a:r>
            <a:endParaRPr lang="en-US" sz="2800" dirty="0"/>
          </a:p>
        </p:txBody>
      </p:sp>
      <p:sp>
        <p:nvSpPr>
          <p:cNvPr id="4" name="Text 2"/>
          <p:cNvSpPr txBox="1"/>
          <p:nvPr/>
        </p:nvSpPr>
        <p:spPr>
          <a:xfrm>
            <a:off x="812800" y="1868091"/>
            <a:ext cx="10670032"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Mean gain from pretraining per model (pretrained − no pretraining, F1), over both tasks and both label amounts</a:t>
            </a:r>
            <a:endParaRPr lang="en-US" sz="1200" dirty="0"/>
          </a:p>
        </p:txBody>
      </p:sp>
      <p:graphicFrame>
        <p:nvGraphicFramePr>
          <p:cNvPr id="5" name="Chart 0" descr=""/>
          <p:cNvGraphicFramePr/>
          <p:nvPr/>
        </p:nvGraphicFramePr>
        <p:xfrm>
          <a:off x="812800" y="2240161"/>
          <a:ext cx="10566400" cy="16129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9150" y="4037211"/>
            <a:ext cx="3424734" cy="1925042"/>
          </a:xfrm>
          <a:prstGeom prst="roundRect">
            <a:avLst>
              <a:gd name="adj" fmla="val 4948"/>
            </a:avLst>
          </a:prstGeom>
          <a:solidFill>
            <a:srgbClr val="FDFCFA"/>
          </a:solidFill>
          <a:ln w="12700">
            <a:solidFill>
              <a:srgbClr val="E3E0D7"/>
            </a:solidFill>
            <a:prstDash val="solid"/>
          </a:ln>
        </p:spPr>
      </p:sp>
      <p:sp>
        <p:nvSpPr>
          <p:cNvPr id="7" name="Text 4"/>
          <p:cNvSpPr txBox="1"/>
          <p:nvPr/>
        </p:nvSpPr>
        <p:spPr>
          <a:xfrm>
            <a:off x="1003300" y="4227711"/>
            <a:ext cx="3122516" cy="213360"/>
          </a:xfrm>
          <a:prstGeom prst="rect">
            <a:avLst/>
          </a:prstGeom>
          <a:noFill/>
          <a:ln/>
        </p:spPr>
        <p:txBody>
          <a:bodyPr wrap="square" lIns="0" tIns="0" rIns="0" bIns="0" rtlCol="0" anchor="t"/>
          <a:lstStyle/>
          <a:p>
            <a:pPr algn="l" indent="0" marL="0">
              <a:lnSpc>
                <a:spcPts val="1680"/>
              </a:lnSpc>
              <a:buNone/>
            </a:pPr>
            <a:r>
              <a:rPr lang="en-US" sz="1400" b="1" dirty="0">
                <a:solidFill>
                  <a:srgbClr val="2F6B45"/>
                </a:solidFill>
                <a:latin typeface="Arial" pitchFamily="34" charset="0"/>
                <a:ea typeface="Arial" pitchFamily="34" charset="-122"/>
                <a:cs typeface="Arial" pitchFamily="34" charset="-120"/>
              </a:rPr>
              <a:t>Biggest gain: UCI B model</a:t>
            </a:r>
            <a:endParaRPr lang="en-US" sz="1400" dirty="0"/>
          </a:p>
        </p:txBody>
      </p:sp>
      <p:sp>
        <p:nvSpPr>
          <p:cNvPr id="8" name="Text 5"/>
          <p:cNvSpPr txBox="1"/>
          <p:nvPr/>
        </p:nvSpPr>
        <p:spPr>
          <a:xfrm>
            <a:off x="1003300" y="4517231"/>
            <a:ext cx="3122516" cy="1238052"/>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Activity +0.20 / +0.30 (5 % / 30 % labels); Kasteren A close behind with the single biggest gain, +0.33.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the two smallest test sets (4,666 and 2,636 events): from scratch, so few labels give only 0.26–0.28, so pretrained features fill the gap.</a:t>
            </a:r>
            <a:endParaRPr lang="en-US" sz="1200" dirty="0"/>
          </a:p>
        </p:txBody>
      </p:sp>
      <p:sp>
        <p:nvSpPr>
          <p:cNvPr id="9" name="Shape 6"/>
          <p:cNvSpPr/>
          <p:nvPr/>
        </p:nvSpPr>
        <p:spPr>
          <a:xfrm>
            <a:off x="4383584" y="4037211"/>
            <a:ext cx="3424734" cy="1925042"/>
          </a:xfrm>
          <a:prstGeom prst="roundRect">
            <a:avLst>
              <a:gd name="adj" fmla="val 4948"/>
            </a:avLst>
          </a:prstGeom>
          <a:solidFill>
            <a:srgbClr val="FDFCFA"/>
          </a:solidFill>
          <a:ln w="12700">
            <a:solidFill>
              <a:srgbClr val="E3E0D7"/>
            </a:solidFill>
            <a:prstDash val="solid"/>
          </a:ln>
        </p:spPr>
      </p:sp>
      <p:sp>
        <p:nvSpPr>
          <p:cNvPr id="10" name="Text 7"/>
          <p:cNvSpPr txBox="1"/>
          <p:nvPr/>
        </p:nvSpPr>
        <p:spPr>
          <a:xfrm>
            <a:off x="4567734" y="4227711"/>
            <a:ext cx="3122516" cy="213360"/>
          </a:xfrm>
          <a:prstGeom prst="rect">
            <a:avLst/>
          </a:prstGeom>
          <a:noFill/>
          <a:ln/>
        </p:spPr>
        <p:txBody>
          <a:bodyPr wrap="square" lIns="0" tIns="0" rIns="0" bIns="0" rtlCol="0" anchor="t"/>
          <a:lstStyle/>
          <a:p>
            <a:pPr algn="l" indent="0" marL="0">
              <a:lnSpc>
                <a:spcPts val="1680"/>
              </a:lnSpc>
              <a:buNone/>
            </a:pPr>
            <a:r>
              <a:rPr lang="en-US" sz="1400" b="1" dirty="0">
                <a:solidFill>
                  <a:srgbClr val="1E5AA8"/>
                </a:solidFill>
                <a:latin typeface="Arial" pitchFamily="34" charset="0"/>
                <a:ea typeface="Arial" pitchFamily="34" charset="-122"/>
                <a:cs typeface="Arial" pitchFamily="34" charset="-120"/>
              </a:rPr>
              <a:t>Most consistent: CASAS model</a:t>
            </a:r>
            <a:endParaRPr lang="en-US" sz="1400" dirty="0"/>
          </a:p>
        </p:txBody>
      </p:sp>
      <p:sp>
        <p:nvSpPr>
          <p:cNvPr id="11" name="Text 8"/>
          <p:cNvSpPr txBox="1"/>
          <p:nvPr/>
        </p:nvSpPr>
        <p:spPr>
          <a:xfrm>
            <a:off x="4567734" y="4517231"/>
            <a:ext cx="3122516" cy="1238052"/>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Helped 23 of 24 settings on 6 homes, and the only model that helps next-30 on every home it was tested on (+0.01 to +0.07).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its test homes look like its pretraining data (CASAS style sensors, about 95 % of batches), so it also learned their event order.</a:t>
            </a:r>
            <a:endParaRPr lang="en-US" sz="1200" dirty="0"/>
          </a:p>
        </p:txBody>
      </p:sp>
      <p:sp>
        <p:nvSpPr>
          <p:cNvPr id="12" name="Shape 9"/>
          <p:cNvSpPr/>
          <p:nvPr/>
        </p:nvSpPr>
        <p:spPr>
          <a:xfrm>
            <a:off x="7948017" y="4037211"/>
            <a:ext cx="3424734" cy="1925042"/>
          </a:xfrm>
          <a:prstGeom prst="roundRect">
            <a:avLst>
              <a:gd name="adj" fmla="val 4948"/>
            </a:avLst>
          </a:prstGeom>
          <a:solidFill>
            <a:srgbClr val="FDFCFA"/>
          </a:solidFill>
          <a:ln w="12700">
            <a:solidFill>
              <a:srgbClr val="E3E0D7"/>
            </a:solidFill>
            <a:prstDash val="solid"/>
          </a:ln>
        </p:spPr>
      </p:sp>
      <p:sp>
        <p:nvSpPr>
          <p:cNvPr id="13" name="Text 10"/>
          <p:cNvSpPr txBox="1"/>
          <p:nvPr/>
        </p:nvSpPr>
        <p:spPr>
          <a:xfrm>
            <a:off x="8132167" y="4227711"/>
            <a:ext cx="3122516" cy="213360"/>
          </a:xfrm>
          <a:prstGeom prst="rect">
            <a:avLst/>
          </a:prstGeom>
          <a:noFill/>
          <a:ln/>
        </p:spPr>
        <p:txBody>
          <a:bodyPr wrap="square" lIns="0" tIns="0" rIns="0" bIns="0" rtlCol="0" anchor="t"/>
          <a:lstStyle/>
          <a:p>
            <a:pPr algn="l" indent="0" marL="0">
              <a:lnSpc>
                <a:spcPts val="1680"/>
              </a:lnSpc>
              <a:buNone/>
            </a:pPr>
            <a:r>
              <a:rPr lang="en-US" sz="1400" b="1" dirty="0">
                <a:solidFill>
                  <a:srgbClr val="A8470B"/>
                </a:solidFill>
                <a:latin typeface="Arial" pitchFamily="34" charset="0"/>
                <a:ea typeface="Arial" pitchFamily="34" charset="-122"/>
                <a:cs typeface="Arial" pitchFamily="34" charset="-120"/>
              </a:rPr>
              <a:t>Smallest gain: Kasteren C model</a:t>
            </a:r>
            <a:endParaRPr lang="en-US" sz="1400" dirty="0"/>
          </a:p>
        </p:txBody>
      </p:sp>
      <p:sp>
        <p:nvSpPr>
          <p:cNvPr id="14" name="Text 11"/>
          <p:cNvSpPr txBox="1"/>
          <p:nvPr/>
        </p:nvSpPr>
        <p:spPr>
          <a:xfrm>
            <a:off x="8132167" y="4517231"/>
            <a:ext cx="3122516" cy="102473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+0.011 on average.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 room to improve. 83 % of its events are “go to bed”, so even the untrained model scores 0.85. Its top absolute score (0.88) says little about the model.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Per home: activity gains everywhere; next-30 gains only on CASAS homes</a:t>
            </a:r>
            <a:endParaRPr lang="en-US" sz="2800" dirty="0"/>
          </a:p>
        </p:txBody>
      </p:sp>
      <p:sp>
        <p:nvSpPr>
          <p:cNvPr id="4" name="Shape 2"/>
          <p:cNvSpPr/>
          <p:nvPr/>
        </p:nvSpPr>
        <p:spPr>
          <a:xfrm>
            <a:off x="812800" y="1898551"/>
            <a:ext cx="177800" cy="114300"/>
          </a:xfrm>
          <a:prstGeom prst="roundRect">
            <a:avLst>
              <a:gd name="adj" fmla="val 22222"/>
            </a:avLst>
          </a:prstGeom>
          <a:solidFill>
            <a:srgbClr val="1E5AA8"/>
          </a:solidFill>
          <a:ln/>
        </p:spPr>
      </p:sp>
      <p:sp>
        <p:nvSpPr>
          <p:cNvPr id="5" name="Text 3"/>
          <p:cNvSpPr txBox="1"/>
          <p:nvPr/>
        </p:nvSpPr>
        <p:spPr>
          <a:xfrm>
            <a:off x="1054100" y="1866801"/>
            <a:ext cx="132774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Activity recognition</a:t>
            </a:r>
            <a:endParaRPr lang="en-US" sz="1200" dirty="0"/>
          </a:p>
        </p:txBody>
      </p:sp>
      <p:sp>
        <p:nvSpPr>
          <p:cNvPr id="6" name="Shape 4"/>
          <p:cNvSpPr/>
          <p:nvPr/>
        </p:nvSpPr>
        <p:spPr>
          <a:xfrm>
            <a:off x="2527895" y="1898551"/>
            <a:ext cx="177800" cy="114300"/>
          </a:xfrm>
          <a:prstGeom prst="roundRect">
            <a:avLst>
              <a:gd name="adj" fmla="val 22222"/>
            </a:avLst>
          </a:prstGeom>
          <a:solidFill>
            <a:srgbClr val="C46A1B"/>
          </a:solidFill>
          <a:ln/>
        </p:spPr>
      </p:sp>
      <p:sp>
        <p:nvSpPr>
          <p:cNvPr id="7" name="Text 5"/>
          <p:cNvSpPr txBox="1"/>
          <p:nvPr/>
        </p:nvSpPr>
        <p:spPr>
          <a:xfrm>
            <a:off x="2769195" y="1866801"/>
            <a:ext cx="129374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Next-30 prediction</a:t>
            </a:r>
            <a:endParaRPr lang="en-US" sz="1200" dirty="0"/>
          </a:p>
        </p:txBody>
      </p:sp>
      <p:sp>
        <p:nvSpPr>
          <p:cNvPr id="8" name="Text 6"/>
          <p:cNvSpPr txBox="1"/>
          <p:nvPr/>
        </p:nvSpPr>
        <p:spPr>
          <a:xfrm>
            <a:off x="4209157" y="1868091"/>
            <a:ext cx="3566945"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Gain from pretraining, mean of 5 % and 30 % labels</a:t>
            </a:r>
            <a:endParaRPr lang="en-US" sz="1200" dirty="0"/>
          </a:p>
        </p:txBody>
      </p:sp>
      <p:graphicFrame>
        <p:nvGraphicFramePr>
          <p:cNvPr id="9" name="Chart 0" descr=""/>
          <p:cNvGraphicFramePr/>
          <p:nvPr/>
        </p:nvGraphicFramePr>
        <p:xfrm>
          <a:off x="812800" y="2240161"/>
          <a:ext cx="7861300" cy="3570684"/>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832850" y="2246511"/>
            <a:ext cx="2540000" cy="3557984"/>
          </a:xfrm>
          <a:prstGeom prst="roundRect">
            <a:avLst>
              <a:gd name="adj" fmla="val 3750"/>
            </a:avLst>
          </a:prstGeom>
          <a:solidFill>
            <a:srgbClr val="FDFCFA"/>
          </a:solidFill>
          <a:ln w="12700">
            <a:solidFill>
              <a:srgbClr val="E3E0D7"/>
            </a:solidFill>
            <a:prstDash val="solid"/>
          </a:ln>
        </p:spPr>
      </p:sp>
      <p:sp>
        <p:nvSpPr>
          <p:cNvPr id="11" name="Text 8"/>
          <p:cNvSpPr txBox="1"/>
          <p:nvPr/>
        </p:nvSpPr>
        <p:spPr>
          <a:xfrm>
            <a:off x="9017000" y="2449711"/>
            <a:ext cx="2233358" cy="81141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Activity: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every home gains; the small paper datasets gain most (UCI B, Kasteren A, MuRAL +0.19 to +0.25).</a:t>
            </a:r>
            <a:endParaRPr lang="en-US" sz="1200" dirty="0"/>
          </a:p>
        </p:txBody>
      </p:sp>
      <p:sp>
        <p:nvSpPr>
          <p:cNvPr id="12" name="Text 9"/>
          <p:cNvSpPr txBox="1"/>
          <p:nvPr/>
        </p:nvSpPr>
        <p:spPr>
          <a:xfrm>
            <a:off x="9017000" y="3404592"/>
            <a:ext cx="2233358" cy="59809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Next-30:</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the six CASAS homes gain +0.03 to +0.06; the four paper datasets stay near zero.</a:t>
            </a:r>
            <a:endParaRPr lang="en-US" sz="1200" dirty="0"/>
          </a:p>
        </p:txBody>
      </p:sp>
      <p:sp>
        <p:nvSpPr>
          <p:cNvPr id="13" name="Text 10"/>
          <p:cNvSpPr txBox="1"/>
          <p:nvPr/>
        </p:nvSpPr>
        <p:spPr>
          <a:xfrm>
            <a:off x="9017000" y="4146153"/>
            <a:ext cx="2233358" cy="1451372"/>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predicting the next events needs a home's own event order. The CASAS test homes resemble the model's pretraining data; the paper datasets are small and unlike CASAS homes.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Against the paper: pretraining helps, our test is stricter</a:t>
            </a:r>
            <a:endParaRPr lang="en-US" sz="2800" dirty="0"/>
          </a:p>
        </p:txBody>
      </p:sp>
      <p:sp>
        <p:nvSpPr>
          <p:cNvPr id="4" name="Text 2"/>
          <p:cNvSpPr txBox="1"/>
          <p:nvPr/>
        </p:nvSpPr>
        <p:spPr>
          <a:xfrm>
            <a:off x="812800" y="1476970"/>
            <a:ext cx="10670032"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Activity recognition, weighted F1, 5 % / 30 % labels</a:t>
            </a:r>
            <a:endParaRPr lang="en-US" sz="1200" dirty="0"/>
          </a:p>
        </p:txBody>
      </p:sp>
      <p:sp>
        <p:nvSpPr>
          <p:cNvPr id="5" name="Shape 3"/>
          <p:cNvSpPr/>
          <p:nvPr/>
        </p:nvSpPr>
        <p:spPr>
          <a:xfrm>
            <a:off x="812800" y="1849041"/>
            <a:ext cx="10566400" cy="304800"/>
          </a:xfrm>
          <a:prstGeom prst="rect">
            <a:avLst/>
          </a:prstGeom>
          <a:solidFill>
            <a:srgbClr val="14213D"/>
          </a:solidFill>
          <a:ln/>
        </p:spPr>
      </p:sp>
      <p:sp>
        <p:nvSpPr>
          <p:cNvPr id="6" name="Text 4"/>
          <p:cNvSpPr txBox="1"/>
          <p:nvPr/>
        </p:nvSpPr>
        <p:spPr>
          <a:xfrm>
            <a:off x="901700" y="1912541"/>
            <a:ext cx="17835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Dataset</a:t>
            </a:r>
            <a:endParaRPr lang="en-US" sz="1200" dirty="0"/>
          </a:p>
        </p:txBody>
      </p:sp>
      <p:sp>
        <p:nvSpPr>
          <p:cNvPr id="7" name="Text 5"/>
          <p:cNvSpPr txBox="1"/>
          <p:nvPr/>
        </p:nvSpPr>
        <p:spPr>
          <a:xfrm>
            <a:off x="2803624" y="1912541"/>
            <a:ext cx="210213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Ours, pretrained</a:t>
            </a:r>
            <a:endParaRPr lang="en-US" sz="1200" dirty="0"/>
          </a:p>
        </p:txBody>
      </p:sp>
      <p:sp>
        <p:nvSpPr>
          <p:cNvPr id="8" name="Text 6"/>
          <p:cNvSpPr txBox="1"/>
          <p:nvPr/>
        </p:nvSpPr>
        <p:spPr>
          <a:xfrm>
            <a:off x="5022552" y="1912541"/>
            <a:ext cx="220833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Ours, no pretraining</a:t>
            </a:r>
            <a:endParaRPr lang="en-US" sz="1200" dirty="0"/>
          </a:p>
        </p:txBody>
      </p:sp>
      <p:sp>
        <p:nvSpPr>
          <p:cNvPr id="9" name="Text 7"/>
          <p:cNvSpPr txBox="1"/>
          <p:nvPr/>
        </p:nvSpPr>
        <p:spPr>
          <a:xfrm>
            <a:off x="7347148" y="1912541"/>
            <a:ext cx="1995937"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Ours, random folds</a:t>
            </a:r>
            <a:endParaRPr lang="en-US" sz="1200" dirty="0"/>
          </a:p>
        </p:txBody>
      </p:sp>
      <p:sp>
        <p:nvSpPr>
          <p:cNvPr id="10" name="Text 8"/>
          <p:cNvSpPr txBox="1"/>
          <p:nvPr/>
        </p:nvSpPr>
        <p:spPr>
          <a:xfrm>
            <a:off x="9460409" y="1912541"/>
            <a:ext cx="188984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Paper (Table 1)</a:t>
            </a:r>
            <a:endParaRPr lang="en-US" sz="1200" dirty="0"/>
          </a:p>
        </p:txBody>
      </p:sp>
      <p:sp>
        <p:nvSpPr>
          <p:cNvPr id="11" name="Shape 9"/>
          <p:cNvSpPr/>
          <p:nvPr/>
        </p:nvSpPr>
        <p:spPr>
          <a:xfrm>
            <a:off x="812800" y="2153841"/>
            <a:ext cx="10566400" cy="304800"/>
          </a:xfrm>
          <a:prstGeom prst="rect">
            <a:avLst/>
          </a:prstGeom>
          <a:solidFill>
            <a:srgbClr val="FDFCFA"/>
          </a:solidFill>
          <a:ln/>
        </p:spPr>
      </p:sp>
      <p:sp>
        <p:nvSpPr>
          <p:cNvPr id="12" name="Text 10"/>
          <p:cNvSpPr txBox="1"/>
          <p:nvPr/>
        </p:nvSpPr>
        <p:spPr>
          <a:xfrm>
            <a:off x="901700" y="2217341"/>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UCI B</a:t>
            </a:r>
            <a:endParaRPr lang="en-US" sz="1200" dirty="0"/>
          </a:p>
        </p:txBody>
      </p:sp>
      <p:sp>
        <p:nvSpPr>
          <p:cNvPr id="13" name="Text 11"/>
          <p:cNvSpPr txBox="1"/>
          <p:nvPr/>
        </p:nvSpPr>
        <p:spPr>
          <a:xfrm>
            <a:off x="2803624" y="2217341"/>
            <a:ext cx="21021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0.48 / 0.56</a:t>
            </a:r>
            <a:endParaRPr lang="en-US" sz="1200" dirty="0"/>
          </a:p>
        </p:txBody>
      </p:sp>
      <p:sp>
        <p:nvSpPr>
          <p:cNvPr id="14" name="Text 12"/>
          <p:cNvSpPr txBox="1"/>
          <p:nvPr/>
        </p:nvSpPr>
        <p:spPr>
          <a:xfrm>
            <a:off x="5022552" y="2217341"/>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0.28 / 0.26</a:t>
            </a:r>
            <a:endParaRPr lang="en-US" sz="1200" dirty="0"/>
          </a:p>
        </p:txBody>
      </p:sp>
      <p:sp>
        <p:nvSpPr>
          <p:cNvPr id="15" name="Text 13"/>
          <p:cNvSpPr txBox="1"/>
          <p:nvPr/>
        </p:nvSpPr>
        <p:spPr>
          <a:xfrm>
            <a:off x="7347148" y="22173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0.54 / 0.68</a:t>
            </a:r>
            <a:endParaRPr lang="en-US" sz="1200" dirty="0"/>
          </a:p>
        </p:txBody>
      </p:sp>
      <p:sp>
        <p:nvSpPr>
          <p:cNvPr id="16" name="Text 14"/>
          <p:cNvSpPr txBox="1"/>
          <p:nvPr/>
        </p:nvSpPr>
        <p:spPr>
          <a:xfrm>
            <a:off x="9460409" y="2217341"/>
            <a:ext cx="188984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0.38 / 0.60</a:t>
            </a:r>
            <a:endParaRPr lang="en-US" sz="1200" dirty="0"/>
          </a:p>
        </p:txBody>
      </p:sp>
      <p:sp>
        <p:nvSpPr>
          <p:cNvPr id="17" name="Shape 15"/>
          <p:cNvSpPr/>
          <p:nvPr/>
        </p:nvSpPr>
        <p:spPr>
          <a:xfrm>
            <a:off x="812800" y="2458641"/>
            <a:ext cx="10566400" cy="304800"/>
          </a:xfrm>
          <a:prstGeom prst="rect">
            <a:avLst/>
          </a:prstGeom>
          <a:solidFill>
            <a:srgbClr val="F6F5F1"/>
          </a:solidFill>
          <a:ln/>
        </p:spPr>
      </p:sp>
      <p:sp>
        <p:nvSpPr>
          <p:cNvPr id="18" name="Text 16"/>
          <p:cNvSpPr txBox="1"/>
          <p:nvPr/>
        </p:nvSpPr>
        <p:spPr>
          <a:xfrm>
            <a:off x="901700" y="2522141"/>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Kasteren A</a:t>
            </a:r>
            <a:endParaRPr lang="en-US" sz="1200" dirty="0"/>
          </a:p>
        </p:txBody>
      </p:sp>
      <p:sp>
        <p:nvSpPr>
          <p:cNvPr id="19" name="Text 17"/>
          <p:cNvSpPr txBox="1"/>
          <p:nvPr/>
        </p:nvSpPr>
        <p:spPr>
          <a:xfrm>
            <a:off x="2803624" y="2522141"/>
            <a:ext cx="21021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0.33 / 0.60</a:t>
            </a:r>
            <a:endParaRPr lang="en-US" sz="1200" dirty="0"/>
          </a:p>
        </p:txBody>
      </p:sp>
      <p:sp>
        <p:nvSpPr>
          <p:cNvPr id="20" name="Text 18"/>
          <p:cNvSpPr txBox="1"/>
          <p:nvPr/>
        </p:nvSpPr>
        <p:spPr>
          <a:xfrm>
            <a:off x="5022552" y="2522141"/>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0.19 / 0.27</a:t>
            </a:r>
            <a:endParaRPr lang="en-US" sz="1200" dirty="0"/>
          </a:p>
        </p:txBody>
      </p:sp>
      <p:sp>
        <p:nvSpPr>
          <p:cNvPr id="21" name="Text 19"/>
          <p:cNvSpPr txBox="1"/>
          <p:nvPr/>
        </p:nvSpPr>
        <p:spPr>
          <a:xfrm>
            <a:off x="7347148" y="25221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0.45 / 0.82</a:t>
            </a:r>
            <a:endParaRPr lang="en-US" sz="1200" dirty="0"/>
          </a:p>
        </p:txBody>
      </p:sp>
      <p:sp>
        <p:nvSpPr>
          <p:cNvPr id="22" name="Text 20"/>
          <p:cNvSpPr txBox="1"/>
          <p:nvPr/>
        </p:nvSpPr>
        <p:spPr>
          <a:xfrm>
            <a:off x="9460409" y="2522141"/>
            <a:ext cx="188984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0.48 / 0.68</a:t>
            </a:r>
            <a:endParaRPr lang="en-US" sz="1200" dirty="0"/>
          </a:p>
        </p:txBody>
      </p:sp>
      <p:sp>
        <p:nvSpPr>
          <p:cNvPr id="23" name="Shape 21"/>
          <p:cNvSpPr/>
          <p:nvPr/>
        </p:nvSpPr>
        <p:spPr>
          <a:xfrm>
            <a:off x="812800" y="2763441"/>
            <a:ext cx="10566400" cy="304800"/>
          </a:xfrm>
          <a:prstGeom prst="rect">
            <a:avLst/>
          </a:prstGeom>
          <a:solidFill>
            <a:srgbClr val="FDFCFA"/>
          </a:solidFill>
          <a:ln/>
        </p:spPr>
      </p:sp>
      <p:sp>
        <p:nvSpPr>
          <p:cNvPr id="24" name="Text 22"/>
          <p:cNvSpPr txBox="1"/>
          <p:nvPr/>
        </p:nvSpPr>
        <p:spPr>
          <a:xfrm>
            <a:off x="901700" y="2826941"/>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Kasteren C</a:t>
            </a:r>
            <a:endParaRPr lang="en-US" sz="1200" dirty="0"/>
          </a:p>
        </p:txBody>
      </p:sp>
      <p:sp>
        <p:nvSpPr>
          <p:cNvPr id="25" name="Text 23"/>
          <p:cNvSpPr txBox="1"/>
          <p:nvPr/>
        </p:nvSpPr>
        <p:spPr>
          <a:xfrm>
            <a:off x="2803624" y="2826941"/>
            <a:ext cx="21021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0.88 / 0.87</a:t>
            </a:r>
            <a:endParaRPr lang="en-US" sz="1200" dirty="0"/>
          </a:p>
        </p:txBody>
      </p:sp>
      <p:sp>
        <p:nvSpPr>
          <p:cNvPr id="26" name="Text 24"/>
          <p:cNvSpPr txBox="1"/>
          <p:nvPr/>
        </p:nvSpPr>
        <p:spPr>
          <a:xfrm>
            <a:off x="5022552" y="2826941"/>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0.85 / 0.86</a:t>
            </a:r>
            <a:endParaRPr lang="en-US" sz="1200" dirty="0"/>
          </a:p>
        </p:txBody>
      </p:sp>
      <p:sp>
        <p:nvSpPr>
          <p:cNvPr id="27" name="Text 25"/>
          <p:cNvSpPr txBox="1"/>
          <p:nvPr/>
        </p:nvSpPr>
        <p:spPr>
          <a:xfrm>
            <a:off x="7347148" y="28269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not run</a:t>
            </a:r>
            <a:endParaRPr lang="en-US" sz="1200" dirty="0"/>
          </a:p>
        </p:txBody>
      </p:sp>
      <p:sp>
        <p:nvSpPr>
          <p:cNvPr id="28" name="Text 26"/>
          <p:cNvSpPr txBox="1"/>
          <p:nvPr/>
        </p:nvSpPr>
        <p:spPr>
          <a:xfrm>
            <a:off x="9460409" y="2826941"/>
            <a:ext cx="188984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0.59 / 0.81</a:t>
            </a:r>
            <a:endParaRPr lang="en-US" sz="1200" dirty="0"/>
          </a:p>
        </p:txBody>
      </p:sp>
      <p:sp>
        <p:nvSpPr>
          <p:cNvPr id="29" name="Shape 27"/>
          <p:cNvSpPr/>
          <p:nvPr/>
        </p:nvSpPr>
        <p:spPr>
          <a:xfrm>
            <a:off x="812800" y="3068241"/>
            <a:ext cx="10566400" cy="304800"/>
          </a:xfrm>
          <a:prstGeom prst="rect">
            <a:avLst/>
          </a:prstGeom>
          <a:solidFill>
            <a:srgbClr val="F6F5F1"/>
          </a:solidFill>
          <a:ln/>
        </p:spPr>
      </p:sp>
      <p:sp>
        <p:nvSpPr>
          <p:cNvPr id="30" name="Text 28"/>
          <p:cNvSpPr txBox="1"/>
          <p:nvPr/>
        </p:nvSpPr>
        <p:spPr>
          <a:xfrm>
            <a:off x="901700" y="3131741"/>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MuRAL</a:t>
            </a:r>
            <a:endParaRPr lang="en-US" sz="1200" dirty="0"/>
          </a:p>
        </p:txBody>
      </p:sp>
      <p:sp>
        <p:nvSpPr>
          <p:cNvPr id="31" name="Text 29"/>
          <p:cNvSpPr txBox="1"/>
          <p:nvPr/>
        </p:nvSpPr>
        <p:spPr>
          <a:xfrm>
            <a:off x="2803624" y="3131741"/>
            <a:ext cx="21021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0.27 / 0.33</a:t>
            </a:r>
            <a:endParaRPr lang="en-US" sz="1200" dirty="0"/>
          </a:p>
        </p:txBody>
      </p:sp>
      <p:sp>
        <p:nvSpPr>
          <p:cNvPr id="32" name="Text 30"/>
          <p:cNvSpPr txBox="1"/>
          <p:nvPr/>
        </p:nvSpPr>
        <p:spPr>
          <a:xfrm>
            <a:off x="5022552" y="3131741"/>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0.08 / 0.14</a:t>
            </a:r>
            <a:endParaRPr lang="en-US" sz="1200" dirty="0"/>
          </a:p>
        </p:txBody>
      </p:sp>
      <p:sp>
        <p:nvSpPr>
          <p:cNvPr id="33" name="Text 31"/>
          <p:cNvSpPr txBox="1"/>
          <p:nvPr/>
        </p:nvSpPr>
        <p:spPr>
          <a:xfrm>
            <a:off x="7347148" y="31317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0.52 / 0.79</a:t>
            </a:r>
            <a:endParaRPr lang="en-US" sz="1200" dirty="0"/>
          </a:p>
        </p:txBody>
      </p:sp>
      <p:sp>
        <p:nvSpPr>
          <p:cNvPr id="34" name="Text 32"/>
          <p:cNvSpPr txBox="1"/>
          <p:nvPr/>
        </p:nvSpPr>
        <p:spPr>
          <a:xfrm>
            <a:off x="9460409" y="3131741"/>
            <a:ext cx="188984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0.60 / 0.80</a:t>
            </a:r>
            <a:endParaRPr lang="en-US" sz="1200" dirty="0"/>
          </a:p>
        </p:txBody>
      </p:sp>
      <p:sp>
        <p:nvSpPr>
          <p:cNvPr id="35" name="Shape 33"/>
          <p:cNvSpPr/>
          <p:nvPr/>
        </p:nvSpPr>
        <p:spPr>
          <a:xfrm>
            <a:off x="819150" y="3557191"/>
            <a:ext cx="3424734" cy="1648222"/>
          </a:xfrm>
          <a:prstGeom prst="roundRect">
            <a:avLst>
              <a:gd name="adj" fmla="val 5779"/>
            </a:avLst>
          </a:prstGeom>
          <a:solidFill>
            <a:srgbClr val="FDFCFA"/>
          </a:solidFill>
          <a:ln w="12700">
            <a:solidFill>
              <a:srgbClr val="E3E0D7"/>
            </a:solidFill>
            <a:prstDash val="solid"/>
          </a:ln>
        </p:spPr>
      </p:sp>
      <p:sp>
        <p:nvSpPr>
          <p:cNvPr id="36" name="Text 34"/>
          <p:cNvSpPr txBox="1"/>
          <p:nvPr/>
        </p:nvSpPr>
        <p:spPr>
          <a:xfrm>
            <a:off x="1003300" y="3760391"/>
            <a:ext cx="3122516" cy="81141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Pretraining helps at least as much as in the paper:</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Kasteren A +0.33 at 30 % labels (paper +0.11), MuRAL +0.19 (paper +0.04), UCI B +0.30 (paper +0.24).</a:t>
            </a:r>
            <a:endParaRPr lang="en-US" sz="1200" dirty="0"/>
          </a:p>
        </p:txBody>
      </p:sp>
      <p:sp>
        <p:nvSpPr>
          <p:cNvPr id="37" name="Shape 35"/>
          <p:cNvSpPr/>
          <p:nvPr/>
        </p:nvSpPr>
        <p:spPr>
          <a:xfrm>
            <a:off x="4383584" y="3557191"/>
            <a:ext cx="3424734" cy="1648222"/>
          </a:xfrm>
          <a:prstGeom prst="roundRect">
            <a:avLst>
              <a:gd name="adj" fmla="val 5779"/>
            </a:avLst>
          </a:prstGeom>
          <a:solidFill>
            <a:srgbClr val="FDFCFA"/>
          </a:solidFill>
          <a:ln w="12700">
            <a:solidFill>
              <a:srgbClr val="E3E0D7"/>
            </a:solidFill>
            <a:prstDash val="solid"/>
          </a:ln>
        </p:spPr>
      </p:sp>
      <p:sp>
        <p:nvSpPr>
          <p:cNvPr id="38" name="Text 36"/>
          <p:cNvSpPr txBox="1"/>
          <p:nvPr/>
        </p:nvSpPr>
        <p:spPr>
          <a:xfrm>
            <a:off x="4567734" y="3760391"/>
            <a:ext cx="3122516" cy="1238052"/>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Lower absolute scores come from the test, not the model:</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with random folds, which let near-copies of test windows into training (likely the paper's protocol), Kasteren A reaches 0.82 and MuRAL 0.79 at 30 % (paper: 0.68 and 0.80).</a:t>
            </a:r>
            <a:endParaRPr lang="en-US" sz="1200" dirty="0"/>
          </a:p>
        </p:txBody>
      </p:sp>
      <p:sp>
        <p:nvSpPr>
          <p:cNvPr id="39" name="Shape 37"/>
          <p:cNvSpPr/>
          <p:nvPr/>
        </p:nvSpPr>
        <p:spPr>
          <a:xfrm>
            <a:off x="7948017" y="3557191"/>
            <a:ext cx="3424734" cy="1648222"/>
          </a:xfrm>
          <a:prstGeom prst="roundRect">
            <a:avLst>
              <a:gd name="adj" fmla="val 5779"/>
            </a:avLst>
          </a:prstGeom>
          <a:solidFill>
            <a:srgbClr val="FDFCFA"/>
          </a:solidFill>
          <a:ln w="12700">
            <a:solidFill>
              <a:srgbClr val="E3E0D7"/>
            </a:solidFill>
            <a:prstDash val="solid"/>
          </a:ln>
        </p:spPr>
      </p:sp>
      <p:sp>
        <p:nvSpPr>
          <p:cNvPr id="40" name="Text 38"/>
          <p:cNvSpPr txBox="1"/>
          <p:nvPr/>
        </p:nvSpPr>
        <p:spPr>
          <a:xfrm>
            <a:off x="8132167" y="3760391"/>
            <a:ext cx="3122516" cy="81141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Caveats: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Kasteren C looks high because 83 % of events are “go to bed” (even untrained: 0.86). Next-30 gains on these small sets are near zero (paper: +0.15 to +0.25).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DOMUSFM, THE BASELINE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Run 3 overall findings</a:t>
            </a:r>
            <a:endParaRPr lang="en-US" sz="2800" dirty="0"/>
          </a:p>
        </p:txBody>
      </p:sp>
      <p:sp>
        <p:nvSpPr>
          <p:cNvPr id="4" name="Shape 2"/>
          <p:cNvSpPr/>
          <p:nvPr/>
        </p:nvSpPr>
        <p:spPr>
          <a:xfrm>
            <a:off x="819150" y="1464270"/>
            <a:ext cx="3424734" cy="1714302"/>
          </a:xfrm>
          <a:prstGeom prst="roundRect">
            <a:avLst>
              <a:gd name="adj" fmla="val 5556"/>
            </a:avLst>
          </a:prstGeom>
          <a:solidFill>
            <a:srgbClr val="FDFCFA"/>
          </a:solidFill>
          <a:ln w="12700">
            <a:solidFill>
              <a:srgbClr val="E3E0D7"/>
            </a:solidFill>
            <a:prstDash val="solid"/>
          </a:ln>
        </p:spPr>
      </p:sp>
      <p:sp>
        <p:nvSpPr>
          <p:cNvPr id="5" name="Text 3"/>
          <p:cNvSpPr txBox="1"/>
          <p:nvPr/>
        </p:nvSpPr>
        <p:spPr>
          <a:xfrm>
            <a:off x="965200" y="1597620"/>
            <a:ext cx="3199097" cy="279400"/>
          </a:xfrm>
          <a:prstGeom prst="rect">
            <a:avLst/>
          </a:prstGeom>
          <a:noFill/>
          <a:ln/>
        </p:spPr>
        <p:txBody>
          <a:bodyPr wrap="square" lIns="0" tIns="0" rIns="0" bIns="0" rtlCol="0" anchor="t"/>
          <a:lstStyle/>
          <a:p>
            <a:pPr algn="l" indent="0" marL="0">
              <a:lnSpc>
                <a:spcPts val="2000"/>
              </a:lnSpc>
              <a:buNone/>
            </a:pPr>
            <a:r>
              <a:rPr lang="en-US" sz="2000" b="1" dirty="0">
                <a:solidFill>
                  <a:srgbClr val="A8470B"/>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965200" y="1921470"/>
            <a:ext cx="3199097" cy="410170"/>
          </a:xfrm>
          <a:prstGeom prst="rect">
            <a:avLst/>
          </a:prstGeom>
          <a:noFill/>
          <a:ln/>
        </p:spPr>
        <p:txBody>
          <a:bodyPr wrap="square" lIns="0" tIns="0" rIns="0" bIns="0" rtlCol="0" anchor="t"/>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Pretraining works for activity recognition</a:t>
            </a:r>
            <a:endParaRPr lang="en-US" sz="1400" dirty="0"/>
          </a:p>
        </p:txBody>
      </p:sp>
      <p:sp>
        <p:nvSpPr>
          <p:cNvPr id="7" name="Text 5"/>
          <p:cNvSpPr txBox="1"/>
          <p:nvPr/>
        </p:nvSpPr>
        <p:spPr>
          <a:xfrm>
            <a:off x="965200" y="2411611"/>
            <a:ext cx="3199097"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It helps in 19 of 20 activity settings, by +0.10 on average, at 5 % and at 30 % of labels. The paper's main claim holds.</a:t>
            </a:r>
            <a:endParaRPr lang="en-US" sz="1200" dirty="0"/>
          </a:p>
        </p:txBody>
      </p:sp>
      <p:sp>
        <p:nvSpPr>
          <p:cNvPr id="8" name="Shape 6"/>
          <p:cNvSpPr/>
          <p:nvPr/>
        </p:nvSpPr>
        <p:spPr>
          <a:xfrm>
            <a:off x="4383584" y="1464270"/>
            <a:ext cx="3424734" cy="1714302"/>
          </a:xfrm>
          <a:prstGeom prst="roundRect">
            <a:avLst>
              <a:gd name="adj" fmla="val 5556"/>
            </a:avLst>
          </a:prstGeom>
          <a:solidFill>
            <a:srgbClr val="FDFCFA"/>
          </a:solidFill>
          <a:ln w="12700">
            <a:solidFill>
              <a:srgbClr val="E3E0D7"/>
            </a:solidFill>
            <a:prstDash val="solid"/>
          </a:ln>
        </p:spPr>
      </p:sp>
      <p:sp>
        <p:nvSpPr>
          <p:cNvPr id="9" name="Text 7"/>
          <p:cNvSpPr txBox="1"/>
          <p:nvPr/>
        </p:nvSpPr>
        <p:spPr>
          <a:xfrm>
            <a:off x="4529634" y="1597620"/>
            <a:ext cx="3199097" cy="279400"/>
          </a:xfrm>
          <a:prstGeom prst="rect">
            <a:avLst/>
          </a:prstGeom>
          <a:noFill/>
          <a:ln/>
        </p:spPr>
        <p:txBody>
          <a:bodyPr wrap="square" lIns="0" tIns="0" rIns="0" bIns="0" rtlCol="0" anchor="t"/>
          <a:lstStyle/>
          <a:p>
            <a:pPr algn="l" indent="0" marL="0">
              <a:lnSpc>
                <a:spcPts val="2000"/>
              </a:lnSpc>
              <a:buNone/>
            </a:pPr>
            <a:r>
              <a:rPr lang="en-US" sz="2000" b="1" dirty="0">
                <a:solidFill>
                  <a:srgbClr val="A8470B"/>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4529634" y="1921470"/>
            <a:ext cx="3199097" cy="410170"/>
          </a:xfrm>
          <a:prstGeom prst="rect">
            <a:avLst/>
          </a:prstGeom>
          <a:noFill/>
          <a:ln/>
        </p:spPr>
        <p:txBody>
          <a:bodyPr wrap="square" lIns="0" tIns="0" rIns="0" bIns="0" rtlCol="0" anchor="t"/>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It helps most where labels are scarce</a:t>
            </a:r>
            <a:endParaRPr lang="en-US" sz="1400" dirty="0"/>
          </a:p>
        </p:txBody>
      </p:sp>
      <p:sp>
        <p:nvSpPr>
          <p:cNvPr id="11" name="Text 9"/>
          <p:cNvSpPr txBox="1"/>
          <p:nvPr/>
        </p:nvSpPr>
        <p:spPr>
          <a:xfrm>
            <a:off x="4529634" y="2411611"/>
            <a:ext cx="3199097"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The small paper datasets gain most: Kasteren A +0.33 and UCI B +0.30 at 30 % labels. The UCI B model has the biggest average gain.</a:t>
            </a:r>
            <a:endParaRPr lang="en-US" sz="1200" dirty="0"/>
          </a:p>
        </p:txBody>
      </p:sp>
      <p:sp>
        <p:nvSpPr>
          <p:cNvPr id="12" name="Shape 10"/>
          <p:cNvSpPr/>
          <p:nvPr/>
        </p:nvSpPr>
        <p:spPr>
          <a:xfrm>
            <a:off x="7948017" y="1464270"/>
            <a:ext cx="3424734" cy="1714302"/>
          </a:xfrm>
          <a:prstGeom prst="roundRect">
            <a:avLst>
              <a:gd name="adj" fmla="val 5556"/>
            </a:avLst>
          </a:prstGeom>
          <a:solidFill>
            <a:srgbClr val="FDFCFA"/>
          </a:solidFill>
          <a:ln w="12700">
            <a:solidFill>
              <a:srgbClr val="E3E0D7"/>
            </a:solidFill>
            <a:prstDash val="solid"/>
          </a:ln>
        </p:spPr>
      </p:sp>
      <p:sp>
        <p:nvSpPr>
          <p:cNvPr id="13" name="Text 11"/>
          <p:cNvSpPr txBox="1"/>
          <p:nvPr/>
        </p:nvSpPr>
        <p:spPr>
          <a:xfrm>
            <a:off x="8094067" y="1597620"/>
            <a:ext cx="3199097" cy="279400"/>
          </a:xfrm>
          <a:prstGeom prst="rect">
            <a:avLst/>
          </a:prstGeom>
          <a:noFill/>
          <a:ln/>
        </p:spPr>
        <p:txBody>
          <a:bodyPr wrap="square" lIns="0" tIns="0" rIns="0" bIns="0" rtlCol="0" anchor="t"/>
          <a:lstStyle/>
          <a:p>
            <a:pPr algn="l" indent="0" marL="0">
              <a:lnSpc>
                <a:spcPts val="2000"/>
              </a:lnSpc>
              <a:buNone/>
            </a:pPr>
            <a:r>
              <a:rPr lang="en-US" sz="2000" b="1" dirty="0">
                <a:solidFill>
                  <a:srgbClr val="A8470B"/>
                </a:solidFill>
                <a:latin typeface="Arial" pitchFamily="34" charset="0"/>
                <a:ea typeface="Arial" pitchFamily="34" charset="-122"/>
                <a:cs typeface="Arial" pitchFamily="34" charset="-120"/>
              </a:rPr>
              <a:t>3</a:t>
            </a:r>
            <a:endParaRPr lang="en-US" sz="2000" dirty="0"/>
          </a:p>
        </p:txBody>
      </p:sp>
      <p:sp>
        <p:nvSpPr>
          <p:cNvPr id="14" name="Text 12"/>
          <p:cNvSpPr txBox="1"/>
          <p:nvPr/>
        </p:nvSpPr>
        <p:spPr>
          <a:xfrm>
            <a:off x="8094067" y="1921470"/>
            <a:ext cx="3199097" cy="213360"/>
          </a:xfrm>
          <a:prstGeom prst="rect">
            <a:avLst/>
          </a:prstGeom>
          <a:noFill/>
          <a:ln/>
        </p:spPr>
        <p:txBody>
          <a:bodyPr wrap="square" lIns="0" tIns="0" rIns="0" bIns="0" rtlCol="0" anchor="t"/>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It does little for next-30 prediction</a:t>
            </a:r>
            <a:endParaRPr lang="en-US" sz="1400" dirty="0"/>
          </a:p>
        </p:txBody>
      </p:sp>
      <p:sp>
        <p:nvSpPr>
          <p:cNvPr id="15" name="Text 13"/>
          <p:cNvSpPr txBox="1"/>
          <p:nvPr/>
        </p:nvSpPr>
        <p:spPr>
          <a:xfrm>
            <a:off x="8094067" y="2198291"/>
            <a:ext cx="3199097"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It helps in 15 of 20 next-30 settings, only +0.04 / +0.01 on average, and about zero on the paper datasets. Only CASAS homes gain.</a:t>
            </a:r>
            <a:endParaRPr lang="en-US" sz="1200" dirty="0"/>
          </a:p>
        </p:txBody>
      </p:sp>
      <p:sp>
        <p:nvSpPr>
          <p:cNvPr id="16" name="Shape 14"/>
          <p:cNvSpPr/>
          <p:nvPr/>
        </p:nvSpPr>
        <p:spPr>
          <a:xfrm>
            <a:off x="819150" y="3318272"/>
            <a:ext cx="3424734" cy="1714302"/>
          </a:xfrm>
          <a:prstGeom prst="roundRect">
            <a:avLst>
              <a:gd name="adj" fmla="val 5556"/>
            </a:avLst>
          </a:prstGeom>
          <a:solidFill>
            <a:srgbClr val="FDFCFA"/>
          </a:solidFill>
          <a:ln w="12700">
            <a:solidFill>
              <a:srgbClr val="E3E0D7"/>
            </a:solidFill>
            <a:prstDash val="solid"/>
          </a:ln>
        </p:spPr>
      </p:sp>
      <p:sp>
        <p:nvSpPr>
          <p:cNvPr id="17" name="Text 15"/>
          <p:cNvSpPr txBox="1"/>
          <p:nvPr/>
        </p:nvSpPr>
        <p:spPr>
          <a:xfrm>
            <a:off x="965200" y="3451622"/>
            <a:ext cx="3199097" cy="279400"/>
          </a:xfrm>
          <a:prstGeom prst="rect">
            <a:avLst/>
          </a:prstGeom>
          <a:noFill/>
          <a:ln/>
        </p:spPr>
        <p:txBody>
          <a:bodyPr wrap="square" lIns="0" tIns="0" rIns="0" bIns="0" rtlCol="0" anchor="t"/>
          <a:lstStyle/>
          <a:p>
            <a:pPr algn="l" indent="0" marL="0">
              <a:lnSpc>
                <a:spcPts val="2000"/>
              </a:lnSpc>
              <a:buNone/>
            </a:pPr>
            <a:r>
              <a:rPr lang="en-US" sz="2000" b="1" dirty="0">
                <a:solidFill>
                  <a:srgbClr val="A8470B"/>
                </a:solidFill>
                <a:latin typeface="Arial" pitchFamily="34" charset="0"/>
                <a:ea typeface="Arial" pitchFamily="34" charset="-122"/>
                <a:cs typeface="Arial" pitchFamily="34" charset="-120"/>
              </a:rPr>
              <a:t>4</a:t>
            </a:r>
            <a:endParaRPr lang="en-US" sz="2000" dirty="0"/>
          </a:p>
        </p:txBody>
      </p:sp>
      <p:sp>
        <p:nvSpPr>
          <p:cNvPr id="18" name="Text 16"/>
          <p:cNvSpPr txBox="1"/>
          <p:nvPr/>
        </p:nvSpPr>
        <p:spPr>
          <a:xfrm>
            <a:off x="965200" y="3775472"/>
            <a:ext cx="3199097" cy="213360"/>
          </a:xfrm>
          <a:prstGeom prst="rect">
            <a:avLst/>
          </a:prstGeom>
          <a:noFill/>
          <a:ln/>
        </p:spPr>
        <p:txBody>
          <a:bodyPr wrap="square" lIns="0" tIns="0" rIns="0" bIns="0" rtlCol="0" anchor="t"/>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The five models are equally good</a:t>
            </a:r>
            <a:endParaRPr lang="en-US" sz="1400" dirty="0"/>
          </a:p>
        </p:txBody>
      </p:sp>
      <p:sp>
        <p:nvSpPr>
          <p:cNvPr id="19" name="Text 17"/>
          <p:cNvSpPr txBox="1"/>
          <p:nvPr/>
        </p:nvSpPr>
        <p:spPr>
          <a:xfrm>
            <a:off x="965200" y="4052292"/>
            <a:ext cx="3199097"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Same data (95 % CASAS batches) and the same final loss. Differences come from the test homes: size, labels and how CASAS-like they are.</a:t>
            </a:r>
            <a:endParaRPr lang="en-US" sz="1200" dirty="0"/>
          </a:p>
        </p:txBody>
      </p:sp>
      <p:sp>
        <p:nvSpPr>
          <p:cNvPr id="20" name="Shape 18"/>
          <p:cNvSpPr/>
          <p:nvPr/>
        </p:nvSpPr>
        <p:spPr>
          <a:xfrm>
            <a:off x="4383584" y="3318272"/>
            <a:ext cx="3424734" cy="1714302"/>
          </a:xfrm>
          <a:prstGeom prst="roundRect">
            <a:avLst>
              <a:gd name="adj" fmla="val 5556"/>
            </a:avLst>
          </a:prstGeom>
          <a:solidFill>
            <a:srgbClr val="FDFCFA"/>
          </a:solidFill>
          <a:ln w="12700">
            <a:solidFill>
              <a:srgbClr val="E3E0D7"/>
            </a:solidFill>
            <a:prstDash val="solid"/>
          </a:ln>
        </p:spPr>
      </p:sp>
      <p:sp>
        <p:nvSpPr>
          <p:cNvPr id="21" name="Text 19"/>
          <p:cNvSpPr txBox="1"/>
          <p:nvPr/>
        </p:nvSpPr>
        <p:spPr>
          <a:xfrm>
            <a:off x="4529634" y="3451622"/>
            <a:ext cx="3199097" cy="279400"/>
          </a:xfrm>
          <a:prstGeom prst="rect">
            <a:avLst/>
          </a:prstGeom>
          <a:noFill/>
          <a:ln/>
        </p:spPr>
        <p:txBody>
          <a:bodyPr wrap="square" lIns="0" tIns="0" rIns="0" bIns="0" rtlCol="0" anchor="t"/>
          <a:lstStyle/>
          <a:p>
            <a:pPr algn="l" indent="0" marL="0">
              <a:lnSpc>
                <a:spcPts val="2000"/>
              </a:lnSpc>
              <a:buNone/>
            </a:pPr>
            <a:r>
              <a:rPr lang="en-US" sz="2000" b="1" dirty="0">
                <a:solidFill>
                  <a:srgbClr val="A8470B"/>
                </a:solidFill>
                <a:latin typeface="Arial" pitchFamily="34" charset="0"/>
                <a:ea typeface="Arial" pitchFamily="34" charset="-122"/>
                <a:cs typeface="Arial" pitchFamily="34" charset="-120"/>
              </a:rPr>
              <a:t>5</a:t>
            </a:r>
            <a:endParaRPr lang="en-US" sz="2000" dirty="0"/>
          </a:p>
        </p:txBody>
      </p:sp>
      <p:sp>
        <p:nvSpPr>
          <p:cNvPr id="22" name="Text 20"/>
          <p:cNvSpPr txBox="1"/>
          <p:nvPr/>
        </p:nvSpPr>
        <p:spPr>
          <a:xfrm>
            <a:off x="4529634" y="3775472"/>
            <a:ext cx="3199097" cy="213360"/>
          </a:xfrm>
          <a:prstGeom prst="rect">
            <a:avLst/>
          </a:prstGeom>
          <a:noFill/>
          <a:ln/>
        </p:spPr>
        <p:txBody>
          <a:bodyPr wrap="square" lIns="0" tIns="0" rIns="0" bIns="0" rtlCol="0" anchor="t"/>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Our test is stricter than the paper's</a:t>
            </a:r>
            <a:endParaRPr lang="en-US" sz="1400" dirty="0"/>
          </a:p>
        </p:txBody>
      </p:sp>
      <p:sp>
        <p:nvSpPr>
          <p:cNvPr id="23" name="Text 21"/>
          <p:cNvSpPr txBox="1"/>
          <p:nvPr/>
        </p:nvSpPr>
        <p:spPr>
          <a:xfrm>
            <a:off x="4529634" y="4052292"/>
            <a:ext cx="3199097"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Time-ordered folds. With the paper's likely random folds, Kasteren A reaches 0.82 and MuRAL 0.79 (paper 0.68 and 0.80).</a:t>
            </a:r>
            <a:endParaRPr lang="en-US" sz="1200" dirty="0"/>
          </a:p>
        </p:txBody>
      </p:sp>
      <p:sp>
        <p:nvSpPr>
          <p:cNvPr id="24" name="Shape 22"/>
          <p:cNvSpPr/>
          <p:nvPr/>
        </p:nvSpPr>
        <p:spPr>
          <a:xfrm>
            <a:off x="7948017" y="3318272"/>
            <a:ext cx="3424734" cy="1714302"/>
          </a:xfrm>
          <a:prstGeom prst="roundRect">
            <a:avLst>
              <a:gd name="adj" fmla="val 5556"/>
            </a:avLst>
          </a:prstGeom>
          <a:solidFill>
            <a:srgbClr val="FDFCFA"/>
          </a:solidFill>
          <a:ln w="12700">
            <a:solidFill>
              <a:srgbClr val="E3E0D7"/>
            </a:solidFill>
            <a:prstDash val="solid"/>
          </a:ln>
        </p:spPr>
      </p:sp>
      <p:sp>
        <p:nvSpPr>
          <p:cNvPr id="25" name="Text 23"/>
          <p:cNvSpPr txBox="1"/>
          <p:nvPr/>
        </p:nvSpPr>
        <p:spPr>
          <a:xfrm>
            <a:off x="8094067" y="3451622"/>
            <a:ext cx="3199097" cy="279400"/>
          </a:xfrm>
          <a:prstGeom prst="rect">
            <a:avLst/>
          </a:prstGeom>
          <a:noFill/>
          <a:ln/>
        </p:spPr>
        <p:txBody>
          <a:bodyPr wrap="square" lIns="0" tIns="0" rIns="0" bIns="0" rtlCol="0" anchor="t"/>
          <a:lstStyle/>
          <a:p>
            <a:pPr algn="l" indent="0" marL="0">
              <a:lnSpc>
                <a:spcPts val="2000"/>
              </a:lnSpc>
              <a:buNone/>
            </a:pPr>
            <a:r>
              <a:rPr lang="en-US" sz="2000" b="1" dirty="0">
                <a:solidFill>
                  <a:srgbClr val="A8470B"/>
                </a:solidFill>
                <a:latin typeface="Arial" pitchFamily="34" charset="0"/>
                <a:ea typeface="Arial" pitchFamily="34" charset="-122"/>
                <a:cs typeface="Arial" pitchFamily="34" charset="-120"/>
              </a:rPr>
              <a:t>6</a:t>
            </a:r>
            <a:endParaRPr lang="en-US" sz="2000" dirty="0"/>
          </a:p>
        </p:txBody>
      </p:sp>
      <p:sp>
        <p:nvSpPr>
          <p:cNvPr id="26" name="Text 24"/>
          <p:cNvSpPr txBox="1"/>
          <p:nvPr/>
        </p:nvSpPr>
        <p:spPr>
          <a:xfrm>
            <a:off x="8094067" y="3775472"/>
            <a:ext cx="3199097" cy="213360"/>
          </a:xfrm>
          <a:prstGeom prst="rect">
            <a:avLst/>
          </a:prstGeom>
          <a:noFill/>
          <a:ln/>
        </p:spPr>
        <p:txBody>
          <a:bodyPr wrap="square" lIns="0" tIns="0" rIns="0" bIns="0" rtlCol="0" anchor="t"/>
          <a:lstStyle/>
          <a:p>
            <a:pPr algn="l" indent="0" marL="0">
              <a:lnSpc>
                <a:spcPts val="1680"/>
              </a:lnSpc>
              <a:buNone/>
            </a:pPr>
            <a:r>
              <a:rPr lang="en-US" sz="1400" b="1" dirty="0">
                <a:solidFill>
                  <a:srgbClr val="14213D"/>
                </a:solidFill>
                <a:latin typeface="Arial" pitchFamily="34" charset="0"/>
                <a:ea typeface="Arial" pitchFamily="34" charset="-122"/>
                <a:cs typeface="Arial" pitchFamily="34" charset="-120"/>
              </a:rPr>
              <a:t>Kasteren C and one-run caveats</a:t>
            </a:r>
            <a:endParaRPr lang="en-US" sz="1400" dirty="0"/>
          </a:p>
        </p:txBody>
      </p:sp>
      <p:sp>
        <p:nvSpPr>
          <p:cNvPr id="27" name="Text 25"/>
          <p:cNvSpPr txBox="1"/>
          <p:nvPr/>
        </p:nvSpPr>
        <p:spPr>
          <a:xfrm>
            <a:off x="8094067" y="4052292"/>
            <a:ext cx="3199097"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Kasteren C is easy (83 % “go to bed”). One run per setting, 3 folds: differences under about 0.03 on one home are noise.</a:t>
            </a:r>
            <a:endParaRPr lang="en-US" sz="1200" dirty="0"/>
          </a:p>
        </p:txBody>
      </p:sp>
      <p:sp>
        <p:nvSpPr>
          <p:cNvPr id="28" name="Shape 26"/>
          <p:cNvSpPr/>
          <p:nvPr/>
        </p:nvSpPr>
        <p:spPr>
          <a:xfrm>
            <a:off x="819150" y="5223073"/>
            <a:ext cx="10553700" cy="1018977"/>
          </a:xfrm>
          <a:prstGeom prst="roundRect">
            <a:avLst>
              <a:gd name="adj" fmla="val 9348"/>
            </a:avLst>
          </a:prstGeom>
          <a:solidFill>
            <a:srgbClr val="E6EEF8"/>
          </a:solidFill>
          <a:ln w="12700">
            <a:solidFill>
              <a:srgbClr val="B9CDE8"/>
            </a:solidFill>
            <a:prstDash val="solid"/>
          </a:ln>
        </p:spPr>
      </p:sp>
      <p:sp>
        <p:nvSpPr>
          <p:cNvPr id="29" name="Text 27"/>
          <p:cNvSpPr txBox="1"/>
          <p:nvPr/>
        </p:nvSpPr>
        <p:spPr>
          <a:xfrm>
            <a:off x="1003300" y="5426273"/>
            <a:ext cx="1028712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What it means for HomeFM:</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this run, the fixed and cleaned DomusFM, is the baseline to beat. Its gap is predicting what comes next, which is exactly what HomeFM's game 1 (next event and when) trains.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11 LIMITATIONS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Every DomusFM limitation has a HomeFM remedy</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50918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a:t>
            </a:r>
            <a:endParaRPr lang="en-US" sz="1200" dirty="0"/>
          </a:p>
        </p:txBody>
      </p:sp>
      <p:sp>
        <p:nvSpPr>
          <p:cNvPr id="6" name="Text 4"/>
          <p:cNvSpPr txBox="1"/>
          <p:nvPr/>
        </p:nvSpPr>
        <p:spPr>
          <a:xfrm>
            <a:off x="1535609" y="1521420"/>
            <a:ext cx="220833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Limitation</a:t>
            </a:r>
            <a:endParaRPr lang="en-US" sz="1200" dirty="0"/>
          </a:p>
        </p:txBody>
      </p:sp>
      <p:sp>
        <p:nvSpPr>
          <p:cNvPr id="7" name="Text 5"/>
          <p:cNvSpPr txBox="1"/>
          <p:nvPr/>
        </p:nvSpPr>
        <p:spPr>
          <a:xfrm>
            <a:off x="3860205" y="1521420"/>
            <a:ext cx="358878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In one line</a:t>
            </a:r>
            <a:endParaRPr lang="en-US" sz="1200" dirty="0"/>
          </a:p>
        </p:txBody>
      </p:sp>
      <p:sp>
        <p:nvSpPr>
          <p:cNvPr id="8" name="Text 6"/>
          <p:cNvSpPr txBox="1"/>
          <p:nvPr/>
        </p:nvSpPr>
        <p:spPr>
          <a:xfrm>
            <a:off x="7558385" y="1521420"/>
            <a:ext cx="380137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HomeFM fix</a:t>
            </a:r>
            <a:endParaRPr lang="en-US" sz="1200" dirty="0"/>
          </a:p>
        </p:txBody>
      </p:sp>
      <p:sp>
        <p:nvSpPr>
          <p:cNvPr id="9" name="Shape 7"/>
          <p:cNvSpPr/>
          <p:nvPr/>
        </p:nvSpPr>
        <p:spPr>
          <a:xfrm>
            <a:off x="812800" y="1762720"/>
            <a:ext cx="10566400" cy="304800"/>
          </a:xfrm>
          <a:prstGeom prst="rect">
            <a:avLst/>
          </a:prstGeom>
          <a:solidFill>
            <a:srgbClr val="FDFCFA"/>
          </a:solidFill>
          <a:ln/>
        </p:spPr>
      </p:sp>
      <p:sp>
        <p:nvSpPr>
          <p:cNvPr id="10" name="Text 8"/>
          <p:cNvSpPr txBox="1"/>
          <p:nvPr/>
        </p:nvSpPr>
        <p:spPr>
          <a:xfrm>
            <a:off x="901700" y="18262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L1</a:t>
            </a:r>
            <a:endParaRPr lang="en-US" sz="1200" dirty="0"/>
          </a:p>
        </p:txBody>
      </p:sp>
      <p:sp>
        <p:nvSpPr>
          <p:cNvPr id="11" name="Text 9"/>
          <p:cNvSpPr txBox="1"/>
          <p:nvPr/>
        </p:nvSpPr>
        <p:spPr>
          <a:xfrm>
            <a:off x="1535609" y="1826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Closed label set</a:t>
            </a:r>
            <a:endParaRPr lang="en-US" sz="1200" dirty="0"/>
          </a:p>
        </p:txBody>
      </p:sp>
      <p:sp>
        <p:nvSpPr>
          <p:cNvPr id="12" name="Text 10"/>
          <p:cNvSpPr txBox="1"/>
          <p:nvPr/>
        </p:nvSpPr>
        <p:spPr>
          <a:xfrm>
            <a:off x="3860205" y="18262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Names only activities it has labels for</a:t>
            </a:r>
            <a:endParaRPr lang="en-US" sz="1200" dirty="0"/>
          </a:p>
        </p:txBody>
      </p:sp>
      <p:sp>
        <p:nvSpPr>
          <p:cNvPr id="13" name="Text 11"/>
          <p:cNvSpPr txBox="1"/>
          <p:nvPr/>
        </p:nvSpPr>
        <p:spPr>
          <a:xfrm>
            <a:off x="7558385" y="18262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Match minutes with words: any concept</a:t>
            </a:r>
            <a:endParaRPr lang="en-US" sz="1200" dirty="0"/>
          </a:p>
        </p:txBody>
      </p:sp>
      <p:sp>
        <p:nvSpPr>
          <p:cNvPr id="14" name="Shape 12"/>
          <p:cNvSpPr/>
          <p:nvPr/>
        </p:nvSpPr>
        <p:spPr>
          <a:xfrm>
            <a:off x="812800" y="2067520"/>
            <a:ext cx="10566400" cy="304800"/>
          </a:xfrm>
          <a:prstGeom prst="rect">
            <a:avLst/>
          </a:prstGeom>
          <a:solidFill>
            <a:srgbClr val="F6F5F1"/>
          </a:solidFill>
          <a:ln/>
        </p:spPr>
      </p:sp>
      <p:sp>
        <p:nvSpPr>
          <p:cNvPr id="15" name="Text 13"/>
          <p:cNvSpPr txBox="1"/>
          <p:nvPr/>
        </p:nvSpPr>
        <p:spPr>
          <a:xfrm>
            <a:off x="901700" y="21310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L2</a:t>
            </a:r>
            <a:endParaRPr lang="en-US" sz="1200" dirty="0"/>
          </a:p>
        </p:txBody>
      </p:sp>
      <p:sp>
        <p:nvSpPr>
          <p:cNvPr id="16" name="Text 14"/>
          <p:cNvSpPr txBox="1"/>
          <p:nvPr/>
        </p:nvSpPr>
        <p:spPr>
          <a:xfrm>
            <a:off x="1535609" y="2131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Binary events only</a:t>
            </a:r>
            <a:endParaRPr lang="en-US" sz="1200" dirty="0"/>
          </a:p>
        </p:txBody>
      </p:sp>
      <p:sp>
        <p:nvSpPr>
          <p:cNvPr id="17" name="Text 15"/>
          <p:cNvSpPr txBox="1"/>
          <p:nvPr/>
        </p:nvSpPr>
        <p:spPr>
          <a:xfrm>
            <a:off x="3860205" y="21310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Sees fridge ON, not fridge at 180 W</a:t>
            </a:r>
            <a:endParaRPr lang="en-US" sz="1200" dirty="0"/>
          </a:p>
        </p:txBody>
      </p:sp>
      <p:sp>
        <p:nvSpPr>
          <p:cNvPr id="18" name="Text 16"/>
          <p:cNvSpPr txBox="1"/>
          <p:nvPr/>
        </p:nvSpPr>
        <p:spPr>
          <a:xfrm>
            <a:off x="7558385" y="21310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Numbers enter as numbers</a:t>
            </a:r>
            <a:endParaRPr lang="en-US" sz="1200" dirty="0"/>
          </a:p>
        </p:txBody>
      </p:sp>
      <p:sp>
        <p:nvSpPr>
          <p:cNvPr id="19" name="Shape 17"/>
          <p:cNvSpPr/>
          <p:nvPr/>
        </p:nvSpPr>
        <p:spPr>
          <a:xfrm>
            <a:off x="812800" y="2372320"/>
            <a:ext cx="10566400" cy="304800"/>
          </a:xfrm>
          <a:prstGeom prst="rect">
            <a:avLst/>
          </a:prstGeom>
          <a:solidFill>
            <a:srgbClr val="FDFCFA"/>
          </a:solidFill>
          <a:ln/>
        </p:spPr>
      </p:sp>
      <p:sp>
        <p:nvSpPr>
          <p:cNvPr id="20" name="Text 18"/>
          <p:cNvSpPr txBox="1"/>
          <p:nvPr/>
        </p:nvSpPr>
        <p:spPr>
          <a:xfrm>
            <a:off x="901700" y="24358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L3</a:t>
            </a:r>
            <a:endParaRPr lang="en-US" sz="1200" dirty="0"/>
          </a:p>
        </p:txBody>
      </p:sp>
      <p:sp>
        <p:nvSpPr>
          <p:cNvPr id="21" name="Text 19"/>
          <p:cNvSpPr txBox="1"/>
          <p:nvPr/>
        </p:nvSpPr>
        <p:spPr>
          <a:xfrm>
            <a:off x="1535609" y="24358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30-event window</a:t>
            </a:r>
            <a:endParaRPr lang="en-US" sz="1200" dirty="0"/>
          </a:p>
        </p:txBody>
      </p:sp>
      <p:sp>
        <p:nvSpPr>
          <p:cNvPr id="22" name="Text 20"/>
          <p:cNvSpPr txBox="1"/>
          <p:nvPr/>
        </p:nvSpPr>
        <p:spPr>
          <a:xfrm>
            <a:off x="3860205" y="24358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Memory of 2 min to 6 h, never weeks</a:t>
            </a:r>
            <a:endParaRPr lang="en-US" sz="1200" dirty="0"/>
          </a:p>
        </p:txBody>
      </p:sp>
      <p:sp>
        <p:nvSpPr>
          <p:cNvPr id="23" name="Text 21"/>
          <p:cNvSpPr txBox="1"/>
          <p:nvPr/>
        </p:nvSpPr>
        <p:spPr>
          <a:xfrm>
            <a:off x="7558385" y="24358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1-min steps, hours in context, day tokens</a:t>
            </a:r>
            <a:endParaRPr lang="en-US" sz="1200" dirty="0"/>
          </a:p>
        </p:txBody>
      </p:sp>
      <p:sp>
        <p:nvSpPr>
          <p:cNvPr id="24" name="Shape 22"/>
          <p:cNvSpPr/>
          <p:nvPr/>
        </p:nvSpPr>
        <p:spPr>
          <a:xfrm>
            <a:off x="812800" y="2677120"/>
            <a:ext cx="10566400" cy="304800"/>
          </a:xfrm>
          <a:prstGeom prst="rect">
            <a:avLst/>
          </a:prstGeom>
          <a:solidFill>
            <a:srgbClr val="F6F5F1"/>
          </a:solidFill>
          <a:ln/>
        </p:spPr>
      </p:sp>
      <p:sp>
        <p:nvSpPr>
          <p:cNvPr id="25" name="Text 23"/>
          <p:cNvSpPr txBox="1"/>
          <p:nvPr/>
        </p:nvSpPr>
        <p:spPr>
          <a:xfrm>
            <a:off x="901700" y="27406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L4</a:t>
            </a:r>
            <a:endParaRPr lang="en-US" sz="1200" dirty="0"/>
          </a:p>
        </p:txBody>
      </p:sp>
      <p:sp>
        <p:nvSpPr>
          <p:cNvPr id="26" name="Text 24"/>
          <p:cNvSpPr txBox="1"/>
          <p:nvPr/>
        </p:nvSpPr>
        <p:spPr>
          <a:xfrm>
            <a:off x="1535609" y="27406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Single occupant</a:t>
            </a:r>
            <a:endParaRPr lang="en-US" sz="1200" dirty="0"/>
          </a:p>
        </p:txBody>
      </p:sp>
      <p:sp>
        <p:nvSpPr>
          <p:cNvPr id="27" name="Text 25"/>
          <p:cNvSpPr txBox="1"/>
          <p:nvPr/>
        </p:nvSpPr>
        <p:spPr>
          <a:xfrm>
            <a:off x="3860205" y="27406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Cannot tell people or pets apart</a:t>
            </a:r>
            <a:endParaRPr lang="en-US" sz="1200" dirty="0"/>
          </a:p>
        </p:txBody>
      </p:sp>
      <p:sp>
        <p:nvSpPr>
          <p:cNvPr id="28" name="Text 26"/>
          <p:cNvSpPr txBox="1"/>
          <p:nvPr/>
        </p:nvSpPr>
        <p:spPr>
          <a:xfrm>
            <a:off x="7558385" y="27406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Person cards per resident and pet</a:t>
            </a:r>
            <a:endParaRPr lang="en-US" sz="1200" dirty="0"/>
          </a:p>
        </p:txBody>
      </p:sp>
      <p:sp>
        <p:nvSpPr>
          <p:cNvPr id="29" name="Shape 27"/>
          <p:cNvSpPr/>
          <p:nvPr/>
        </p:nvSpPr>
        <p:spPr>
          <a:xfrm>
            <a:off x="812800" y="2981920"/>
            <a:ext cx="10566400" cy="304800"/>
          </a:xfrm>
          <a:prstGeom prst="rect">
            <a:avLst/>
          </a:prstGeom>
          <a:solidFill>
            <a:srgbClr val="FDFCFA"/>
          </a:solidFill>
          <a:ln/>
        </p:spPr>
      </p:sp>
      <p:sp>
        <p:nvSpPr>
          <p:cNvPr id="30" name="Text 28"/>
          <p:cNvSpPr txBox="1"/>
          <p:nvPr/>
        </p:nvSpPr>
        <p:spPr>
          <a:xfrm>
            <a:off x="901700" y="30454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L5</a:t>
            </a:r>
            <a:endParaRPr lang="en-US" sz="1200" dirty="0"/>
          </a:p>
        </p:txBody>
      </p:sp>
      <p:sp>
        <p:nvSpPr>
          <p:cNvPr id="31" name="Text 29"/>
          <p:cNvSpPr txBox="1"/>
          <p:nvPr/>
        </p:nvSpPr>
        <p:spPr>
          <a:xfrm>
            <a:off x="1535609" y="30454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label per window</a:t>
            </a:r>
            <a:endParaRPr lang="en-US" sz="1200" dirty="0"/>
          </a:p>
        </p:txBody>
      </p:sp>
      <p:sp>
        <p:nvSpPr>
          <p:cNvPr id="32" name="Text 30"/>
          <p:cNvSpPr txBox="1"/>
          <p:nvPr/>
        </p:nvSpPr>
        <p:spPr>
          <a:xfrm>
            <a:off x="3860205" y="30454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Cannot count, or see two things at once</a:t>
            </a:r>
            <a:endParaRPr lang="en-US" sz="1200" dirty="0"/>
          </a:p>
        </p:txBody>
      </p:sp>
      <p:sp>
        <p:nvSpPr>
          <p:cNvPr id="33" name="Text 31"/>
          <p:cNvSpPr txBox="1"/>
          <p:nvPr/>
        </p:nvSpPr>
        <p:spPr>
          <a:xfrm>
            <a:off x="7558385" y="30454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Start/end head, multi-tags, count rules</a:t>
            </a:r>
            <a:endParaRPr lang="en-US" sz="1200" dirty="0"/>
          </a:p>
        </p:txBody>
      </p:sp>
      <p:sp>
        <p:nvSpPr>
          <p:cNvPr id="34" name="Shape 32"/>
          <p:cNvSpPr/>
          <p:nvPr/>
        </p:nvSpPr>
        <p:spPr>
          <a:xfrm>
            <a:off x="812800" y="3286720"/>
            <a:ext cx="10566400" cy="304800"/>
          </a:xfrm>
          <a:prstGeom prst="rect">
            <a:avLst/>
          </a:prstGeom>
          <a:solidFill>
            <a:srgbClr val="F6F5F1"/>
          </a:solidFill>
          <a:ln/>
        </p:spPr>
      </p:sp>
      <p:sp>
        <p:nvSpPr>
          <p:cNvPr id="35" name="Text 33"/>
          <p:cNvSpPr txBox="1"/>
          <p:nvPr/>
        </p:nvSpPr>
        <p:spPr>
          <a:xfrm>
            <a:off x="901700" y="33502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L6</a:t>
            </a:r>
            <a:endParaRPr lang="en-US" sz="1200" dirty="0"/>
          </a:p>
        </p:txBody>
      </p:sp>
      <p:sp>
        <p:nvSpPr>
          <p:cNvPr id="36" name="Text 34"/>
          <p:cNvSpPr txBox="1"/>
          <p:nvPr/>
        </p:nvSpPr>
        <p:spPr>
          <a:xfrm>
            <a:off x="1535609" y="3350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anomaly / health</a:t>
            </a:r>
            <a:endParaRPr lang="en-US" sz="1200" dirty="0"/>
          </a:p>
        </p:txBody>
      </p:sp>
      <p:sp>
        <p:nvSpPr>
          <p:cNvPr id="37" name="Text 35"/>
          <p:cNvSpPr txBox="1"/>
          <p:nvPr/>
        </p:nvSpPr>
        <p:spPr>
          <a:xfrm>
            <a:off x="3860205" y="33502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Cannot say unusual, or sensor broken</a:t>
            </a:r>
            <a:endParaRPr lang="en-US" sz="1200" dirty="0"/>
          </a:p>
        </p:txBody>
      </p:sp>
      <p:sp>
        <p:nvSpPr>
          <p:cNvPr id="38" name="Text 36"/>
          <p:cNvSpPr txBox="1"/>
          <p:nvPr/>
        </p:nvSpPr>
        <p:spPr>
          <a:xfrm>
            <a:off x="7558385" y="33502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Surprise score, anomaly and health engines</a:t>
            </a:r>
            <a:endParaRPr lang="en-US" sz="1200" dirty="0"/>
          </a:p>
        </p:txBody>
      </p:sp>
      <p:sp>
        <p:nvSpPr>
          <p:cNvPr id="39" name="Shape 37"/>
          <p:cNvSpPr/>
          <p:nvPr/>
        </p:nvSpPr>
        <p:spPr>
          <a:xfrm>
            <a:off x="812800" y="3591520"/>
            <a:ext cx="10566400" cy="304800"/>
          </a:xfrm>
          <a:prstGeom prst="rect">
            <a:avLst/>
          </a:prstGeom>
          <a:solidFill>
            <a:srgbClr val="FDFCFA"/>
          </a:solidFill>
          <a:ln/>
        </p:spPr>
      </p:sp>
      <p:sp>
        <p:nvSpPr>
          <p:cNvPr id="40" name="Text 38"/>
          <p:cNvSpPr txBox="1"/>
          <p:nvPr/>
        </p:nvSpPr>
        <p:spPr>
          <a:xfrm>
            <a:off x="901700" y="36550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L7</a:t>
            </a:r>
            <a:endParaRPr lang="en-US" sz="1200" dirty="0"/>
          </a:p>
        </p:txBody>
      </p:sp>
      <p:sp>
        <p:nvSpPr>
          <p:cNvPr id="41" name="Text 39"/>
          <p:cNvSpPr txBox="1"/>
          <p:nvPr/>
        </p:nvSpPr>
        <p:spPr>
          <a:xfrm>
            <a:off x="1535609" y="3655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timing in forecasts</a:t>
            </a:r>
            <a:endParaRPr lang="en-US" sz="1200" dirty="0"/>
          </a:p>
        </p:txBody>
      </p:sp>
      <p:sp>
        <p:nvSpPr>
          <p:cNvPr id="42" name="Text 40"/>
          <p:cNvSpPr txBox="1"/>
          <p:nvPr/>
        </p:nvSpPr>
        <p:spPr>
          <a:xfrm>
            <a:off x="3860205" y="36550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Knows what comes next, not when</a:t>
            </a:r>
            <a:endParaRPr lang="en-US" sz="1200" dirty="0"/>
          </a:p>
        </p:txBody>
      </p:sp>
      <p:sp>
        <p:nvSpPr>
          <p:cNvPr id="43" name="Text 41"/>
          <p:cNvSpPr txBox="1"/>
          <p:nvPr/>
        </p:nvSpPr>
        <p:spPr>
          <a:xfrm>
            <a:off x="7558385" y="36550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Also predicts time until the next event</a:t>
            </a:r>
            <a:endParaRPr lang="en-US" sz="1200" dirty="0"/>
          </a:p>
        </p:txBody>
      </p:sp>
      <p:sp>
        <p:nvSpPr>
          <p:cNvPr id="44" name="Shape 42"/>
          <p:cNvSpPr/>
          <p:nvPr/>
        </p:nvSpPr>
        <p:spPr>
          <a:xfrm>
            <a:off x="812800" y="3896320"/>
            <a:ext cx="10566400" cy="304800"/>
          </a:xfrm>
          <a:prstGeom prst="rect">
            <a:avLst/>
          </a:prstGeom>
          <a:solidFill>
            <a:srgbClr val="F6F5F1"/>
          </a:solidFill>
          <a:ln/>
        </p:spPr>
      </p:sp>
      <p:sp>
        <p:nvSpPr>
          <p:cNvPr id="45" name="Text 43"/>
          <p:cNvSpPr txBox="1"/>
          <p:nvPr/>
        </p:nvSpPr>
        <p:spPr>
          <a:xfrm>
            <a:off x="901700" y="39598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L8</a:t>
            </a:r>
            <a:endParaRPr lang="en-US" sz="1200" dirty="0"/>
          </a:p>
        </p:txBody>
      </p:sp>
      <p:sp>
        <p:nvSpPr>
          <p:cNvPr id="46" name="Text 44"/>
          <p:cNvSpPr txBox="1"/>
          <p:nvPr/>
        </p:nvSpPr>
        <p:spPr>
          <a:xfrm>
            <a:off x="1535609" y="39598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Not searchable by text</a:t>
            </a:r>
            <a:endParaRPr lang="en-US" sz="1200" dirty="0"/>
          </a:p>
        </p:txBody>
      </p:sp>
      <p:sp>
        <p:nvSpPr>
          <p:cNvPr id="47" name="Text 45"/>
          <p:cNvSpPr txBox="1"/>
          <p:nvPr/>
        </p:nvSpPr>
        <p:spPr>
          <a:xfrm>
            <a:off x="3860205" y="39598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Cannot be searched with words</a:t>
            </a:r>
            <a:endParaRPr lang="en-US" sz="1200" dirty="0"/>
          </a:p>
        </p:txBody>
      </p:sp>
      <p:sp>
        <p:nvSpPr>
          <p:cNvPr id="48" name="Text 46"/>
          <p:cNvSpPr txBox="1"/>
          <p:nvPr/>
        </p:nvSpPr>
        <p:spPr>
          <a:xfrm>
            <a:off x="7558385" y="39598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Minutes stored in the same space as text</a:t>
            </a:r>
            <a:endParaRPr lang="en-US" sz="1200" dirty="0"/>
          </a:p>
        </p:txBody>
      </p:sp>
      <p:sp>
        <p:nvSpPr>
          <p:cNvPr id="49" name="Shape 47"/>
          <p:cNvSpPr/>
          <p:nvPr/>
        </p:nvSpPr>
        <p:spPr>
          <a:xfrm>
            <a:off x="812800" y="4201120"/>
            <a:ext cx="10566400" cy="304800"/>
          </a:xfrm>
          <a:prstGeom prst="rect">
            <a:avLst/>
          </a:prstGeom>
          <a:solidFill>
            <a:srgbClr val="FDFCFA"/>
          </a:solidFill>
          <a:ln/>
        </p:spPr>
      </p:sp>
      <p:sp>
        <p:nvSpPr>
          <p:cNvPr id="50" name="Text 48"/>
          <p:cNvSpPr txBox="1"/>
          <p:nvPr/>
        </p:nvSpPr>
        <p:spPr>
          <a:xfrm>
            <a:off x="901700" y="42646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L9</a:t>
            </a:r>
            <a:endParaRPr lang="en-US" sz="1200" dirty="0"/>
          </a:p>
        </p:txBody>
      </p:sp>
      <p:sp>
        <p:nvSpPr>
          <p:cNvPr id="51" name="Text 49"/>
          <p:cNvSpPr txBox="1"/>
          <p:nvPr/>
        </p:nvSpPr>
        <p:spPr>
          <a:xfrm>
            <a:off x="1535609" y="42646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audio or vision</a:t>
            </a:r>
            <a:endParaRPr lang="en-US" sz="1200" dirty="0"/>
          </a:p>
        </p:txBody>
      </p:sp>
      <p:sp>
        <p:nvSpPr>
          <p:cNvPr id="52" name="Text 50"/>
          <p:cNvSpPr txBox="1"/>
          <p:nvPr/>
        </p:nvSpPr>
        <p:spPr>
          <a:xfrm>
            <a:off x="3860205" y="42646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Cannot hear a cry or see a parcel</a:t>
            </a:r>
            <a:endParaRPr lang="en-US" sz="1200" dirty="0"/>
          </a:p>
        </p:txBody>
      </p:sp>
      <p:sp>
        <p:nvSpPr>
          <p:cNvPr id="53" name="Text 51"/>
          <p:cNvSpPr txBox="1"/>
          <p:nvPr/>
        </p:nvSpPr>
        <p:spPr>
          <a:xfrm>
            <a:off x="7558385" y="42646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On-device sound and camera tags as events</a:t>
            </a:r>
            <a:endParaRPr lang="en-US" sz="1200" dirty="0"/>
          </a:p>
        </p:txBody>
      </p:sp>
      <p:sp>
        <p:nvSpPr>
          <p:cNvPr id="54" name="Shape 52"/>
          <p:cNvSpPr/>
          <p:nvPr/>
        </p:nvSpPr>
        <p:spPr>
          <a:xfrm>
            <a:off x="812800" y="4505920"/>
            <a:ext cx="10566400" cy="304800"/>
          </a:xfrm>
          <a:prstGeom prst="rect">
            <a:avLst/>
          </a:prstGeom>
          <a:solidFill>
            <a:srgbClr val="F6F5F1"/>
          </a:solidFill>
          <a:ln/>
        </p:spPr>
      </p:sp>
      <p:sp>
        <p:nvSpPr>
          <p:cNvPr id="55" name="Text 53"/>
          <p:cNvSpPr txBox="1"/>
          <p:nvPr/>
        </p:nvSpPr>
        <p:spPr>
          <a:xfrm>
            <a:off x="901700" y="45694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L10</a:t>
            </a:r>
            <a:endParaRPr lang="en-US" sz="1200" dirty="0"/>
          </a:p>
        </p:txBody>
      </p:sp>
      <p:sp>
        <p:nvSpPr>
          <p:cNvPr id="56" name="Text 54"/>
          <p:cNvSpPr txBox="1"/>
          <p:nvPr/>
        </p:nvSpPr>
        <p:spPr>
          <a:xfrm>
            <a:off x="1535609" y="45694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Small, old data</a:t>
            </a:r>
            <a:endParaRPr lang="en-US" sz="1200" dirty="0"/>
          </a:p>
        </p:txBody>
      </p:sp>
      <p:sp>
        <p:nvSpPr>
          <p:cNvPr id="57" name="Text 55"/>
          <p:cNvSpPr txBox="1"/>
          <p:nvPr/>
        </p:nvSpPr>
        <p:spPr>
          <a:xfrm>
            <a:off x="3860205" y="45694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Never saw locks, cameras or vacuums</a:t>
            </a:r>
            <a:endParaRPr lang="en-US" sz="1200" dirty="0"/>
          </a:p>
        </p:txBody>
      </p:sp>
      <p:sp>
        <p:nvSpPr>
          <p:cNvPr id="58" name="Text 56"/>
          <p:cNvSpPr txBox="1"/>
          <p:nvPr/>
        </p:nvSpPr>
        <p:spPr>
          <a:xfrm>
            <a:off x="7558385" y="45694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More homes, simulated homes, pilot homes</a:t>
            </a:r>
            <a:endParaRPr lang="en-US" sz="1200" dirty="0"/>
          </a:p>
        </p:txBody>
      </p:sp>
      <p:sp>
        <p:nvSpPr>
          <p:cNvPr id="59" name="Shape 57"/>
          <p:cNvSpPr/>
          <p:nvPr/>
        </p:nvSpPr>
        <p:spPr>
          <a:xfrm>
            <a:off x="812800" y="4810720"/>
            <a:ext cx="10566400" cy="304800"/>
          </a:xfrm>
          <a:prstGeom prst="rect">
            <a:avLst/>
          </a:prstGeom>
          <a:solidFill>
            <a:srgbClr val="FDFCFA"/>
          </a:solidFill>
          <a:ln/>
        </p:spPr>
      </p:sp>
      <p:sp>
        <p:nvSpPr>
          <p:cNvPr id="60" name="Text 58"/>
          <p:cNvSpPr txBox="1"/>
          <p:nvPr/>
        </p:nvSpPr>
        <p:spPr>
          <a:xfrm>
            <a:off x="901700" y="48742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L11</a:t>
            </a:r>
            <a:endParaRPr lang="en-US" sz="1200" dirty="0"/>
          </a:p>
        </p:txBody>
      </p:sp>
      <p:sp>
        <p:nvSpPr>
          <p:cNvPr id="61" name="Text 59"/>
          <p:cNvSpPr txBox="1"/>
          <p:nvPr/>
        </p:nvSpPr>
        <p:spPr>
          <a:xfrm>
            <a:off x="1535609" y="4874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Weak training game</a:t>
            </a:r>
            <a:endParaRPr lang="en-US" sz="1200" dirty="0"/>
          </a:p>
        </p:txBody>
      </p:sp>
      <p:sp>
        <p:nvSpPr>
          <p:cNvPr id="62" name="Text 60"/>
          <p:cNvSpPr txBox="1"/>
          <p:nvPr/>
        </p:nvSpPr>
        <p:spPr>
          <a:xfrm>
            <a:off x="3860205" y="4874220"/>
            <a:ext cx="35887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Learns sensor quirks, not behaviour</a:t>
            </a:r>
            <a:endParaRPr lang="en-US" sz="1200" dirty="0"/>
          </a:p>
        </p:txBody>
      </p:sp>
      <p:sp>
        <p:nvSpPr>
          <p:cNvPr id="63" name="Text 61"/>
          <p:cNvSpPr txBox="1"/>
          <p:nvPr/>
        </p:nvSpPr>
        <p:spPr>
          <a:xfrm>
            <a:off x="7558385" y="4874220"/>
            <a:ext cx="380137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 event + hidden chunks (+ sentences)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11 LIMITATIONS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L1 and L2</a:t>
            </a:r>
            <a:endParaRPr lang="en-US" sz="2800" dirty="0"/>
          </a:p>
        </p:txBody>
      </p:sp>
      <p:sp>
        <p:nvSpPr>
          <p:cNvPr id="4" name="Shape 2"/>
          <p:cNvSpPr/>
          <p:nvPr/>
        </p:nvSpPr>
        <p:spPr>
          <a:xfrm>
            <a:off x="819150" y="1464270"/>
            <a:ext cx="5181600" cy="2986683"/>
          </a:xfrm>
          <a:prstGeom prst="roundRect">
            <a:avLst>
              <a:gd name="adj" fmla="val 3189"/>
            </a:avLst>
          </a:prstGeom>
          <a:solidFill>
            <a:srgbClr val="FDFCFA"/>
          </a:solidFill>
          <a:ln w="12700">
            <a:solidFill>
              <a:srgbClr val="E3E0D7"/>
            </a:solidFill>
            <a:prstDash val="solid"/>
          </a:ln>
        </p:spPr>
      </p:sp>
      <p:sp>
        <p:nvSpPr>
          <p:cNvPr id="5" name="Shape 3"/>
          <p:cNvSpPr/>
          <p:nvPr/>
        </p:nvSpPr>
        <p:spPr>
          <a:xfrm>
            <a:off x="1003300" y="1648420"/>
            <a:ext cx="381099" cy="254000"/>
          </a:xfrm>
          <a:prstGeom prst="roundRect">
            <a:avLst>
              <a:gd name="adj" fmla="val 50000"/>
            </a:avLst>
          </a:prstGeom>
          <a:solidFill>
            <a:srgbClr val="FBEBDD"/>
          </a:solidFill>
          <a:ln/>
        </p:spPr>
      </p:sp>
      <p:sp>
        <p:nvSpPr>
          <p:cNvPr id="6" name="Text 4"/>
          <p:cNvSpPr txBox="1"/>
          <p:nvPr/>
        </p:nvSpPr>
        <p:spPr>
          <a:xfrm>
            <a:off x="11049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L1</a:t>
            </a:r>
            <a:endParaRPr lang="en-US" sz="1200" dirty="0"/>
          </a:p>
        </p:txBody>
      </p:sp>
      <p:sp>
        <p:nvSpPr>
          <p:cNvPr id="7" name="Text 5"/>
          <p:cNvSpPr txBox="1"/>
          <p:nvPr/>
        </p:nvSpPr>
        <p:spPr>
          <a:xfrm>
            <a:off x="1473299" y="1659830"/>
            <a:ext cx="2059456"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Closed label set (R1)</a:t>
            </a:r>
            <a:endParaRPr lang="en-US" sz="1600" dirty="0"/>
          </a:p>
        </p:txBody>
      </p:sp>
      <p:sp>
        <p:nvSpPr>
          <p:cNvPr id="8" name="Text 6"/>
          <p:cNvSpPr txBox="1"/>
          <p:nvPr/>
        </p:nvSpPr>
        <p:spPr>
          <a:xfrm>
            <a:off x="10033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It learns patterns alone, but can only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name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an activity it was shown labelled examples of.</a:t>
            </a:r>
            <a:endParaRPr lang="en-US" sz="1200" dirty="0"/>
          </a:p>
        </p:txBody>
      </p:sp>
      <p:sp>
        <p:nvSpPr>
          <p:cNvPr id="9" name="Text 7"/>
          <p:cNvSpPr txBox="1"/>
          <p:nvPr/>
        </p:nvSpPr>
        <p:spPr>
          <a:xfrm>
            <a:off x="10033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“How many times did someone vacuum today?” No public dataset labels vacuuming.</a:t>
            </a:r>
            <a:endParaRPr lang="en-US" sz="1200" dirty="0"/>
          </a:p>
        </p:txBody>
      </p:sp>
      <p:sp>
        <p:nvSpPr>
          <p:cNvPr id="10" name="Text 8"/>
          <p:cNvSpPr txBox="1"/>
          <p:nvPr/>
        </p:nvSpPr>
        <p:spPr>
          <a:xfrm>
            <a:off x="10033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 output for vacuuming. Adding it needs days of labelled examples a family will not provide.</a:t>
            </a:r>
            <a:endParaRPr lang="en-US" sz="1200" dirty="0"/>
          </a:p>
        </p:txBody>
      </p:sp>
      <p:sp>
        <p:nvSpPr>
          <p:cNvPr id="11" name="Text 9"/>
          <p:cNvSpPr txBox="1"/>
          <p:nvPr/>
        </p:nvSpPr>
        <p:spPr>
          <a:xfrm>
            <a:off x="10033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Minutes are trained to sit near sentences (SigLIP). A new concept is a new sentence, no labels.</a:t>
            </a:r>
            <a:endParaRPr lang="en-US" sz="1200" dirty="0"/>
          </a:p>
        </p:txBody>
      </p:sp>
      <p:sp>
        <p:nvSpPr>
          <p:cNvPr id="12" name="Text 10"/>
          <p:cNvSpPr txBox="1"/>
          <p:nvPr/>
        </p:nvSpPr>
        <p:spPr>
          <a:xfrm>
            <a:off x="10033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tagger designed; alignment built per window</a:t>
            </a:r>
            <a:endParaRPr lang="en-US" sz="1200" dirty="0"/>
          </a:p>
        </p:txBody>
      </p:sp>
      <p:sp>
        <p:nvSpPr>
          <p:cNvPr id="13" name="Shape 11"/>
          <p:cNvSpPr/>
          <p:nvPr/>
        </p:nvSpPr>
        <p:spPr>
          <a:xfrm>
            <a:off x="6191250" y="1464270"/>
            <a:ext cx="5181600" cy="2986683"/>
          </a:xfrm>
          <a:prstGeom prst="roundRect">
            <a:avLst>
              <a:gd name="adj" fmla="val 3189"/>
            </a:avLst>
          </a:prstGeom>
          <a:solidFill>
            <a:srgbClr val="FDFCFA"/>
          </a:solidFill>
          <a:ln w="12700">
            <a:solidFill>
              <a:srgbClr val="E3E0D7"/>
            </a:solidFill>
            <a:prstDash val="solid"/>
          </a:ln>
        </p:spPr>
      </p:sp>
      <p:sp>
        <p:nvSpPr>
          <p:cNvPr id="14" name="Shape 12"/>
          <p:cNvSpPr/>
          <p:nvPr/>
        </p:nvSpPr>
        <p:spPr>
          <a:xfrm>
            <a:off x="6375400" y="1648420"/>
            <a:ext cx="381099" cy="254000"/>
          </a:xfrm>
          <a:prstGeom prst="roundRect">
            <a:avLst>
              <a:gd name="adj" fmla="val 50000"/>
            </a:avLst>
          </a:prstGeom>
          <a:solidFill>
            <a:srgbClr val="FBEBDD"/>
          </a:solidFill>
          <a:ln/>
        </p:spPr>
      </p:sp>
      <p:sp>
        <p:nvSpPr>
          <p:cNvPr id="15" name="Text 13"/>
          <p:cNvSpPr txBox="1"/>
          <p:nvPr/>
        </p:nvSpPr>
        <p:spPr>
          <a:xfrm>
            <a:off x="64770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L2</a:t>
            </a:r>
            <a:endParaRPr lang="en-US" sz="1200" dirty="0"/>
          </a:p>
        </p:txBody>
      </p:sp>
      <p:sp>
        <p:nvSpPr>
          <p:cNvPr id="16" name="Text 14"/>
          <p:cNvSpPr txBox="1"/>
          <p:nvPr/>
        </p:nvSpPr>
        <p:spPr>
          <a:xfrm>
            <a:off x="6845399" y="1659830"/>
            <a:ext cx="2695038"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Binary events only (R2, R6)</a:t>
            </a:r>
            <a:endParaRPr lang="en-US" sz="1600" dirty="0"/>
          </a:p>
        </p:txBody>
      </p:sp>
      <p:sp>
        <p:nvSpPr>
          <p:cNvPr id="17" name="Text 15"/>
          <p:cNvSpPr txBox="1"/>
          <p:nvPr/>
        </p:nvSpPr>
        <p:spPr>
          <a:xfrm>
            <a:off x="63754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Meters (power, temperature, humidity) are squashed to on/off and the amount is thrown away.</a:t>
            </a:r>
            <a:endParaRPr lang="en-US" sz="1200" dirty="0"/>
          </a:p>
        </p:txBody>
      </p:sp>
      <p:sp>
        <p:nvSpPr>
          <p:cNvPr id="18" name="Text 16"/>
          <p:cNvSpPr txBox="1"/>
          <p:nvPr/>
        </p:nvSpPr>
        <p:spPr>
          <a:xfrm>
            <a:off x="63754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“Is my fridge OK?” A failing compressor runs 25 min instead of 12 and draws 20 % more.</a:t>
            </a:r>
            <a:endParaRPr lang="en-US" sz="1200" dirty="0"/>
          </a:p>
        </p:txBody>
      </p:sp>
      <p:sp>
        <p:nvSpPr>
          <p:cNvPr id="19" name="Text 17"/>
          <p:cNvSpPr txBox="1"/>
          <p:nvPr/>
        </p:nvSpPr>
        <p:spPr>
          <a:xfrm>
            <a:off x="63754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Both look like fridge ON … OFF. No energy answers, slow faults invisible, hand-tuned thresholds.</a:t>
            </a:r>
            <a:endParaRPr lang="en-US" sz="1200" dirty="0"/>
          </a:p>
        </p:txBody>
      </p:sp>
      <p:sp>
        <p:nvSpPr>
          <p:cNvPr id="20" name="Text 18"/>
          <p:cNvSpPr txBox="1"/>
          <p:nvPr/>
        </p:nvSpPr>
        <p:spPr>
          <a:xfrm>
            <a:off x="63754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Numbers enter as numbers (sent when the value changes), normalised per device.</a:t>
            </a:r>
            <a:endParaRPr lang="en-US" sz="1200" dirty="0"/>
          </a:p>
        </p:txBody>
      </p:sp>
      <p:sp>
        <p:nvSpPr>
          <p:cNvPr id="21" name="Text 19"/>
          <p:cNvSpPr txBox="1"/>
          <p:nvPr/>
        </p:nvSpPr>
        <p:spPr>
          <a:xfrm>
            <a:off x="63754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numbers as input built; detectors designed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11 LIMITATIONS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L3 and L4</a:t>
            </a:r>
            <a:endParaRPr lang="en-US" sz="2800" dirty="0"/>
          </a:p>
        </p:txBody>
      </p:sp>
      <p:sp>
        <p:nvSpPr>
          <p:cNvPr id="4" name="Shape 2"/>
          <p:cNvSpPr/>
          <p:nvPr/>
        </p:nvSpPr>
        <p:spPr>
          <a:xfrm>
            <a:off x="819150" y="1464270"/>
            <a:ext cx="5181600" cy="2986683"/>
          </a:xfrm>
          <a:prstGeom prst="roundRect">
            <a:avLst>
              <a:gd name="adj" fmla="val 3189"/>
            </a:avLst>
          </a:prstGeom>
          <a:solidFill>
            <a:srgbClr val="FDFCFA"/>
          </a:solidFill>
          <a:ln w="12700">
            <a:solidFill>
              <a:srgbClr val="E3E0D7"/>
            </a:solidFill>
            <a:prstDash val="solid"/>
          </a:ln>
        </p:spPr>
      </p:sp>
      <p:sp>
        <p:nvSpPr>
          <p:cNvPr id="5" name="Shape 3"/>
          <p:cNvSpPr/>
          <p:nvPr/>
        </p:nvSpPr>
        <p:spPr>
          <a:xfrm>
            <a:off x="1003300" y="1648420"/>
            <a:ext cx="381099" cy="254000"/>
          </a:xfrm>
          <a:prstGeom prst="roundRect">
            <a:avLst>
              <a:gd name="adj" fmla="val 50000"/>
            </a:avLst>
          </a:prstGeom>
          <a:solidFill>
            <a:srgbClr val="FBEBDD"/>
          </a:solidFill>
          <a:ln/>
        </p:spPr>
      </p:sp>
      <p:sp>
        <p:nvSpPr>
          <p:cNvPr id="6" name="Text 4"/>
          <p:cNvSpPr txBox="1"/>
          <p:nvPr/>
        </p:nvSpPr>
        <p:spPr>
          <a:xfrm>
            <a:off x="11049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L3</a:t>
            </a:r>
            <a:endParaRPr lang="en-US" sz="1200" dirty="0"/>
          </a:p>
        </p:txBody>
      </p:sp>
      <p:sp>
        <p:nvSpPr>
          <p:cNvPr id="7" name="Text 5"/>
          <p:cNvSpPr txBox="1"/>
          <p:nvPr/>
        </p:nvSpPr>
        <p:spPr>
          <a:xfrm>
            <a:off x="1473299" y="1659830"/>
            <a:ext cx="2728742"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Fixed 30-event window (R3)</a:t>
            </a:r>
            <a:endParaRPr lang="en-US" sz="1600" dirty="0"/>
          </a:p>
        </p:txBody>
      </p:sp>
      <p:sp>
        <p:nvSpPr>
          <p:cNvPr id="8" name="Text 6"/>
          <p:cNvSpPr txBox="1"/>
          <p:nvPr/>
        </p:nvSpPr>
        <p:spPr>
          <a:xfrm>
            <a:off x="10033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Always the last 30 events: about 2 min in a busy kitchen, 6 h at night, never weeks.</a:t>
            </a:r>
            <a:endParaRPr lang="en-US" sz="1200" dirty="0"/>
          </a:p>
        </p:txBody>
      </p:sp>
      <p:sp>
        <p:nvSpPr>
          <p:cNvPr id="9" name="Text 7"/>
          <p:cNvSpPr txBox="1"/>
          <p:nvPr/>
        </p:nvSpPr>
        <p:spPr>
          <a:xfrm>
            <a:off x="10033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“Cooking in the last 4 hours?” A 40-min session spans many windows; none sees start and end.</a:t>
            </a:r>
            <a:endParaRPr lang="en-US" sz="1200" dirty="0"/>
          </a:p>
        </p:txBody>
      </p:sp>
      <p:sp>
        <p:nvSpPr>
          <p:cNvPr id="10" name="Text 8"/>
          <p:cNvSpPr txBox="1"/>
          <p:nvPr/>
        </p:nvSpPr>
        <p:spPr>
          <a:xfrm>
            <a:off x="10033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Long activities cut up, quiet periods blurred together, slow trends invisible.</a:t>
            </a:r>
            <a:endParaRPr lang="en-US" sz="1200" dirty="0"/>
          </a:p>
        </p:txBody>
      </p:sp>
      <p:sp>
        <p:nvSpPr>
          <p:cNvPr id="11" name="Text 9"/>
          <p:cNvSpPr txBox="1"/>
          <p:nvPr/>
        </p:nvSpPr>
        <p:spPr>
          <a:xfrm>
            <a:off x="10033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Fixed 1-minute slots (4 h = 240 steps), a stream of hours, day tokens for weeks.</a:t>
            </a:r>
            <a:endParaRPr lang="en-US" sz="1200" dirty="0"/>
          </a:p>
        </p:txBody>
      </p:sp>
      <p:sp>
        <p:nvSpPr>
          <p:cNvPr id="12" name="Text 10"/>
          <p:cNvSpPr txBox="1"/>
          <p:nvPr/>
        </p:nvSpPr>
        <p:spPr>
          <a:xfrm>
            <a:off x="10033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1-minute stream built; day tokens designed</a:t>
            </a:r>
            <a:endParaRPr lang="en-US" sz="1200" dirty="0"/>
          </a:p>
        </p:txBody>
      </p:sp>
      <p:sp>
        <p:nvSpPr>
          <p:cNvPr id="13" name="Shape 11"/>
          <p:cNvSpPr/>
          <p:nvPr/>
        </p:nvSpPr>
        <p:spPr>
          <a:xfrm>
            <a:off x="6191250" y="1464270"/>
            <a:ext cx="5181600" cy="2986683"/>
          </a:xfrm>
          <a:prstGeom prst="roundRect">
            <a:avLst>
              <a:gd name="adj" fmla="val 3189"/>
            </a:avLst>
          </a:prstGeom>
          <a:solidFill>
            <a:srgbClr val="FDFCFA"/>
          </a:solidFill>
          <a:ln w="12700">
            <a:solidFill>
              <a:srgbClr val="E3E0D7"/>
            </a:solidFill>
            <a:prstDash val="solid"/>
          </a:ln>
        </p:spPr>
      </p:sp>
      <p:sp>
        <p:nvSpPr>
          <p:cNvPr id="14" name="Shape 12"/>
          <p:cNvSpPr/>
          <p:nvPr/>
        </p:nvSpPr>
        <p:spPr>
          <a:xfrm>
            <a:off x="6375400" y="1648420"/>
            <a:ext cx="381099" cy="254000"/>
          </a:xfrm>
          <a:prstGeom prst="roundRect">
            <a:avLst>
              <a:gd name="adj" fmla="val 50000"/>
            </a:avLst>
          </a:prstGeom>
          <a:solidFill>
            <a:srgbClr val="FBEBDD"/>
          </a:solidFill>
          <a:ln/>
        </p:spPr>
      </p:sp>
      <p:sp>
        <p:nvSpPr>
          <p:cNvPr id="15" name="Text 13"/>
          <p:cNvSpPr txBox="1"/>
          <p:nvPr/>
        </p:nvSpPr>
        <p:spPr>
          <a:xfrm>
            <a:off x="64770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L4</a:t>
            </a:r>
            <a:endParaRPr lang="en-US" sz="1200" dirty="0"/>
          </a:p>
        </p:txBody>
      </p:sp>
      <p:sp>
        <p:nvSpPr>
          <p:cNvPr id="16" name="Text 14"/>
          <p:cNvSpPr txBox="1"/>
          <p:nvPr/>
        </p:nvSpPr>
        <p:spPr>
          <a:xfrm>
            <a:off x="6845399" y="1659830"/>
            <a:ext cx="2081792"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Single occupant (R4)</a:t>
            </a:r>
            <a:endParaRPr lang="en-US" sz="1600" dirty="0"/>
          </a:p>
        </p:txBody>
      </p:sp>
      <p:sp>
        <p:nvSpPr>
          <p:cNvPr id="17" name="Text 15"/>
          <p:cNvSpPr txBox="1"/>
          <p:nvPr/>
        </p:nvSpPr>
        <p:spPr>
          <a:xfrm>
            <a:off x="63754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Assumes one resident. A motion sensor fires the same for grandma, her grandson or the dog.</a:t>
            </a:r>
            <a:endParaRPr lang="en-US" sz="1200" dirty="0"/>
          </a:p>
        </p:txBody>
      </p:sp>
      <p:sp>
        <p:nvSpPr>
          <p:cNvPr id="18" name="Text 16"/>
          <p:cNvSpPr txBox="1"/>
          <p:nvPr/>
        </p:nvSpPr>
        <p:spPr>
          <a:xfrm>
            <a:off x="63754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“Did grandma eat lunch?” while her grandson cooks at noon.</a:t>
            </a:r>
            <a:endParaRPr lang="en-US" sz="1200" dirty="0"/>
          </a:p>
        </p:txBody>
      </p:sp>
      <p:sp>
        <p:nvSpPr>
          <p:cNvPr id="19" name="Text 17"/>
          <p:cNvSpPr txBox="1"/>
          <p:nvPr/>
        </p:nvSpPr>
        <p:spPr>
          <a:xfrm>
            <a:off x="63754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 people counts, no per-person care questions, pets cause false alarms at night.</a:t>
            </a:r>
            <a:endParaRPr lang="en-US" sz="1200" dirty="0"/>
          </a:p>
        </p:txBody>
      </p:sp>
      <p:sp>
        <p:nvSpPr>
          <p:cNvPr id="20" name="Text 18"/>
          <p:cNvSpPr txBox="1"/>
          <p:nvPr/>
        </p:nvSpPr>
        <p:spPr>
          <a:xfrm>
            <a:off x="63754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A person card per resident and pet, per-room counts; honest ranges with motion sensors only.</a:t>
            </a:r>
            <a:endParaRPr lang="en-US" sz="1200" dirty="0"/>
          </a:p>
        </p:txBody>
      </p:sp>
      <p:sp>
        <p:nvSpPr>
          <p:cNvPr id="21" name="Text 19"/>
          <p:cNvSpPr txBox="1"/>
          <p:nvPr/>
        </p:nvSpPr>
        <p:spPr>
          <a:xfrm>
            <a:off x="63754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designed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11 LIMITATIONS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L5 and L6</a:t>
            </a:r>
            <a:endParaRPr lang="en-US" sz="2800" dirty="0"/>
          </a:p>
        </p:txBody>
      </p:sp>
      <p:sp>
        <p:nvSpPr>
          <p:cNvPr id="4" name="Shape 2"/>
          <p:cNvSpPr/>
          <p:nvPr/>
        </p:nvSpPr>
        <p:spPr>
          <a:xfrm>
            <a:off x="819150" y="1464270"/>
            <a:ext cx="5181600" cy="2986683"/>
          </a:xfrm>
          <a:prstGeom prst="roundRect">
            <a:avLst>
              <a:gd name="adj" fmla="val 3189"/>
            </a:avLst>
          </a:prstGeom>
          <a:solidFill>
            <a:srgbClr val="FDFCFA"/>
          </a:solidFill>
          <a:ln w="12700">
            <a:solidFill>
              <a:srgbClr val="E3E0D7"/>
            </a:solidFill>
            <a:prstDash val="solid"/>
          </a:ln>
        </p:spPr>
      </p:sp>
      <p:sp>
        <p:nvSpPr>
          <p:cNvPr id="5" name="Shape 3"/>
          <p:cNvSpPr/>
          <p:nvPr/>
        </p:nvSpPr>
        <p:spPr>
          <a:xfrm>
            <a:off x="1003300" y="1648420"/>
            <a:ext cx="381099" cy="254000"/>
          </a:xfrm>
          <a:prstGeom prst="roundRect">
            <a:avLst>
              <a:gd name="adj" fmla="val 50000"/>
            </a:avLst>
          </a:prstGeom>
          <a:solidFill>
            <a:srgbClr val="FBEBDD"/>
          </a:solidFill>
          <a:ln/>
        </p:spPr>
      </p:sp>
      <p:sp>
        <p:nvSpPr>
          <p:cNvPr id="6" name="Text 4"/>
          <p:cNvSpPr txBox="1"/>
          <p:nvPr/>
        </p:nvSpPr>
        <p:spPr>
          <a:xfrm>
            <a:off x="11049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L5</a:t>
            </a:r>
            <a:endParaRPr lang="en-US" sz="1200" dirty="0"/>
          </a:p>
        </p:txBody>
      </p:sp>
      <p:sp>
        <p:nvSpPr>
          <p:cNvPr id="7" name="Text 5"/>
          <p:cNvSpPr txBox="1"/>
          <p:nvPr/>
        </p:nvSpPr>
        <p:spPr>
          <a:xfrm>
            <a:off x="1473299" y="1659830"/>
            <a:ext cx="2603799"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One label per window (R5)</a:t>
            </a:r>
            <a:endParaRPr lang="en-US" sz="1600" dirty="0"/>
          </a:p>
        </p:txBody>
      </p:sp>
      <p:sp>
        <p:nvSpPr>
          <p:cNvPr id="8" name="Text 6"/>
          <p:cNvSpPr txBox="1"/>
          <p:nvPr/>
        </p:nvSpPr>
        <p:spPr>
          <a:xfrm>
            <a:off x="10033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One label per moment; never where an activity starts and ends, and no overlaps.</a:t>
            </a:r>
            <a:endParaRPr lang="en-US" sz="1200" dirty="0"/>
          </a:p>
        </p:txBody>
      </p:sp>
      <p:sp>
        <p:nvSpPr>
          <p:cNvPr id="9" name="Text 7"/>
          <p:cNvSpPr txBox="1"/>
          <p:nvPr/>
        </p:nvSpPr>
        <p:spPr>
          <a:xfrm>
            <a:off x="10033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“How many times did we cook today?” A 2-minute pause splits one session into three.</a:t>
            </a:r>
            <a:endParaRPr lang="en-US" sz="1200" dirty="0"/>
          </a:p>
        </p:txBody>
      </p:sp>
      <p:sp>
        <p:nvSpPr>
          <p:cNvPr id="10" name="Text 8"/>
          <p:cNvSpPr txBox="1"/>
          <p:nvPr/>
        </p:nvSpPr>
        <p:spPr>
          <a:xfrm>
            <a:off x="10033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Counts and durations unreliable; cooking while the baby cries loses one of the two.</a:t>
            </a:r>
            <a:endParaRPr lang="en-US" sz="1200" dirty="0"/>
          </a:p>
        </p:txBody>
      </p:sp>
      <p:sp>
        <p:nvSpPr>
          <p:cNvPr id="11" name="Text 9"/>
          <p:cNvSpPr txBox="1"/>
          <p:nvPr/>
        </p:nvSpPr>
        <p:spPr>
          <a:xfrm>
            <a:off x="10033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Several tags per minute, a start/end head, per-activity rules (merge gaps, minimum duration).</a:t>
            </a:r>
            <a:endParaRPr lang="en-US" sz="1200" dirty="0"/>
          </a:p>
        </p:txBody>
      </p:sp>
      <p:sp>
        <p:nvSpPr>
          <p:cNvPr id="12" name="Text 10"/>
          <p:cNvSpPr txBox="1"/>
          <p:nvPr/>
        </p:nvSpPr>
        <p:spPr>
          <a:xfrm>
            <a:off x="10033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designed</a:t>
            </a:r>
            <a:endParaRPr lang="en-US" sz="1200" dirty="0"/>
          </a:p>
        </p:txBody>
      </p:sp>
      <p:sp>
        <p:nvSpPr>
          <p:cNvPr id="13" name="Shape 11"/>
          <p:cNvSpPr/>
          <p:nvPr/>
        </p:nvSpPr>
        <p:spPr>
          <a:xfrm>
            <a:off x="6191250" y="1464270"/>
            <a:ext cx="5181600" cy="2986683"/>
          </a:xfrm>
          <a:prstGeom prst="roundRect">
            <a:avLst>
              <a:gd name="adj" fmla="val 3189"/>
            </a:avLst>
          </a:prstGeom>
          <a:solidFill>
            <a:srgbClr val="FDFCFA"/>
          </a:solidFill>
          <a:ln w="12700">
            <a:solidFill>
              <a:srgbClr val="E3E0D7"/>
            </a:solidFill>
            <a:prstDash val="solid"/>
          </a:ln>
        </p:spPr>
      </p:sp>
      <p:sp>
        <p:nvSpPr>
          <p:cNvPr id="14" name="Shape 12"/>
          <p:cNvSpPr/>
          <p:nvPr/>
        </p:nvSpPr>
        <p:spPr>
          <a:xfrm>
            <a:off x="6375400" y="1648420"/>
            <a:ext cx="381099" cy="254000"/>
          </a:xfrm>
          <a:prstGeom prst="roundRect">
            <a:avLst>
              <a:gd name="adj" fmla="val 50000"/>
            </a:avLst>
          </a:prstGeom>
          <a:solidFill>
            <a:srgbClr val="FBEBDD"/>
          </a:solidFill>
          <a:ln/>
        </p:spPr>
      </p:sp>
      <p:sp>
        <p:nvSpPr>
          <p:cNvPr id="15" name="Text 13"/>
          <p:cNvSpPr txBox="1"/>
          <p:nvPr/>
        </p:nvSpPr>
        <p:spPr>
          <a:xfrm>
            <a:off x="64770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L6</a:t>
            </a:r>
            <a:endParaRPr lang="en-US" sz="1200" dirty="0"/>
          </a:p>
        </p:txBody>
      </p:sp>
      <p:sp>
        <p:nvSpPr>
          <p:cNvPr id="16" name="Text 14"/>
          <p:cNvSpPr txBox="1"/>
          <p:nvPr/>
        </p:nvSpPr>
        <p:spPr>
          <a:xfrm>
            <a:off x="6845399" y="1659830"/>
            <a:ext cx="3273683"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No anomaly or device health (R6)</a:t>
            </a:r>
            <a:endParaRPr lang="en-US" sz="1600" dirty="0"/>
          </a:p>
        </p:txBody>
      </p:sp>
      <p:sp>
        <p:nvSpPr>
          <p:cNvPr id="17" name="Text 15"/>
          <p:cNvSpPr txBox="1"/>
          <p:nvPr/>
        </p:nvSpPr>
        <p:spPr>
          <a:xfrm>
            <a:off x="63754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Describes what happens, but not how unusual it is, or that a device is broken.</a:t>
            </a:r>
            <a:endParaRPr lang="en-US" sz="1200" dirty="0"/>
          </a:p>
        </p:txBody>
      </p:sp>
      <p:sp>
        <p:nvSpPr>
          <p:cNvPr id="18" name="Text 16"/>
          <p:cNvSpPr txBox="1"/>
          <p:nvPr/>
        </p:nvSpPr>
        <p:spPr>
          <a:xfrm>
            <a:off x="63754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“Anything unusual last night?” Front door at 03:12; a PIR stuck ON looks like someone home.</a:t>
            </a:r>
            <a:endParaRPr lang="en-US" sz="1200" dirty="0"/>
          </a:p>
        </p:txBody>
      </p:sp>
      <p:sp>
        <p:nvSpPr>
          <p:cNvPr id="19" name="Text 17"/>
          <p:cNvSpPr txBox="1"/>
          <p:nvPr/>
        </p:nvSpPr>
        <p:spPr>
          <a:xfrm>
            <a:off x="63754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 security alerts, no fault detection, no early warning of changing routines.</a:t>
            </a:r>
            <a:endParaRPr lang="en-US" sz="1200" dirty="0"/>
          </a:p>
        </p:txBody>
      </p:sp>
      <p:sp>
        <p:nvSpPr>
          <p:cNvPr id="20" name="Text 18"/>
          <p:cNvSpPr txBox="1"/>
          <p:nvPr/>
        </p:nvSpPr>
        <p:spPr>
          <a:xfrm>
            <a:off x="63754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Next-event surprise, −log p(event | history), plus anomaly and device-health engines that explain flags.</a:t>
            </a:r>
            <a:endParaRPr lang="en-US" sz="1200" dirty="0"/>
          </a:p>
        </p:txBody>
      </p:sp>
      <p:sp>
        <p:nvSpPr>
          <p:cNvPr id="21" name="Text 19"/>
          <p:cNvSpPr txBox="1"/>
          <p:nvPr/>
        </p:nvSpPr>
        <p:spPr>
          <a:xfrm>
            <a:off x="63754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surprise score built; engines designed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11 LIMITATIONS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L7 and L8</a:t>
            </a:r>
            <a:endParaRPr lang="en-US" sz="2800" dirty="0"/>
          </a:p>
        </p:txBody>
      </p:sp>
      <p:sp>
        <p:nvSpPr>
          <p:cNvPr id="4" name="Shape 2"/>
          <p:cNvSpPr/>
          <p:nvPr/>
        </p:nvSpPr>
        <p:spPr>
          <a:xfrm>
            <a:off x="819150" y="1464270"/>
            <a:ext cx="5181600" cy="2986683"/>
          </a:xfrm>
          <a:prstGeom prst="roundRect">
            <a:avLst>
              <a:gd name="adj" fmla="val 3189"/>
            </a:avLst>
          </a:prstGeom>
          <a:solidFill>
            <a:srgbClr val="FDFCFA"/>
          </a:solidFill>
          <a:ln w="12700">
            <a:solidFill>
              <a:srgbClr val="E3E0D7"/>
            </a:solidFill>
            <a:prstDash val="solid"/>
          </a:ln>
        </p:spPr>
      </p:sp>
      <p:sp>
        <p:nvSpPr>
          <p:cNvPr id="5" name="Shape 3"/>
          <p:cNvSpPr/>
          <p:nvPr/>
        </p:nvSpPr>
        <p:spPr>
          <a:xfrm>
            <a:off x="1003300" y="1648420"/>
            <a:ext cx="381099" cy="254000"/>
          </a:xfrm>
          <a:prstGeom prst="roundRect">
            <a:avLst>
              <a:gd name="adj" fmla="val 50000"/>
            </a:avLst>
          </a:prstGeom>
          <a:solidFill>
            <a:srgbClr val="FBEBDD"/>
          </a:solidFill>
          <a:ln/>
        </p:spPr>
      </p:sp>
      <p:sp>
        <p:nvSpPr>
          <p:cNvPr id="6" name="Text 4"/>
          <p:cNvSpPr txBox="1"/>
          <p:nvPr/>
        </p:nvSpPr>
        <p:spPr>
          <a:xfrm>
            <a:off x="11049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L7</a:t>
            </a:r>
            <a:endParaRPr lang="en-US" sz="1200" dirty="0"/>
          </a:p>
        </p:txBody>
      </p:sp>
      <p:sp>
        <p:nvSpPr>
          <p:cNvPr id="7" name="Text 5"/>
          <p:cNvSpPr txBox="1"/>
          <p:nvPr/>
        </p:nvSpPr>
        <p:spPr>
          <a:xfrm>
            <a:off x="1473299" y="1659830"/>
            <a:ext cx="2807716"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Forecast without timing (R7)</a:t>
            </a:r>
            <a:endParaRPr lang="en-US" sz="1600" dirty="0"/>
          </a:p>
        </p:txBody>
      </p:sp>
      <p:sp>
        <p:nvSpPr>
          <p:cNvPr id="8" name="Text 6"/>
          <p:cNvSpPr txBox="1"/>
          <p:nvPr/>
        </p:nvSpPr>
        <p:spPr>
          <a:xfrm>
            <a:off x="10033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Guesses which events are likely soon, but not when, or in what order.</a:t>
            </a:r>
            <a:endParaRPr lang="en-US" sz="1200" dirty="0"/>
          </a:p>
        </p:txBody>
      </p:sp>
      <p:sp>
        <p:nvSpPr>
          <p:cNvPr id="9" name="Text 7"/>
          <p:cNvSpPr txBox="1"/>
          <p:nvPr/>
        </p:nvSpPr>
        <p:spPr>
          <a:xfrm>
            <a:off x="10033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“Will Dad be up soon?” Bedroom events are likely in the next 30: in 5 min or 3 h?</a:t>
            </a:r>
            <a:endParaRPr lang="en-US" sz="1200" dirty="0"/>
          </a:p>
        </p:txBody>
      </p:sp>
      <p:sp>
        <p:nvSpPr>
          <p:cNvPr id="10" name="Text 8"/>
          <p:cNvSpPr txBox="1"/>
          <p:nvPr/>
        </p:nvSpPr>
        <p:spPr>
          <a:xfrm>
            <a:off x="10033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 useful when-forecasts; skipped meals or missed medicine cannot be detected.</a:t>
            </a:r>
            <a:endParaRPr lang="en-US" sz="1200" dirty="0"/>
          </a:p>
        </p:txBody>
      </p:sp>
      <p:sp>
        <p:nvSpPr>
          <p:cNvPr id="11" name="Text 9"/>
          <p:cNvSpPr txBox="1"/>
          <p:nvPr/>
        </p:nvSpPr>
        <p:spPr>
          <a:xfrm>
            <a:off x="10033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The next-event head predicts device, value and time until it happens (log-normal mixture).</a:t>
            </a:r>
            <a:endParaRPr lang="en-US" sz="1200" dirty="0"/>
          </a:p>
        </p:txBody>
      </p:sp>
      <p:sp>
        <p:nvSpPr>
          <p:cNvPr id="12" name="Text 10"/>
          <p:cNvSpPr txBox="1"/>
          <p:nvPr/>
        </p:nvSpPr>
        <p:spPr>
          <a:xfrm>
            <a:off x="10033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next-event head with Δt built</a:t>
            </a:r>
            <a:endParaRPr lang="en-US" sz="1200" dirty="0"/>
          </a:p>
        </p:txBody>
      </p:sp>
      <p:sp>
        <p:nvSpPr>
          <p:cNvPr id="13" name="Shape 11"/>
          <p:cNvSpPr/>
          <p:nvPr/>
        </p:nvSpPr>
        <p:spPr>
          <a:xfrm>
            <a:off x="6191250" y="1464270"/>
            <a:ext cx="5181600" cy="2986683"/>
          </a:xfrm>
          <a:prstGeom prst="roundRect">
            <a:avLst>
              <a:gd name="adj" fmla="val 3189"/>
            </a:avLst>
          </a:prstGeom>
          <a:solidFill>
            <a:srgbClr val="FDFCFA"/>
          </a:solidFill>
          <a:ln w="12700">
            <a:solidFill>
              <a:srgbClr val="E3E0D7"/>
            </a:solidFill>
            <a:prstDash val="solid"/>
          </a:ln>
        </p:spPr>
      </p:sp>
      <p:sp>
        <p:nvSpPr>
          <p:cNvPr id="14" name="Shape 12"/>
          <p:cNvSpPr/>
          <p:nvPr/>
        </p:nvSpPr>
        <p:spPr>
          <a:xfrm>
            <a:off x="6375400" y="1648420"/>
            <a:ext cx="381099" cy="254000"/>
          </a:xfrm>
          <a:prstGeom prst="roundRect">
            <a:avLst>
              <a:gd name="adj" fmla="val 50000"/>
            </a:avLst>
          </a:prstGeom>
          <a:solidFill>
            <a:srgbClr val="FBEBDD"/>
          </a:solidFill>
          <a:ln/>
        </p:spPr>
      </p:sp>
      <p:sp>
        <p:nvSpPr>
          <p:cNvPr id="15" name="Text 13"/>
          <p:cNvSpPr txBox="1"/>
          <p:nvPr/>
        </p:nvSpPr>
        <p:spPr>
          <a:xfrm>
            <a:off x="64770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L8</a:t>
            </a:r>
            <a:endParaRPr lang="en-US" sz="1200" dirty="0"/>
          </a:p>
        </p:txBody>
      </p:sp>
      <p:sp>
        <p:nvSpPr>
          <p:cNvPr id="16" name="Text 14"/>
          <p:cNvSpPr txBox="1"/>
          <p:nvPr/>
        </p:nvSpPr>
        <p:spPr>
          <a:xfrm>
            <a:off x="6845399" y="1659830"/>
            <a:ext cx="2797246"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Not searchable by text (R10)</a:t>
            </a:r>
            <a:endParaRPr lang="en-US" sz="1600" dirty="0"/>
          </a:p>
        </p:txBody>
      </p:sp>
      <p:sp>
        <p:nvSpPr>
          <p:cNvPr id="17" name="Text 15"/>
          <p:cNvSpPr txBox="1"/>
          <p:nvPr/>
        </p:nvSpPr>
        <p:spPr>
          <a:xfrm>
            <a:off x="63754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Its vectors are not connected to language: you cannot type a question and find moments.</a:t>
            </a:r>
            <a:endParaRPr lang="en-US" sz="1200" dirty="0"/>
          </a:p>
        </p:txBody>
      </p:sp>
      <p:sp>
        <p:nvSpPr>
          <p:cNvPr id="18" name="Text 16"/>
          <p:cNvSpPr txBox="1"/>
          <p:nvPr/>
        </p:nvSpPr>
        <p:spPr>
          <a:xfrm>
            <a:off x="6375400" y="2525911"/>
            <a:ext cx="4888167"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“When did someone come home late this week?”</a:t>
            </a:r>
            <a:endParaRPr lang="en-US" sz="1200" dirty="0"/>
          </a:p>
        </p:txBody>
      </p:sp>
      <p:sp>
        <p:nvSpPr>
          <p:cNvPr id="19" name="Text 17"/>
          <p:cNvSpPr txBox="1"/>
          <p:nvPr/>
        </p:nvSpPr>
        <p:spPr>
          <a:xfrm>
            <a:off x="6375400" y="282813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Open-ended and summary questions cannot use the model at all.</a:t>
            </a:r>
            <a:endParaRPr lang="en-US" sz="1200" dirty="0"/>
          </a:p>
        </p:txBody>
      </p:sp>
      <p:sp>
        <p:nvSpPr>
          <p:cNvPr id="20" name="Text 18"/>
          <p:cNvSpPr txBox="1"/>
          <p:nvPr/>
        </p:nvSpPr>
        <p:spPr>
          <a:xfrm>
            <a:off x="6375400" y="334367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Minute vectors are projected into the text space; the agent's semantic search finds them.</a:t>
            </a:r>
            <a:endParaRPr lang="en-US" sz="1200" dirty="0"/>
          </a:p>
        </p:txBody>
      </p:sp>
      <p:sp>
        <p:nvSpPr>
          <p:cNvPr id="21" name="Text 19"/>
          <p:cNvSpPr txBox="1"/>
          <p:nvPr/>
        </p:nvSpPr>
        <p:spPr>
          <a:xfrm>
            <a:off x="6375400" y="3859212"/>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alignment built per window; vector store designed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11 LIMITATIONS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L9 and L10</a:t>
            </a:r>
            <a:endParaRPr lang="en-US" sz="2800" dirty="0"/>
          </a:p>
        </p:txBody>
      </p:sp>
      <p:sp>
        <p:nvSpPr>
          <p:cNvPr id="4" name="Shape 2"/>
          <p:cNvSpPr/>
          <p:nvPr/>
        </p:nvSpPr>
        <p:spPr>
          <a:xfrm>
            <a:off x="819150" y="1464270"/>
            <a:ext cx="5181600" cy="2986683"/>
          </a:xfrm>
          <a:prstGeom prst="roundRect">
            <a:avLst>
              <a:gd name="adj" fmla="val 3189"/>
            </a:avLst>
          </a:prstGeom>
          <a:solidFill>
            <a:srgbClr val="FDFCFA"/>
          </a:solidFill>
          <a:ln w="12700">
            <a:solidFill>
              <a:srgbClr val="E3E0D7"/>
            </a:solidFill>
            <a:prstDash val="solid"/>
          </a:ln>
        </p:spPr>
      </p:sp>
      <p:sp>
        <p:nvSpPr>
          <p:cNvPr id="5" name="Shape 3"/>
          <p:cNvSpPr/>
          <p:nvPr/>
        </p:nvSpPr>
        <p:spPr>
          <a:xfrm>
            <a:off x="1003300" y="1648420"/>
            <a:ext cx="381099" cy="254000"/>
          </a:xfrm>
          <a:prstGeom prst="roundRect">
            <a:avLst>
              <a:gd name="adj" fmla="val 50000"/>
            </a:avLst>
          </a:prstGeom>
          <a:solidFill>
            <a:srgbClr val="FBEBDD"/>
          </a:solidFill>
          <a:ln/>
        </p:spPr>
      </p:sp>
      <p:sp>
        <p:nvSpPr>
          <p:cNvPr id="6" name="Text 4"/>
          <p:cNvSpPr txBox="1"/>
          <p:nvPr/>
        </p:nvSpPr>
        <p:spPr>
          <a:xfrm>
            <a:off x="1104900" y="1686520"/>
            <a:ext cx="229589"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L9</a:t>
            </a:r>
            <a:endParaRPr lang="en-US" sz="1200" dirty="0"/>
          </a:p>
        </p:txBody>
      </p:sp>
      <p:sp>
        <p:nvSpPr>
          <p:cNvPr id="7" name="Text 5"/>
          <p:cNvSpPr txBox="1"/>
          <p:nvPr/>
        </p:nvSpPr>
        <p:spPr>
          <a:xfrm>
            <a:off x="1473299" y="1659830"/>
            <a:ext cx="2285908"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No audio or vision (R2)</a:t>
            </a:r>
            <a:endParaRPr lang="en-US" sz="1600" dirty="0"/>
          </a:p>
        </p:txBody>
      </p:sp>
      <p:sp>
        <p:nvSpPr>
          <p:cNvPr id="8" name="Text 6"/>
          <p:cNvSpPr txBox="1"/>
          <p:nvPr/>
        </p:nvSpPr>
        <p:spPr>
          <a:xfrm>
            <a:off x="10033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It cannot hear or see: anything that flips no sensor is invisible.</a:t>
            </a:r>
            <a:endParaRPr lang="en-US" sz="1200" dirty="0"/>
          </a:p>
        </p:txBody>
      </p:sp>
      <p:sp>
        <p:nvSpPr>
          <p:cNvPr id="9" name="Text 7"/>
          <p:cNvSpPr txBox="1"/>
          <p:nvPr/>
        </p:nvSpPr>
        <p:spPr>
          <a:xfrm>
            <a:off x="10033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“How many times did my kid cry?” “How many parcels came yesterday?”</a:t>
            </a:r>
            <a:endParaRPr lang="en-US" sz="1200" dirty="0"/>
          </a:p>
        </p:txBody>
      </p:sp>
      <p:sp>
        <p:nvSpPr>
          <p:cNvPr id="10" name="Text 8"/>
          <p:cNvSpPr txBox="1"/>
          <p:nvPr/>
        </p:nvSpPr>
        <p:spPr>
          <a:xfrm>
            <a:off x="10033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Whole domains (childcare, pets, deliveries) cannot be answered.</a:t>
            </a:r>
            <a:endParaRPr lang="en-US" sz="1200" dirty="0"/>
          </a:p>
        </p:txBody>
      </p:sp>
      <p:sp>
        <p:nvSpPr>
          <p:cNvPr id="11" name="Text 9"/>
          <p:cNvSpPr txBox="1"/>
          <p:nvPr/>
        </p:nvSpPr>
        <p:spPr>
          <a:xfrm>
            <a:off x="10033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On-hub detectors send tags with a confidence as Home Tokens; HomeFM fuses them. Raw media stays home.</a:t>
            </a:r>
            <a:endParaRPr lang="en-US" sz="1200" dirty="0"/>
          </a:p>
        </p:txBody>
      </p:sp>
      <p:sp>
        <p:nvSpPr>
          <p:cNvPr id="12" name="Text 10"/>
          <p:cNvSpPr txBox="1"/>
          <p:nvPr/>
        </p:nvSpPr>
        <p:spPr>
          <a:xfrm>
            <a:off x="10033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detectors designed</a:t>
            </a:r>
            <a:endParaRPr lang="en-US" sz="1200" dirty="0"/>
          </a:p>
        </p:txBody>
      </p:sp>
      <p:sp>
        <p:nvSpPr>
          <p:cNvPr id="13" name="Shape 11"/>
          <p:cNvSpPr/>
          <p:nvPr/>
        </p:nvSpPr>
        <p:spPr>
          <a:xfrm>
            <a:off x="6191250" y="1464270"/>
            <a:ext cx="5181600" cy="2986683"/>
          </a:xfrm>
          <a:prstGeom prst="roundRect">
            <a:avLst>
              <a:gd name="adj" fmla="val 3189"/>
            </a:avLst>
          </a:prstGeom>
          <a:solidFill>
            <a:srgbClr val="FDFCFA"/>
          </a:solidFill>
          <a:ln w="12700">
            <a:solidFill>
              <a:srgbClr val="E3E0D7"/>
            </a:solidFill>
            <a:prstDash val="solid"/>
          </a:ln>
        </p:spPr>
      </p:sp>
      <p:sp>
        <p:nvSpPr>
          <p:cNvPr id="14" name="Shape 12"/>
          <p:cNvSpPr/>
          <p:nvPr/>
        </p:nvSpPr>
        <p:spPr>
          <a:xfrm>
            <a:off x="6375400" y="1648420"/>
            <a:ext cx="465832" cy="254000"/>
          </a:xfrm>
          <a:prstGeom prst="roundRect">
            <a:avLst>
              <a:gd name="adj" fmla="val 50000"/>
            </a:avLst>
          </a:prstGeom>
          <a:solidFill>
            <a:srgbClr val="FBEBDD"/>
          </a:solidFill>
          <a:ln/>
        </p:spPr>
      </p:sp>
      <p:sp>
        <p:nvSpPr>
          <p:cNvPr id="15" name="Text 13"/>
          <p:cNvSpPr txBox="1"/>
          <p:nvPr/>
        </p:nvSpPr>
        <p:spPr>
          <a:xfrm>
            <a:off x="6477000" y="1686520"/>
            <a:ext cx="314745"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L10</a:t>
            </a:r>
            <a:endParaRPr lang="en-US" sz="1200" dirty="0"/>
          </a:p>
        </p:txBody>
      </p:sp>
      <p:sp>
        <p:nvSpPr>
          <p:cNvPr id="16" name="Text 14"/>
          <p:cNvSpPr txBox="1"/>
          <p:nvPr/>
        </p:nvSpPr>
        <p:spPr>
          <a:xfrm>
            <a:off x="6930132" y="1659830"/>
            <a:ext cx="2615266" cy="243840"/>
          </a:xfrm>
          <a:prstGeom prst="rect">
            <a:avLst/>
          </a:prstGeom>
          <a:noFill/>
          <a:ln/>
        </p:spPr>
        <p:txBody>
          <a:bodyPr wrap="square" lIns="0" tIns="0" rIns="0" bIns="0" rtlCol="0" anchor="t"/>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Small, old pretraining data</a:t>
            </a:r>
            <a:endParaRPr lang="en-US" sz="1600" dirty="0"/>
          </a:p>
        </p:txBody>
      </p:sp>
      <p:sp>
        <p:nvSpPr>
          <p:cNvPr id="17" name="Text 15"/>
          <p:cNvSpPr txBox="1"/>
          <p:nvPr/>
        </p:nvSpPr>
        <p:spPr>
          <a:xfrm>
            <a:off x="6375400" y="2010370"/>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Simple words.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Learned from a few public datasets: mostly one-person homes with older binary sensors.</a:t>
            </a:r>
            <a:endParaRPr lang="en-US" sz="1200" dirty="0"/>
          </a:p>
        </p:txBody>
      </p:sp>
      <p:sp>
        <p:nvSpPr>
          <p:cNvPr id="18" name="Text 16"/>
          <p:cNvSpPr txBox="1"/>
          <p:nvPr/>
        </p:nvSpPr>
        <p:spPr>
          <a:xfrm>
            <a:off x="6375400" y="2525911"/>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Breaks on:</a:t>
            </a:r>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
            </a:r>
            <a:pPr algn="l" indent="0" marL="0">
              <a:lnSpc>
                <a:spcPts val="1680"/>
              </a:lnSpc>
              <a:buNone/>
            </a:pPr>
            <a:r>
              <a:rPr lang="en-US" sz="1200" i="1" dirty="0">
                <a:solidFill>
                  <a:srgbClr val="14213D"/>
                </a:solidFill>
                <a:latin typeface="Arial" pitchFamily="34" charset="0"/>
                <a:ea typeface="Arial" pitchFamily="34" charset="-122"/>
                <a:cs typeface="Arial" pitchFamily="34" charset="-120"/>
              </a:rPr>
              <a:t>A new home with Matter plugs, a smart lock, a doorbell camera and a robot vacuum.</a:t>
            </a:r>
            <a:endParaRPr lang="en-US" sz="1200" dirty="0"/>
          </a:p>
        </p:txBody>
      </p:sp>
      <p:sp>
        <p:nvSpPr>
          <p:cNvPr id="19" name="Text 17"/>
          <p:cNvSpPr txBox="1"/>
          <p:nvPr/>
        </p:nvSpPr>
        <p:spPr>
          <a:xfrm>
            <a:off x="6375400" y="304145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What goes wrong.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Understanding of new devices rests only on their text description, with no practice data.</a:t>
            </a:r>
            <a:endParaRPr lang="en-US" sz="1200" dirty="0"/>
          </a:p>
        </p:txBody>
      </p:sp>
      <p:sp>
        <p:nvSpPr>
          <p:cNvPr id="20" name="Text 18"/>
          <p:cNvSpPr txBox="1"/>
          <p:nvPr/>
        </p:nvSpPr>
        <p:spPr>
          <a:xfrm>
            <a:off x="6375400" y="3556992"/>
            <a:ext cx="4888167" cy="384770"/>
          </a:xfrm>
          <a:prstGeom prst="rect">
            <a:avLst/>
          </a:prstGeom>
          <a:noFill/>
          <a:ln/>
        </p:spPr>
        <p:txBody>
          <a:bodyPr wrap="square" lIns="0" tIns="0" rIns="0" bIns="0" rtlCol="0" anchor="t"/>
          <a:lstStyle/>
          <a:p>
            <a:pPr algn="l" indent="0" marL="0">
              <a:lnSpc>
                <a:spcPts val="1680"/>
              </a:lnSpc>
              <a:buNone/>
            </a:pPr>
            <a:r>
              <a:rPr lang="en-US" sz="1200" b="1" dirty="0">
                <a:solidFill>
                  <a:srgbClr val="1E5AA8"/>
                </a:solidFill>
                <a:latin typeface="Arial" pitchFamily="34" charset="0"/>
                <a:ea typeface="Arial" pitchFamily="34" charset="-122"/>
                <a:cs typeface="Arial" pitchFamily="34" charset="-120"/>
              </a:rPr>
              <a:t>HomeFM fix.</a:t>
            </a:r>
            <a:pPr algn="l" indent="0" marL="0">
              <a:lnSpc>
                <a:spcPts val="1680"/>
              </a:lnSpc>
              <a:buNone/>
            </a:pPr>
            <a:r>
              <a:rPr lang="en-US" sz="1200" dirty="0">
                <a:solidFill>
                  <a:srgbClr val="1E5AA8"/>
                </a:solidFill>
                <a:latin typeface="Arial" pitchFamily="34" charset="0"/>
                <a:ea typeface="Arial" pitchFamily="34" charset="-122"/>
                <a:cs typeface="Arial" pitchFamily="34" charset="-120"/>
              </a:rPr>
              <a:t> More homes, energy datasets, simulated homes with injected faults, pilot and donated homes.</a:t>
            </a:r>
            <a:endParaRPr lang="en-US" sz="1200" dirty="0"/>
          </a:p>
        </p:txBody>
      </p:sp>
      <p:sp>
        <p:nvSpPr>
          <p:cNvPr id="21" name="Text 19"/>
          <p:cNvSpPr txBox="1"/>
          <p:nvPr/>
        </p:nvSpPr>
        <p:spPr>
          <a:xfrm>
            <a:off x="6375400" y="407253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Status: 84 public homes in use; simulator scaffold; pilots planned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Four layers: HomeFM sits in layer 2</a:t>
            </a:r>
            <a:endParaRPr lang="en-US" sz="2800" dirty="0"/>
          </a:p>
        </p:txBody>
      </p:sp>
      <p:sp>
        <p:nvSpPr>
          <p:cNvPr id="4" name="Text 2"/>
          <p:cNvSpPr txBox="1"/>
          <p:nvPr/>
        </p:nvSpPr>
        <p:spPr>
          <a:xfrm>
            <a:off x="812800" y="1579761"/>
            <a:ext cx="1518603" cy="34925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L1 · Perception (on device)</a:t>
            </a:r>
            <a:endParaRPr lang="en-US" sz="1200" dirty="0"/>
          </a:p>
        </p:txBody>
      </p:sp>
      <p:sp>
        <p:nvSpPr>
          <p:cNvPr id="5" name="Shape 3"/>
          <p:cNvSpPr/>
          <p:nvPr/>
        </p:nvSpPr>
        <p:spPr>
          <a:xfrm>
            <a:off x="2368550" y="1464270"/>
            <a:ext cx="2174875" cy="586581"/>
          </a:xfrm>
          <a:prstGeom prst="roundRect">
            <a:avLst>
              <a:gd name="adj" fmla="val 11908"/>
            </a:avLst>
          </a:prstGeom>
          <a:solidFill>
            <a:srgbClr val="FDFCFA"/>
          </a:solidFill>
          <a:ln w="12700">
            <a:solidFill>
              <a:srgbClr val="E3E0D7"/>
            </a:solidFill>
            <a:prstDash val="solid"/>
          </a:ln>
        </p:spPr>
      </p:sp>
      <p:sp>
        <p:nvSpPr>
          <p:cNvPr id="6" name="Text 4"/>
          <p:cNvSpPr txBox="1"/>
          <p:nvPr/>
        </p:nvSpPr>
        <p:spPr>
          <a:xfrm>
            <a:off x="2446203" y="1572220"/>
            <a:ext cx="2019570"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Binary sensors</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PIR · contact · leak</a:t>
            </a:r>
            <a:endParaRPr lang="en-US" sz="1200" dirty="0"/>
          </a:p>
        </p:txBody>
      </p:sp>
      <p:sp>
        <p:nvSpPr>
          <p:cNvPr id="7" name="Shape 5"/>
          <p:cNvSpPr/>
          <p:nvPr/>
        </p:nvSpPr>
        <p:spPr>
          <a:xfrm>
            <a:off x="4645025" y="1464270"/>
            <a:ext cx="2174875" cy="586581"/>
          </a:xfrm>
          <a:prstGeom prst="roundRect">
            <a:avLst>
              <a:gd name="adj" fmla="val 11908"/>
            </a:avLst>
          </a:prstGeom>
          <a:solidFill>
            <a:srgbClr val="FDFCFA"/>
          </a:solidFill>
          <a:ln w="12700">
            <a:solidFill>
              <a:srgbClr val="E3E0D7"/>
            </a:solidFill>
            <a:prstDash val="solid"/>
          </a:ln>
        </p:spPr>
      </p:sp>
      <p:sp>
        <p:nvSpPr>
          <p:cNvPr id="8" name="Text 6"/>
          <p:cNvSpPr txBox="1"/>
          <p:nvPr/>
        </p:nvSpPr>
        <p:spPr>
          <a:xfrm>
            <a:off x="4722678" y="1572220"/>
            <a:ext cx="2019570"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Telemetry</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power · temp · CO₂</a:t>
            </a:r>
            <a:endParaRPr lang="en-US" sz="1200" dirty="0"/>
          </a:p>
        </p:txBody>
      </p:sp>
      <p:sp>
        <p:nvSpPr>
          <p:cNvPr id="9" name="Shape 7"/>
          <p:cNvSpPr/>
          <p:nvPr/>
        </p:nvSpPr>
        <p:spPr>
          <a:xfrm>
            <a:off x="6921500" y="1464270"/>
            <a:ext cx="2174875" cy="586581"/>
          </a:xfrm>
          <a:prstGeom prst="roundRect">
            <a:avLst>
              <a:gd name="adj" fmla="val 11908"/>
            </a:avLst>
          </a:prstGeom>
          <a:solidFill>
            <a:srgbClr val="FDFCFA"/>
          </a:solidFill>
          <a:ln w="12700">
            <a:solidFill>
              <a:srgbClr val="E3E0D7"/>
            </a:solidFill>
            <a:prstDash val="solid"/>
          </a:ln>
        </p:spPr>
      </p:sp>
      <p:sp>
        <p:nvSpPr>
          <p:cNvPr id="10" name="Text 8"/>
          <p:cNvSpPr txBox="1"/>
          <p:nvPr/>
        </p:nvSpPr>
        <p:spPr>
          <a:xfrm>
            <a:off x="6999153" y="1572220"/>
            <a:ext cx="2019570"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Audio expert</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open-vocab tags</a:t>
            </a:r>
            <a:endParaRPr lang="en-US" sz="1200" dirty="0"/>
          </a:p>
        </p:txBody>
      </p:sp>
      <p:sp>
        <p:nvSpPr>
          <p:cNvPr id="11" name="Shape 9"/>
          <p:cNvSpPr/>
          <p:nvPr/>
        </p:nvSpPr>
        <p:spPr>
          <a:xfrm>
            <a:off x="9197975" y="1464270"/>
            <a:ext cx="2174875" cy="586581"/>
          </a:xfrm>
          <a:prstGeom prst="roundRect">
            <a:avLst>
              <a:gd name="adj" fmla="val 11908"/>
            </a:avLst>
          </a:prstGeom>
          <a:solidFill>
            <a:srgbClr val="FDFCFA"/>
          </a:solidFill>
          <a:ln w="12700">
            <a:solidFill>
              <a:srgbClr val="E3E0D7"/>
            </a:solidFill>
            <a:prstDash val="solid"/>
          </a:ln>
        </p:spPr>
      </p:sp>
      <p:sp>
        <p:nvSpPr>
          <p:cNvPr id="12" name="Text 10"/>
          <p:cNvSpPr txBox="1"/>
          <p:nvPr/>
        </p:nvSpPr>
        <p:spPr>
          <a:xfrm>
            <a:off x="9275628" y="1572220"/>
            <a:ext cx="2019570"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Vision expert</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detector · people count</a:t>
            </a:r>
            <a:endParaRPr lang="en-US" sz="1200" dirty="0"/>
          </a:p>
        </p:txBody>
      </p:sp>
      <p:sp>
        <p:nvSpPr>
          <p:cNvPr id="13" name="Shape 11"/>
          <p:cNvSpPr/>
          <p:nvPr/>
        </p:nvSpPr>
        <p:spPr>
          <a:xfrm>
            <a:off x="6026150" y="2108002"/>
            <a:ext cx="139700" cy="203200"/>
          </a:xfrm>
          <a:prstGeom prst="downArrow">
            <a:avLst/>
          </a:prstGeom>
          <a:solidFill>
            <a:srgbClr val="9AA3B2"/>
          </a:solidFill>
          <a:ln/>
        </p:spPr>
      </p:sp>
      <p:sp>
        <p:nvSpPr>
          <p:cNvPr id="14" name="Text 12"/>
          <p:cNvSpPr txBox="1"/>
          <p:nvPr/>
        </p:nvSpPr>
        <p:spPr>
          <a:xfrm>
            <a:off x="812800" y="2473722"/>
            <a:ext cx="1518603"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Event bus</a:t>
            </a:r>
            <a:endParaRPr lang="en-US" sz="1200" dirty="0"/>
          </a:p>
        </p:txBody>
      </p:sp>
      <p:sp>
        <p:nvSpPr>
          <p:cNvPr id="15" name="Shape 13"/>
          <p:cNvSpPr/>
          <p:nvPr/>
        </p:nvSpPr>
        <p:spPr>
          <a:xfrm>
            <a:off x="2368550" y="2368352"/>
            <a:ext cx="9004300" cy="388541"/>
          </a:xfrm>
          <a:prstGeom prst="roundRect">
            <a:avLst>
              <a:gd name="adj" fmla="val 17978"/>
            </a:avLst>
          </a:prstGeom>
          <a:solidFill>
            <a:srgbClr val="E6EEF8"/>
          </a:solidFill>
          <a:ln w="12700">
            <a:solidFill>
              <a:srgbClr val="B9CDE8"/>
            </a:solidFill>
            <a:prstDash val="solid"/>
          </a:ln>
        </p:spPr>
      </p:sp>
      <p:sp>
        <p:nvSpPr>
          <p:cNvPr id="16" name="Text 14"/>
          <p:cNvSpPr txBox="1"/>
          <p:nvPr/>
        </p:nvSpPr>
        <p:spPr>
          <a:xfrm>
            <a:off x="2429129" y="2476302"/>
            <a:ext cx="8883142"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Every signal in one common format: the Home Token</a:t>
            </a:r>
            <a:endParaRPr lang="en-US" sz="1200" dirty="0"/>
          </a:p>
        </p:txBody>
      </p:sp>
      <p:sp>
        <p:nvSpPr>
          <p:cNvPr id="17" name="Shape 15"/>
          <p:cNvSpPr/>
          <p:nvPr/>
        </p:nvSpPr>
        <p:spPr>
          <a:xfrm>
            <a:off x="6026150" y="2814042"/>
            <a:ext cx="139700" cy="203200"/>
          </a:xfrm>
          <a:prstGeom prst="downArrow">
            <a:avLst/>
          </a:prstGeom>
          <a:solidFill>
            <a:srgbClr val="9AA3B2"/>
          </a:solidFill>
          <a:ln/>
        </p:spPr>
      </p:sp>
      <p:sp>
        <p:nvSpPr>
          <p:cNvPr id="18" name="Text 16"/>
          <p:cNvSpPr txBox="1"/>
          <p:nvPr/>
        </p:nvSpPr>
        <p:spPr>
          <a:xfrm>
            <a:off x="812800" y="3179763"/>
            <a:ext cx="1518603"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L2 · HomeFM</a:t>
            </a:r>
            <a:endParaRPr lang="en-US" sz="1200" dirty="0"/>
          </a:p>
        </p:txBody>
      </p:sp>
      <p:sp>
        <p:nvSpPr>
          <p:cNvPr id="19" name="Shape 17"/>
          <p:cNvSpPr/>
          <p:nvPr/>
        </p:nvSpPr>
        <p:spPr>
          <a:xfrm>
            <a:off x="2368550" y="3074392"/>
            <a:ext cx="9004300" cy="388541"/>
          </a:xfrm>
          <a:prstGeom prst="roundRect">
            <a:avLst>
              <a:gd name="adj" fmla="val 17978"/>
            </a:avLst>
          </a:prstGeom>
          <a:solidFill>
            <a:srgbClr val="E6EEF8"/>
          </a:solidFill>
          <a:ln w="12700">
            <a:solidFill>
              <a:srgbClr val="B9CDE8"/>
            </a:solidFill>
            <a:prstDash val="solid"/>
          </a:ln>
        </p:spPr>
      </p:sp>
      <p:sp>
        <p:nvSpPr>
          <p:cNvPr id="20" name="Text 18"/>
          <p:cNvSpPr txBox="1"/>
          <p:nvPr/>
        </p:nvSpPr>
        <p:spPr>
          <a:xfrm>
            <a:off x="2429129" y="3182342"/>
            <a:ext cx="8883142"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Streaming encoder → heads: tagger · episodes · occupancy · forecast · anomaly · device health · search vectors</a:t>
            </a:r>
            <a:endParaRPr lang="en-US" sz="1200" dirty="0"/>
          </a:p>
        </p:txBody>
      </p:sp>
      <p:sp>
        <p:nvSpPr>
          <p:cNvPr id="21" name="Shape 19"/>
          <p:cNvSpPr/>
          <p:nvPr/>
        </p:nvSpPr>
        <p:spPr>
          <a:xfrm>
            <a:off x="6026150" y="3520083"/>
            <a:ext cx="139700" cy="203200"/>
          </a:xfrm>
          <a:prstGeom prst="downArrow">
            <a:avLst/>
          </a:prstGeom>
          <a:solidFill>
            <a:srgbClr val="9AA3B2"/>
          </a:solidFill>
          <a:ln/>
        </p:spPr>
      </p:sp>
      <p:sp>
        <p:nvSpPr>
          <p:cNvPr id="22" name="Text 20"/>
          <p:cNvSpPr txBox="1"/>
          <p:nvPr/>
        </p:nvSpPr>
        <p:spPr>
          <a:xfrm>
            <a:off x="812800" y="3984823"/>
            <a:ext cx="1518603"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L3 · Knowledge</a:t>
            </a:r>
            <a:endParaRPr lang="en-US" sz="1200" dirty="0"/>
          </a:p>
        </p:txBody>
      </p:sp>
      <p:sp>
        <p:nvSpPr>
          <p:cNvPr id="23" name="Shape 21"/>
          <p:cNvSpPr/>
          <p:nvPr/>
        </p:nvSpPr>
        <p:spPr>
          <a:xfrm>
            <a:off x="2368550" y="3780433"/>
            <a:ext cx="1719560" cy="586581"/>
          </a:xfrm>
          <a:prstGeom prst="roundRect">
            <a:avLst>
              <a:gd name="adj" fmla="val 11908"/>
            </a:avLst>
          </a:prstGeom>
          <a:solidFill>
            <a:srgbClr val="FDFCFA"/>
          </a:solidFill>
          <a:ln w="12700">
            <a:solidFill>
              <a:srgbClr val="E3E0D7"/>
            </a:solidFill>
            <a:prstDash val="solid"/>
          </a:ln>
        </p:spPr>
      </p:sp>
      <p:sp>
        <p:nvSpPr>
          <p:cNvPr id="24" name="Text 22"/>
          <p:cNvSpPr txBox="1"/>
          <p:nvPr/>
        </p:nvSpPr>
        <p:spPr>
          <a:xfrm>
            <a:off x="2447341" y="3888383"/>
            <a:ext cx="1561978"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Event store</a:t>
            </a:r>
            <a:endParaRPr lang="en-US" sz="1200" dirty="0"/>
          </a:p>
        </p:txBody>
      </p:sp>
      <p:sp>
        <p:nvSpPr>
          <p:cNvPr id="25" name="Shape 23"/>
          <p:cNvSpPr/>
          <p:nvPr/>
        </p:nvSpPr>
        <p:spPr>
          <a:xfrm>
            <a:off x="4189710" y="3780433"/>
            <a:ext cx="1719560" cy="586581"/>
          </a:xfrm>
          <a:prstGeom prst="roundRect">
            <a:avLst>
              <a:gd name="adj" fmla="val 11908"/>
            </a:avLst>
          </a:prstGeom>
          <a:solidFill>
            <a:srgbClr val="FDFCFA"/>
          </a:solidFill>
          <a:ln w="12700">
            <a:solidFill>
              <a:srgbClr val="E3E0D7"/>
            </a:solidFill>
            <a:prstDash val="solid"/>
          </a:ln>
        </p:spPr>
      </p:sp>
      <p:sp>
        <p:nvSpPr>
          <p:cNvPr id="26" name="Text 24"/>
          <p:cNvSpPr txBox="1"/>
          <p:nvPr/>
        </p:nvSpPr>
        <p:spPr>
          <a:xfrm>
            <a:off x="4268501" y="3888383"/>
            <a:ext cx="1561978"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Episodes · states</a:t>
            </a:r>
            <a:endParaRPr lang="en-US" sz="1200" dirty="0"/>
          </a:p>
        </p:txBody>
      </p:sp>
      <p:sp>
        <p:nvSpPr>
          <p:cNvPr id="27" name="Shape 25"/>
          <p:cNvSpPr/>
          <p:nvPr/>
        </p:nvSpPr>
        <p:spPr>
          <a:xfrm>
            <a:off x="6010870" y="3780433"/>
            <a:ext cx="1719560" cy="586581"/>
          </a:xfrm>
          <a:prstGeom prst="roundRect">
            <a:avLst>
              <a:gd name="adj" fmla="val 11908"/>
            </a:avLst>
          </a:prstGeom>
          <a:solidFill>
            <a:srgbClr val="FDFCFA"/>
          </a:solidFill>
          <a:ln w="12700">
            <a:solidFill>
              <a:srgbClr val="E3E0D7"/>
            </a:solidFill>
            <a:prstDash val="solid"/>
          </a:ln>
        </p:spPr>
      </p:sp>
      <p:sp>
        <p:nvSpPr>
          <p:cNvPr id="28" name="Text 26"/>
          <p:cNvSpPr txBox="1"/>
          <p:nvPr/>
        </p:nvSpPr>
        <p:spPr>
          <a:xfrm>
            <a:off x="6089661" y="3888383"/>
            <a:ext cx="1561978"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Vector index</a:t>
            </a:r>
            <a:endParaRPr lang="en-US" sz="1200" dirty="0"/>
          </a:p>
        </p:txBody>
      </p:sp>
      <p:sp>
        <p:nvSpPr>
          <p:cNvPr id="29" name="Shape 27"/>
          <p:cNvSpPr/>
          <p:nvPr/>
        </p:nvSpPr>
        <p:spPr>
          <a:xfrm>
            <a:off x="7832030" y="3780433"/>
            <a:ext cx="1719560" cy="586581"/>
          </a:xfrm>
          <a:prstGeom prst="roundRect">
            <a:avLst>
              <a:gd name="adj" fmla="val 11908"/>
            </a:avLst>
          </a:prstGeom>
          <a:solidFill>
            <a:srgbClr val="FDFCFA"/>
          </a:solidFill>
          <a:ln w="12700">
            <a:solidFill>
              <a:srgbClr val="E3E0D7"/>
            </a:solidFill>
            <a:prstDash val="solid"/>
          </a:ln>
        </p:spPr>
      </p:sp>
      <p:sp>
        <p:nvSpPr>
          <p:cNvPr id="30" name="Text 28"/>
          <p:cNvSpPr txBox="1"/>
          <p:nvPr/>
        </p:nvSpPr>
        <p:spPr>
          <a:xfrm>
            <a:off x="7910821" y="3888383"/>
            <a:ext cx="1561978"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Ontology + capabilities</a:t>
            </a:r>
            <a:endParaRPr lang="en-US" sz="1200" dirty="0"/>
          </a:p>
        </p:txBody>
      </p:sp>
      <p:sp>
        <p:nvSpPr>
          <p:cNvPr id="31" name="Shape 29"/>
          <p:cNvSpPr/>
          <p:nvPr/>
        </p:nvSpPr>
        <p:spPr>
          <a:xfrm>
            <a:off x="9653191" y="3780433"/>
            <a:ext cx="1719560" cy="586581"/>
          </a:xfrm>
          <a:prstGeom prst="roundRect">
            <a:avLst>
              <a:gd name="adj" fmla="val 11908"/>
            </a:avLst>
          </a:prstGeom>
          <a:solidFill>
            <a:srgbClr val="FDFCFA"/>
          </a:solidFill>
          <a:ln w="12700">
            <a:solidFill>
              <a:srgbClr val="E3E0D7"/>
            </a:solidFill>
            <a:prstDash val="solid"/>
          </a:ln>
        </p:spPr>
      </p:sp>
      <p:sp>
        <p:nvSpPr>
          <p:cNvPr id="32" name="Text 30"/>
          <p:cNvSpPr txBox="1"/>
          <p:nvPr/>
        </p:nvSpPr>
        <p:spPr>
          <a:xfrm>
            <a:off x="9731981" y="3888383"/>
            <a:ext cx="1561978"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Anomaly · health · routines</a:t>
            </a:r>
            <a:endParaRPr lang="en-US" sz="1200" dirty="0"/>
          </a:p>
        </p:txBody>
      </p:sp>
      <p:sp>
        <p:nvSpPr>
          <p:cNvPr id="33" name="Shape 31"/>
          <p:cNvSpPr/>
          <p:nvPr/>
        </p:nvSpPr>
        <p:spPr>
          <a:xfrm>
            <a:off x="6026150" y="4424164"/>
            <a:ext cx="139700" cy="203200"/>
          </a:xfrm>
          <a:prstGeom prst="downArrow">
            <a:avLst/>
          </a:prstGeom>
          <a:solidFill>
            <a:srgbClr val="9AA3B2"/>
          </a:solidFill>
          <a:ln/>
        </p:spPr>
      </p:sp>
      <p:sp>
        <p:nvSpPr>
          <p:cNvPr id="34" name="Text 32"/>
          <p:cNvSpPr txBox="1"/>
          <p:nvPr/>
        </p:nvSpPr>
        <p:spPr>
          <a:xfrm>
            <a:off x="812800" y="4789884"/>
            <a:ext cx="1518603"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L4 · Query agent</a:t>
            </a:r>
            <a:endParaRPr lang="en-US" sz="1200" dirty="0"/>
          </a:p>
        </p:txBody>
      </p:sp>
      <p:sp>
        <p:nvSpPr>
          <p:cNvPr id="35" name="Shape 33"/>
          <p:cNvSpPr/>
          <p:nvPr/>
        </p:nvSpPr>
        <p:spPr>
          <a:xfrm>
            <a:off x="2368550" y="4684514"/>
            <a:ext cx="4451350" cy="388541"/>
          </a:xfrm>
          <a:prstGeom prst="roundRect">
            <a:avLst>
              <a:gd name="adj" fmla="val 17978"/>
            </a:avLst>
          </a:prstGeom>
          <a:solidFill>
            <a:srgbClr val="FDFCFA"/>
          </a:solidFill>
          <a:ln w="12700">
            <a:solidFill>
              <a:srgbClr val="E3E0D7"/>
            </a:solidFill>
            <a:prstDash val="solid"/>
          </a:ln>
        </p:spPr>
      </p:sp>
      <p:sp>
        <p:nvSpPr>
          <p:cNvPr id="36" name="Text 34"/>
          <p:cNvSpPr txBox="1"/>
          <p:nvPr/>
        </p:nvSpPr>
        <p:spPr>
          <a:xfrm>
            <a:off x="2440511" y="4792464"/>
            <a:ext cx="4307427"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LLM planner ⇄ tool API</a:t>
            </a:r>
            <a:endParaRPr lang="en-US" sz="1200" dirty="0"/>
          </a:p>
        </p:txBody>
      </p:sp>
      <p:sp>
        <p:nvSpPr>
          <p:cNvPr id="37" name="Shape 35"/>
          <p:cNvSpPr/>
          <p:nvPr/>
        </p:nvSpPr>
        <p:spPr>
          <a:xfrm>
            <a:off x="6921500" y="4684514"/>
            <a:ext cx="4451350" cy="388541"/>
          </a:xfrm>
          <a:prstGeom prst="roundRect">
            <a:avLst>
              <a:gd name="adj" fmla="val 17978"/>
            </a:avLst>
          </a:prstGeom>
          <a:solidFill>
            <a:srgbClr val="FDFCFA"/>
          </a:solidFill>
          <a:ln w="12700">
            <a:solidFill>
              <a:srgbClr val="E3E0D7"/>
            </a:solidFill>
            <a:prstDash val="solid"/>
          </a:ln>
        </p:spPr>
      </p:sp>
      <p:sp>
        <p:nvSpPr>
          <p:cNvPr id="38" name="Text 36"/>
          <p:cNvSpPr txBox="1"/>
          <p:nvPr/>
        </p:nvSpPr>
        <p:spPr>
          <a:xfrm>
            <a:off x="6993461" y="4792464"/>
            <a:ext cx="4307427"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Answer + evidence + confidence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Three answer paths, and an honest refusal</a:t>
            </a:r>
            <a:endParaRPr lang="en-US" sz="2800" dirty="0"/>
          </a:p>
        </p:txBody>
      </p:sp>
      <p:sp>
        <p:nvSpPr>
          <p:cNvPr id="4" name="Shape 2"/>
          <p:cNvSpPr/>
          <p:nvPr/>
        </p:nvSpPr>
        <p:spPr>
          <a:xfrm>
            <a:off x="819150" y="1464270"/>
            <a:ext cx="5194300" cy="1440061"/>
          </a:xfrm>
          <a:prstGeom prst="roundRect">
            <a:avLst>
              <a:gd name="adj" fmla="val 6614"/>
            </a:avLst>
          </a:prstGeom>
          <a:solidFill>
            <a:srgbClr val="FDFCFA"/>
          </a:solidFill>
          <a:ln w="12700">
            <a:solidFill>
              <a:srgbClr val="E3E0D7"/>
            </a:solidFill>
            <a:prstDash val="solid"/>
          </a:ln>
        </p:spPr>
      </p:sp>
      <p:pic>
        <p:nvPicPr>
          <p:cNvPr id="5" name="Image 0" descr="preencoded.png">    </p:cNvPr>
          <p:cNvPicPr>
            <a:picLocks noChangeAspect="1"/>
          </p:cNvPicPr>
          <p:nvPr/>
        </p:nvPicPr>
        <p:blipFill>
          <a:blip r:embed="rId1"/>
          <a:stretch>
            <a:fillRect/>
          </a:stretch>
        </p:blipFill>
        <p:spPr>
          <a:xfrm>
            <a:off x="1003300" y="1648420"/>
            <a:ext cx="254000" cy="254000"/>
          </a:xfrm>
          <a:prstGeom prst="rect">
            <a:avLst/>
          </a:prstGeom>
        </p:spPr>
      </p:pic>
      <p:sp>
        <p:nvSpPr>
          <p:cNvPr id="6" name="Text 3"/>
          <p:cNvSpPr txBox="1"/>
          <p:nvPr/>
        </p:nvSpPr>
        <p:spPr>
          <a:xfrm>
            <a:off x="1003300" y="1972270"/>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Fast path</a:t>
            </a:r>
            <a:endParaRPr lang="en-US" sz="1500" dirty="0"/>
          </a:p>
        </p:txBody>
      </p:sp>
      <p:sp>
        <p:nvSpPr>
          <p:cNvPr id="7" name="Text 4"/>
          <p:cNvSpPr txBox="1"/>
          <p:nvPr/>
        </p:nvSpPr>
        <p:spPr>
          <a:xfrm>
            <a:off x="1003300" y="2277070"/>
            <a:ext cx="4900930" cy="421580"/>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The concept is stored (cooking, parcel, bark): exact SQL over events, episodes and states.</a:t>
            </a:r>
            <a:endParaRPr lang="en-US" sz="1300" dirty="0"/>
          </a:p>
        </p:txBody>
      </p:sp>
      <p:sp>
        <p:nvSpPr>
          <p:cNvPr id="8" name="Shape 5"/>
          <p:cNvSpPr/>
          <p:nvPr/>
        </p:nvSpPr>
        <p:spPr>
          <a:xfrm>
            <a:off x="6178550" y="1464270"/>
            <a:ext cx="5194300" cy="1440061"/>
          </a:xfrm>
          <a:prstGeom prst="roundRect">
            <a:avLst>
              <a:gd name="adj" fmla="val 6614"/>
            </a:avLst>
          </a:prstGeom>
          <a:solidFill>
            <a:srgbClr val="FDFCFA"/>
          </a:solidFill>
          <a:ln w="12700">
            <a:solidFill>
              <a:srgbClr val="E3E0D7"/>
            </a:solidFill>
            <a:prstDash val="solid"/>
          </a:ln>
        </p:spPr>
      </p:sp>
      <p:pic>
        <p:nvPicPr>
          <p:cNvPr id="9" name="Image 1" descr="preencoded.png">    </p:cNvPr>
          <p:cNvPicPr>
            <a:picLocks noChangeAspect="1"/>
          </p:cNvPicPr>
          <p:nvPr/>
        </p:nvPicPr>
        <p:blipFill>
          <a:blip r:embed="rId2"/>
          <a:stretch>
            <a:fillRect/>
          </a:stretch>
        </p:blipFill>
        <p:spPr>
          <a:xfrm>
            <a:off x="6362700" y="1648420"/>
            <a:ext cx="254000" cy="254000"/>
          </a:xfrm>
          <a:prstGeom prst="rect">
            <a:avLst/>
          </a:prstGeom>
        </p:spPr>
      </p:pic>
      <p:sp>
        <p:nvSpPr>
          <p:cNvPr id="10" name="Text 6"/>
          <p:cNvSpPr txBox="1"/>
          <p:nvPr/>
        </p:nvSpPr>
        <p:spPr>
          <a:xfrm>
            <a:off x="6362700" y="1972270"/>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Open path</a:t>
            </a:r>
            <a:endParaRPr lang="en-US" sz="1500" dirty="0"/>
          </a:p>
        </p:txBody>
      </p:sp>
      <p:sp>
        <p:nvSpPr>
          <p:cNvPr id="11" name="Text 7"/>
          <p:cNvSpPr txBox="1"/>
          <p:nvPr/>
        </p:nvSpPr>
        <p:spPr>
          <a:xfrm>
            <a:off x="6362700" y="2277070"/>
            <a:ext cx="4900930" cy="421580"/>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Not stored: the question becomes a vector and is matched against stored minute vectors, with a confidence.</a:t>
            </a:r>
            <a:endParaRPr lang="en-US" sz="1300" dirty="0"/>
          </a:p>
        </p:txBody>
      </p:sp>
      <p:sp>
        <p:nvSpPr>
          <p:cNvPr id="12" name="Shape 8"/>
          <p:cNvSpPr/>
          <p:nvPr/>
        </p:nvSpPr>
        <p:spPr>
          <a:xfrm>
            <a:off x="819150" y="3069431"/>
            <a:ext cx="5194300" cy="1208980"/>
          </a:xfrm>
          <a:prstGeom prst="roundRect">
            <a:avLst>
              <a:gd name="adj" fmla="val 7879"/>
            </a:avLst>
          </a:prstGeom>
          <a:solidFill>
            <a:srgbClr val="FDFCFA"/>
          </a:solidFill>
          <a:ln w="12700">
            <a:solidFill>
              <a:srgbClr val="E3E0D7"/>
            </a:solidFill>
            <a:prstDash val="solid"/>
          </a:ln>
        </p:spPr>
      </p:sp>
      <p:pic>
        <p:nvPicPr>
          <p:cNvPr id="13" name="Image 2" descr="preencoded.png">    </p:cNvPr>
          <p:cNvPicPr>
            <a:picLocks noChangeAspect="1"/>
          </p:cNvPicPr>
          <p:nvPr/>
        </p:nvPicPr>
        <p:blipFill>
          <a:blip r:embed="rId3"/>
          <a:stretch>
            <a:fillRect/>
          </a:stretch>
        </p:blipFill>
        <p:spPr>
          <a:xfrm>
            <a:off x="1003300" y="3253581"/>
            <a:ext cx="254000" cy="254000"/>
          </a:xfrm>
          <a:prstGeom prst="rect">
            <a:avLst/>
          </a:prstGeom>
        </p:spPr>
      </p:pic>
      <p:sp>
        <p:nvSpPr>
          <p:cNvPr id="14" name="Text 9"/>
          <p:cNvSpPr txBox="1"/>
          <p:nvPr/>
        </p:nvSpPr>
        <p:spPr>
          <a:xfrm>
            <a:off x="1003300" y="3577431"/>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Analysis path</a:t>
            </a:r>
            <a:endParaRPr lang="en-US" sz="1500" dirty="0"/>
          </a:p>
        </p:txBody>
      </p:sp>
      <p:sp>
        <p:nvSpPr>
          <p:cNvPr id="15" name="Text 10"/>
          <p:cNvSpPr txBox="1"/>
          <p:nvPr/>
        </p:nvSpPr>
        <p:spPr>
          <a:xfrm>
            <a:off x="1003300" y="3882231"/>
            <a:ext cx="4900930" cy="231140"/>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Anomaly, device health, comparison with baselines, forecasts.</a:t>
            </a:r>
            <a:endParaRPr lang="en-US" sz="1300" dirty="0"/>
          </a:p>
        </p:txBody>
      </p:sp>
      <p:sp>
        <p:nvSpPr>
          <p:cNvPr id="16" name="Shape 11"/>
          <p:cNvSpPr/>
          <p:nvPr/>
        </p:nvSpPr>
        <p:spPr>
          <a:xfrm>
            <a:off x="6178550" y="3069431"/>
            <a:ext cx="5194300" cy="1208980"/>
          </a:xfrm>
          <a:prstGeom prst="roundRect">
            <a:avLst>
              <a:gd name="adj" fmla="val 7879"/>
            </a:avLst>
          </a:prstGeom>
          <a:solidFill>
            <a:srgbClr val="FDFCFA"/>
          </a:solidFill>
          <a:ln w="12700">
            <a:solidFill>
              <a:srgbClr val="E3E0D7"/>
            </a:solidFill>
            <a:prstDash val="solid"/>
          </a:ln>
        </p:spPr>
      </p:sp>
      <p:pic>
        <p:nvPicPr>
          <p:cNvPr id="17" name="Image 3" descr="preencoded.png">    </p:cNvPr>
          <p:cNvPicPr>
            <a:picLocks noChangeAspect="1"/>
          </p:cNvPicPr>
          <p:nvPr/>
        </p:nvPicPr>
        <p:blipFill>
          <a:blip r:embed="rId4"/>
          <a:stretch>
            <a:fillRect/>
          </a:stretch>
        </p:blipFill>
        <p:spPr>
          <a:xfrm>
            <a:off x="6362700" y="3253581"/>
            <a:ext cx="254000" cy="254000"/>
          </a:xfrm>
          <a:prstGeom prst="rect">
            <a:avLst/>
          </a:prstGeom>
        </p:spPr>
      </p:pic>
      <p:sp>
        <p:nvSpPr>
          <p:cNvPr id="18" name="Text 12"/>
          <p:cNvSpPr txBox="1"/>
          <p:nvPr/>
        </p:nvSpPr>
        <p:spPr>
          <a:xfrm>
            <a:off x="6362700" y="3577431"/>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Capability check</a:t>
            </a:r>
            <a:endParaRPr lang="en-US" sz="1500" dirty="0"/>
          </a:p>
        </p:txBody>
      </p:sp>
      <p:sp>
        <p:nvSpPr>
          <p:cNvPr id="19" name="Text 13"/>
          <p:cNvSpPr txBox="1"/>
          <p:nvPr/>
        </p:nvSpPr>
        <p:spPr>
          <a:xfrm>
            <a:off x="6362700" y="3882231"/>
            <a:ext cx="4900930" cy="231140"/>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No sensor can observe it: an honest “I can't sense that here”.</a:t>
            </a:r>
            <a:endParaRPr lang="en-US" sz="1300" dirty="0"/>
          </a:p>
        </p:txBody>
      </p:sp>
      <p:sp>
        <p:nvSpPr>
          <p:cNvPr id="20" name="Shape 14"/>
          <p:cNvSpPr/>
          <p:nvPr/>
        </p:nvSpPr>
        <p:spPr>
          <a:xfrm>
            <a:off x="819150" y="4468912"/>
            <a:ext cx="10553700" cy="1773138"/>
          </a:xfrm>
          <a:prstGeom prst="roundRect">
            <a:avLst>
              <a:gd name="adj" fmla="val 5372"/>
            </a:avLst>
          </a:prstGeom>
          <a:solidFill>
            <a:srgbClr val="E6EEF8"/>
          </a:solidFill>
          <a:ln w="12700">
            <a:solidFill>
              <a:srgbClr val="B9CDE8"/>
            </a:solidFill>
            <a:prstDash val="solid"/>
          </a:ln>
        </p:spPr>
      </p:sp>
      <p:sp>
        <p:nvSpPr>
          <p:cNvPr id="21" name="Text 15"/>
          <p:cNvSpPr txBox="1"/>
          <p:nvPr/>
        </p:nvSpPr>
        <p:spPr>
          <a:xfrm>
            <a:off x="1003300" y="4672112"/>
            <a:ext cx="10287127" cy="421580"/>
          </a:xfrm>
          <a:prstGeom prst="rect">
            <a:avLst/>
          </a:prstGeom>
          <a:noFill/>
          <a:ln/>
        </p:spPr>
        <p:txBody>
          <a:bodyPr wrap="square" lIns="0" tIns="0" rIns="0" bIns="0" rtlCol="0" anchor="t"/>
          <a:lstStyle/>
          <a:p>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Promotion loop.</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An open-path concept that is asked often is added to the stored concept list, and from then on it answers by the fast path. Because minute vectors are kept, its full history is filled in retroactively.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8DB8F2"/>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1009650"/>
            <a:ext cx="10670032" cy="508000"/>
          </a:xfrm>
          <a:prstGeom prst="rect">
            <a:avLst/>
          </a:prstGeom>
          <a:noFill/>
          <a:ln/>
        </p:spPr>
        <p:txBody>
          <a:bodyPr wrap="square" lIns="0" tIns="0" rIns="0" bIns="0" rtlCol="0" anchor="t"/>
          <a:lstStyle/>
          <a:p>
            <a:pPr algn="l" indent="0" marL="0">
              <a:lnSpc>
                <a:spcPts val="3960"/>
              </a:lnSpc>
              <a:buNone/>
            </a:pPr>
            <a:r>
              <a:rPr lang="en-US" sz="3600" b="1" dirty="0">
                <a:solidFill>
                  <a:srgbClr val="F6F5F1"/>
                </a:solidFill>
                <a:latin typeface="Arial" pitchFamily="34" charset="0"/>
                <a:ea typeface="Arial" pitchFamily="34" charset="-122"/>
                <a:cs typeface="Arial" pitchFamily="34" charset="-120"/>
              </a:rPr>
              <a:t>HomeFM reads a home like a diary</a:t>
            </a:r>
            <a:endParaRPr lang="en-US" sz="3600" dirty="0"/>
          </a:p>
        </p:txBody>
      </p:sp>
      <p:sp>
        <p:nvSpPr>
          <p:cNvPr id="4" name="Shape 2"/>
          <p:cNvSpPr/>
          <p:nvPr/>
        </p:nvSpPr>
        <p:spPr>
          <a:xfrm>
            <a:off x="819150" y="3124200"/>
            <a:ext cx="2266950" cy="718741"/>
          </a:xfrm>
          <a:prstGeom prst="roundRect">
            <a:avLst>
              <a:gd name="adj" fmla="val 9718"/>
            </a:avLst>
          </a:prstGeom>
          <a:solidFill>
            <a:srgbClr val="1F2E4F"/>
          </a:solidFill>
          <a:ln w="12700">
            <a:solidFill>
              <a:srgbClr val="2E4270"/>
            </a:solidFill>
            <a:prstDash val="solid"/>
          </a:ln>
        </p:spPr>
      </p:sp>
      <p:sp>
        <p:nvSpPr>
          <p:cNvPr id="5" name="Text 3"/>
          <p:cNvSpPr txBox="1"/>
          <p:nvPr/>
        </p:nvSpPr>
        <p:spPr>
          <a:xfrm>
            <a:off x="896572" y="3232150"/>
            <a:ext cx="2112105" cy="492720"/>
          </a:xfrm>
          <a:prstGeom prst="rect">
            <a:avLst/>
          </a:prstGeom>
          <a:noFill/>
          <a:ln/>
        </p:spPr>
        <p:txBody>
          <a:bodyPr wrap="square" lIns="0" tIns="0" rIns="0" bIns="0" rtlCol="0" anchor="t"/>
          <a:lstStyle/>
          <a:p>
            <a:pPr algn="ctr" indent="0" marL="0">
              <a:lnSpc>
                <a:spcPts val="2080"/>
              </a:lnSpc>
              <a:buNone/>
            </a:pPr>
            <a:r>
              <a:rPr lang="en-US" sz="1600" dirty="0">
                <a:solidFill>
                  <a:srgbClr val="F6F5F1"/>
                </a:solidFill>
                <a:latin typeface="Arial" pitchFamily="34" charset="0"/>
                <a:ea typeface="Arial" pitchFamily="34" charset="-122"/>
                <a:cs typeface="Arial" pitchFamily="34" charset="-120"/>
              </a:rPr>
              <a:t>Events</a:t>
            </a:r>
            <a:endParaRPr lang="en-US" sz="1600" dirty="0"/>
          </a:p>
          <a:p>
            <a:pPr algn="ctr" indent="0" marL="0">
              <a:lnSpc>
                <a:spcPts val="2080"/>
              </a:lnSpc>
              <a:buNone/>
            </a:pPr>
            <a:r>
              <a:rPr lang="en-US" sz="1600" i="1" dirty="0">
                <a:solidFill>
                  <a:srgbClr val="F6F5F1"/>
                </a:solidFill>
                <a:latin typeface="Arial" pitchFamily="34" charset="0"/>
                <a:ea typeface="Arial" pitchFamily="34" charset="-122"/>
                <a:cs typeface="Arial" pitchFamily="34" charset="-120"/>
              </a:rPr>
              <a:t>words</a:t>
            </a:r>
            <a:endParaRPr lang="en-US" sz="1600" dirty="0"/>
          </a:p>
        </p:txBody>
      </p:sp>
      <p:sp>
        <p:nvSpPr>
          <p:cNvPr id="6" name="Shape 4"/>
          <p:cNvSpPr/>
          <p:nvPr/>
        </p:nvSpPr>
        <p:spPr>
          <a:xfrm>
            <a:off x="3194050" y="3413720"/>
            <a:ext cx="279400" cy="139700"/>
          </a:xfrm>
          <a:prstGeom prst="rightArrow">
            <a:avLst/>
          </a:prstGeom>
          <a:solidFill>
            <a:srgbClr val="8DB8F2"/>
          </a:solidFill>
          <a:ln/>
        </p:spPr>
      </p:sp>
      <p:sp>
        <p:nvSpPr>
          <p:cNvPr id="7" name="Shape 5"/>
          <p:cNvSpPr/>
          <p:nvPr/>
        </p:nvSpPr>
        <p:spPr>
          <a:xfrm>
            <a:off x="3581400" y="3124200"/>
            <a:ext cx="2266950" cy="718741"/>
          </a:xfrm>
          <a:prstGeom prst="roundRect">
            <a:avLst>
              <a:gd name="adj" fmla="val 9718"/>
            </a:avLst>
          </a:prstGeom>
          <a:solidFill>
            <a:srgbClr val="1F2E4F"/>
          </a:solidFill>
          <a:ln w="12700">
            <a:solidFill>
              <a:srgbClr val="2E4270"/>
            </a:solidFill>
            <a:prstDash val="solid"/>
          </a:ln>
        </p:spPr>
      </p:sp>
      <p:sp>
        <p:nvSpPr>
          <p:cNvPr id="8" name="Text 6"/>
          <p:cNvSpPr txBox="1"/>
          <p:nvPr/>
        </p:nvSpPr>
        <p:spPr>
          <a:xfrm>
            <a:off x="3658822" y="3232150"/>
            <a:ext cx="2112105" cy="492720"/>
          </a:xfrm>
          <a:prstGeom prst="rect">
            <a:avLst/>
          </a:prstGeom>
          <a:noFill/>
          <a:ln/>
        </p:spPr>
        <p:txBody>
          <a:bodyPr wrap="square" lIns="0" tIns="0" rIns="0" bIns="0" rtlCol="0" anchor="t"/>
          <a:lstStyle/>
          <a:p>
            <a:pPr algn="ctr" indent="0" marL="0">
              <a:lnSpc>
                <a:spcPts val="2080"/>
              </a:lnSpc>
              <a:buNone/>
            </a:pPr>
            <a:r>
              <a:rPr lang="en-US" sz="1600" dirty="0">
                <a:solidFill>
                  <a:srgbClr val="F6F5F1"/>
                </a:solidFill>
                <a:latin typeface="Arial" pitchFamily="34" charset="0"/>
                <a:ea typeface="Arial" pitchFamily="34" charset="-122"/>
                <a:cs typeface="Arial" pitchFamily="34" charset="-120"/>
              </a:rPr>
              <a:t>Minutes</a:t>
            </a:r>
            <a:endParaRPr lang="en-US" sz="1600" dirty="0"/>
          </a:p>
          <a:p>
            <a:pPr algn="ctr" indent="0" marL="0">
              <a:lnSpc>
                <a:spcPts val="2080"/>
              </a:lnSpc>
              <a:buNone/>
            </a:pPr>
            <a:r>
              <a:rPr lang="en-US" sz="1600" i="1" dirty="0">
                <a:solidFill>
                  <a:srgbClr val="F6F5F1"/>
                </a:solidFill>
                <a:latin typeface="Arial" pitchFamily="34" charset="0"/>
                <a:ea typeface="Arial" pitchFamily="34" charset="-122"/>
                <a:cs typeface="Arial" pitchFamily="34" charset="-120"/>
              </a:rPr>
              <a:t>sentences</a:t>
            </a:r>
            <a:endParaRPr lang="en-US" sz="1600" dirty="0"/>
          </a:p>
        </p:txBody>
      </p:sp>
      <p:sp>
        <p:nvSpPr>
          <p:cNvPr id="9" name="Shape 7"/>
          <p:cNvSpPr/>
          <p:nvPr/>
        </p:nvSpPr>
        <p:spPr>
          <a:xfrm>
            <a:off x="5956300" y="3413720"/>
            <a:ext cx="279400" cy="139700"/>
          </a:xfrm>
          <a:prstGeom prst="rightArrow">
            <a:avLst/>
          </a:prstGeom>
          <a:solidFill>
            <a:srgbClr val="8DB8F2"/>
          </a:solidFill>
          <a:ln/>
        </p:spPr>
      </p:sp>
      <p:sp>
        <p:nvSpPr>
          <p:cNvPr id="10" name="Shape 8"/>
          <p:cNvSpPr/>
          <p:nvPr/>
        </p:nvSpPr>
        <p:spPr>
          <a:xfrm>
            <a:off x="6343650" y="3124200"/>
            <a:ext cx="2266950" cy="718741"/>
          </a:xfrm>
          <a:prstGeom prst="roundRect">
            <a:avLst>
              <a:gd name="adj" fmla="val 9718"/>
            </a:avLst>
          </a:prstGeom>
          <a:solidFill>
            <a:srgbClr val="1F2E4F"/>
          </a:solidFill>
          <a:ln w="12700">
            <a:solidFill>
              <a:srgbClr val="2E4270"/>
            </a:solidFill>
            <a:prstDash val="solid"/>
          </a:ln>
        </p:spPr>
      </p:sp>
      <p:sp>
        <p:nvSpPr>
          <p:cNvPr id="11" name="Text 9"/>
          <p:cNvSpPr txBox="1"/>
          <p:nvPr/>
        </p:nvSpPr>
        <p:spPr>
          <a:xfrm>
            <a:off x="6421072" y="3232150"/>
            <a:ext cx="2112105" cy="492720"/>
          </a:xfrm>
          <a:prstGeom prst="rect">
            <a:avLst/>
          </a:prstGeom>
          <a:noFill/>
          <a:ln/>
        </p:spPr>
        <p:txBody>
          <a:bodyPr wrap="square" lIns="0" tIns="0" rIns="0" bIns="0" rtlCol="0" anchor="t"/>
          <a:lstStyle/>
          <a:p>
            <a:pPr algn="ctr" indent="0" marL="0">
              <a:lnSpc>
                <a:spcPts val="2080"/>
              </a:lnSpc>
              <a:buNone/>
            </a:pPr>
            <a:r>
              <a:rPr lang="en-US" sz="1600" dirty="0">
                <a:solidFill>
                  <a:srgbClr val="F6F5F1"/>
                </a:solidFill>
                <a:latin typeface="Arial" pitchFamily="34" charset="0"/>
                <a:ea typeface="Arial" pitchFamily="34" charset="-122"/>
                <a:cs typeface="Arial" pitchFamily="34" charset="-120"/>
              </a:rPr>
              <a:t>Hours</a:t>
            </a:r>
            <a:endParaRPr lang="en-US" sz="1600" dirty="0"/>
          </a:p>
          <a:p>
            <a:pPr algn="ctr" indent="0" marL="0">
              <a:lnSpc>
                <a:spcPts val="2080"/>
              </a:lnSpc>
              <a:buNone/>
            </a:pPr>
            <a:r>
              <a:rPr lang="en-US" sz="1600" i="1" dirty="0">
                <a:solidFill>
                  <a:srgbClr val="F6F5F1"/>
                </a:solidFill>
                <a:latin typeface="Arial" pitchFamily="34" charset="0"/>
                <a:ea typeface="Arial" pitchFamily="34" charset="-122"/>
                <a:cs typeface="Arial" pitchFamily="34" charset="-120"/>
              </a:rPr>
              <a:t>the story</a:t>
            </a:r>
            <a:endParaRPr lang="en-US" sz="1600" dirty="0"/>
          </a:p>
        </p:txBody>
      </p:sp>
      <p:sp>
        <p:nvSpPr>
          <p:cNvPr id="12" name="Shape 10"/>
          <p:cNvSpPr/>
          <p:nvPr/>
        </p:nvSpPr>
        <p:spPr>
          <a:xfrm>
            <a:off x="8718550" y="3413720"/>
            <a:ext cx="279400" cy="139700"/>
          </a:xfrm>
          <a:prstGeom prst="rightArrow">
            <a:avLst/>
          </a:prstGeom>
          <a:solidFill>
            <a:srgbClr val="8DB8F2"/>
          </a:solidFill>
          <a:ln/>
        </p:spPr>
      </p:sp>
      <p:sp>
        <p:nvSpPr>
          <p:cNvPr id="13" name="Shape 11"/>
          <p:cNvSpPr/>
          <p:nvPr/>
        </p:nvSpPr>
        <p:spPr>
          <a:xfrm>
            <a:off x="9105900" y="3124200"/>
            <a:ext cx="2266950" cy="718741"/>
          </a:xfrm>
          <a:prstGeom prst="roundRect">
            <a:avLst>
              <a:gd name="adj" fmla="val 9718"/>
            </a:avLst>
          </a:prstGeom>
          <a:solidFill>
            <a:srgbClr val="1F2E4F"/>
          </a:solidFill>
          <a:ln w="12700">
            <a:solidFill>
              <a:srgbClr val="2E4270"/>
            </a:solidFill>
            <a:prstDash val="solid"/>
          </a:ln>
        </p:spPr>
      </p:sp>
      <p:sp>
        <p:nvSpPr>
          <p:cNvPr id="14" name="Text 12"/>
          <p:cNvSpPr txBox="1"/>
          <p:nvPr/>
        </p:nvSpPr>
        <p:spPr>
          <a:xfrm>
            <a:off x="9183322" y="3232150"/>
            <a:ext cx="2112105" cy="492720"/>
          </a:xfrm>
          <a:prstGeom prst="rect">
            <a:avLst/>
          </a:prstGeom>
          <a:noFill/>
          <a:ln/>
        </p:spPr>
        <p:txBody>
          <a:bodyPr wrap="square" lIns="0" tIns="0" rIns="0" bIns="0" rtlCol="0" anchor="t"/>
          <a:lstStyle/>
          <a:p>
            <a:pPr algn="ctr" indent="0" marL="0">
              <a:lnSpc>
                <a:spcPts val="2080"/>
              </a:lnSpc>
              <a:buNone/>
            </a:pPr>
            <a:r>
              <a:rPr lang="en-US" sz="1600" dirty="0">
                <a:solidFill>
                  <a:srgbClr val="F6F5F1"/>
                </a:solidFill>
                <a:latin typeface="Arial" pitchFamily="34" charset="0"/>
                <a:ea typeface="Arial" pitchFamily="34" charset="-122"/>
                <a:cs typeface="Arial" pitchFamily="34" charset="-120"/>
              </a:rPr>
              <a:t>Days and weeks</a:t>
            </a:r>
            <a:endParaRPr lang="en-US" sz="1600" dirty="0"/>
          </a:p>
          <a:p>
            <a:pPr algn="ctr" indent="0" marL="0">
              <a:lnSpc>
                <a:spcPts val="2080"/>
              </a:lnSpc>
              <a:buNone/>
            </a:pPr>
            <a:r>
              <a:rPr lang="en-US" sz="1600" i="1" dirty="0">
                <a:solidFill>
                  <a:srgbClr val="F6F5F1"/>
                </a:solidFill>
                <a:latin typeface="Arial" pitchFamily="34" charset="0"/>
                <a:ea typeface="Arial" pitchFamily="34" charset="-122"/>
                <a:cs typeface="Arial" pitchFamily="34" charset="-120"/>
              </a:rPr>
              <a:t>chapters</a:t>
            </a:r>
            <a:endParaRPr lang="en-US" sz="1600" dirty="0"/>
          </a:p>
        </p:txBody>
      </p:sp>
      <p:sp>
        <p:nvSpPr>
          <p:cNvPr id="15" name="Text 13"/>
          <p:cNvSpPr txBox="1"/>
          <p:nvPr/>
        </p:nvSpPr>
        <p:spPr>
          <a:xfrm>
            <a:off x="812800" y="5473700"/>
            <a:ext cx="10670032" cy="742950"/>
          </a:xfrm>
          <a:prstGeom prst="rect">
            <a:avLst/>
          </a:prstGeom>
          <a:noFill/>
          <a:ln/>
        </p:spPr>
        <p:txBody>
          <a:bodyPr wrap="square" lIns="0" tIns="0" rIns="0" bIns="0" rtlCol="0" anchor="t"/>
          <a:lstStyle/>
          <a:p>
            <a:pPr algn="l" indent="0" marL="0">
              <a:lnSpc>
                <a:spcPts val="2100"/>
              </a:lnSpc>
              <a:buNone/>
            </a:pPr>
            <a:r>
              <a:rPr lang="en-US" sz="1500" dirty="0">
                <a:solidFill>
                  <a:srgbClr val="C5CFDD"/>
                </a:solidFill>
                <a:latin typeface="Arial" pitchFamily="34" charset="0"/>
                <a:ea typeface="Arial" pitchFamily="34" charset="-122"/>
                <a:cs typeface="Arial" pitchFamily="34" charset="-120"/>
              </a:rPr>
              <a:t>Each event becomes a card of four facts, each minute one summary vector, minutes are read in order for hours of context, and daily summaries cover weeks. Side branches zoom back into single events (next event, surprise) and single devices (health).</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HomeFM model: four blocks and two side branches</a:t>
            </a:r>
            <a:endParaRPr lang="en-US" sz="2800" dirty="0"/>
          </a:p>
        </p:txBody>
      </p:sp>
      <p:sp>
        <p:nvSpPr>
          <p:cNvPr id="4" name="Shape 2"/>
          <p:cNvSpPr/>
          <p:nvPr/>
        </p:nvSpPr>
        <p:spPr>
          <a:xfrm>
            <a:off x="819150" y="1464270"/>
            <a:ext cx="2527300" cy="388541"/>
          </a:xfrm>
          <a:prstGeom prst="roundRect">
            <a:avLst>
              <a:gd name="adj" fmla="val 17978"/>
            </a:avLst>
          </a:prstGeom>
          <a:solidFill>
            <a:srgbClr val="E6EEF8"/>
          </a:solidFill>
          <a:ln w="12700">
            <a:solidFill>
              <a:srgbClr val="B9CDE8"/>
            </a:solidFill>
            <a:prstDash val="solid"/>
          </a:ln>
        </p:spPr>
      </p:sp>
      <p:sp>
        <p:nvSpPr>
          <p:cNvPr id="5" name="Text 3"/>
          <p:cNvSpPr txBox="1"/>
          <p:nvPr/>
        </p:nvSpPr>
        <p:spPr>
          <a:xfrm>
            <a:off x="895922" y="1572220"/>
            <a:ext cx="2373757"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What: device sentence</a:t>
            </a:r>
            <a:endParaRPr lang="en-US" sz="1200" dirty="0"/>
          </a:p>
        </p:txBody>
      </p:sp>
      <p:sp>
        <p:nvSpPr>
          <p:cNvPr id="6" name="Shape 4"/>
          <p:cNvSpPr/>
          <p:nvPr/>
        </p:nvSpPr>
        <p:spPr>
          <a:xfrm>
            <a:off x="819150" y="1929011"/>
            <a:ext cx="2527300" cy="388541"/>
          </a:xfrm>
          <a:prstGeom prst="roundRect">
            <a:avLst>
              <a:gd name="adj" fmla="val 17978"/>
            </a:avLst>
          </a:prstGeom>
          <a:solidFill>
            <a:srgbClr val="E6EEF8"/>
          </a:solidFill>
          <a:ln w="12700">
            <a:solidFill>
              <a:srgbClr val="B9CDE8"/>
            </a:solidFill>
            <a:prstDash val="solid"/>
          </a:ln>
        </p:spPr>
      </p:sp>
      <p:sp>
        <p:nvSpPr>
          <p:cNvPr id="7" name="Text 5"/>
          <p:cNvSpPr txBox="1"/>
          <p:nvPr/>
        </p:nvSpPr>
        <p:spPr>
          <a:xfrm>
            <a:off x="895922" y="2036961"/>
            <a:ext cx="2373757"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Value: state + number</a:t>
            </a:r>
            <a:endParaRPr lang="en-US" sz="1200" dirty="0"/>
          </a:p>
        </p:txBody>
      </p:sp>
      <p:sp>
        <p:nvSpPr>
          <p:cNvPr id="8" name="Shape 6"/>
          <p:cNvSpPr/>
          <p:nvPr/>
        </p:nvSpPr>
        <p:spPr>
          <a:xfrm>
            <a:off x="819150" y="2393752"/>
            <a:ext cx="2527300" cy="388541"/>
          </a:xfrm>
          <a:prstGeom prst="roundRect">
            <a:avLst>
              <a:gd name="adj" fmla="val 17978"/>
            </a:avLst>
          </a:prstGeom>
          <a:solidFill>
            <a:srgbClr val="E6EEF8"/>
          </a:solidFill>
          <a:ln w="12700">
            <a:solidFill>
              <a:srgbClr val="B9CDE8"/>
            </a:solidFill>
            <a:prstDash val="solid"/>
          </a:ln>
        </p:spPr>
      </p:sp>
      <p:sp>
        <p:nvSpPr>
          <p:cNvPr id="9" name="Text 7"/>
          <p:cNvSpPr txBox="1"/>
          <p:nvPr/>
        </p:nvSpPr>
        <p:spPr>
          <a:xfrm>
            <a:off x="895922" y="2501702"/>
            <a:ext cx="2373757"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When: time + gaps</a:t>
            </a:r>
            <a:endParaRPr lang="en-US" sz="1200" dirty="0"/>
          </a:p>
        </p:txBody>
      </p:sp>
      <p:sp>
        <p:nvSpPr>
          <p:cNvPr id="10" name="Shape 8"/>
          <p:cNvSpPr/>
          <p:nvPr/>
        </p:nvSpPr>
        <p:spPr>
          <a:xfrm>
            <a:off x="819150" y="2858492"/>
            <a:ext cx="2527300" cy="388541"/>
          </a:xfrm>
          <a:prstGeom prst="roundRect">
            <a:avLst>
              <a:gd name="adj" fmla="val 17978"/>
            </a:avLst>
          </a:prstGeom>
          <a:solidFill>
            <a:srgbClr val="E6EEF8"/>
          </a:solidFill>
          <a:ln w="12700">
            <a:solidFill>
              <a:srgbClr val="B9CDE8"/>
            </a:solidFill>
            <a:prstDash val="solid"/>
          </a:ln>
        </p:spPr>
      </p:sp>
      <p:sp>
        <p:nvSpPr>
          <p:cNvPr id="11" name="Text 9"/>
          <p:cNvSpPr txBox="1"/>
          <p:nvPr/>
        </p:nvSpPr>
        <p:spPr>
          <a:xfrm>
            <a:off x="895922" y="2966442"/>
            <a:ext cx="2373757"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Meta: type + confidence</a:t>
            </a:r>
            <a:endParaRPr lang="en-US" sz="1200" dirty="0"/>
          </a:p>
        </p:txBody>
      </p:sp>
      <p:sp>
        <p:nvSpPr>
          <p:cNvPr id="12" name="Shape 10"/>
          <p:cNvSpPr/>
          <p:nvPr/>
        </p:nvSpPr>
        <p:spPr>
          <a:xfrm>
            <a:off x="3429000" y="2285802"/>
            <a:ext cx="279400" cy="139700"/>
          </a:xfrm>
          <a:prstGeom prst="rightArrow">
            <a:avLst/>
          </a:prstGeom>
          <a:solidFill>
            <a:srgbClr val="9AA3B2"/>
          </a:solidFill>
          <a:ln/>
        </p:spPr>
      </p:sp>
      <p:sp>
        <p:nvSpPr>
          <p:cNvPr id="13" name="Shape 11"/>
          <p:cNvSpPr/>
          <p:nvPr/>
        </p:nvSpPr>
        <p:spPr>
          <a:xfrm>
            <a:off x="3790950" y="2062361"/>
            <a:ext cx="1562100" cy="586581"/>
          </a:xfrm>
          <a:prstGeom prst="roundRect">
            <a:avLst>
              <a:gd name="adj" fmla="val 11908"/>
            </a:avLst>
          </a:prstGeom>
          <a:solidFill>
            <a:srgbClr val="FDFCFA"/>
          </a:solidFill>
          <a:ln w="12700">
            <a:solidFill>
              <a:srgbClr val="E3E0D7"/>
            </a:solidFill>
            <a:prstDash val="solid"/>
          </a:ln>
        </p:spPr>
      </p:sp>
      <p:sp>
        <p:nvSpPr>
          <p:cNvPr id="14" name="Text 12"/>
          <p:cNvSpPr txBox="1"/>
          <p:nvPr/>
        </p:nvSpPr>
        <p:spPr>
          <a:xfrm>
            <a:off x="3870135" y="2170311"/>
            <a:ext cx="1403731"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Attribute fusion</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 event vector</a:t>
            </a:r>
            <a:endParaRPr lang="en-US" sz="1200" dirty="0"/>
          </a:p>
        </p:txBody>
      </p:sp>
      <p:sp>
        <p:nvSpPr>
          <p:cNvPr id="15" name="Shape 13"/>
          <p:cNvSpPr/>
          <p:nvPr/>
        </p:nvSpPr>
        <p:spPr>
          <a:xfrm>
            <a:off x="5435600" y="2285802"/>
            <a:ext cx="279400" cy="139700"/>
          </a:xfrm>
          <a:prstGeom prst="rightArrow">
            <a:avLst/>
          </a:prstGeom>
          <a:solidFill>
            <a:srgbClr val="9AA3B2"/>
          </a:solidFill>
          <a:ln/>
        </p:spPr>
      </p:sp>
      <p:sp>
        <p:nvSpPr>
          <p:cNvPr id="16" name="Shape 14"/>
          <p:cNvSpPr/>
          <p:nvPr/>
        </p:nvSpPr>
        <p:spPr>
          <a:xfrm>
            <a:off x="5797550" y="1864320"/>
            <a:ext cx="1562100" cy="982662"/>
          </a:xfrm>
          <a:prstGeom prst="roundRect">
            <a:avLst>
              <a:gd name="adj" fmla="val 7108"/>
            </a:avLst>
          </a:prstGeom>
          <a:solidFill>
            <a:srgbClr val="FDFCFA"/>
          </a:solidFill>
          <a:ln w="12700">
            <a:solidFill>
              <a:srgbClr val="E3E0D7"/>
            </a:solidFill>
            <a:prstDash val="solid"/>
          </a:ln>
        </p:spPr>
      </p:sp>
      <p:sp>
        <p:nvSpPr>
          <p:cNvPr id="17" name="Text 15"/>
          <p:cNvSpPr txBox="1"/>
          <p:nvPr/>
        </p:nvSpPr>
        <p:spPr>
          <a:xfrm>
            <a:off x="5876735" y="1972270"/>
            <a:ext cx="1403731" cy="765572"/>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L1 Moment encoder</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events → 1 vector per minute</a:t>
            </a:r>
            <a:endParaRPr lang="en-US" sz="1200" dirty="0"/>
          </a:p>
        </p:txBody>
      </p:sp>
      <p:sp>
        <p:nvSpPr>
          <p:cNvPr id="18" name="Shape 16"/>
          <p:cNvSpPr/>
          <p:nvPr/>
        </p:nvSpPr>
        <p:spPr>
          <a:xfrm>
            <a:off x="7442200" y="2285802"/>
            <a:ext cx="279400" cy="139700"/>
          </a:xfrm>
          <a:prstGeom prst="rightArrow">
            <a:avLst/>
          </a:prstGeom>
          <a:solidFill>
            <a:srgbClr val="9AA3B2"/>
          </a:solidFill>
          <a:ln/>
        </p:spPr>
      </p:sp>
      <p:sp>
        <p:nvSpPr>
          <p:cNvPr id="19" name="Shape 17"/>
          <p:cNvSpPr/>
          <p:nvPr/>
        </p:nvSpPr>
        <p:spPr>
          <a:xfrm>
            <a:off x="7804150" y="1963341"/>
            <a:ext cx="1562100" cy="784622"/>
          </a:xfrm>
          <a:prstGeom prst="roundRect">
            <a:avLst>
              <a:gd name="adj" fmla="val 8902"/>
            </a:avLst>
          </a:prstGeom>
          <a:solidFill>
            <a:srgbClr val="FDFCFA"/>
          </a:solidFill>
          <a:ln w="12700">
            <a:solidFill>
              <a:srgbClr val="E3E0D7"/>
            </a:solidFill>
            <a:prstDash val="solid"/>
          </a:ln>
        </p:spPr>
      </p:sp>
      <p:sp>
        <p:nvSpPr>
          <p:cNvPr id="20" name="Text 18"/>
          <p:cNvSpPr txBox="1"/>
          <p:nvPr/>
        </p:nvSpPr>
        <p:spPr>
          <a:xfrm>
            <a:off x="7883335" y="2071291"/>
            <a:ext cx="1403731"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L2 Stream transformer</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live or look-back</a:t>
            </a:r>
            <a:endParaRPr lang="en-US" sz="1200" dirty="0"/>
          </a:p>
        </p:txBody>
      </p:sp>
      <p:sp>
        <p:nvSpPr>
          <p:cNvPr id="21" name="Shape 19"/>
          <p:cNvSpPr/>
          <p:nvPr/>
        </p:nvSpPr>
        <p:spPr>
          <a:xfrm>
            <a:off x="9448800" y="2285802"/>
            <a:ext cx="279400" cy="139700"/>
          </a:xfrm>
          <a:prstGeom prst="rightArrow">
            <a:avLst/>
          </a:prstGeom>
          <a:solidFill>
            <a:srgbClr val="9AA3B2"/>
          </a:solidFill>
          <a:ln/>
        </p:spPr>
      </p:sp>
      <p:sp>
        <p:nvSpPr>
          <p:cNvPr id="22" name="Shape 20"/>
          <p:cNvSpPr/>
          <p:nvPr/>
        </p:nvSpPr>
        <p:spPr>
          <a:xfrm>
            <a:off x="9810750" y="1963341"/>
            <a:ext cx="1562100" cy="784622"/>
          </a:xfrm>
          <a:prstGeom prst="roundRect">
            <a:avLst>
              <a:gd name="adj" fmla="val 8902"/>
            </a:avLst>
          </a:prstGeom>
          <a:solidFill>
            <a:srgbClr val="FDFCFA"/>
          </a:solidFill>
          <a:ln w="12700">
            <a:solidFill>
              <a:srgbClr val="E3E0D7"/>
            </a:solidFill>
            <a:prstDash val="solid"/>
          </a:ln>
        </p:spPr>
      </p:sp>
      <p:sp>
        <p:nvSpPr>
          <p:cNvPr id="23" name="Text 21"/>
          <p:cNvSpPr txBox="1"/>
          <p:nvPr/>
        </p:nvSpPr>
        <p:spPr>
          <a:xfrm>
            <a:off x="9889935" y="2071291"/>
            <a:ext cx="1403731"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Heads</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tagger · start/end · people · search</a:t>
            </a:r>
            <a:endParaRPr lang="en-US" sz="1200" dirty="0"/>
          </a:p>
        </p:txBody>
      </p:sp>
      <p:sp>
        <p:nvSpPr>
          <p:cNvPr id="24" name="Shape 22"/>
          <p:cNvSpPr/>
          <p:nvPr/>
        </p:nvSpPr>
        <p:spPr>
          <a:xfrm>
            <a:off x="819150" y="3437533"/>
            <a:ext cx="3407866" cy="1617861"/>
          </a:xfrm>
          <a:prstGeom prst="roundRect">
            <a:avLst>
              <a:gd name="adj" fmla="val 5887"/>
            </a:avLst>
          </a:prstGeom>
          <a:solidFill>
            <a:srgbClr val="FDFCFA"/>
          </a:solidFill>
          <a:ln w="12700">
            <a:solidFill>
              <a:srgbClr val="E3E0D7"/>
            </a:solidFill>
            <a:prstDash val="solid"/>
          </a:ln>
        </p:spPr>
      </p:sp>
      <p:sp>
        <p:nvSpPr>
          <p:cNvPr id="25" name="Shape 23"/>
          <p:cNvSpPr/>
          <p:nvPr/>
        </p:nvSpPr>
        <p:spPr>
          <a:xfrm>
            <a:off x="1003300" y="3621683"/>
            <a:ext cx="541834" cy="254000"/>
          </a:xfrm>
          <a:prstGeom prst="roundRect">
            <a:avLst>
              <a:gd name="adj" fmla="val 50000"/>
            </a:avLst>
          </a:prstGeom>
          <a:solidFill>
            <a:srgbClr val="E3F0E7"/>
          </a:solidFill>
          <a:ln/>
        </p:spPr>
      </p:sp>
      <p:sp>
        <p:nvSpPr>
          <p:cNvPr id="26" name="Text 24"/>
          <p:cNvSpPr txBox="1"/>
          <p:nvPr/>
        </p:nvSpPr>
        <p:spPr>
          <a:xfrm>
            <a:off x="1104900" y="3659783"/>
            <a:ext cx="391127" cy="175260"/>
          </a:xfrm>
          <a:prstGeom prst="rect">
            <a:avLst/>
          </a:prstGeom>
          <a:noFill/>
          <a:ln/>
        </p:spPr>
        <p:txBody>
          <a:bodyPr wrap="square" lIns="0" tIns="0" rIns="0" bIns="0" rtlCol="0" anchor="t"/>
          <a:lstStyle/>
          <a:p>
            <a:pPr algn="l" indent="0" marL="0">
              <a:lnSpc>
                <a:spcPts val="1380"/>
              </a:lnSpc>
              <a:buNone/>
            </a:pPr>
            <a:r>
              <a:rPr lang="en-US" sz="1200" b="1" dirty="0">
                <a:solidFill>
                  <a:srgbClr val="2F6B45"/>
                </a:solidFill>
                <a:latin typeface="Arial" pitchFamily="34" charset="0"/>
                <a:ea typeface="Arial" pitchFamily="34" charset="-122"/>
                <a:cs typeface="Arial" pitchFamily="34" charset="-120"/>
              </a:rPr>
              <a:t>Built</a:t>
            </a:r>
            <a:endParaRPr lang="en-US" sz="1200" dirty="0"/>
          </a:p>
        </p:txBody>
      </p:sp>
      <p:sp>
        <p:nvSpPr>
          <p:cNvPr id="27" name="Text 25"/>
          <p:cNvSpPr txBox="1"/>
          <p:nvPr/>
        </p:nvSpPr>
        <p:spPr>
          <a:xfrm>
            <a:off x="1003300" y="3945533"/>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Event read-out</a:t>
            </a:r>
            <a:endParaRPr lang="en-US" sz="1500" dirty="0"/>
          </a:p>
        </p:txBody>
      </p:sp>
      <p:sp>
        <p:nvSpPr>
          <p:cNvPr id="28" name="Text 26"/>
          <p:cNvSpPr txBox="1"/>
          <p:nvPr/>
        </p:nvSpPr>
        <p:spPr>
          <a:xfrm>
            <a:off x="1003300" y="4250333"/>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 small transformer back over single events, using the previous minute's context: next event and surprise.</a:t>
            </a:r>
            <a:endParaRPr lang="en-US" sz="1200" dirty="0"/>
          </a:p>
        </p:txBody>
      </p:sp>
      <p:sp>
        <p:nvSpPr>
          <p:cNvPr id="29" name="Shape 27"/>
          <p:cNvSpPr/>
          <p:nvPr/>
        </p:nvSpPr>
        <p:spPr>
          <a:xfrm>
            <a:off x="4392116" y="3437533"/>
            <a:ext cx="3407866" cy="1617861"/>
          </a:xfrm>
          <a:prstGeom prst="roundRect">
            <a:avLst>
              <a:gd name="adj" fmla="val 5887"/>
            </a:avLst>
          </a:prstGeom>
          <a:solidFill>
            <a:srgbClr val="FDFCFA"/>
          </a:solidFill>
          <a:ln w="12700">
            <a:solidFill>
              <a:srgbClr val="E3E0D7"/>
            </a:solidFill>
            <a:prstDash val="solid"/>
          </a:ln>
        </p:spPr>
      </p:sp>
      <p:sp>
        <p:nvSpPr>
          <p:cNvPr id="30" name="Shape 28"/>
          <p:cNvSpPr/>
          <p:nvPr/>
        </p:nvSpPr>
        <p:spPr>
          <a:xfrm>
            <a:off x="4576266" y="3621683"/>
            <a:ext cx="889198" cy="254000"/>
          </a:xfrm>
          <a:prstGeom prst="roundRect">
            <a:avLst>
              <a:gd name="adj" fmla="val 50000"/>
            </a:avLst>
          </a:prstGeom>
          <a:solidFill>
            <a:srgbClr val="FBEBDD"/>
          </a:solidFill>
          <a:ln/>
        </p:spPr>
      </p:sp>
      <p:sp>
        <p:nvSpPr>
          <p:cNvPr id="31" name="Text 29"/>
          <p:cNvSpPr txBox="1"/>
          <p:nvPr/>
        </p:nvSpPr>
        <p:spPr>
          <a:xfrm>
            <a:off x="4677866" y="3659783"/>
            <a:ext cx="740228"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Designed</a:t>
            </a:r>
            <a:endParaRPr lang="en-US" sz="1200" dirty="0"/>
          </a:p>
        </p:txBody>
      </p:sp>
      <p:sp>
        <p:nvSpPr>
          <p:cNvPr id="32" name="Text 30"/>
          <p:cNvSpPr txBox="1"/>
          <p:nvPr/>
        </p:nvSpPr>
        <p:spPr>
          <a:xfrm>
            <a:off x="4576266" y="3945533"/>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L3 Daily memory</a:t>
            </a:r>
            <a:endParaRPr lang="en-US" sz="1500" dirty="0"/>
          </a:p>
        </p:txBody>
      </p:sp>
      <p:sp>
        <p:nvSpPr>
          <p:cNvPr id="33" name="Text 31"/>
          <p:cNvSpPr txBox="1"/>
          <p:nvPr/>
        </p:nvSpPr>
        <p:spPr>
          <a:xfrm>
            <a:off x="4576266" y="4250333"/>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 few summary tokens per day; a small transformer over weeks: routines and drift.</a:t>
            </a:r>
            <a:endParaRPr lang="en-US" sz="1200" dirty="0"/>
          </a:p>
        </p:txBody>
      </p:sp>
      <p:sp>
        <p:nvSpPr>
          <p:cNvPr id="34" name="Shape 32"/>
          <p:cNvSpPr/>
          <p:nvPr/>
        </p:nvSpPr>
        <p:spPr>
          <a:xfrm>
            <a:off x="7965083" y="3437533"/>
            <a:ext cx="3407866" cy="1617861"/>
          </a:xfrm>
          <a:prstGeom prst="roundRect">
            <a:avLst>
              <a:gd name="adj" fmla="val 5887"/>
            </a:avLst>
          </a:prstGeom>
          <a:solidFill>
            <a:srgbClr val="FDFCFA"/>
          </a:solidFill>
          <a:ln w="12700">
            <a:solidFill>
              <a:srgbClr val="E3E0D7"/>
            </a:solidFill>
            <a:prstDash val="solid"/>
          </a:ln>
        </p:spPr>
      </p:sp>
      <p:sp>
        <p:nvSpPr>
          <p:cNvPr id="35" name="Shape 33"/>
          <p:cNvSpPr/>
          <p:nvPr/>
        </p:nvSpPr>
        <p:spPr>
          <a:xfrm>
            <a:off x="8149233" y="3621683"/>
            <a:ext cx="889198" cy="254000"/>
          </a:xfrm>
          <a:prstGeom prst="roundRect">
            <a:avLst>
              <a:gd name="adj" fmla="val 50000"/>
            </a:avLst>
          </a:prstGeom>
          <a:solidFill>
            <a:srgbClr val="FBEBDD"/>
          </a:solidFill>
          <a:ln/>
        </p:spPr>
      </p:sp>
      <p:sp>
        <p:nvSpPr>
          <p:cNvPr id="36" name="Text 34"/>
          <p:cNvSpPr txBox="1"/>
          <p:nvPr/>
        </p:nvSpPr>
        <p:spPr>
          <a:xfrm>
            <a:off x="8250833" y="3659783"/>
            <a:ext cx="740228"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Designed</a:t>
            </a:r>
            <a:endParaRPr lang="en-US" sz="1200" dirty="0"/>
          </a:p>
        </p:txBody>
      </p:sp>
      <p:sp>
        <p:nvSpPr>
          <p:cNvPr id="37" name="Text 35"/>
          <p:cNvSpPr txBox="1"/>
          <p:nvPr/>
        </p:nvSpPr>
        <p:spPr>
          <a:xfrm>
            <a:off x="8149233" y="3945533"/>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Entity axis</a:t>
            </a:r>
            <a:endParaRPr lang="en-US" sz="1500" dirty="0"/>
          </a:p>
        </p:txBody>
      </p:sp>
      <p:sp>
        <p:nvSpPr>
          <p:cNvPr id="38" name="Text 36"/>
          <p:cNvSpPr txBox="1"/>
          <p:nvPr/>
        </p:nvSpPr>
        <p:spPr>
          <a:xfrm>
            <a:off x="8149233" y="4250333"/>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Each device's own timeline over time: a health vector per device, compared with its past and the fleet.</a:t>
            </a:r>
            <a:endParaRPr lang="en-US" sz="1200" dirty="0"/>
          </a:p>
        </p:txBody>
      </p:sp>
      <p:sp>
        <p:nvSpPr>
          <p:cNvPr id="39" name="Text 37"/>
          <p:cNvSpPr txBox="1"/>
          <p:nvPr/>
        </p:nvSpPr>
        <p:spPr>
          <a:xfrm>
            <a:off x="812800" y="5258594"/>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Built: fusion, moment encoder, stream transformer (both modes), event read-out, next-event head. HomeFM is </a:t>
            </a:r>
            <a:pPr algn="l" indent="0" marL="0">
              <a:lnSpc>
                <a:spcPts val="1680"/>
              </a:lnSpc>
              <a:buNone/>
            </a:pPr>
            <a:r>
              <a:rPr lang="en-US" sz="1200" b="1" dirty="0">
                <a:solidFill>
                  <a:srgbClr val="5B6472"/>
                </a:solidFill>
                <a:latin typeface="Arial" pitchFamily="34" charset="0"/>
                <a:ea typeface="Arial" pitchFamily="34" charset="-122"/>
                <a:cs typeface="Arial" pitchFamily="34" charset="-120"/>
              </a:rPr>
              <a:t>encoder-only</a:t>
            </a:r>
            <a:pPr algn="l" indent="0" marL="0">
              <a:lnSpc>
                <a:spcPts val="1680"/>
              </a:lnSpc>
              <a:buNone/>
            </a:pPr>
            <a:r>
              <a:rPr lang="en-US" sz="1200" dirty="0">
                <a:solidFill>
                  <a:srgbClr val="5B6472"/>
                </a:solidFill>
                <a:latin typeface="Arial" pitchFamily="34" charset="0"/>
                <a:ea typeface="Arial" pitchFamily="34" charset="-122"/>
                <a:cs typeface="Arial" pitchFamily="34" charset="-120"/>
              </a:rPr>
              <a:t>; the only decoder is the LLM agent, outside the model.</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Home Token: one format for every signal</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17835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Field</a:t>
            </a:r>
            <a:endParaRPr lang="en-US" sz="1200" dirty="0"/>
          </a:p>
        </p:txBody>
      </p:sp>
      <p:sp>
        <p:nvSpPr>
          <p:cNvPr id="6" name="Text 4"/>
          <p:cNvSpPr txBox="1"/>
          <p:nvPr/>
        </p:nvSpPr>
        <p:spPr>
          <a:xfrm>
            <a:off x="2803624" y="1521420"/>
            <a:ext cx="220833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Type</a:t>
            </a:r>
            <a:endParaRPr lang="en-US" sz="1200" dirty="0"/>
          </a:p>
        </p:txBody>
      </p:sp>
      <p:sp>
        <p:nvSpPr>
          <p:cNvPr id="7" name="Text 5"/>
          <p:cNvSpPr txBox="1"/>
          <p:nvPr/>
        </p:nvSpPr>
        <p:spPr>
          <a:xfrm>
            <a:off x="5128220" y="1521420"/>
            <a:ext cx="624369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Meaning</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ts</a:t>
            </a:r>
            <a:endParaRPr lang="en-US" sz="1200" dirty="0"/>
          </a:p>
        </p:txBody>
      </p:sp>
      <p:sp>
        <p:nvSpPr>
          <p:cNvPr id="10" name="Text 8"/>
          <p:cNvSpPr txBox="1"/>
          <p:nvPr/>
        </p:nvSpPr>
        <p:spPr>
          <a:xfrm>
            <a:off x="2803624" y="1826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float, unix seconds</a:t>
            </a:r>
            <a:endParaRPr lang="en-US" sz="1200" dirty="0"/>
          </a:p>
        </p:txBody>
      </p:sp>
      <p:sp>
        <p:nvSpPr>
          <p:cNvPr id="11" name="Text 9"/>
          <p:cNvSpPr txBox="1"/>
          <p:nvPr/>
        </p:nvSpPr>
        <p:spPr>
          <a:xfrm>
            <a:off x="5128220" y="18262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Event time; the home's timezone is stored separately</a:t>
            </a:r>
            <a:endParaRPr lang="en-US" sz="1200" dirty="0"/>
          </a:p>
        </p:txBody>
      </p:sp>
      <p:sp>
        <p:nvSpPr>
          <p:cNvPr id="12" name="Shape 10"/>
          <p:cNvSpPr/>
          <p:nvPr/>
        </p:nvSpPr>
        <p:spPr>
          <a:xfrm>
            <a:off x="812800" y="2067520"/>
            <a:ext cx="10566400" cy="304800"/>
          </a:xfrm>
          <a:prstGeom prst="rect">
            <a:avLst/>
          </a:prstGeom>
          <a:solidFill>
            <a:srgbClr val="F6F5F1"/>
          </a:solidFill>
          <a:ln/>
        </p:spPr>
      </p:sp>
      <p:sp>
        <p:nvSpPr>
          <p:cNvPr id="13" name="Text 11"/>
          <p:cNvSpPr txBox="1"/>
          <p:nvPr/>
        </p:nvSpPr>
        <p:spPr>
          <a:xfrm>
            <a:off x="901700" y="2131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home_id</a:t>
            </a:r>
            <a:endParaRPr lang="en-US" sz="1200" dirty="0"/>
          </a:p>
        </p:txBody>
      </p:sp>
      <p:sp>
        <p:nvSpPr>
          <p:cNvPr id="14" name="Text 12"/>
          <p:cNvSpPr txBox="1"/>
          <p:nvPr/>
        </p:nvSpPr>
        <p:spPr>
          <a:xfrm>
            <a:off x="2803624" y="2131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string</a:t>
            </a:r>
            <a:endParaRPr lang="en-US" sz="1200" dirty="0"/>
          </a:p>
        </p:txBody>
      </p:sp>
      <p:sp>
        <p:nvSpPr>
          <p:cNvPr id="15" name="Shape 13"/>
          <p:cNvSpPr/>
          <p:nvPr/>
        </p:nvSpPr>
        <p:spPr>
          <a:xfrm>
            <a:off x="812800" y="2372320"/>
            <a:ext cx="10566400" cy="304800"/>
          </a:xfrm>
          <a:prstGeom prst="rect">
            <a:avLst/>
          </a:prstGeom>
          <a:solidFill>
            <a:srgbClr val="FDFCFA"/>
          </a:solidFill>
          <a:ln/>
        </p:spPr>
      </p:sp>
      <p:sp>
        <p:nvSpPr>
          <p:cNvPr id="16" name="Text 14"/>
          <p:cNvSpPr txBox="1"/>
          <p:nvPr/>
        </p:nvSpPr>
        <p:spPr>
          <a:xfrm>
            <a:off x="901700" y="2435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entity</a:t>
            </a:r>
            <a:endParaRPr lang="en-US" sz="1200" dirty="0"/>
          </a:p>
        </p:txBody>
      </p:sp>
      <p:sp>
        <p:nvSpPr>
          <p:cNvPr id="17" name="Text 15"/>
          <p:cNvSpPr txBox="1"/>
          <p:nvPr/>
        </p:nvSpPr>
        <p:spPr>
          <a:xfrm>
            <a:off x="2803624" y="24358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Entity</a:t>
            </a:r>
            <a:endParaRPr lang="en-US" sz="1200" dirty="0"/>
          </a:p>
        </p:txBody>
      </p:sp>
      <p:sp>
        <p:nvSpPr>
          <p:cNvPr id="18" name="Text 16"/>
          <p:cNvSpPr txBox="1"/>
          <p:nvPr/>
        </p:nvSpPr>
        <p:spPr>
          <a:xfrm>
            <a:off x="5128220" y="24358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Points to a device registry row (item, room, type, capability)</a:t>
            </a:r>
            <a:endParaRPr lang="en-US" sz="1200" dirty="0"/>
          </a:p>
        </p:txBody>
      </p:sp>
      <p:sp>
        <p:nvSpPr>
          <p:cNvPr id="19" name="Shape 17"/>
          <p:cNvSpPr/>
          <p:nvPr/>
        </p:nvSpPr>
        <p:spPr>
          <a:xfrm>
            <a:off x="812800" y="2677120"/>
            <a:ext cx="10566400" cy="304800"/>
          </a:xfrm>
          <a:prstGeom prst="rect">
            <a:avLst/>
          </a:prstGeom>
          <a:solidFill>
            <a:srgbClr val="F6F5F1"/>
          </a:solidFill>
          <a:ln/>
        </p:spPr>
      </p:sp>
      <p:sp>
        <p:nvSpPr>
          <p:cNvPr id="20" name="Text 18"/>
          <p:cNvSpPr txBox="1"/>
          <p:nvPr/>
        </p:nvSpPr>
        <p:spPr>
          <a:xfrm>
            <a:off x="901700" y="27406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modality</a:t>
            </a:r>
            <a:endParaRPr lang="en-US" sz="1200" dirty="0"/>
          </a:p>
        </p:txBody>
      </p:sp>
      <p:sp>
        <p:nvSpPr>
          <p:cNvPr id="21" name="Text 19"/>
          <p:cNvSpPr txBox="1"/>
          <p:nvPr/>
        </p:nvSpPr>
        <p:spPr>
          <a:xfrm>
            <a:off x="2803624" y="27406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enum</a:t>
            </a:r>
            <a:endParaRPr lang="en-US" sz="1200" dirty="0"/>
          </a:p>
        </p:txBody>
      </p:sp>
      <p:sp>
        <p:nvSpPr>
          <p:cNvPr id="22" name="Text 20"/>
          <p:cNvSpPr txBox="1"/>
          <p:nvPr/>
        </p:nvSpPr>
        <p:spPr>
          <a:xfrm>
            <a:off x="5128220" y="27406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binary · scalar · audio_tag · vision_det · embedding</a:t>
            </a:r>
            <a:endParaRPr lang="en-US" sz="1200" dirty="0"/>
          </a:p>
        </p:txBody>
      </p:sp>
      <p:sp>
        <p:nvSpPr>
          <p:cNvPr id="23" name="Shape 21"/>
          <p:cNvSpPr/>
          <p:nvPr/>
        </p:nvSpPr>
        <p:spPr>
          <a:xfrm>
            <a:off x="812800" y="2981920"/>
            <a:ext cx="10566400" cy="304800"/>
          </a:xfrm>
          <a:prstGeom prst="rect">
            <a:avLst/>
          </a:prstGeom>
          <a:solidFill>
            <a:srgbClr val="FDFCFA"/>
          </a:solidFill>
          <a:ln/>
        </p:spPr>
      </p:sp>
      <p:sp>
        <p:nvSpPr>
          <p:cNvPr id="24" name="Text 22"/>
          <p:cNvSpPr txBox="1"/>
          <p:nvPr/>
        </p:nvSpPr>
        <p:spPr>
          <a:xfrm>
            <a:off x="901700" y="30454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state</a:t>
            </a:r>
            <a:endParaRPr lang="en-US" sz="1200" dirty="0"/>
          </a:p>
        </p:txBody>
      </p:sp>
      <p:sp>
        <p:nvSpPr>
          <p:cNvPr id="25" name="Text 23"/>
          <p:cNvSpPr txBox="1"/>
          <p:nvPr/>
        </p:nvSpPr>
        <p:spPr>
          <a:xfrm>
            <a:off x="2803624" y="30454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OFF · ON · NA</a:t>
            </a:r>
            <a:endParaRPr lang="en-US" sz="1200" dirty="0"/>
          </a:p>
        </p:txBody>
      </p:sp>
      <p:sp>
        <p:nvSpPr>
          <p:cNvPr id="26" name="Text 24"/>
          <p:cNvSpPr txBox="1"/>
          <p:nvPr/>
        </p:nvSpPr>
        <p:spPr>
          <a:xfrm>
            <a:off x="5128220" y="30454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For binary signals</a:t>
            </a:r>
            <a:endParaRPr lang="en-US" sz="1200" dirty="0"/>
          </a:p>
        </p:txBody>
      </p:sp>
      <p:sp>
        <p:nvSpPr>
          <p:cNvPr id="27" name="Shape 25"/>
          <p:cNvSpPr/>
          <p:nvPr/>
        </p:nvSpPr>
        <p:spPr>
          <a:xfrm>
            <a:off x="812800" y="3286720"/>
            <a:ext cx="10566400" cy="304800"/>
          </a:xfrm>
          <a:prstGeom prst="rect">
            <a:avLst/>
          </a:prstGeom>
          <a:solidFill>
            <a:srgbClr val="F6F5F1"/>
          </a:solidFill>
          <a:ln/>
        </p:spPr>
      </p:sp>
      <p:sp>
        <p:nvSpPr>
          <p:cNvPr id="28" name="Text 26"/>
          <p:cNvSpPr txBox="1"/>
          <p:nvPr/>
        </p:nvSpPr>
        <p:spPr>
          <a:xfrm>
            <a:off x="901700" y="3350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value</a:t>
            </a:r>
            <a:endParaRPr lang="en-US" sz="1200" dirty="0"/>
          </a:p>
        </p:txBody>
      </p:sp>
      <p:sp>
        <p:nvSpPr>
          <p:cNvPr id="29" name="Text 27"/>
          <p:cNvSpPr txBox="1"/>
          <p:nvPr/>
        </p:nvSpPr>
        <p:spPr>
          <a:xfrm>
            <a:off x="2803624" y="3350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float or none</a:t>
            </a:r>
            <a:endParaRPr lang="en-US" sz="1200" dirty="0"/>
          </a:p>
        </p:txBody>
      </p:sp>
      <p:sp>
        <p:nvSpPr>
          <p:cNvPr id="30" name="Text 28"/>
          <p:cNvSpPr txBox="1"/>
          <p:nvPr/>
        </p:nvSpPr>
        <p:spPr>
          <a:xfrm>
            <a:off x="5128220" y="33502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Scalar reading: 1,850 W stays 1,850 W</a:t>
            </a:r>
            <a:endParaRPr lang="en-US" sz="1200" dirty="0"/>
          </a:p>
        </p:txBody>
      </p:sp>
      <p:sp>
        <p:nvSpPr>
          <p:cNvPr id="31" name="Shape 29"/>
          <p:cNvSpPr/>
          <p:nvPr/>
        </p:nvSpPr>
        <p:spPr>
          <a:xfrm>
            <a:off x="812800" y="3591520"/>
            <a:ext cx="10566400" cy="304800"/>
          </a:xfrm>
          <a:prstGeom prst="rect">
            <a:avLst/>
          </a:prstGeom>
          <a:solidFill>
            <a:srgbClr val="FDFCFA"/>
          </a:solidFill>
          <a:ln/>
        </p:spPr>
      </p:sp>
      <p:sp>
        <p:nvSpPr>
          <p:cNvPr id="32" name="Text 30"/>
          <p:cNvSpPr txBox="1"/>
          <p:nvPr/>
        </p:nvSpPr>
        <p:spPr>
          <a:xfrm>
            <a:off x="901700" y="3655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vector</a:t>
            </a:r>
            <a:endParaRPr lang="en-US" sz="1200" dirty="0"/>
          </a:p>
        </p:txBody>
      </p:sp>
      <p:sp>
        <p:nvSpPr>
          <p:cNvPr id="33" name="Text 31"/>
          <p:cNvSpPr txBox="1"/>
          <p:nvPr/>
        </p:nvSpPr>
        <p:spPr>
          <a:xfrm>
            <a:off x="2803624" y="3655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floats or none</a:t>
            </a:r>
            <a:endParaRPr lang="en-US" sz="1200" dirty="0"/>
          </a:p>
        </p:txBody>
      </p:sp>
      <p:sp>
        <p:nvSpPr>
          <p:cNvPr id="34" name="Text 32"/>
          <p:cNvSpPr txBox="1"/>
          <p:nvPr/>
        </p:nvSpPr>
        <p:spPr>
          <a:xfrm>
            <a:off x="5128220" y="36550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Optional audio or vision embedding from a detector</a:t>
            </a:r>
            <a:endParaRPr lang="en-US" sz="1200" dirty="0"/>
          </a:p>
        </p:txBody>
      </p:sp>
      <p:sp>
        <p:nvSpPr>
          <p:cNvPr id="35" name="Shape 33"/>
          <p:cNvSpPr/>
          <p:nvPr/>
        </p:nvSpPr>
        <p:spPr>
          <a:xfrm>
            <a:off x="812800" y="3896320"/>
            <a:ext cx="10566400" cy="304800"/>
          </a:xfrm>
          <a:prstGeom prst="rect">
            <a:avLst/>
          </a:prstGeom>
          <a:solidFill>
            <a:srgbClr val="F6F5F1"/>
          </a:solidFill>
          <a:ln/>
        </p:spPr>
      </p:sp>
      <p:sp>
        <p:nvSpPr>
          <p:cNvPr id="36" name="Text 34"/>
          <p:cNvSpPr txBox="1"/>
          <p:nvPr/>
        </p:nvSpPr>
        <p:spPr>
          <a:xfrm>
            <a:off x="901700" y="3959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tag</a:t>
            </a:r>
            <a:endParaRPr lang="en-US" sz="1200" dirty="0"/>
          </a:p>
        </p:txBody>
      </p:sp>
      <p:sp>
        <p:nvSpPr>
          <p:cNvPr id="37" name="Text 35"/>
          <p:cNvSpPr txBox="1"/>
          <p:nvPr/>
        </p:nvSpPr>
        <p:spPr>
          <a:xfrm>
            <a:off x="2803624" y="39598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row or none</a:t>
            </a:r>
            <a:endParaRPr lang="en-US" sz="1200" dirty="0"/>
          </a:p>
        </p:txBody>
      </p:sp>
      <p:sp>
        <p:nvSpPr>
          <p:cNvPr id="38" name="Text 36"/>
          <p:cNvSpPr txBox="1"/>
          <p:nvPr/>
        </p:nvSpPr>
        <p:spPr>
          <a:xfrm>
            <a:off x="5128220" y="39598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Planned: detector tag, e.g. “baby crying”, from the tag vocabulary</a:t>
            </a:r>
            <a:endParaRPr lang="en-US" sz="1200" dirty="0"/>
          </a:p>
        </p:txBody>
      </p:sp>
      <p:sp>
        <p:nvSpPr>
          <p:cNvPr id="39" name="Shape 37"/>
          <p:cNvSpPr/>
          <p:nvPr/>
        </p:nvSpPr>
        <p:spPr>
          <a:xfrm>
            <a:off x="812800" y="4201120"/>
            <a:ext cx="10566400" cy="304800"/>
          </a:xfrm>
          <a:prstGeom prst="rect">
            <a:avLst/>
          </a:prstGeom>
          <a:solidFill>
            <a:srgbClr val="FDFCFA"/>
          </a:solidFill>
          <a:ln/>
        </p:spPr>
      </p:sp>
      <p:sp>
        <p:nvSpPr>
          <p:cNvPr id="40" name="Text 38"/>
          <p:cNvSpPr txBox="1"/>
          <p:nvPr/>
        </p:nvSpPr>
        <p:spPr>
          <a:xfrm>
            <a:off x="901700" y="42646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confidence</a:t>
            </a:r>
            <a:endParaRPr lang="en-US" sz="1200" dirty="0"/>
          </a:p>
        </p:txBody>
      </p:sp>
      <p:sp>
        <p:nvSpPr>
          <p:cNvPr id="41" name="Text 39"/>
          <p:cNvSpPr txBox="1"/>
          <p:nvPr/>
        </p:nvSpPr>
        <p:spPr>
          <a:xfrm>
            <a:off x="2803624" y="42646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 to 1</a:t>
            </a:r>
            <a:endParaRPr lang="en-US" sz="1200" dirty="0"/>
          </a:p>
        </p:txBody>
      </p:sp>
      <p:sp>
        <p:nvSpPr>
          <p:cNvPr id="42" name="Text 40"/>
          <p:cNvSpPr txBox="1"/>
          <p:nvPr/>
        </p:nvSpPr>
        <p:spPr>
          <a:xfrm>
            <a:off x="5128220" y="42646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1.0 for physical sensors; the model score for detectors</a:t>
            </a:r>
            <a:endParaRPr lang="en-US" sz="1200" dirty="0"/>
          </a:p>
        </p:txBody>
      </p:sp>
      <p:sp>
        <p:nvSpPr>
          <p:cNvPr id="43" name="Shape 41"/>
          <p:cNvSpPr/>
          <p:nvPr/>
        </p:nvSpPr>
        <p:spPr>
          <a:xfrm>
            <a:off x="812800" y="4505920"/>
            <a:ext cx="10566400" cy="304800"/>
          </a:xfrm>
          <a:prstGeom prst="rect">
            <a:avLst/>
          </a:prstGeom>
          <a:solidFill>
            <a:srgbClr val="F6F5F1"/>
          </a:solidFill>
          <a:ln/>
        </p:spPr>
      </p:sp>
      <p:sp>
        <p:nvSpPr>
          <p:cNvPr id="44" name="Text 42"/>
          <p:cNvSpPr txBox="1"/>
          <p:nvPr/>
        </p:nvSpPr>
        <p:spPr>
          <a:xfrm>
            <a:off x="901700" y="45694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source</a:t>
            </a:r>
            <a:endParaRPr lang="en-US" sz="1200" dirty="0"/>
          </a:p>
        </p:txBody>
      </p:sp>
      <p:sp>
        <p:nvSpPr>
          <p:cNvPr id="45" name="Text 43"/>
          <p:cNvSpPr txBox="1"/>
          <p:nvPr/>
        </p:nvSpPr>
        <p:spPr>
          <a:xfrm>
            <a:off x="2803624" y="45694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enum</a:t>
            </a:r>
            <a:endParaRPr lang="en-US" sz="1200" dirty="0"/>
          </a:p>
        </p:txBody>
      </p:sp>
      <p:sp>
        <p:nvSpPr>
          <p:cNvPr id="46" name="Text 44"/>
          <p:cNvSpPr txBox="1"/>
          <p:nvPr/>
        </p:nvSpPr>
        <p:spPr>
          <a:xfrm>
            <a:off x="5128220" y="45694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sensor · expert · homefm</a:t>
            </a:r>
            <a:endParaRPr lang="en-US" sz="1200" dirty="0"/>
          </a:p>
        </p:txBody>
      </p:sp>
      <p:sp>
        <p:nvSpPr>
          <p:cNvPr id="47" name="Shape 45"/>
          <p:cNvSpPr/>
          <p:nvPr/>
        </p:nvSpPr>
        <p:spPr>
          <a:xfrm>
            <a:off x="812800" y="4810720"/>
            <a:ext cx="10566400" cy="304800"/>
          </a:xfrm>
          <a:prstGeom prst="rect">
            <a:avLst/>
          </a:prstGeom>
          <a:solidFill>
            <a:srgbClr val="FDFCFA"/>
          </a:solidFill>
          <a:ln/>
        </p:spPr>
      </p:sp>
      <p:sp>
        <p:nvSpPr>
          <p:cNvPr id="48" name="Text 46"/>
          <p:cNvSpPr txBox="1"/>
          <p:nvPr/>
        </p:nvSpPr>
        <p:spPr>
          <a:xfrm>
            <a:off x="901700" y="4874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person_id</a:t>
            </a:r>
            <a:endParaRPr lang="en-US" sz="1200" dirty="0"/>
          </a:p>
        </p:txBody>
      </p:sp>
      <p:sp>
        <p:nvSpPr>
          <p:cNvPr id="49" name="Text 47"/>
          <p:cNvSpPr txBox="1"/>
          <p:nvPr/>
        </p:nvSpPr>
        <p:spPr>
          <a:xfrm>
            <a:off x="2803624" y="4874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string or none</a:t>
            </a:r>
            <a:endParaRPr lang="en-US" sz="1200" dirty="0"/>
          </a:p>
        </p:txBody>
      </p:sp>
      <p:sp>
        <p:nvSpPr>
          <p:cNvPr id="50" name="Text 48"/>
          <p:cNvSpPr txBox="1"/>
          <p:nvPr/>
        </p:nvSpPr>
        <p:spPr>
          <a:xfrm>
            <a:off x="5128220" y="48742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When known: camera, phone presence, wearable</a:t>
            </a:r>
            <a:endParaRPr lang="en-US" sz="1200" dirty="0"/>
          </a:p>
        </p:txBody>
      </p:sp>
      <p:sp>
        <p:nvSpPr>
          <p:cNvPr id="51" name="Shape 49"/>
          <p:cNvSpPr/>
          <p:nvPr/>
        </p:nvSpPr>
        <p:spPr>
          <a:xfrm>
            <a:off x="812800" y="5293320"/>
            <a:ext cx="10566400" cy="645120"/>
          </a:xfrm>
          <a:prstGeom prst="roundRect">
            <a:avLst>
              <a:gd name="adj" fmla="val 11812"/>
            </a:avLst>
          </a:prstGeom>
          <a:solidFill>
            <a:srgbClr val="EDEBE4"/>
          </a:solidFill>
          <a:ln/>
        </p:spPr>
      </p:sp>
      <p:sp>
        <p:nvSpPr>
          <p:cNvPr id="52" name="Text 50"/>
          <p:cNvSpPr txBox="1"/>
          <p:nvPr/>
        </p:nvSpPr>
        <p:spPr>
          <a:xfrm>
            <a:off x="939800" y="5413970"/>
            <a:ext cx="10414762" cy="39241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raw 2026-09-24 18:40:05 nursery_mic tag=“baby crying” 0.87 → entity=row 2 · tag=row 17 · audio_tag · conf 0.87 · expert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Devices are sentences: the device registry</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167734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Device code</a:t>
            </a:r>
            <a:endParaRPr lang="en-US" sz="1200" dirty="0"/>
          </a:p>
        </p:txBody>
      </p:sp>
      <p:sp>
        <p:nvSpPr>
          <p:cNvPr id="6" name="Text 4"/>
          <p:cNvSpPr txBox="1"/>
          <p:nvPr/>
        </p:nvSpPr>
        <p:spPr>
          <a:xfrm>
            <a:off x="2697956" y="1521420"/>
            <a:ext cx="305780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Names from the hub</a:t>
            </a:r>
            <a:endParaRPr lang="en-US" sz="1200" dirty="0"/>
          </a:p>
        </p:txBody>
      </p:sp>
      <p:sp>
        <p:nvSpPr>
          <p:cNvPr id="7" name="Text 5"/>
          <p:cNvSpPr txBox="1"/>
          <p:nvPr/>
        </p:nvSpPr>
        <p:spPr>
          <a:xfrm>
            <a:off x="5867797" y="1521420"/>
            <a:ext cx="46507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Description (embedded once, frozen MiniLM)</a:t>
            </a:r>
            <a:endParaRPr lang="en-US" sz="1200" dirty="0"/>
          </a:p>
        </p:txBody>
      </p:sp>
      <p:sp>
        <p:nvSpPr>
          <p:cNvPr id="8" name="Text 6"/>
          <p:cNvSpPr txBox="1"/>
          <p:nvPr/>
        </p:nvSpPr>
        <p:spPr>
          <a:xfrm>
            <a:off x="10622657" y="1521420"/>
            <a:ext cx="72178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Row</a:t>
            </a:r>
            <a:endParaRPr lang="en-US" sz="1200" dirty="0"/>
          </a:p>
        </p:txBody>
      </p:sp>
      <p:sp>
        <p:nvSpPr>
          <p:cNvPr id="9" name="Shape 7"/>
          <p:cNvSpPr/>
          <p:nvPr/>
        </p:nvSpPr>
        <p:spPr>
          <a:xfrm>
            <a:off x="812800" y="1762720"/>
            <a:ext cx="10566400" cy="304800"/>
          </a:xfrm>
          <a:prstGeom prst="rect">
            <a:avLst/>
          </a:prstGeom>
          <a:solidFill>
            <a:srgbClr val="FDFCFA"/>
          </a:solidFill>
          <a:ln/>
        </p:spPr>
      </p:sp>
      <p:sp>
        <p:nvSpPr>
          <p:cNvPr id="10" name="Text 8"/>
          <p:cNvSpPr txBox="1"/>
          <p:nvPr/>
        </p:nvSpPr>
        <p:spPr>
          <a:xfrm>
            <a:off x="901700" y="182622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M014</a:t>
            </a:r>
            <a:endParaRPr lang="en-US" sz="1200" dirty="0"/>
          </a:p>
        </p:txBody>
      </p:sp>
      <p:sp>
        <p:nvSpPr>
          <p:cNvPr id="11" name="Text 9"/>
          <p:cNvSpPr txBox="1"/>
          <p:nvPr/>
        </p:nvSpPr>
        <p:spPr>
          <a:xfrm>
            <a:off x="2697956" y="18262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Kitchen Motion · Kitchen · motion</a:t>
            </a:r>
            <a:endParaRPr lang="en-US" sz="1200" dirty="0"/>
          </a:p>
        </p:txBody>
      </p:sp>
      <p:sp>
        <p:nvSpPr>
          <p:cNvPr id="12" name="Text 10"/>
          <p:cNvSpPr txBox="1"/>
          <p:nvPr/>
        </p:nvSpPr>
        <p:spPr>
          <a:xfrm>
            <a:off x="5867797" y="1826220"/>
            <a:ext cx="46507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ceiling in kitchen, motion sensor</a:t>
            </a:r>
            <a:endParaRPr lang="en-US" sz="1200" dirty="0"/>
          </a:p>
        </p:txBody>
      </p:sp>
      <p:sp>
        <p:nvSpPr>
          <p:cNvPr id="13" name="Text 11"/>
          <p:cNvSpPr txBox="1"/>
          <p:nvPr/>
        </p:nvSpPr>
        <p:spPr>
          <a:xfrm>
            <a:off x="10622657" y="1826220"/>
            <a:ext cx="72178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a:t>
            </a:r>
            <a:endParaRPr lang="en-US" sz="1200" dirty="0"/>
          </a:p>
        </p:txBody>
      </p:sp>
      <p:sp>
        <p:nvSpPr>
          <p:cNvPr id="14" name="Shape 12"/>
          <p:cNvSpPr/>
          <p:nvPr/>
        </p:nvSpPr>
        <p:spPr>
          <a:xfrm>
            <a:off x="812800" y="2067520"/>
            <a:ext cx="10566400" cy="304800"/>
          </a:xfrm>
          <a:prstGeom prst="rect">
            <a:avLst/>
          </a:prstGeom>
          <a:solidFill>
            <a:srgbClr val="F6F5F1"/>
          </a:solidFill>
          <a:ln/>
        </p:spPr>
      </p:sp>
      <p:sp>
        <p:nvSpPr>
          <p:cNvPr id="15" name="Text 13"/>
          <p:cNvSpPr txBox="1"/>
          <p:nvPr/>
        </p:nvSpPr>
        <p:spPr>
          <a:xfrm>
            <a:off x="901700" y="213102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fridge_power</a:t>
            </a:r>
            <a:endParaRPr lang="en-US" sz="1200" dirty="0"/>
          </a:p>
        </p:txBody>
      </p:sp>
      <p:sp>
        <p:nvSpPr>
          <p:cNvPr id="16" name="Text 14"/>
          <p:cNvSpPr txBox="1"/>
          <p:nvPr/>
        </p:nvSpPr>
        <p:spPr>
          <a:xfrm>
            <a:off x="2697956" y="21310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Fridge Plug · Kitchen · power</a:t>
            </a:r>
            <a:endParaRPr lang="en-US" sz="1200" dirty="0"/>
          </a:p>
        </p:txBody>
      </p:sp>
      <p:sp>
        <p:nvSpPr>
          <p:cNvPr id="17" name="Text 15"/>
          <p:cNvSpPr txBox="1"/>
          <p:nvPr/>
        </p:nvSpPr>
        <p:spPr>
          <a:xfrm>
            <a:off x="5867797" y="2131020"/>
            <a:ext cx="46507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fridge in kitchen, power sensor</a:t>
            </a:r>
            <a:endParaRPr lang="en-US" sz="1200" dirty="0"/>
          </a:p>
        </p:txBody>
      </p:sp>
      <p:sp>
        <p:nvSpPr>
          <p:cNvPr id="18" name="Text 16"/>
          <p:cNvSpPr txBox="1"/>
          <p:nvPr/>
        </p:nvSpPr>
        <p:spPr>
          <a:xfrm>
            <a:off x="10622657" y="2131020"/>
            <a:ext cx="72178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a:t>
            </a:r>
            <a:endParaRPr lang="en-US" sz="1200" dirty="0"/>
          </a:p>
        </p:txBody>
      </p:sp>
      <p:sp>
        <p:nvSpPr>
          <p:cNvPr id="19" name="Shape 17"/>
          <p:cNvSpPr/>
          <p:nvPr/>
        </p:nvSpPr>
        <p:spPr>
          <a:xfrm>
            <a:off x="812800" y="2372320"/>
            <a:ext cx="10566400" cy="304800"/>
          </a:xfrm>
          <a:prstGeom prst="rect">
            <a:avLst/>
          </a:prstGeom>
          <a:solidFill>
            <a:srgbClr val="FDFCFA"/>
          </a:solidFill>
          <a:ln/>
        </p:spPr>
      </p:sp>
      <p:sp>
        <p:nvSpPr>
          <p:cNvPr id="20" name="Text 18"/>
          <p:cNvSpPr txBox="1"/>
          <p:nvPr/>
        </p:nvSpPr>
        <p:spPr>
          <a:xfrm>
            <a:off x="901700" y="243582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nursery_mic</a:t>
            </a:r>
            <a:endParaRPr lang="en-US" sz="1200" dirty="0"/>
          </a:p>
        </p:txBody>
      </p:sp>
      <p:sp>
        <p:nvSpPr>
          <p:cNvPr id="21" name="Text 19"/>
          <p:cNvSpPr txBox="1"/>
          <p:nvPr/>
        </p:nvSpPr>
        <p:spPr>
          <a:xfrm>
            <a:off x="2697956" y="24358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Nursery Mic · Nursery · audio</a:t>
            </a:r>
            <a:endParaRPr lang="en-US" sz="1200" dirty="0"/>
          </a:p>
        </p:txBody>
      </p:sp>
      <p:sp>
        <p:nvSpPr>
          <p:cNvPr id="22" name="Text 20"/>
          <p:cNvSpPr txBox="1"/>
          <p:nvPr/>
        </p:nvSpPr>
        <p:spPr>
          <a:xfrm>
            <a:off x="5867797" y="2435820"/>
            <a:ext cx="46507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microphone in nursery, audio sensor</a:t>
            </a:r>
            <a:endParaRPr lang="en-US" sz="1200" dirty="0"/>
          </a:p>
        </p:txBody>
      </p:sp>
      <p:sp>
        <p:nvSpPr>
          <p:cNvPr id="23" name="Text 21"/>
          <p:cNvSpPr txBox="1"/>
          <p:nvPr/>
        </p:nvSpPr>
        <p:spPr>
          <a:xfrm>
            <a:off x="10622657" y="2435820"/>
            <a:ext cx="72178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a:t>
            </a:r>
            <a:endParaRPr lang="en-US" sz="1200" dirty="0"/>
          </a:p>
        </p:txBody>
      </p:sp>
      <p:sp>
        <p:nvSpPr>
          <p:cNvPr id="24" name="Shape 22"/>
          <p:cNvSpPr/>
          <p:nvPr/>
        </p:nvSpPr>
        <p:spPr>
          <a:xfrm>
            <a:off x="819150" y="2861270"/>
            <a:ext cx="3407866" cy="1513681"/>
          </a:xfrm>
          <a:prstGeom prst="roundRect">
            <a:avLst>
              <a:gd name="adj" fmla="val 6293"/>
            </a:avLst>
          </a:prstGeom>
          <a:solidFill>
            <a:srgbClr val="FDFCFA"/>
          </a:solidFill>
          <a:ln w="12700">
            <a:solidFill>
              <a:srgbClr val="E3E0D7"/>
            </a:solidFill>
            <a:prstDash val="solid"/>
          </a:ln>
        </p:spPr>
      </p:sp>
      <p:sp>
        <p:nvSpPr>
          <p:cNvPr id="25" name="Text 23"/>
          <p:cNvSpPr txBox="1"/>
          <p:nvPr/>
        </p:nvSpPr>
        <p:spPr>
          <a:xfrm>
            <a:off x="1003300" y="30517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Code = lookup key</a:t>
            </a:r>
            <a:endParaRPr lang="en-US" sz="1500" dirty="0"/>
          </a:p>
        </p:txBody>
      </p:sp>
      <p:sp>
        <p:nvSpPr>
          <p:cNvPr id="26" name="Text 24"/>
          <p:cNvSpPr txBox="1"/>
          <p:nvPr/>
        </p:nvSpPr>
        <p:spPr>
          <a:xfrm>
            <a:off x="1003300" y="3356570"/>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M014 is never turned into numbers. It only looks up its sentence's vector, like a phone showing “Mum” for a number.</a:t>
            </a:r>
            <a:endParaRPr lang="en-US" sz="1200" dirty="0"/>
          </a:p>
        </p:txBody>
      </p:sp>
      <p:sp>
        <p:nvSpPr>
          <p:cNvPr id="27" name="Shape 25"/>
          <p:cNvSpPr/>
          <p:nvPr/>
        </p:nvSpPr>
        <p:spPr>
          <a:xfrm>
            <a:off x="4392116" y="2861270"/>
            <a:ext cx="3407866" cy="1513681"/>
          </a:xfrm>
          <a:prstGeom prst="roundRect">
            <a:avLst>
              <a:gd name="adj" fmla="val 6293"/>
            </a:avLst>
          </a:prstGeom>
          <a:solidFill>
            <a:srgbClr val="FDFCFA"/>
          </a:solidFill>
          <a:ln w="12700">
            <a:solidFill>
              <a:srgbClr val="E3E0D7"/>
            </a:solidFill>
            <a:prstDash val="solid"/>
          </a:ln>
        </p:spPr>
      </p:sp>
      <p:sp>
        <p:nvSpPr>
          <p:cNvPr id="28" name="Text 26"/>
          <p:cNvSpPr txBox="1"/>
          <p:nvPr/>
        </p:nvSpPr>
        <p:spPr>
          <a:xfrm>
            <a:off x="4576266" y="30517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One model, any home</a:t>
            </a:r>
            <a:endParaRPr lang="en-US" sz="1500" dirty="0"/>
          </a:p>
        </p:txBody>
      </p:sp>
      <p:sp>
        <p:nvSpPr>
          <p:cNvPr id="29" name="Text 27"/>
          <p:cNvSpPr txBox="1"/>
          <p:nvPr/>
        </p:nvSpPr>
        <p:spPr>
          <a:xfrm>
            <a:off x="4576266" y="3356570"/>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Model weights are shared by every home; the registry is per home. A new device is a new row: no retraining.</a:t>
            </a:r>
            <a:endParaRPr lang="en-US" sz="1200" dirty="0"/>
          </a:p>
        </p:txBody>
      </p:sp>
      <p:sp>
        <p:nvSpPr>
          <p:cNvPr id="30" name="Shape 28"/>
          <p:cNvSpPr/>
          <p:nvPr/>
        </p:nvSpPr>
        <p:spPr>
          <a:xfrm>
            <a:off x="7965083" y="2861270"/>
            <a:ext cx="3407866" cy="1513681"/>
          </a:xfrm>
          <a:prstGeom prst="roundRect">
            <a:avLst>
              <a:gd name="adj" fmla="val 6293"/>
            </a:avLst>
          </a:prstGeom>
          <a:solidFill>
            <a:srgbClr val="FDFCFA"/>
          </a:solidFill>
          <a:ln w="12700">
            <a:solidFill>
              <a:srgbClr val="E3E0D7"/>
            </a:solidFill>
            <a:prstDash val="solid"/>
          </a:ln>
        </p:spPr>
      </p:sp>
      <p:sp>
        <p:nvSpPr>
          <p:cNvPr id="31" name="Text 29"/>
          <p:cNvSpPr txBox="1"/>
          <p:nvPr/>
        </p:nvSpPr>
        <p:spPr>
          <a:xfrm>
            <a:off x="8149233" y="30517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Onboarding</a:t>
            </a:r>
            <a:endParaRPr lang="en-US" sz="1500" dirty="0"/>
          </a:p>
        </p:txBody>
      </p:sp>
      <p:sp>
        <p:nvSpPr>
          <p:cNvPr id="32" name="Text 30"/>
          <p:cNvSpPr txBox="1"/>
          <p:nvPr/>
        </p:nvSpPr>
        <p:spPr>
          <a:xfrm>
            <a:off x="8149233" y="3356570"/>
            <a:ext cx="3105564"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Import names from the hub, normalise, guess unclear devices from behaviour (Plug 3: ~150 W cycling every 40 min → fridge), one-tap confirm.</a:t>
            </a:r>
            <a:endParaRPr lang="en-US" sz="1200" dirty="0"/>
          </a:p>
        </p:txBody>
      </p:sp>
      <p:sp>
        <p:nvSpPr>
          <p:cNvPr id="33" name="Text 31"/>
          <p:cNvSpPr txBox="1"/>
          <p:nvPr/>
        </p:nvSpPr>
        <p:spPr>
          <a:xfrm>
            <a:off x="812800" y="4578152"/>
            <a:ext cx="10670032"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150 devices × 384 numbers ≈ 230 KB. The next-event head can only predict devices in this home's registry.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 · STEP 1</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Attribute fusion: four facts become one event vector</a:t>
            </a:r>
            <a:endParaRPr lang="en-US" sz="2800" dirty="0"/>
          </a:p>
        </p:txBody>
      </p:sp>
      <p:sp>
        <p:nvSpPr>
          <p:cNvPr id="4" name="Shape 2"/>
          <p:cNvSpPr/>
          <p:nvPr/>
        </p:nvSpPr>
        <p:spPr>
          <a:xfrm>
            <a:off x="819150" y="1464270"/>
            <a:ext cx="2533650" cy="1650802"/>
          </a:xfrm>
          <a:prstGeom prst="roundRect">
            <a:avLst>
              <a:gd name="adj" fmla="val 5770"/>
            </a:avLst>
          </a:prstGeom>
          <a:solidFill>
            <a:srgbClr val="FDFCFA"/>
          </a:solidFill>
          <a:ln w="12700">
            <a:solidFill>
              <a:srgbClr val="E3E0D7"/>
            </a:solidFill>
            <a:prstDash val="solid"/>
          </a:ln>
        </p:spPr>
      </p:sp>
      <p:sp>
        <p:nvSpPr>
          <p:cNvPr id="5" name="Text 3"/>
          <p:cNvSpPr txBox="1"/>
          <p:nvPr/>
        </p:nvSpPr>
        <p:spPr>
          <a:xfrm>
            <a:off x="96520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What</a:t>
            </a:r>
            <a:endParaRPr lang="en-US" sz="1500" dirty="0"/>
          </a:p>
        </p:txBody>
      </p:sp>
      <p:sp>
        <p:nvSpPr>
          <p:cNvPr id="6" name="Text 4"/>
          <p:cNvSpPr txBox="1"/>
          <p:nvPr/>
        </p:nvSpPr>
        <p:spPr>
          <a:xfrm>
            <a:off x="965200" y="1921470"/>
            <a:ext cx="2303558"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Device registry row: MiniLM sentence vector, 384 numbers (frozen) → linear projection to d (learned, ~98k weights).</a:t>
            </a:r>
            <a:endParaRPr lang="en-US" sz="1200" dirty="0"/>
          </a:p>
        </p:txBody>
      </p:sp>
      <p:sp>
        <p:nvSpPr>
          <p:cNvPr id="7" name="Shape 5"/>
          <p:cNvSpPr/>
          <p:nvPr/>
        </p:nvSpPr>
        <p:spPr>
          <a:xfrm>
            <a:off x="3492500" y="1464270"/>
            <a:ext cx="2533650" cy="1650802"/>
          </a:xfrm>
          <a:prstGeom prst="roundRect">
            <a:avLst>
              <a:gd name="adj" fmla="val 5770"/>
            </a:avLst>
          </a:prstGeom>
          <a:solidFill>
            <a:srgbClr val="FDFCFA"/>
          </a:solidFill>
          <a:ln w="12700">
            <a:solidFill>
              <a:srgbClr val="E3E0D7"/>
            </a:solidFill>
            <a:prstDash val="solid"/>
          </a:ln>
        </p:spPr>
      </p:sp>
      <p:sp>
        <p:nvSpPr>
          <p:cNvPr id="8" name="Text 6"/>
          <p:cNvSpPr txBox="1"/>
          <p:nvPr/>
        </p:nvSpPr>
        <p:spPr>
          <a:xfrm>
            <a:off x="363855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Value</a:t>
            </a:r>
            <a:endParaRPr lang="en-US" sz="1500" dirty="0"/>
          </a:p>
        </p:txBody>
      </p:sp>
      <p:sp>
        <p:nvSpPr>
          <p:cNvPr id="9" name="Text 7"/>
          <p:cNvSpPr txBox="1"/>
          <p:nvPr/>
        </p:nvSpPr>
        <p:spPr>
          <a:xfrm>
            <a:off x="3638550" y="1921470"/>
            <a:ext cx="2303558" cy="102473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Learned vector for ON / OFF / NA + a small network on the number, normalised per device (1,850 W on a 300 W stove ≈ +2.1).</a:t>
            </a:r>
            <a:endParaRPr lang="en-US" sz="1200" dirty="0"/>
          </a:p>
        </p:txBody>
      </p:sp>
      <p:sp>
        <p:nvSpPr>
          <p:cNvPr id="10" name="Shape 8"/>
          <p:cNvSpPr/>
          <p:nvPr/>
        </p:nvSpPr>
        <p:spPr>
          <a:xfrm>
            <a:off x="6165850" y="1464270"/>
            <a:ext cx="2533650" cy="1650802"/>
          </a:xfrm>
          <a:prstGeom prst="roundRect">
            <a:avLst>
              <a:gd name="adj" fmla="val 5770"/>
            </a:avLst>
          </a:prstGeom>
          <a:solidFill>
            <a:srgbClr val="FDFCFA"/>
          </a:solidFill>
          <a:ln w="12700">
            <a:solidFill>
              <a:srgbClr val="E3E0D7"/>
            </a:solidFill>
            <a:prstDash val="solid"/>
          </a:ln>
        </p:spPr>
      </p:sp>
      <p:sp>
        <p:nvSpPr>
          <p:cNvPr id="11" name="Text 9"/>
          <p:cNvSpPr txBox="1"/>
          <p:nvPr/>
        </p:nvSpPr>
        <p:spPr>
          <a:xfrm>
            <a:off x="631190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When</a:t>
            </a:r>
            <a:endParaRPr lang="en-US" sz="1500" dirty="0"/>
          </a:p>
        </p:txBody>
      </p:sp>
      <p:sp>
        <p:nvSpPr>
          <p:cNvPr id="12" name="Text 10"/>
          <p:cNvSpPr txBox="1"/>
          <p:nvPr/>
        </p:nvSpPr>
        <p:spPr>
          <a:xfrm>
            <a:off x="6311900" y="1921470"/>
            <a:ext cx="2303558"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Cyclic hour and weekday (sin/cos at 4 speeds) + log time since the previous event and since this device last fired.</a:t>
            </a:r>
            <a:endParaRPr lang="en-US" sz="1200" dirty="0"/>
          </a:p>
        </p:txBody>
      </p:sp>
      <p:sp>
        <p:nvSpPr>
          <p:cNvPr id="13" name="Shape 11"/>
          <p:cNvSpPr/>
          <p:nvPr/>
        </p:nvSpPr>
        <p:spPr>
          <a:xfrm>
            <a:off x="8839200" y="1464270"/>
            <a:ext cx="2533650" cy="1650802"/>
          </a:xfrm>
          <a:prstGeom prst="roundRect">
            <a:avLst>
              <a:gd name="adj" fmla="val 5770"/>
            </a:avLst>
          </a:prstGeom>
          <a:solidFill>
            <a:srgbClr val="FDFCFA"/>
          </a:solidFill>
          <a:ln w="12700">
            <a:solidFill>
              <a:srgbClr val="E3E0D7"/>
            </a:solidFill>
            <a:prstDash val="solid"/>
          </a:ln>
        </p:spPr>
      </p:sp>
      <p:sp>
        <p:nvSpPr>
          <p:cNvPr id="14" name="Text 12"/>
          <p:cNvSpPr txBox="1"/>
          <p:nvPr/>
        </p:nvSpPr>
        <p:spPr>
          <a:xfrm>
            <a:off x="898525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Meta</a:t>
            </a:r>
            <a:endParaRPr lang="en-US" sz="1500" dirty="0"/>
          </a:p>
        </p:txBody>
      </p:sp>
      <p:sp>
        <p:nvSpPr>
          <p:cNvPr id="15" name="Text 13"/>
          <p:cNvSpPr txBox="1"/>
          <p:nvPr/>
        </p:nvSpPr>
        <p:spPr>
          <a:xfrm>
            <a:off x="8985250" y="1921470"/>
            <a:ext cx="2303558"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Signal type (5 learned vectors: binary, scalar, audio tag, vision tag, embedding) + confidence.</a:t>
            </a:r>
            <a:endParaRPr lang="en-US" sz="1200" dirty="0"/>
          </a:p>
        </p:txBody>
      </p:sp>
      <p:sp>
        <p:nvSpPr>
          <p:cNvPr id="16" name="Shape 14"/>
          <p:cNvSpPr/>
          <p:nvPr/>
        </p:nvSpPr>
        <p:spPr>
          <a:xfrm>
            <a:off x="819150" y="3305572"/>
            <a:ext cx="10553700" cy="586581"/>
          </a:xfrm>
          <a:prstGeom prst="roundRect">
            <a:avLst>
              <a:gd name="adj" fmla="val 11908"/>
            </a:avLst>
          </a:prstGeom>
          <a:solidFill>
            <a:srgbClr val="E6EEF8"/>
          </a:solidFill>
          <a:ln w="12700">
            <a:solidFill>
              <a:srgbClr val="B9CDE8"/>
            </a:solidFill>
            <a:prstDash val="solid"/>
          </a:ln>
        </p:spPr>
      </p:sp>
      <p:sp>
        <p:nvSpPr>
          <p:cNvPr id="17" name="Text 15"/>
          <p:cNvSpPr txBox="1"/>
          <p:nvPr/>
        </p:nvSpPr>
        <p:spPr>
          <a:xfrm>
            <a:off x="875856" y="3413522"/>
            <a:ext cx="10440289"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Each fact gets an attribute-type tag → one self-attention layer across the four → average → normalise = event vector (d numbers). “Kitchen motion at 07:00” ≠ “at 23:30”.</a:t>
            </a:r>
            <a:endParaRPr lang="en-US" sz="1200" dirty="0"/>
          </a:p>
        </p:txBody>
      </p:sp>
      <p:sp>
        <p:nvSpPr>
          <p:cNvPr id="18" name="Shape 16"/>
          <p:cNvSpPr/>
          <p:nvPr/>
        </p:nvSpPr>
        <p:spPr>
          <a:xfrm>
            <a:off x="812800" y="4076303"/>
            <a:ext cx="10566400" cy="304800"/>
          </a:xfrm>
          <a:prstGeom prst="rect">
            <a:avLst/>
          </a:prstGeom>
          <a:solidFill>
            <a:srgbClr val="14213D"/>
          </a:solidFill>
          <a:ln/>
        </p:spPr>
      </p:sp>
      <p:sp>
        <p:nvSpPr>
          <p:cNvPr id="19" name="Text 17"/>
          <p:cNvSpPr txBox="1"/>
          <p:nvPr/>
        </p:nvSpPr>
        <p:spPr>
          <a:xfrm>
            <a:off x="901700" y="4139803"/>
            <a:ext cx="1146367"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Fact</a:t>
            </a:r>
            <a:endParaRPr lang="en-US" sz="1200" dirty="0"/>
          </a:p>
        </p:txBody>
      </p:sp>
      <p:sp>
        <p:nvSpPr>
          <p:cNvPr id="20" name="Text 18"/>
          <p:cNvSpPr txBox="1"/>
          <p:nvPr/>
        </p:nvSpPr>
        <p:spPr>
          <a:xfrm>
            <a:off x="2169616" y="4139803"/>
            <a:ext cx="411976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DomusFM</a:t>
            </a:r>
            <a:endParaRPr lang="en-US" sz="1200" dirty="0"/>
          </a:p>
        </p:txBody>
      </p:sp>
      <p:sp>
        <p:nvSpPr>
          <p:cNvPr id="21" name="Text 19"/>
          <p:cNvSpPr txBox="1"/>
          <p:nvPr/>
        </p:nvSpPr>
        <p:spPr>
          <a:xfrm>
            <a:off x="6396137" y="4139803"/>
            <a:ext cx="496943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HomeFM</a:t>
            </a:r>
            <a:endParaRPr lang="en-US" sz="1200" dirty="0"/>
          </a:p>
        </p:txBody>
      </p:sp>
      <p:sp>
        <p:nvSpPr>
          <p:cNvPr id="22" name="Shape 20"/>
          <p:cNvSpPr/>
          <p:nvPr/>
        </p:nvSpPr>
        <p:spPr>
          <a:xfrm>
            <a:off x="812800" y="4381103"/>
            <a:ext cx="10566400" cy="304800"/>
          </a:xfrm>
          <a:prstGeom prst="rect">
            <a:avLst/>
          </a:prstGeom>
          <a:solidFill>
            <a:srgbClr val="FDFCFA"/>
          </a:solidFill>
          <a:ln/>
        </p:spPr>
      </p:sp>
      <p:sp>
        <p:nvSpPr>
          <p:cNvPr id="23" name="Text 21"/>
          <p:cNvSpPr txBox="1"/>
          <p:nvPr/>
        </p:nvSpPr>
        <p:spPr>
          <a:xfrm>
            <a:off x="901700" y="4444603"/>
            <a:ext cx="114636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Device</a:t>
            </a:r>
            <a:endParaRPr lang="en-US" sz="1200" dirty="0"/>
          </a:p>
        </p:txBody>
      </p:sp>
      <p:sp>
        <p:nvSpPr>
          <p:cNvPr id="24" name="Text 22"/>
          <p:cNvSpPr txBox="1"/>
          <p:nvPr/>
        </p:nvSpPr>
        <p:spPr>
          <a:xfrm>
            <a:off x="2169616" y="4444603"/>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 sentence vectors: item, type, room</a:t>
            </a:r>
            <a:endParaRPr lang="en-US" sz="1200" dirty="0"/>
          </a:p>
        </p:txBody>
      </p:sp>
      <p:sp>
        <p:nvSpPr>
          <p:cNvPr id="25" name="Text 23"/>
          <p:cNvSpPr txBox="1"/>
          <p:nvPr/>
        </p:nvSpPr>
        <p:spPr>
          <a:xfrm>
            <a:off x="6396137" y="4444603"/>
            <a:ext cx="49694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 sentence “{item} in {room}, {type} sensor” + projection</a:t>
            </a:r>
            <a:endParaRPr lang="en-US" sz="1200" dirty="0"/>
          </a:p>
        </p:txBody>
      </p:sp>
      <p:sp>
        <p:nvSpPr>
          <p:cNvPr id="26" name="Shape 24"/>
          <p:cNvSpPr/>
          <p:nvPr/>
        </p:nvSpPr>
        <p:spPr>
          <a:xfrm>
            <a:off x="812800" y="4685903"/>
            <a:ext cx="10566400" cy="304800"/>
          </a:xfrm>
          <a:prstGeom prst="rect">
            <a:avLst/>
          </a:prstGeom>
          <a:solidFill>
            <a:srgbClr val="F6F5F1"/>
          </a:solidFill>
          <a:ln/>
        </p:spPr>
      </p:sp>
      <p:sp>
        <p:nvSpPr>
          <p:cNvPr id="27" name="Text 25"/>
          <p:cNvSpPr txBox="1"/>
          <p:nvPr/>
        </p:nvSpPr>
        <p:spPr>
          <a:xfrm>
            <a:off x="901700" y="4749403"/>
            <a:ext cx="114636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Value</a:t>
            </a:r>
            <a:endParaRPr lang="en-US" sz="1200" dirty="0"/>
          </a:p>
        </p:txBody>
      </p:sp>
      <p:sp>
        <p:nvSpPr>
          <p:cNvPr id="28" name="Text 26"/>
          <p:cNvSpPr txBox="1"/>
          <p:nvPr/>
        </p:nvSpPr>
        <p:spPr>
          <a:xfrm>
            <a:off x="2169616" y="4749403"/>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Status only: OFF / ON / MASK</a:t>
            </a:r>
            <a:endParaRPr lang="en-US" sz="1200" dirty="0"/>
          </a:p>
        </p:txBody>
      </p:sp>
      <p:sp>
        <p:nvSpPr>
          <p:cNvPr id="29" name="Text 27"/>
          <p:cNvSpPr txBox="1"/>
          <p:nvPr/>
        </p:nvSpPr>
        <p:spPr>
          <a:xfrm>
            <a:off x="6396137" y="4749403"/>
            <a:ext cx="49694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 / OFF / NA + a network on the number</a:t>
            </a:r>
            <a:endParaRPr lang="en-US" sz="1200" dirty="0"/>
          </a:p>
        </p:txBody>
      </p:sp>
      <p:sp>
        <p:nvSpPr>
          <p:cNvPr id="30" name="Shape 28"/>
          <p:cNvSpPr/>
          <p:nvPr/>
        </p:nvSpPr>
        <p:spPr>
          <a:xfrm>
            <a:off x="812800" y="4990703"/>
            <a:ext cx="10566400" cy="304800"/>
          </a:xfrm>
          <a:prstGeom prst="rect">
            <a:avLst/>
          </a:prstGeom>
          <a:solidFill>
            <a:srgbClr val="FDFCFA"/>
          </a:solidFill>
          <a:ln/>
        </p:spPr>
      </p:sp>
      <p:sp>
        <p:nvSpPr>
          <p:cNvPr id="31" name="Text 29"/>
          <p:cNvSpPr txBox="1"/>
          <p:nvPr/>
        </p:nvSpPr>
        <p:spPr>
          <a:xfrm>
            <a:off x="901700" y="5054203"/>
            <a:ext cx="114636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Time</a:t>
            </a:r>
            <a:endParaRPr lang="en-US" sz="1200" dirty="0"/>
          </a:p>
        </p:txBody>
      </p:sp>
      <p:sp>
        <p:nvSpPr>
          <p:cNvPr id="32" name="Text 30"/>
          <p:cNvSpPr txBox="1"/>
          <p:nvPr/>
        </p:nvSpPr>
        <p:spPr>
          <a:xfrm>
            <a:off x="2169616" y="5054203"/>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Cyclic weekday + hour + 3,600 seconds-in-hour vectors</a:t>
            </a:r>
            <a:endParaRPr lang="en-US" sz="1200" dirty="0"/>
          </a:p>
        </p:txBody>
      </p:sp>
      <p:sp>
        <p:nvSpPr>
          <p:cNvPr id="33" name="Text 31"/>
          <p:cNvSpPr txBox="1"/>
          <p:nvPr/>
        </p:nvSpPr>
        <p:spPr>
          <a:xfrm>
            <a:off x="6396137" y="5054203"/>
            <a:ext cx="49694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Cyclic weekday + hour + gap network</a:t>
            </a:r>
            <a:endParaRPr lang="en-US" sz="1200" dirty="0"/>
          </a:p>
        </p:txBody>
      </p:sp>
      <p:sp>
        <p:nvSpPr>
          <p:cNvPr id="34" name="Shape 32"/>
          <p:cNvSpPr/>
          <p:nvPr/>
        </p:nvSpPr>
        <p:spPr>
          <a:xfrm>
            <a:off x="812800" y="5295503"/>
            <a:ext cx="10566400" cy="304800"/>
          </a:xfrm>
          <a:prstGeom prst="rect">
            <a:avLst/>
          </a:prstGeom>
          <a:solidFill>
            <a:srgbClr val="F6F5F1"/>
          </a:solidFill>
          <a:ln/>
        </p:spPr>
      </p:sp>
      <p:sp>
        <p:nvSpPr>
          <p:cNvPr id="35" name="Text 33"/>
          <p:cNvSpPr txBox="1"/>
          <p:nvPr/>
        </p:nvSpPr>
        <p:spPr>
          <a:xfrm>
            <a:off x="901700" y="5359003"/>
            <a:ext cx="114636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Meta</a:t>
            </a:r>
            <a:endParaRPr lang="en-US" sz="1200" dirty="0"/>
          </a:p>
        </p:txBody>
      </p:sp>
      <p:sp>
        <p:nvSpPr>
          <p:cNvPr id="36" name="Text 34"/>
          <p:cNvSpPr txBox="1"/>
          <p:nvPr/>
        </p:nvSpPr>
        <p:spPr>
          <a:xfrm>
            <a:off x="2169616" y="5359003"/>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None (all events binary)</a:t>
            </a:r>
            <a:endParaRPr lang="en-US" sz="1200" dirty="0"/>
          </a:p>
        </p:txBody>
      </p:sp>
      <p:sp>
        <p:nvSpPr>
          <p:cNvPr id="37" name="Text 35"/>
          <p:cNvSpPr txBox="1"/>
          <p:nvPr/>
        </p:nvSpPr>
        <p:spPr>
          <a:xfrm>
            <a:off x="6396137" y="5359003"/>
            <a:ext cx="496943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Signal type + confidence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 · STEP 2</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Moment encoder: any number of events → one vector per minute</a:t>
            </a:r>
            <a:endParaRPr lang="en-US" sz="2800" dirty="0"/>
          </a:p>
        </p:txBody>
      </p:sp>
      <p:sp>
        <p:nvSpPr>
          <p:cNvPr id="4" name="Text 2"/>
          <p:cNvSpPr txBox="1"/>
          <p:nvPr/>
        </p:nvSpPr>
        <p:spPr>
          <a:xfrm>
            <a:off x="812800" y="1868091"/>
            <a:ext cx="5513578" cy="59809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 fixed minutes.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 cooking minute has 40 events, a night minute none. One vector per minute makes “the last 4 hours” always 240 steps, in busy and quiet homes alike.</a:t>
            </a:r>
            <a:endParaRPr lang="en-US" sz="1200" dirty="0"/>
          </a:p>
        </p:txBody>
      </p:sp>
      <p:sp>
        <p:nvSpPr>
          <p:cNvPr id="5" name="Text 3"/>
          <p:cNvSpPr txBox="1"/>
          <p:nvPr/>
        </p:nvSpPr>
        <p:spPr>
          <a:xfrm>
            <a:off x="812800" y="2609652"/>
            <a:ext cx="5513578"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 not just average.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38 motion events would drown the one stove turning on, the most important thing that happened.</a:t>
            </a:r>
            <a:endParaRPr lang="en-US" sz="1200" dirty="0"/>
          </a:p>
        </p:txBody>
      </p:sp>
      <p:sp>
        <p:nvSpPr>
          <p:cNvPr id="6" name="Text 4"/>
          <p:cNvSpPr txBox="1"/>
          <p:nvPr/>
        </p:nvSpPr>
        <p:spPr>
          <a:xfrm>
            <a:off x="812800" y="3137892"/>
            <a:ext cx="5513578"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Four learned reporters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(K = 4 latent queries, Perceiver cross-attention, segment softmax for all minutes at once) each learn to focus on different things.</a:t>
            </a:r>
            <a:endParaRPr lang="en-US" sz="1200" dirty="0"/>
          </a:p>
        </p:txBody>
      </p:sp>
      <p:sp>
        <p:nvSpPr>
          <p:cNvPr id="7" name="Text 5"/>
          <p:cNvSpPr txBox="1"/>
          <p:nvPr/>
        </p:nvSpPr>
        <p:spPr>
          <a:xfrm>
            <a:off x="812800" y="3666133"/>
            <a:ext cx="5513578"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Quiet key.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An empty minute still gets a proper vector: “nobody moved all morning” is information.</a:t>
            </a:r>
            <a:endParaRPr lang="en-US" sz="1200" dirty="0"/>
          </a:p>
        </p:txBody>
      </p:sp>
      <p:sp>
        <p:nvSpPr>
          <p:cNvPr id="8" name="Text 6"/>
          <p:cNvSpPr txBox="1"/>
          <p:nvPr/>
        </p:nvSpPr>
        <p:spPr>
          <a:xfrm>
            <a:off x="812800" y="4194373"/>
            <a:ext cx="5513578" cy="21336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Added:</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the event count (log scale) and the minute's time of day and weekday.</a:t>
            </a:r>
            <a:endParaRPr lang="en-US" sz="1200" dirty="0"/>
          </a:p>
        </p:txBody>
      </p:sp>
      <p:sp>
        <p:nvSpPr>
          <p:cNvPr id="9" name="Text 7"/>
          <p:cNvSpPr txBox="1"/>
          <p:nvPr/>
        </p:nvSpPr>
        <p:spPr>
          <a:xfrm>
            <a:off x="6553200" y="1868091"/>
            <a:ext cx="4900930"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Minute 18:31, as seen by an “appliances” reporter:</a:t>
            </a:r>
            <a:endParaRPr lang="en-US" sz="1200" dirty="0"/>
          </a:p>
        </p:txBody>
      </p:sp>
      <p:sp>
        <p:nvSpPr>
          <p:cNvPr id="10" name="Shape 8"/>
          <p:cNvSpPr/>
          <p:nvPr/>
        </p:nvSpPr>
        <p:spPr>
          <a:xfrm>
            <a:off x="6553200" y="2163961"/>
            <a:ext cx="4826000" cy="304800"/>
          </a:xfrm>
          <a:prstGeom prst="rect">
            <a:avLst/>
          </a:prstGeom>
          <a:solidFill>
            <a:srgbClr val="14213D"/>
          </a:solidFill>
          <a:ln/>
        </p:spPr>
      </p:sp>
      <p:sp>
        <p:nvSpPr>
          <p:cNvPr id="11" name="Text 9"/>
          <p:cNvSpPr txBox="1"/>
          <p:nvPr/>
        </p:nvSpPr>
        <p:spPr>
          <a:xfrm>
            <a:off x="6642100" y="2227461"/>
            <a:ext cx="190908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Event</a:t>
            </a:r>
            <a:endParaRPr lang="en-US" sz="1200" dirty="0"/>
          </a:p>
        </p:txBody>
      </p:sp>
      <p:sp>
        <p:nvSpPr>
          <p:cNvPr id="12" name="Text 10"/>
          <p:cNvSpPr txBox="1"/>
          <p:nvPr/>
        </p:nvSpPr>
        <p:spPr>
          <a:xfrm>
            <a:off x="8668941" y="2227461"/>
            <a:ext cx="74511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Score</a:t>
            </a:r>
            <a:endParaRPr lang="en-US" sz="1200" dirty="0"/>
          </a:p>
        </p:txBody>
      </p:sp>
      <p:sp>
        <p:nvSpPr>
          <p:cNvPr id="13" name="Text 11"/>
          <p:cNvSpPr txBox="1"/>
          <p:nvPr/>
        </p:nvSpPr>
        <p:spPr>
          <a:xfrm>
            <a:off x="9537601" y="2227461"/>
            <a:ext cx="1812263"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Share of attention</a:t>
            </a:r>
            <a:endParaRPr lang="en-US" sz="1200" dirty="0"/>
          </a:p>
        </p:txBody>
      </p:sp>
      <p:sp>
        <p:nvSpPr>
          <p:cNvPr id="14" name="Shape 12"/>
          <p:cNvSpPr/>
          <p:nvPr/>
        </p:nvSpPr>
        <p:spPr>
          <a:xfrm>
            <a:off x="6553200" y="2468761"/>
            <a:ext cx="4826000" cy="304800"/>
          </a:xfrm>
          <a:prstGeom prst="rect">
            <a:avLst/>
          </a:prstGeom>
          <a:solidFill>
            <a:srgbClr val="FDFCFA"/>
          </a:solidFill>
          <a:ln/>
        </p:spPr>
      </p:sp>
      <p:sp>
        <p:nvSpPr>
          <p:cNvPr id="15" name="Text 13"/>
          <p:cNvSpPr txBox="1"/>
          <p:nvPr/>
        </p:nvSpPr>
        <p:spPr>
          <a:xfrm>
            <a:off x="6642100" y="2532261"/>
            <a:ext cx="19090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Kitchen motion × 3</a:t>
            </a:r>
            <a:endParaRPr lang="en-US" sz="1200" dirty="0"/>
          </a:p>
        </p:txBody>
      </p:sp>
      <p:sp>
        <p:nvSpPr>
          <p:cNvPr id="16" name="Text 14"/>
          <p:cNvSpPr txBox="1"/>
          <p:nvPr/>
        </p:nvSpPr>
        <p:spPr>
          <a:xfrm>
            <a:off x="8668941" y="2532261"/>
            <a:ext cx="7451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0.5 each</a:t>
            </a:r>
            <a:endParaRPr lang="en-US" sz="1200" dirty="0"/>
          </a:p>
        </p:txBody>
      </p:sp>
      <p:sp>
        <p:nvSpPr>
          <p:cNvPr id="17" name="Text 15"/>
          <p:cNvSpPr txBox="1"/>
          <p:nvPr/>
        </p:nvSpPr>
        <p:spPr>
          <a:xfrm>
            <a:off x="9537601" y="2532261"/>
            <a:ext cx="18122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5 % each, 16 % together</a:t>
            </a:r>
            <a:endParaRPr lang="en-US" sz="1200" dirty="0"/>
          </a:p>
        </p:txBody>
      </p:sp>
      <p:sp>
        <p:nvSpPr>
          <p:cNvPr id="18" name="Shape 16"/>
          <p:cNvSpPr/>
          <p:nvPr/>
        </p:nvSpPr>
        <p:spPr>
          <a:xfrm>
            <a:off x="6553200" y="2773561"/>
            <a:ext cx="4826000" cy="304800"/>
          </a:xfrm>
          <a:prstGeom prst="rect">
            <a:avLst/>
          </a:prstGeom>
          <a:solidFill>
            <a:srgbClr val="F6F5F1"/>
          </a:solidFill>
          <a:ln/>
        </p:spPr>
      </p:sp>
      <p:sp>
        <p:nvSpPr>
          <p:cNvPr id="19" name="Text 17"/>
          <p:cNvSpPr txBox="1"/>
          <p:nvPr/>
        </p:nvSpPr>
        <p:spPr>
          <a:xfrm>
            <a:off x="6642100" y="2837061"/>
            <a:ext cx="19090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Fridge open</a:t>
            </a:r>
            <a:endParaRPr lang="en-US" sz="1200" dirty="0"/>
          </a:p>
        </p:txBody>
      </p:sp>
      <p:sp>
        <p:nvSpPr>
          <p:cNvPr id="20" name="Text 18"/>
          <p:cNvSpPr txBox="1"/>
          <p:nvPr/>
        </p:nvSpPr>
        <p:spPr>
          <a:xfrm>
            <a:off x="8668941" y="2837061"/>
            <a:ext cx="7451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1.5</a:t>
            </a:r>
            <a:endParaRPr lang="en-US" sz="1200" dirty="0"/>
          </a:p>
        </p:txBody>
      </p:sp>
      <p:sp>
        <p:nvSpPr>
          <p:cNvPr id="21" name="Text 19"/>
          <p:cNvSpPr txBox="1"/>
          <p:nvPr/>
        </p:nvSpPr>
        <p:spPr>
          <a:xfrm>
            <a:off x="9537601" y="2837061"/>
            <a:ext cx="18122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15 %</a:t>
            </a:r>
            <a:endParaRPr lang="en-US" sz="1200" dirty="0"/>
          </a:p>
        </p:txBody>
      </p:sp>
      <p:sp>
        <p:nvSpPr>
          <p:cNvPr id="22" name="Shape 20"/>
          <p:cNvSpPr/>
          <p:nvPr/>
        </p:nvSpPr>
        <p:spPr>
          <a:xfrm>
            <a:off x="6553200" y="3078361"/>
            <a:ext cx="4826000" cy="304800"/>
          </a:xfrm>
          <a:prstGeom prst="rect">
            <a:avLst/>
          </a:prstGeom>
          <a:solidFill>
            <a:srgbClr val="E6EEF8"/>
          </a:solidFill>
          <a:ln/>
        </p:spPr>
      </p:sp>
      <p:sp>
        <p:nvSpPr>
          <p:cNvPr id="23" name="Text 21"/>
          <p:cNvSpPr txBox="1"/>
          <p:nvPr/>
        </p:nvSpPr>
        <p:spPr>
          <a:xfrm>
            <a:off x="6642100" y="3141861"/>
            <a:ext cx="19090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Stove ON, 1,850 W</a:t>
            </a:r>
            <a:endParaRPr lang="en-US" sz="1200" dirty="0"/>
          </a:p>
        </p:txBody>
      </p:sp>
      <p:sp>
        <p:nvSpPr>
          <p:cNvPr id="24" name="Text 22"/>
          <p:cNvSpPr txBox="1"/>
          <p:nvPr/>
        </p:nvSpPr>
        <p:spPr>
          <a:xfrm>
            <a:off x="8668941" y="3141861"/>
            <a:ext cx="7451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3.0</a:t>
            </a:r>
            <a:endParaRPr lang="en-US" sz="1200" dirty="0"/>
          </a:p>
        </p:txBody>
      </p:sp>
      <p:sp>
        <p:nvSpPr>
          <p:cNvPr id="25" name="Text 23"/>
          <p:cNvSpPr txBox="1"/>
          <p:nvPr/>
        </p:nvSpPr>
        <p:spPr>
          <a:xfrm>
            <a:off x="9537601" y="3141861"/>
            <a:ext cx="18122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66 %</a:t>
            </a:r>
            <a:endParaRPr lang="en-US" sz="1200" dirty="0"/>
          </a:p>
        </p:txBody>
      </p:sp>
      <p:sp>
        <p:nvSpPr>
          <p:cNvPr id="26" name="Shape 24"/>
          <p:cNvSpPr/>
          <p:nvPr/>
        </p:nvSpPr>
        <p:spPr>
          <a:xfrm>
            <a:off x="6553200" y="3383161"/>
            <a:ext cx="4826000" cy="304800"/>
          </a:xfrm>
          <a:prstGeom prst="rect">
            <a:avLst/>
          </a:prstGeom>
          <a:solidFill>
            <a:srgbClr val="F6F5F1"/>
          </a:solidFill>
          <a:ln/>
        </p:spPr>
      </p:sp>
      <p:sp>
        <p:nvSpPr>
          <p:cNvPr id="27" name="Text 25"/>
          <p:cNvSpPr txBox="1"/>
          <p:nvPr/>
        </p:nvSpPr>
        <p:spPr>
          <a:xfrm>
            <a:off x="6642100" y="3446661"/>
            <a:ext cx="190908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“Quiet” option</a:t>
            </a:r>
            <a:endParaRPr lang="en-US" sz="1200" dirty="0"/>
          </a:p>
        </p:txBody>
      </p:sp>
      <p:sp>
        <p:nvSpPr>
          <p:cNvPr id="28" name="Text 26"/>
          <p:cNvSpPr txBox="1"/>
          <p:nvPr/>
        </p:nvSpPr>
        <p:spPr>
          <a:xfrm>
            <a:off x="8668941" y="3446661"/>
            <a:ext cx="7451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a:t>
            </a:r>
            <a:endParaRPr lang="en-US" sz="1200" dirty="0"/>
          </a:p>
        </p:txBody>
      </p:sp>
      <p:sp>
        <p:nvSpPr>
          <p:cNvPr id="29" name="Text 27"/>
          <p:cNvSpPr txBox="1"/>
          <p:nvPr/>
        </p:nvSpPr>
        <p:spPr>
          <a:xfrm>
            <a:off x="9537601" y="3446661"/>
            <a:ext cx="18122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3 %</a:t>
            </a:r>
            <a:endParaRPr lang="en-US" sz="1200" dirty="0"/>
          </a:p>
        </p:txBody>
      </p:sp>
      <p:sp>
        <p:nvSpPr>
          <p:cNvPr id="30" name="Text 28"/>
          <p:cNvSpPr txBox="1"/>
          <p:nvPr/>
        </p:nvSpPr>
        <p:spPr>
          <a:xfrm>
            <a:off x="6553200" y="3808611"/>
            <a:ext cx="4900930"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A “movement” reporter weighs the same minute mostly toward the motion events. The four reports are averaged.</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 · STEP 3</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stream transformer: one set of weights, two reading modes</a:t>
            </a:r>
            <a:endParaRPr lang="en-US" sz="2800" dirty="0"/>
          </a:p>
        </p:txBody>
      </p:sp>
      <p:sp>
        <p:nvSpPr>
          <p:cNvPr id="4" name="Shape 2"/>
          <p:cNvSpPr/>
          <p:nvPr/>
        </p:nvSpPr>
        <p:spPr>
          <a:xfrm>
            <a:off x="812800" y="1849041"/>
            <a:ext cx="10566400" cy="304800"/>
          </a:xfrm>
          <a:prstGeom prst="rect">
            <a:avLst/>
          </a:prstGeom>
          <a:solidFill>
            <a:srgbClr val="14213D"/>
          </a:solidFill>
          <a:ln/>
        </p:spPr>
      </p:sp>
      <p:sp>
        <p:nvSpPr>
          <p:cNvPr id="5" name="Text 3"/>
          <p:cNvSpPr txBox="1"/>
          <p:nvPr/>
        </p:nvSpPr>
        <p:spPr>
          <a:xfrm>
            <a:off x="3014960" y="1912541"/>
            <a:ext cx="411976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Live mode (causal)</a:t>
            </a:r>
            <a:endParaRPr lang="en-US" sz="1200" dirty="0"/>
          </a:p>
        </p:txBody>
      </p:sp>
      <p:sp>
        <p:nvSpPr>
          <p:cNvPr id="6" name="Text 4"/>
          <p:cNvSpPr txBox="1"/>
          <p:nvPr/>
        </p:nvSpPr>
        <p:spPr>
          <a:xfrm>
            <a:off x="7241480" y="1912541"/>
            <a:ext cx="411986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Look-back mode (bidirectional)</a:t>
            </a:r>
            <a:endParaRPr lang="en-US" sz="1200" dirty="0"/>
          </a:p>
        </p:txBody>
      </p:sp>
      <p:sp>
        <p:nvSpPr>
          <p:cNvPr id="7" name="Shape 5"/>
          <p:cNvSpPr/>
          <p:nvPr/>
        </p:nvSpPr>
        <p:spPr>
          <a:xfrm>
            <a:off x="812800" y="2153841"/>
            <a:ext cx="10566400" cy="304800"/>
          </a:xfrm>
          <a:prstGeom prst="rect">
            <a:avLst/>
          </a:prstGeom>
          <a:solidFill>
            <a:srgbClr val="FDFCFA"/>
          </a:solidFill>
          <a:ln/>
        </p:spPr>
      </p:sp>
      <p:sp>
        <p:nvSpPr>
          <p:cNvPr id="8" name="Text 6"/>
          <p:cNvSpPr txBox="1"/>
          <p:nvPr/>
        </p:nvSpPr>
        <p:spPr>
          <a:xfrm>
            <a:off x="901700" y="22173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Runs</a:t>
            </a:r>
            <a:endParaRPr lang="en-US" sz="1200" dirty="0"/>
          </a:p>
        </p:txBody>
      </p:sp>
      <p:sp>
        <p:nvSpPr>
          <p:cNvPr id="9" name="Text 7"/>
          <p:cNvSpPr txBox="1"/>
          <p:nvPr/>
        </p:nvSpPr>
        <p:spPr>
          <a:xfrm>
            <a:off x="3014960" y="2217341"/>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Every minute</a:t>
            </a:r>
            <a:endParaRPr lang="en-US" sz="1200" dirty="0"/>
          </a:p>
        </p:txBody>
      </p:sp>
      <p:sp>
        <p:nvSpPr>
          <p:cNvPr id="10" name="Text 8"/>
          <p:cNvSpPr txBox="1"/>
          <p:nvPr/>
        </p:nvSpPr>
        <p:spPr>
          <a:xfrm>
            <a:off x="7241480" y="2217341"/>
            <a:ext cx="41198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About once an hour</a:t>
            </a:r>
            <a:endParaRPr lang="en-US" sz="1200" dirty="0"/>
          </a:p>
        </p:txBody>
      </p:sp>
      <p:sp>
        <p:nvSpPr>
          <p:cNvPr id="11" name="Shape 9"/>
          <p:cNvSpPr/>
          <p:nvPr/>
        </p:nvSpPr>
        <p:spPr>
          <a:xfrm>
            <a:off x="812800" y="2458641"/>
            <a:ext cx="10566400" cy="304800"/>
          </a:xfrm>
          <a:prstGeom prst="rect">
            <a:avLst/>
          </a:prstGeom>
          <a:solidFill>
            <a:srgbClr val="F6F5F1"/>
          </a:solidFill>
          <a:ln/>
        </p:spPr>
      </p:sp>
      <p:sp>
        <p:nvSpPr>
          <p:cNvPr id="12" name="Text 10"/>
          <p:cNvSpPr txBox="1"/>
          <p:nvPr/>
        </p:nvSpPr>
        <p:spPr>
          <a:xfrm>
            <a:off x="901700" y="25221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Reads</a:t>
            </a:r>
            <a:endParaRPr lang="en-US" sz="1200" dirty="0"/>
          </a:p>
        </p:txBody>
      </p:sp>
      <p:sp>
        <p:nvSpPr>
          <p:cNvPr id="13" name="Text 11"/>
          <p:cNvSpPr txBox="1"/>
          <p:nvPr/>
        </p:nvSpPr>
        <p:spPr>
          <a:xfrm>
            <a:off x="3014960" y="2522141"/>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The new minute + everything before it</a:t>
            </a:r>
            <a:endParaRPr lang="en-US" sz="1200" dirty="0"/>
          </a:p>
        </p:txBody>
      </p:sp>
      <p:sp>
        <p:nvSpPr>
          <p:cNvPr id="14" name="Text 12"/>
          <p:cNvSpPr txBox="1"/>
          <p:nvPr/>
        </p:nvSpPr>
        <p:spPr>
          <a:xfrm>
            <a:off x="7241480" y="2522141"/>
            <a:ext cx="41198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 block of recent hours at once</a:t>
            </a:r>
            <a:endParaRPr lang="en-US" sz="1200" dirty="0"/>
          </a:p>
        </p:txBody>
      </p:sp>
      <p:sp>
        <p:nvSpPr>
          <p:cNvPr id="15" name="Shape 13"/>
          <p:cNvSpPr/>
          <p:nvPr/>
        </p:nvSpPr>
        <p:spPr>
          <a:xfrm>
            <a:off x="812800" y="2763441"/>
            <a:ext cx="10566400" cy="304800"/>
          </a:xfrm>
          <a:prstGeom prst="rect">
            <a:avLst/>
          </a:prstGeom>
          <a:solidFill>
            <a:srgbClr val="FDFCFA"/>
          </a:solidFill>
          <a:ln/>
        </p:spPr>
      </p:sp>
      <p:sp>
        <p:nvSpPr>
          <p:cNvPr id="16" name="Text 14"/>
          <p:cNvSpPr txBox="1"/>
          <p:nvPr/>
        </p:nvSpPr>
        <p:spPr>
          <a:xfrm>
            <a:off x="901700" y="28269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Each minute looks at</a:t>
            </a:r>
            <a:endParaRPr lang="en-US" sz="1200" dirty="0"/>
          </a:p>
        </p:txBody>
      </p:sp>
      <p:sp>
        <p:nvSpPr>
          <p:cNvPr id="17" name="Text 15"/>
          <p:cNvSpPr txBox="1"/>
          <p:nvPr/>
        </p:nvSpPr>
        <p:spPr>
          <a:xfrm>
            <a:off x="3014960" y="2826941"/>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Only earlier minutes</a:t>
            </a:r>
            <a:endParaRPr lang="en-US" sz="1200" dirty="0"/>
          </a:p>
        </p:txBody>
      </p:sp>
      <p:sp>
        <p:nvSpPr>
          <p:cNvPr id="18" name="Text 16"/>
          <p:cNvSpPr txBox="1"/>
          <p:nvPr/>
        </p:nvSpPr>
        <p:spPr>
          <a:xfrm>
            <a:off x="7241480" y="2826941"/>
            <a:ext cx="41198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Earlier and later minutes in the block</a:t>
            </a:r>
            <a:endParaRPr lang="en-US" sz="1200" dirty="0"/>
          </a:p>
        </p:txBody>
      </p:sp>
      <p:sp>
        <p:nvSpPr>
          <p:cNvPr id="19" name="Shape 17"/>
          <p:cNvSpPr/>
          <p:nvPr/>
        </p:nvSpPr>
        <p:spPr>
          <a:xfrm>
            <a:off x="812800" y="3068241"/>
            <a:ext cx="10566400" cy="304800"/>
          </a:xfrm>
          <a:prstGeom prst="rect">
            <a:avLst/>
          </a:prstGeom>
          <a:solidFill>
            <a:srgbClr val="F6F5F1"/>
          </a:solidFill>
          <a:ln/>
        </p:spPr>
      </p:sp>
      <p:sp>
        <p:nvSpPr>
          <p:cNvPr id="20" name="Text 18"/>
          <p:cNvSpPr txBox="1"/>
          <p:nvPr/>
        </p:nvSpPr>
        <p:spPr>
          <a:xfrm>
            <a:off x="901700" y="31317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Good for</a:t>
            </a:r>
            <a:endParaRPr lang="en-US" sz="1200" dirty="0"/>
          </a:p>
        </p:txBody>
      </p:sp>
      <p:sp>
        <p:nvSpPr>
          <p:cNvPr id="21" name="Text 19"/>
          <p:cNvSpPr txBox="1"/>
          <p:nvPr/>
        </p:nvSpPr>
        <p:spPr>
          <a:xfrm>
            <a:off x="3014960" y="3131741"/>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What is happening now, alarms, surprise, forecasts</a:t>
            </a:r>
            <a:endParaRPr lang="en-US" sz="1200" dirty="0"/>
          </a:p>
        </p:txBody>
      </p:sp>
      <p:sp>
        <p:nvSpPr>
          <p:cNvPr id="22" name="Text 20"/>
          <p:cNvSpPr txBox="1"/>
          <p:nvPr/>
        </p:nvSpPr>
        <p:spPr>
          <a:xfrm>
            <a:off x="7241480" y="3131741"/>
            <a:ext cx="41198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Correct counts and durations for history</a:t>
            </a:r>
            <a:endParaRPr lang="en-US" sz="1200" dirty="0"/>
          </a:p>
        </p:txBody>
      </p:sp>
      <p:sp>
        <p:nvSpPr>
          <p:cNvPr id="23" name="Shape 21"/>
          <p:cNvSpPr/>
          <p:nvPr/>
        </p:nvSpPr>
        <p:spPr>
          <a:xfrm>
            <a:off x="812800" y="3373041"/>
            <a:ext cx="10566400" cy="304800"/>
          </a:xfrm>
          <a:prstGeom prst="rect">
            <a:avLst/>
          </a:prstGeom>
          <a:solidFill>
            <a:srgbClr val="FDFCFA"/>
          </a:solidFill>
          <a:ln/>
        </p:spPr>
      </p:sp>
      <p:sp>
        <p:nvSpPr>
          <p:cNvPr id="24" name="Text 22"/>
          <p:cNvSpPr txBox="1"/>
          <p:nvPr/>
        </p:nvSpPr>
        <p:spPr>
          <a:xfrm>
            <a:off x="901700" y="34365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Weakness</a:t>
            </a:r>
            <a:endParaRPr lang="en-US" sz="1200" dirty="0"/>
          </a:p>
        </p:txBody>
      </p:sp>
      <p:sp>
        <p:nvSpPr>
          <p:cNvPr id="25" name="Text 23"/>
          <p:cNvSpPr txBox="1"/>
          <p:nvPr/>
        </p:nvSpPr>
        <p:spPr>
          <a:xfrm>
            <a:off x="3014960" y="3436541"/>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 pause looks like an end</a:t>
            </a:r>
            <a:endParaRPr lang="en-US" sz="1200" dirty="0"/>
          </a:p>
        </p:txBody>
      </p:sp>
      <p:sp>
        <p:nvSpPr>
          <p:cNvPr id="26" name="Text 24"/>
          <p:cNvSpPr txBox="1"/>
          <p:nvPr/>
        </p:nvSpPr>
        <p:spPr>
          <a:xfrm>
            <a:off x="7241480" y="3436541"/>
            <a:ext cx="41198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Delayed: time has to pass first</a:t>
            </a:r>
            <a:endParaRPr lang="en-US" sz="1200" dirty="0"/>
          </a:p>
        </p:txBody>
      </p:sp>
      <p:sp>
        <p:nvSpPr>
          <p:cNvPr id="27" name="Shape 25"/>
          <p:cNvSpPr/>
          <p:nvPr/>
        </p:nvSpPr>
        <p:spPr>
          <a:xfrm>
            <a:off x="812800" y="3677841"/>
            <a:ext cx="10566400" cy="304800"/>
          </a:xfrm>
          <a:prstGeom prst="rect">
            <a:avLst/>
          </a:prstGeom>
          <a:solidFill>
            <a:srgbClr val="F6F5F1"/>
          </a:solidFill>
          <a:ln/>
        </p:spPr>
      </p:sp>
      <p:sp>
        <p:nvSpPr>
          <p:cNvPr id="28" name="Text 26"/>
          <p:cNvSpPr txBox="1"/>
          <p:nvPr/>
        </p:nvSpPr>
        <p:spPr>
          <a:xfrm>
            <a:off x="901700" y="3741341"/>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Code</a:t>
            </a:r>
            <a:endParaRPr lang="en-US" sz="1200" dirty="0"/>
          </a:p>
        </p:txBody>
      </p:sp>
      <p:sp>
        <p:nvSpPr>
          <p:cNvPr id="29" name="Text 27"/>
          <p:cNvSpPr txBox="1"/>
          <p:nvPr/>
        </p:nvSpPr>
        <p:spPr>
          <a:xfrm>
            <a:off x="3014960" y="3741341"/>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encode(batch, causal=True)</a:t>
            </a:r>
            <a:endParaRPr lang="en-US" sz="1200" dirty="0"/>
          </a:p>
        </p:txBody>
      </p:sp>
      <p:sp>
        <p:nvSpPr>
          <p:cNvPr id="30" name="Text 28"/>
          <p:cNvSpPr txBox="1"/>
          <p:nvPr/>
        </p:nvSpPr>
        <p:spPr>
          <a:xfrm>
            <a:off x="7241480" y="3741341"/>
            <a:ext cx="41198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encode(batch, causal=False)</a:t>
            </a:r>
            <a:endParaRPr lang="en-US" sz="1200" dirty="0"/>
          </a:p>
        </p:txBody>
      </p:sp>
      <p:sp>
        <p:nvSpPr>
          <p:cNvPr id="31" name="Text 29"/>
          <p:cNvSpPr txBox="1"/>
          <p:nvPr/>
        </p:nvSpPr>
        <p:spPr>
          <a:xfrm>
            <a:off x="812800" y="4179491"/>
            <a:ext cx="10670032"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Only the attention mask changes. Learned positions up to 1,024 minutes (about 17 h). Corpus configuration: d = 256, 6 layers, 8 heads. A KV cache (planned) makes each new minute cost one step on the hub. Look-back never sees the real future: at 20:00 it re-reads 17:00–20:00, which has already happened.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 · WORKED EXAMPLE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One dinner: live mode guesses, look-back corrects</a:t>
            </a:r>
            <a:endParaRPr lang="en-US" sz="2800" dirty="0"/>
          </a:p>
        </p:txBody>
      </p:sp>
      <p:sp>
        <p:nvSpPr>
          <p:cNvPr id="4" name="Shape 2"/>
          <p:cNvSpPr/>
          <p:nvPr/>
        </p:nvSpPr>
        <p:spPr>
          <a:xfrm>
            <a:off x="819150" y="1464270"/>
            <a:ext cx="1684834" cy="586581"/>
          </a:xfrm>
          <a:prstGeom prst="roundRect">
            <a:avLst>
              <a:gd name="adj" fmla="val 11908"/>
            </a:avLst>
          </a:prstGeom>
          <a:solidFill>
            <a:srgbClr val="FDFCFA"/>
          </a:solidFill>
          <a:ln w="12700">
            <a:solidFill>
              <a:srgbClr val="E3E0D7"/>
            </a:solidFill>
            <a:prstDash val="solid"/>
          </a:ln>
        </p:spPr>
      </p:sp>
      <p:sp>
        <p:nvSpPr>
          <p:cNvPr id="5" name="Text 3"/>
          <p:cNvSpPr txBox="1"/>
          <p:nvPr/>
        </p:nvSpPr>
        <p:spPr>
          <a:xfrm>
            <a:off x="898028" y="1572220"/>
            <a:ext cx="1527078"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18:30</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stove on</a:t>
            </a:r>
            <a:endParaRPr lang="en-US" sz="1200" dirty="0"/>
          </a:p>
        </p:txBody>
      </p:sp>
      <p:sp>
        <p:nvSpPr>
          <p:cNvPr id="6" name="Shape 4"/>
          <p:cNvSpPr/>
          <p:nvPr/>
        </p:nvSpPr>
        <p:spPr>
          <a:xfrm>
            <a:off x="2592884" y="1464270"/>
            <a:ext cx="1684834" cy="586581"/>
          </a:xfrm>
          <a:prstGeom prst="roundRect">
            <a:avLst>
              <a:gd name="adj" fmla="val 11908"/>
            </a:avLst>
          </a:prstGeom>
          <a:solidFill>
            <a:srgbClr val="FDFCFA"/>
          </a:solidFill>
          <a:ln w="12700">
            <a:solidFill>
              <a:srgbClr val="E3E0D7"/>
            </a:solidFill>
            <a:prstDash val="solid"/>
          </a:ln>
        </p:spPr>
      </p:sp>
      <p:sp>
        <p:nvSpPr>
          <p:cNvPr id="7" name="Text 5"/>
          <p:cNvSpPr txBox="1"/>
          <p:nvPr/>
        </p:nvSpPr>
        <p:spPr>
          <a:xfrm>
            <a:off x="2671761" y="1572220"/>
            <a:ext cx="1527078"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18:52</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stove off (resting)</a:t>
            </a:r>
            <a:endParaRPr lang="en-US" sz="1200" dirty="0"/>
          </a:p>
        </p:txBody>
      </p:sp>
      <p:sp>
        <p:nvSpPr>
          <p:cNvPr id="8" name="Shape 6"/>
          <p:cNvSpPr/>
          <p:nvPr/>
        </p:nvSpPr>
        <p:spPr>
          <a:xfrm>
            <a:off x="4366617" y="1464270"/>
            <a:ext cx="1684834" cy="586581"/>
          </a:xfrm>
          <a:prstGeom prst="roundRect">
            <a:avLst>
              <a:gd name="adj" fmla="val 11908"/>
            </a:avLst>
          </a:prstGeom>
          <a:solidFill>
            <a:srgbClr val="FDFCFA"/>
          </a:solidFill>
          <a:ln w="12700">
            <a:solidFill>
              <a:srgbClr val="E3E0D7"/>
            </a:solidFill>
            <a:prstDash val="solid"/>
          </a:ln>
        </p:spPr>
      </p:sp>
      <p:sp>
        <p:nvSpPr>
          <p:cNvPr id="9" name="Text 7"/>
          <p:cNvSpPr txBox="1"/>
          <p:nvPr/>
        </p:nvSpPr>
        <p:spPr>
          <a:xfrm>
            <a:off x="4445495" y="1572220"/>
            <a:ext cx="1527078"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18:59</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stove on again</a:t>
            </a:r>
            <a:endParaRPr lang="en-US" sz="1200" dirty="0"/>
          </a:p>
        </p:txBody>
      </p:sp>
      <p:sp>
        <p:nvSpPr>
          <p:cNvPr id="10" name="Shape 8"/>
          <p:cNvSpPr/>
          <p:nvPr/>
        </p:nvSpPr>
        <p:spPr>
          <a:xfrm>
            <a:off x="6140351" y="1464270"/>
            <a:ext cx="1684834" cy="586581"/>
          </a:xfrm>
          <a:prstGeom prst="roundRect">
            <a:avLst>
              <a:gd name="adj" fmla="val 11908"/>
            </a:avLst>
          </a:prstGeom>
          <a:solidFill>
            <a:srgbClr val="FDFCFA"/>
          </a:solidFill>
          <a:ln w="12700">
            <a:solidFill>
              <a:srgbClr val="E3E0D7"/>
            </a:solidFill>
            <a:prstDash val="solid"/>
          </a:ln>
        </p:spPr>
      </p:sp>
      <p:sp>
        <p:nvSpPr>
          <p:cNvPr id="11" name="Text 9"/>
          <p:cNvSpPr txBox="1"/>
          <p:nvPr/>
        </p:nvSpPr>
        <p:spPr>
          <a:xfrm>
            <a:off x="6219228" y="1572220"/>
            <a:ext cx="1527078"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19:22</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stove off</a:t>
            </a:r>
            <a:endParaRPr lang="en-US" sz="1200" dirty="0"/>
          </a:p>
        </p:txBody>
      </p:sp>
      <p:sp>
        <p:nvSpPr>
          <p:cNvPr id="12" name="Shape 10"/>
          <p:cNvSpPr/>
          <p:nvPr/>
        </p:nvSpPr>
        <p:spPr>
          <a:xfrm>
            <a:off x="7914084" y="1464270"/>
            <a:ext cx="1684834" cy="586581"/>
          </a:xfrm>
          <a:prstGeom prst="roundRect">
            <a:avLst>
              <a:gd name="adj" fmla="val 11908"/>
            </a:avLst>
          </a:prstGeom>
          <a:solidFill>
            <a:srgbClr val="FDFCFA"/>
          </a:solidFill>
          <a:ln w="12700">
            <a:solidFill>
              <a:srgbClr val="E3E0D7"/>
            </a:solidFill>
            <a:prstDash val="solid"/>
          </a:ln>
        </p:spPr>
      </p:sp>
      <p:sp>
        <p:nvSpPr>
          <p:cNvPr id="13" name="Text 11"/>
          <p:cNvSpPr txBox="1"/>
          <p:nvPr/>
        </p:nvSpPr>
        <p:spPr>
          <a:xfrm>
            <a:off x="7992962" y="1572220"/>
            <a:ext cx="1527078"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19:22–19:25</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washing up</a:t>
            </a:r>
            <a:endParaRPr lang="en-US" sz="1200" dirty="0"/>
          </a:p>
        </p:txBody>
      </p:sp>
      <p:sp>
        <p:nvSpPr>
          <p:cNvPr id="14" name="Shape 12"/>
          <p:cNvSpPr/>
          <p:nvPr/>
        </p:nvSpPr>
        <p:spPr>
          <a:xfrm>
            <a:off x="9687818" y="1464270"/>
            <a:ext cx="1684834" cy="586581"/>
          </a:xfrm>
          <a:prstGeom prst="roundRect">
            <a:avLst>
              <a:gd name="adj" fmla="val 11908"/>
            </a:avLst>
          </a:prstGeom>
          <a:solidFill>
            <a:srgbClr val="FDFCFA"/>
          </a:solidFill>
          <a:ln w="12700">
            <a:solidFill>
              <a:srgbClr val="E3E0D7"/>
            </a:solidFill>
            <a:prstDash val="solid"/>
          </a:ln>
        </p:spPr>
      </p:sp>
      <p:sp>
        <p:nvSpPr>
          <p:cNvPr id="15" name="Text 13"/>
          <p:cNvSpPr txBox="1"/>
          <p:nvPr/>
        </p:nvSpPr>
        <p:spPr>
          <a:xfrm>
            <a:off x="9766696" y="1572220"/>
            <a:ext cx="1527078"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19:26</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kitchen empty</a:t>
            </a:r>
            <a:endParaRPr lang="en-US" sz="1200" dirty="0"/>
          </a:p>
        </p:txBody>
      </p:sp>
      <p:sp>
        <p:nvSpPr>
          <p:cNvPr id="16" name="Text 14"/>
          <p:cNvSpPr txBox="1"/>
          <p:nvPr/>
        </p:nvSpPr>
        <p:spPr>
          <a:xfrm>
            <a:off x="812800" y="2254052"/>
            <a:ext cx="10670032" cy="23114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Truth: </a:t>
            </a:r>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one</a:t>
            </a:r>
            <a:pPr algn="l" indent="0" marL="0">
              <a:lnSpc>
                <a:spcPts val="1820"/>
              </a:lnSpc>
              <a:buNone/>
            </a:pPr>
            <a:r>
              <a:rPr lang="en-US" sz="1300" dirty="0">
                <a:solidFill>
                  <a:srgbClr val="14213D"/>
                </a:solidFill>
                <a:latin typeface="Arial" pitchFamily="34" charset="0"/>
                <a:ea typeface="Arial" pitchFamily="34" charset="-122"/>
                <a:cs typeface="Arial" pitchFamily="34" charset="-120"/>
              </a:rPr>
              <a:t> cooking session, 18:30–19:22.</a:t>
            </a:r>
            <a:endParaRPr lang="en-US" sz="1300" dirty="0"/>
          </a:p>
        </p:txBody>
      </p:sp>
      <p:sp>
        <p:nvSpPr>
          <p:cNvPr id="17" name="Shape 15"/>
          <p:cNvSpPr/>
          <p:nvPr/>
        </p:nvSpPr>
        <p:spPr>
          <a:xfrm>
            <a:off x="819150" y="2650232"/>
            <a:ext cx="5181600" cy="1942902"/>
          </a:xfrm>
          <a:prstGeom prst="roundRect">
            <a:avLst>
              <a:gd name="adj" fmla="val 4902"/>
            </a:avLst>
          </a:prstGeom>
          <a:solidFill>
            <a:srgbClr val="FDFCFA"/>
          </a:solidFill>
          <a:ln w="12700">
            <a:solidFill>
              <a:srgbClr val="E3E0D7"/>
            </a:solidFill>
            <a:prstDash val="solid"/>
          </a:ln>
        </p:spPr>
      </p:sp>
      <p:sp>
        <p:nvSpPr>
          <p:cNvPr id="18" name="Shape 16"/>
          <p:cNvSpPr/>
          <p:nvPr/>
        </p:nvSpPr>
        <p:spPr>
          <a:xfrm>
            <a:off x="1003300" y="2834382"/>
            <a:ext cx="2303264" cy="254000"/>
          </a:xfrm>
          <a:prstGeom prst="roundRect">
            <a:avLst>
              <a:gd name="adj" fmla="val 50000"/>
            </a:avLst>
          </a:prstGeom>
          <a:solidFill>
            <a:srgbClr val="FBEBDD"/>
          </a:solidFill>
          <a:ln/>
        </p:spPr>
      </p:sp>
      <p:sp>
        <p:nvSpPr>
          <p:cNvPr id="19" name="Text 17"/>
          <p:cNvSpPr txBox="1"/>
          <p:nvPr/>
        </p:nvSpPr>
        <p:spPr>
          <a:xfrm>
            <a:off x="1104900" y="2872482"/>
            <a:ext cx="2161364"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Live mode, minute by minute</a:t>
            </a:r>
            <a:endParaRPr lang="en-US" sz="1200" dirty="0"/>
          </a:p>
        </p:txBody>
      </p:sp>
      <p:sp>
        <p:nvSpPr>
          <p:cNvPr id="20" name="Text 18"/>
          <p:cNvSpPr txBox="1"/>
          <p:nvPr/>
        </p:nvSpPr>
        <p:spPr>
          <a:xfrm>
            <a:off x="1003300" y="3170932"/>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18:57: stove off 5 min → closes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cooking 18:30–18:52</a:t>
            </a:r>
            <a:endParaRPr lang="en-US" sz="1200" dirty="0"/>
          </a:p>
        </p:txBody>
      </p:sp>
      <p:sp>
        <p:nvSpPr>
          <p:cNvPr id="21" name="Text 19"/>
          <p:cNvSpPr txBox="1"/>
          <p:nvPr/>
        </p:nvSpPr>
        <p:spPr>
          <a:xfrm>
            <a:off x="1003300" y="3447752"/>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18:59: stove on → opens a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new</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session</a:t>
            </a:r>
            <a:endParaRPr lang="en-US" sz="1200" dirty="0"/>
          </a:p>
        </p:txBody>
      </p:sp>
      <p:sp>
        <p:nvSpPr>
          <p:cNvPr id="22" name="Text 20"/>
          <p:cNvSpPr txBox="1"/>
          <p:nvPr/>
        </p:nvSpPr>
        <p:spPr>
          <a:xfrm>
            <a:off x="1003300" y="372457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19:26: kitchen empty →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cooking 18:59–19:25</a:t>
            </a:r>
            <a:endParaRPr lang="en-US" sz="1200" dirty="0"/>
          </a:p>
        </p:txBody>
      </p:sp>
      <p:sp>
        <p:nvSpPr>
          <p:cNvPr id="23" name="Text 21"/>
          <p:cNvSpPr txBox="1"/>
          <p:nvPr/>
        </p:nvSpPr>
        <p:spPr>
          <a:xfrm>
            <a:off x="1003300" y="4001393"/>
            <a:ext cx="4888167" cy="384770"/>
          </a:xfrm>
          <a:prstGeom prst="rect">
            <a:avLst/>
          </a:prstGeom>
          <a:noFill/>
          <a:ln/>
        </p:spPr>
        <p:txBody>
          <a:bodyPr wrap="square" lIns="0" tIns="0" rIns="0" bIns="0" rtlCol="0" anchor="t"/>
          <a:lstStyle/>
          <a:p>
            <a:pPr algn="l" indent="0" marL="0">
              <a:lnSpc>
                <a:spcPts val="1680"/>
              </a:lnSpc>
              <a:buNone/>
            </a:pPr>
            <a:r>
              <a:rPr lang="en-US" sz="1200" dirty="0">
                <a:solidFill>
                  <a:srgbClr val="A8470B"/>
                </a:solidFill>
                <a:latin typeface="Arial" pitchFamily="34" charset="0"/>
                <a:ea typeface="Arial" pitchFamily="34" charset="-122"/>
                <a:cs typeface="Arial" pitchFamily="34" charset="-120"/>
              </a:rPr>
              <a:t>Result: 2 sessions, wrong, but the best possible guess at each moment.</a:t>
            </a:r>
            <a:endParaRPr lang="en-US" sz="1200" dirty="0"/>
          </a:p>
        </p:txBody>
      </p:sp>
      <p:sp>
        <p:nvSpPr>
          <p:cNvPr id="24" name="Shape 22"/>
          <p:cNvSpPr/>
          <p:nvPr/>
        </p:nvSpPr>
        <p:spPr>
          <a:xfrm>
            <a:off x="6191250" y="2650232"/>
            <a:ext cx="5181600" cy="1942902"/>
          </a:xfrm>
          <a:prstGeom prst="roundRect">
            <a:avLst>
              <a:gd name="adj" fmla="val 4902"/>
            </a:avLst>
          </a:prstGeom>
          <a:solidFill>
            <a:srgbClr val="FDFCFA"/>
          </a:solidFill>
          <a:ln w="12700">
            <a:solidFill>
              <a:srgbClr val="E3E0D7"/>
            </a:solidFill>
            <a:prstDash val="solid"/>
          </a:ln>
        </p:spPr>
      </p:sp>
      <p:sp>
        <p:nvSpPr>
          <p:cNvPr id="25" name="Shape 23"/>
          <p:cNvSpPr/>
          <p:nvPr/>
        </p:nvSpPr>
        <p:spPr>
          <a:xfrm>
            <a:off x="6375400" y="2834382"/>
            <a:ext cx="1575395" cy="254000"/>
          </a:xfrm>
          <a:prstGeom prst="roundRect">
            <a:avLst>
              <a:gd name="adj" fmla="val 50000"/>
            </a:avLst>
          </a:prstGeom>
          <a:solidFill>
            <a:srgbClr val="E3F0E7"/>
          </a:solidFill>
          <a:ln/>
        </p:spPr>
      </p:sp>
      <p:sp>
        <p:nvSpPr>
          <p:cNvPr id="26" name="Text 24"/>
          <p:cNvSpPr txBox="1"/>
          <p:nvPr/>
        </p:nvSpPr>
        <p:spPr>
          <a:xfrm>
            <a:off x="6477000" y="2872482"/>
            <a:ext cx="1429856" cy="175260"/>
          </a:xfrm>
          <a:prstGeom prst="rect">
            <a:avLst/>
          </a:prstGeom>
          <a:noFill/>
          <a:ln/>
        </p:spPr>
        <p:txBody>
          <a:bodyPr wrap="square" lIns="0" tIns="0" rIns="0" bIns="0" rtlCol="0" anchor="t"/>
          <a:lstStyle/>
          <a:p>
            <a:pPr algn="l" indent="0" marL="0">
              <a:lnSpc>
                <a:spcPts val="1380"/>
              </a:lnSpc>
              <a:buNone/>
            </a:pPr>
            <a:r>
              <a:rPr lang="en-US" sz="1200" b="1" dirty="0">
                <a:solidFill>
                  <a:srgbClr val="2F6B45"/>
                </a:solidFill>
                <a:latin typeface="Arial" pitchFamily="34" charset="0"/>
                <a:ea typeface="Arial" pitchFamily="34" charset="-122"/>
                <a:cs typeface="Arial" pitchFamily="34" charset="-120"/>
              </a:rPr>
              <a:t>Look-back at 20:00</a:t>
            </a:r>
            <a:endParaRPr lang="en-US" sz="1200" dirty="0"/>
          </a:p>
        </p:txBody>
      </p:sp>
      <p:sp>
        <p:nvSpPr>
          <p:cNvPr id="27" name="Text 25"/>
          <p:cNvSpPr txBox="1"/>
          <p:nvPr/>
        </p:nvSpPr>
        <p:spPr>
          <a:xfrm>
            <a:off x="6375400" y="3170932"/>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18:53 re-checked with 18:59 known → a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pause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not an end</a:t>
            </a:r>
            <a:endParaRPr lang="en-US" sz="1200" dirty="0"/>
          </a:p>
        </p:txBody>
      </p:sp>
      <p:sp>
        <p:nvSpPr>
          <p:cNvPr id="28" name="Text 26"/>
          <p:cNvSpPr txBox="1"/>
          <p:nvPr/>
        </p:nvSpPr>
        <p:spPr>
          <a:xfrm>
            <a:off x="6375400" y="3447752"/>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18:59 → the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same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session continuing</a:t>
            </a:r>
            <a:endParaRPr lang="en-US" sz="1200" dirty="0"/>
          </a:p>
        </p:txBody>
      </p:sp>
      <p:sp>
        <p:nvSpPr>
          <p:cNvPr id="29" name="Text 27"/>
          <p:cNvSpPr txBox="1"/>
          <p:nvPr/>
        </p:nvSpPr>
        <p:spPr>
          <a:xfrm>
            <a:off x="6375400" y="372457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19:23–19:25 tap and wiping → cleaning, so cooking ended 19:22</a:t>
            </a:r>
            <a:endParaRPr lang="en-US" sz="1200" dirty="0"/>
          </a:p>
        </p:txBody>
      </p:sp>
      <p:sp>
        <p:nvSpPr>
          <p:cNvPr id="30" name="Text 28"/>
          <p:cNvSpPr txBox="1"/>
          <p:nvPr/>
        </p:nvSpPr>
        <p:spPr>
          <a:xfrm>
            <a:off x="6375400" y="400139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2F6B45"/>
                </a:solidFill>
                <a:latin typeface="Arial" pitchFamily="34" charset="0"/>
                <a:ea typeface="Arial" pitchFamily="34" charset="-122"/>
                <a:cs typeface="Arial" pitchFamily="34" charset="-120"/>
              </a:rPr>
              <a:t>Result: 1 session, 18:30–19:22, correct.</a:t>
            </a:r>
            <a:endParaRPr lang="en-US" sz="1200" dirty="0"/>
          </a:p>
        </p:txBody>
      </p:sp>
      <p:sp>
        <p:nvSpPr>
          <p:cNvPr id="31" name="Text 29"/>
          <p:cNvSpPr txBox="1"/>
          <p:nvPr/>
        </p:nvSpPr>
        <p:spPr>
          <a:xfrm>
            <a:off x="812800" y="4796334"/>
            <a:ext cx="10670032" cy="231140"/>
          </a:xfrm>
          <a:prstGeom prst="rect">
            <a:avLst/>
          </a:prstGeom>
          <a:noFill/>
          <a:ln/>
        </p:spPr>
        <p:txBody>
          <a:bodyPr wrap="square" lIns="0" tIns="0" rIns="0" bIns="0" rtlCol="0" anchor="t"/>
          <a:lstStyle/>
          <a:p>
            <a:pPr algn="l" indent="0" marL="0">
              <a:lnSpc>
                <a:spcPts val="1820"/>
              </a:lnSpc>
              <a:buNone/>
            </a:pPr>
            <a:r>
              <a:rPr lang="en-US" sz="1300" dirty="0">
                <a:solidFill>
                  <a:srgbClr val="14213D"/>
                </a:solidFill>
                <a:latin typeface="Arial" pitchFamily="34" charset="0"/>
                <a:ea typeface="Arial" pitchFamily="34" charset="-122"/>
                <a:cs typeface="Arial" pitchFamily="34" charset="-120"/>
              </a:rPr>
              <a:t>Questions about </a:t>
            </a:r>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now</a:t>
            </a:r>
            <a:pPr algn="l" indent="0" marL="0">
              <a:lnSpc>
                <a:spcPts val="1820"/>
              </a:lnSpc>
              <a:buNone/>
            </a:pPr>
            <a:r>
              <a:rPr lang="en-US" sz="1300" dirty="0">
                <a:solidFill>
                  <a:srgbClr val="14213D"/>
                </a:solidFill>
                <a:latin typeface="Arial" pitchFamily="34" charset="0"/>
                <a:ea typeface="Arial" pitchFamily="34" charset="-122"/>
                <a:cs typeface="Arial" pitchFamily="34" charset="-120"/>
              </a:rPr>
              <a:t> use live mode; questions about </a:t>
            </a:r>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the past</a:t>
            </a:r>
            <a:pPr algn="l" indent="0" marL="0">
              <a:lnSpc>
                <a:spcPts val="1820"/>
              </a:lnSpc>
              <a:buNone/>
            </a:pPr>
            <a:r>
              <a:rPr lang="en-US" sz="1300" dirty="0">
                <a:solidFill>
                  <a:srgbClr val="14213D"/>
                </a:solidFill>
                <a:latin typeface="Arial" pitchFamily="34" charset="0"/>
                <a:ea typeface="Arial" pitchFamily="34" charset="-122"/>
                <a:cs typeface="Arial" pitchFamily="34" charset="-120"/>
              </a:rPr>
              <a:t> use the corrected episodes.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Heads: small outputs on the same minute vectors</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273921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Head</a:t>
            </a:r>
            <a:endParaRPr lang="en-US" sz="1200" dirty="0"/>
          </a:p>
        </p:txBody>
      </p:sp>
      <p:sp>
        <p:nvSpPr>
          <p:cNvPr id="6" name="Text 4"/>
          <p:cNvSpPr txBox="1"/>
          <p:nvPr/>
        </p:nvSpPr>
        <p:spPr>
          <a:xfrm>
            <a:off x="3754537" y="1521420"/>
            <a:ext cx="284540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Job</a:t>
            </a:r>
            <a:endParaRPr lang="en-US" sz="1200" dirty="0"/>
          </a:p>
        </p:txBody>
      </p:sp>
      <p:sp>
        <p:nvSpPr>
          <p:cNvPr id="7" name="Text 5"/>
          <p:cNvSpPr txBox="1"/>
          <p:nvPr/>
        </p:nvSpPr>
        <p:spPr>
          <a:xfrm>
            <a:off x="6713041" y="1521420"/>
            <a:ext cx="305780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Enables</a:t>
            </a:r>
            <a:endParaRPr lang="en-US" sz="1200" dirty="0"/>
          </a:p>
        </p:txBody>
      </p:sp>
      <p:sp>
        <p:nvSpPr>
          <p:cNvPr id="8" name="Text 6"/>
          <p:cNvSpPr txBox="1"/>
          <p:nvPr/>
        </p:nvSpPr>
        <p:spPr>
          <a:xfrm>
            <a:off x="9882882" y="1521420"/>
            <a:ext cx="146525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Status</a:t>
            </a:r>
            <a:endParaRPr lang="en-US" sz="1200" dirty="0"/>
          </a:p>
        </p:txBody>
      </p:sp>
      <p:sp>
        <p:nvSpPr>
          <p:cNvPr id="9" name="Shape 7"/>
          <p:cNvSpPr/>
          <p:nvPr/>
        </p:nvSpPr>
        <p:spPr>
          <a:xfrm>
            <a:off x="812800" y="1762720"/>
            <a:ext cx="10566400" cy="304800"/>
          </a:xfrm>
          <a:prstGeom prst="rect">
            <a:avLst/>
          </a:prstGeom>
          <a:solidFill>
            <a:srgbClr val="FDFCFA"/>
          </a:solidFill>
          <a:ln/>
        </p:spPr>
      </p:sp>
      <p:sp>
        <p:nvSpPr>
          <p:cNvPr id="10" name="Text 8"/>
          <p:cNvSpPr txBox="1"/>
          <p:nvPr/>
        </p:nvSpPr>
        <p:spPr>
          <a:xfrm>
            <a:off x="901700" y="1826220"/>
            <a:ext cx="273921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 event with timing</a:t>
            </a:r>
            <a:endParaRPr lang="en-US" sz="1200" dirty="0"/>
          </a:p>
        </p:txBody>
      </p:sp>
      <p:sp>
        <p:nvSpPr>
          <p:cNvPr id="11" name="Text 9"/>
          <p:cNvSpPr txBox="1"/>
          <p:nvPr/>
        </p:nvSpPr>
        <p:spPr>
          <a:xfrm>
            <a:off x="3754537" y="1826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Which device, what value, and when</a:t>
            </a:r>
            <a:endParaRPr lang="en-US" sz="1200" dirty="0"/>
          </a:p>
        </p:txBody>
      </p:sp>
      <p:sp>
        <p:nvSpPr>
          <p:cNvPr id="12" name="Text 10"/>
          <p:cNvSpPr txBox="1"/>
          <p:nvPr/>
        </p:nvSpPr>
        <p:spPr>
          <a:xfrm>
            <a:off x="6713041" y="18262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Forecasts, surprise scores</a:t>
            </a:r>
            <a:endParaRPr lang="en-US" sz="1200" dirty="0"/>
          </a:p>
        </p:txBody>
      </p:sp>
      <p:sp>
        <p:nvSpPr>
          <p:cNvPr id="13" name="Text 11"/>
          <p:cNvSpPr txBox="1"/>
          <p:nvPr/>
        </p:nvSpPr>
        <p:spPr>
          <a:xfrm>
            <a:off x="9882882" y="1826220"/>
            <a:ext cx="14652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Built</a:t>
            </a:r>
            <a:endParaRPr lang="en-US" sz="1200" dirty="0"/>
          </a:p>
        </p:txBody>
      </p:sp>
      <p:sp>
        <p:nvSpPr>
          <p:cNvPr id="14" name="Shape 12"/>
          <p:cNvSpPr/>
          <p:nvPr/>
        </p:nvSpPr>
        <p:spPr>
          <a:xfrm>
            <a:off x="812800" y="2067520"/>
            <a:ext cx="10566400" cy="304800"/>
          </a:xfrm>
          <a:prstGeom prst="rect">
            <a:avLst/>
          </a:prstGeom>
          <a:solidFill>
            <a:srgbClr val="F6F5F1"/>
          </a:solidFill>
          <a:ln/>
        </p:spPr>
      </p:sp>
      <p:sp>
        <p:nvSpPr>
          <p:cNvPr id="15" name="Text 13"/>
          <p:cNvSpPr txBox="1"/>
          <p:nvPr/>
        </p:nvSpPr>
        <p:spPr>
          <a:xfrm>
            <a:off x="901700" y="2131020"/>
            <a:ext cx="273921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Tagger (activity by sentence)</a:t>
            </a:r>
            <a:endParaRPr lang="en-US" sz="1200" dirty="0"/>
          </a:p>
        </p:txBody>
      </p:sp>
      <p:sp>
        <p:nvSpPr>
          <p:cNvPr id="16" name="Text 14"/>
          <p:cNvSpPr txBox="1"/>
          <p:nvPr/>
        </p:nvSpPr>
        <p:spPr>
          <a:xfrm>
            <a:off x="3754537" y="2131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Scores each minute against any text</a:t>
            </a:r>
            <a:endParaRPr lang="en-US" sz="1200" dirty="0"/>
          </a:p>
        </p:txBody>
      </p:sp>
      <p:sp>
        <p:nvSpPr>
          <p:cNvPr id="17" name="Text 15"/>
          <p:cNvSpPr txBox="1"/>
          <p:nvPr/>
        </p:nvSpPr>
        <p:spPr>
          <a:xfrm>
            <a:off x="6713041" y="21310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“Did anyone vacuum?” with no labels</a:t>
            </a:r>
            <a:endParaRPr lang="en-US" sz="1200" dirty="0"/>
          </a:p>
        </p:txBody>
      </p:sp>
      <p:sp>
        <p:nvSpPr>
          <p:cNvPr id="18" name="Text 16"/>
          <p:cNvSpPr txBox="1"/>
          <p:nvPr/>
        </p:nvSpPr>
        <p:spPr>
          <a:xfrm>
            <a:off x="9882882" y="2131020"/>
            <a:ext cx="14652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Designed</a:t>
            </a:r>
            <a:endParaRPr lang="en-US" sz="1200" dirty="0"/>
          </a:p>
        </p:txBody>
      </p:sp>
      <p:sp>
        <p:nvSpPr>
          <p:cNvPr id="19" name="Shape 17"/>
          <p:cNvSpPr/>
          <p:nvPr/>
        </p:nvSpPr>
        <p:spPr>
          <a:xfrm>
            <a:off x="812800" y="2372320"/>
            <a:ext cx="10566400" cy="304800"/>
          </a:xfrm>
          <a:prstGeom prst="rect">
            <a:avLst/>
          </a:prstGeom>
          <a:solidFill>
            <a:srgbClr val="FDFCFA"/>
          </a:solidFill>
          <a:ln/>
        </p:spPr>
      </p:sp>
      <p:sp>
        <p:nvSpPr>
          <p:cNvPr id="20" name="Text 18"/>
          <p:cNvSpPr txBox="1"/>
          <p:nvPr/>
        </p:nvSpPr>
        <p:spPr>
          <a:xfrm>
            <a:off x="901700" y="2435820"/>
            <a:ext cx="273921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Start / end</a:t>
            </a:r>
            <a:endParaRPr lang="en-US" sz="1200" dirty="0"/>
          </a:p>
        </p:txBody>
      </p:sp>
      <p:sp>
        <p:nvSpPr>
          <p:cNvPr id="21" name="Text 19"/>
          <p:cNvSpPr txBox="1"/>
          <p:nvPr/>
        </p:nvSpPr>
        <p:spPr>
          <a:xfrm>
            <a:off x="3754537" y="24358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Where an activity begins and ends</a:t>
            </a:r>
            <a:endParaRPr lang="en-US" sz="1200" dirty="0"/>
          </a:p>
        </p:txBody>
      </p:sp>
      <p:sp>
        <p:nvSpPr>
          <p:cNvPr id="22" name="Text 20"/>
          <p:cNvSpPr txBox="1"/>
          <p:nvPr/>
        </p:nvSpPr>
        <p:spPr>
          <a:xfrm>
            <a:off x="6713041" y="24358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Counts and durations</a:t>
            </a:r>
            <a:endParaRPr lang="en-US" sz="1200" dirty="0"/>
          </a:p>
        </p:txBody>
      </p:sp>
      <p:sp>
        <p:nvSpPr>
          <p:cNvPr id="23" name="Text 21"/>
          <p:cNvSpPr txBox="1"/>
          <p:nvPr/>
        </p:nvSpPr>
        <p:spPr>
          <a:xfrm>
            <a:off x="9882882" y="2435820"/>
            <a:ext cx="14652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Designed</a:t>
            </a:r>
            <a:endParaRPr lang="en-US" sz="1200" dirty="0"/>
          </a:p>
        </p:txBody>
      </p:sp>
      <p:sp>
        <p:nvSpPr>
          <p:cNvPr id="24" name="Shape 22"/>
          <p:cNvSpPr/>
          <p:nvPr/>
        </p:nvSpPr>
        <p:spPr>
          <a:xfrm>
            <a:off x="812800" y="2677120"/>
            <a:ext cx="10566400" cy="304800"/>
          </a:xfrm>
          <a:prstGeom prst="rect">
            <a:avLst/>
          </a:prstGeom>
          <a:solidFill>
            <a:srgbClr val="F6F5F1"/>
          </a:solidFill>
          <a:ln/>
        </p:spPr>
      </p:sp>
      <p:sp>
        <p:nvSpPr>
          <p:cNvPr id="25" name="Text 23"/>
          <p:cNvSpPr txBox="1"/>
          <p:nvPr/>
        </p:nvSpPr>
        <p:spPr>
          <a:xfrm>
            <a:off x="901700" y="2740620"/>
            <a:ext cx="273921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Occupancy / identity</a:t>
            </a:r>
            <a:endParaRPr lang="en-US" sz="1200" dirty="0"/>
          </a:p>
        </p:txBody>
      </p:sp>
      <p:sp>
        <p:nvSpPr>
          <p:cNvPr id="26" name="Text 24"/>
          <p:cNvSpPr txBox="1"/>
          <p:nvPr/>
        </p:nvSpPr>
        <p:spPr>
          <a:xfrm>
            <a:off x="3754537" y="27406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People per room, and who</a:t>
            </a:r>
            <a:endParaRPr lang="en-US" sz="1200" dirty="0"/>
          </a:p>
        </p:txBody>
      </p:sp>
      <p:sp>
        <p:nvSpPr>
          <p:cNvPr id="27" name="Text 25"/>
          <p:cNvSpPr txBox="1"/>
          <p:nvPr/>
        </p:nvSpPr>
        <p:spPr>
          <a:xfrm>
            <a:off x="6713041" y="27406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“How many people are in the living room?”</a:t>
            </a:r>
            <a:endParaRPr lang="en-US" sz="1200" dirty="0"/>
          </a:p>
        </p:txBody>
      </p:sp>
      <p:sp>
        <p:nvSpPr>
          <p:cNvPr id="28" name="Text 26"/>
          <p:cNvSpPr txBox="1"/>
          <p:nvPr/>
        </p:nvSpPr>
        <p:spPr>
          <a:xfrm>
            <a:off x="9882882" y="2740620"/>
            <a:ext cx="14652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Designed</a:t>
            </a:r>
            <a:endParaRPr lang="en-US" sz="1200" dirty="0"/>
          </a:p>
        </p:txBody>
      </p:sp>
      <p:sp>
        <p:nvSpPr>
          <p:cNvPr id="29" name="Shape 27"/>
          <p:cNvSpPr/>
          <p:nvPr/>
        </p:nvSpPr>
        <p:spPr>
          <a:xfrm>
            <a:off x="812800" y="2981920"/>
            <a:ext cx="10566400" cy="304800"/>
          </a:xfrm>
          <a:prstGeom prst="rect">
            <a:avLst/>
          </a:prstGeom>
          <a:solidFill>
            <a:srgbClr val="FDFCFA"/>
          </a:solidFill>
          <a:ln/>
        </p:spPr>
      </p:sp>
      <p:sp>
        <p:nvSpPr>
          <p:cNvPr id="30" name="Text 28"/>
          <p:cNvSpPr txBox="1"/>
          <p:nvPr/>
        </p:nvSpPr>
        <p:spPr>
          <a:xfrm>
            <a:off x="901700" y="3045420"/>
            <a:ext cx="273921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Anomaly score</a:t>
            </a:r>
            <a:endParaRPr lang="en-US" sz="1200" dirty="0"/>
          </a:p>
        </p:txBody>
      </p:sp>
      <p:sp>
        <p:nvSpPr>
          <p:cNvPr id="31" name="Text 29"/>
          <p:cNvSpPr txBox="1"/>
          <p:nvPr/>
        </p:nvSpPr>
        <p:spPr>
          <a:xfrm>
            <a:off x="3754537" y="30454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How unusual this is for this home</a:t>
            </a:r>
            <a:endParaRPr lang="en-US" sz="1200" dirty="0"/>
          </a:p>
        </p:txBody>
      </p:sp>
      <p:sp>
        <p:nvSpPr>
          <p:cNvPr id="32" name="Text 30"/>
          <p:cNvSpPr txBox="1"/>
          <p:nvPr/>
        </p:nvSpPr>
        <p:spPr>
          <a:xfrm>
            <a:off x="6713041" y="30454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“Anything unusual last night?”</a:t>
            </a:r>
            <a:endParaRPr lang="en-US" sz="1200" dirty="0"/>
          </a:p>
        </p:txBody>
      </p:sp>
      <p:sp>
        <p:nvSpPr>
          <p:cNvPr id="33" name="Text 31"/>
          <p:cNvSpPr txBox="1"/>
          <p:nvPr/>
        </p:nvSpPr>
        <p:spPr>
          <a:xfrm>
            <a:off x="9882882" y="3045420"/>
            <a:ext cx="14652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Surprise built</a:t>
            </a:r>
            <a:endParaRPr lang="en-US" sz="1200" dirty="0"/>
          </a:p>
        </p:txBody>
      </p:sp>
      <p:sp>
        <p:nvSpPr>
          <p:cNvPr id="34" name="Shape 32"/>
          <p:cNvSpPr/>
          <p:nvPr/>
        </p:nvSpPr>
        <p:spPr>
          <a:xfrm>
            <a:off x="812800" y="3286720"/>
            <a:ext cx="10566400" cy="304800"/>
          </a:xfrm>
          <a:prstGeom prst="rect">
            <a:avLst/>
          </a:prstGeom>
          <a:solidFill>
            <a:srgbClr val="F6F5F1"/>
          </a:solidFill>
          <a:ln/>
        </p:spPr>
      </p:sp>
      <p:sp>
        <p:nvSpPr>
          <p:cNvPr id="35" name="Text 33"/>
          <p:cNvSpPr txBox="1"/>
          <p:nvPr/>
        </p:nvSpPr>
        <p:spPr>
          <a:xfrm>
            <a:off x="901700" y="3350220"/>
            <a:ext cx="273921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Device health</a:t>
            </a:r>
            <a:endParaRPr lang="en-US" sz="1200" dirty="0"/>
          </a:p>
        </p:txBody>
      </p:sp>
      <p:sp>
        <p:nvSpPr>
          <p:cNvPr id="36" name="Text 34"/>
          <p:cNvSpPr txBox="1"/>
          <p:nvPr/>
        </p:nvSpPr>
        <p:spPr>
          <a:xfrm>
            <a:off x="3754537" y="3350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Is a device's behaviour drifting?</a:t>
            </a:r>
            <a:endParaRPr lang="en-US" sz="1200" dirty="0"/>
          </a:p>
        </p:txBody>
      </p:sp>
      <p:sp>
        <p:nvSpPr>
          <p:cNvPr id="37" name="Text 35"/>
          <p:cNvSpPr txBox="1"/>
          <p:nvPr/>
        </p:nvSpPr>
        <p:spPr>
          <a:xfrm>
            <a:off x="6713041" y="33502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“Is the fridge OK?”</a:t>
            </a:r>
            <a:endParaRPr lang="en-US" sz="1200" dirty="0"/>
          </a:p>
        </p:txBody>
      </p:sp>
      <p:sp>
        <p:nvSpPr>
          <p:cNvPr id="38" name="Text 36"/>
          <p:cNvSpPr txBox="1"/>
          <p:nvPr/>
        </p:nvSpPr>
        <p:spPr>
          <a:xfrm>
            <a:off x="9882882" y="3350220"/>
            <a:ext cx="14652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Designed</a:t>
            </a:r>
            <a:endParaRPr lang="en-US" sz="1200" dirty="0"/>
          </a:p>
        </p:txBody>
      </p:sp>
      <p:sp>
        <p:nvSpPr>
          <p:cNvPr id="39" name="Shape 37"/>
          <p:cNvSpPr/>
          <p:nvPr/>
        </p:nvSpPr>
        <p:spPr>
          <a:xfrm>
            <a:off x="812800" y="3591520"/>
            <a:ext cx="10566400" cy="304800"/>
          </a:xfrm>
          <a:prstGeom prst="rect">
            <a:avLst/>
          </a:prstGeom>
          <a:solidFill>
            <a:srgbClr val="FDFCFA"/>
          </a:solidFill>
          <a:ln/>
        </p:spPr>
      </p:sp>
      <p:sp>
        <p:nvSpPr>
          <p:cNvPr id="40" name="Text 38"/>
          <p:cNvSpPr txBox="1"/>
          <p:nvPr/>
        </p:nvSpPr>
        <p:spPr>
          <a:xfrm>
            <a:off x="901700" y="3655020"/>
            <a:ext cx="273921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Retrieval embedding</a:t>
            </a:r>
            <a:endParaRPr lang="en-US" sz="1200" dirty="0"/>
          </a:p>
        </p:txBody>
      </p:sp>
      <p:sp>
        <p:nvSpPr>
          <p:cNvPr id="41" name="Text 39"/>
          <p:cNvSpPr txBox="1"/>
          <p:nvPr/>
        </p:nvSpPr>
        <p:spPr>
          <a:xfrm>
            <a:off x="3754537" y="3655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 searchable vector per minute</a:t>
            </a:r>
            <a:endParaRPr lang="en-US" sz="1200" dirty="0"/>
          </a:p>
        </p:txBody>
      </p:sp>
      <p:sp>
        <p:nvSpPr>
          <p:cNvPr id="42" name="Text 40"/>
          <p:cNvSpPr txBox="1"/>
          <p:nvPr/>
        </p:nvSpPr>
        <p:spPr>
          <a:xfrm>
            <a:off x="6713041" y="3655020"/>
            <a:ext cx="30578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The agent's semantic search</a:t>
            </a:r>
            <a:endParaRPr lang="en-US" sz="1200" dirty="0"/>
          </a:p>
        </p:txBody>
      </p:sp>
      <p:sp>
        <p:nvSpPr>
          <p:cNvPr id="43" name="Text 41"/>
          <p:cNvSpPr txBox="1"/>
          <p:nvPr/>
        </p:nvSpPr>
        <p:spPr>
          <a:xfrm>
            <a:off x="9882882" y="3655020"/>
            <a:ext cx="14652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Designed</a:t>
            </a:r>
            <a:endParaRPr lang="en-US" sz="1200" dirty="0"/>
          </a:p>
        </p:txBody>
      </p:sp>
      <p:sp>
        <p:nvSpPr>
          <p:cNvPr id="44" name="Text 42"/>
          <p:cNvSpPr txBox="1"/>
          <p:nvPr/>
        </p:nvSpPr>
        <p:spPr>
          <a:xfrm>
            <a:off x="812800" y="4093170"/>
            <a:ext cx="10670032"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DomusFM has two outputs: one label from a fixed list, and an unordered bag of the next 30 events with no timing.</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A sentence instead of learned weights</a:t>
            </a:r>
            <a:endParaRPr lang="en-US" sz="2800" dirty="0"/>
          </a:p>
        </p:txBody>
      </p:sp>
      <p:sp>
        <p:nvSpPr>
          <p:cNvPr id="4" name="Shape 2"/>
          <p:cNvSpPr/>
          <p:nvPr/>
        </p:nvSpPr>
        <p:spPr>
          <a:xfrm>
            <a:off x="812800" y="1457920"/>
            <a:ext cx="939800" cy="254000"/>
          </a:xfrm>
          <a:prstGeom prst="roundRect">
            <a:avLst>
              <a:gd name="adj" fmla="val 50000"/>
            </a:avLst>
          </a:prstGeom>
          <a:solidFill>
            <a:srgbClr val="FBEBDD"/>
          </a:solidFill>
          <a:ln/>
        </p:spPr>
      </p:sp>
      <p:sp>
        <p:nvSpPr>
          <p:cNvPr id="5" name="Text 3"/>
          <p:cNvSpPr txBox="1"/>
          <p:nvPr/>
        </p:nvSpPr>
        <p:spPr>
          <a:xfrm>
            <a:off x="914400" y="1496020"/>
            <a:ext cx="791083"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DomusFM</a:t>
            </a:r>
            <a:endParaRPr lang="en-US" sz="1200" dirty="0"/>
          </a:p>
        </p:txBody>
      </p:sp>
      <p:sp>
        <p:nvSpPr>
          <p:cNvPr id="6" name="Shape 4"/>
          <p:cNvSpPr/>
          <p:nvPr/>
        </p:nvSpPr>
        <p:spPr>
          <a:xfrm>
            <a:off x="812800" y="1788120"/>
            <a:ext cx="5156200" cy="424160"/>
          </a:xfrm>
          <a:prstGeom prst="roundRect">
            <a:avLst>
              <a:gd name="adj" fmla="val 17965"/>
            </a:avLst>
          </a:prstGeom>
          <a:solidFill>
            <a:srgbClr val="EDEBE4"/>
          </a:solidFill>
          <a:ln/>
        </p:spPr>
      </p:sp>
      <p:sp>
        <p:nvSpPr>
          <p:cNvPr id="7" name="Text 5"/>
          <p:cNvSpPr txBox="1"/>
          <p:nvPr/>
        </p:nvSpPr>
        <p:spPr>
          <a:xfrm>
            <a:off x="939800" y="1908770"/>
            <a:ext cx="4977511" cy="22098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score(Cook) = W_Cook · vector + b_Cook</a:t>
            </a:r>
            <a:endParaRPr lang="en-US" sz="1200" dirty="0"/>
          </a:p>
        </p:txBody>
      </p:sp>
      <p:sp>
        <p:nvSpPr>
          <p:cNvPr id="8" name="Text 6"/>
          <p:cNvSpPr txBox="1"/>
          <p:nvPr/>
        </p:nvSpPr>
        <p:spPr>
          <a:xfrm>
            <a:off x="812800" y="2307530"/>
            <a:ext cx="5232781"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W_Cook is learned from labelled cooking examples. A new activity needs new weights: labels and training.</a:t>
            </a:r>
            <a:endParaRPr lang="en-US" sz="1200" dirty="0"/>
          </a:p>
        </p:txBody>
      </p:sp>
      <p:sp>
        <p:nvSpPr>
          <p:cNvPr id="9" name="Shape 7"/>
          <p:cNvSpPr/>
          <p:nvPr/>
        </p:nvSpPr>
        <p:spPr>
          <a:xfrm>
            <a:off x="6223000" y="1457920"/>
            <a:ext cx="1354832" cy="254000"/>
          </a:xfrm>
          <a:prstGeom prst="roundRect">
            <a:avLst>
              <a:gd name="adj" fmla="val 50000"/>
            </a:avLst>
          </a:prstGeom>
          <a:solidFill>
            <a:srgbClr val="E6EEF8"/>
          </a:solidFill>
          <a:ln/>
        </p:spPr>
      </p:sp>
      <p:sp>
        <p:nvSpPr>
          <p:cNvPr id="10" name="Text 8"/>
          <p:cNvSpPr txBox="1"/>
          <p:nvPr/>
        </p:nvSpPr>
        <p:spPr>
          <a:xfrm>
            <a:off x="6324600" y="1496020"/>
            <a:ext cx="1208190"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HomeFM tagger</a:t>
            </a:r>
            <a:endParaRPr lang="en-US" sz="1200" dirty="0"/>
          </a:p>
        </p:txBody>
      </p:sp>
      <p:sp>
        <p:nvSpPr>
          <p:cNvPr id="11" name="Shape 9"/>
          <p:cNvSpPr/>
          <p:nvPr/>
        </p:nvSpPr>
        <p:spPr>
          <a:xfrm>
            <a:off x="6223000" y="1788120"/>
            <a:ext cx="5156200" cy="645120"/>
          </a:xfrm>
          <a:prstGeom prst="roundRect">
            <a:avLst>
              <a:gd name="adj" fmla="val 11812"/>
            </a:avLst>
          </a:prstGeom>
          <a:solidFill>
            <a:srgbClr val="EDEBE4"/>
          </a:solidFill>
          <a:ln/>
        </p:spPr>
      </p:sp>
      <p:sp>
        <p:nvSpPr>
          <p:cNvPr id="12" name="Text 10"/>
          <p:cNvSpPr txBox="1"/>
          <p:nvPr/>
        </p:nvSpPr>
        <p:spPr>
          <a:xfrm>
            <a:off x="6350000" y="1908770"/>
            <a:ext cx="4977511" cy="39241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score = σ( a · cos( P(minute), Q(text(“someone is cooking”)) ) + b )</a:t>
            </a:r>
            <a:endParaRPr lang="en-US" sz="1200" dirty="0"/>
          </a:p>
        </p:txBody>
      </p:sp>
      <p:sp>
        <p:nvSpPr>
          <p:cNvPr id="13" name="Text 11"/>
          <p:cNvSpPr txBox="1"/>
          <p:nvPr/>
        </p:nvSpPr>
        <p:spPr>
          <a:xfrm>
            <a:off x="6223000" y="2528491"/>
            <a:ext cx="5232781"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P, Q, a and b are shared by all activities. The only activity-specific part is the sentence.</a:t>
            </a:r>
            <a:endParaRPr lang="en-US" sz="1200" dirty="0"/>
          </a:p>
        </p:txBody>
      </p:sp>
      <p:sp>
        <p:nvSpPr>
          <p:cNvPr id="14" name="Text 12"/>
          <p:cNvSpPr txBox="1"/>
          <p:nvPr/>
        </p:nvSpPr>
        <p:spPr>
          <a:xfrm>
            <a:off x="812800" y="3132931"/>
            <a:ext cx="5794375"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Toy example: minute 18:31 projected to [0.85, 0.15, 0.05]</a:t>
            </a:r>
            <a:endParaRPr lang="en-US" sz="1200" dirty="0"/>
          </a:p>
        </p:txBody>
      </p:sp>
      <p:sp>
        <p:nvSpPr>
          <p:cNvPr id="15" name="Shape 13"/>
          <p:cNvSpPr/>
          <p:nvPr/>
        </p:nvSpPr>
        <p:spPr>
          <a:xfrm>
            <a:off x="812800" y="3403402"/>
            <a:ext cx="5715000" cy="304800"/>
          </a:xfrm>
          <a:prstGeom prst="rect">
            <a:avLst/>
          </a:prstGeom>
          <a:solidFill>
            <a:srgbClr val="14213D"/>
          </a:solidFill>
          <a:ln/>
        </p:spPr>
      </p:sp>
      <p:sp>
        <p:nvSpPr>
          <p:cNvPr id="16" name="Text 14"/>
          <p:cNvSpPr txBox="1"/>
          <p:nvPr/>
        </p:nvSpPr>
        <p:spPr>
          <a:xfrm>
            <a:off x="901700" y="3466902"/>
            <a:ext cx="251415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Sentence</a:t>
            </a:r>
            <a:endParaRPr lang="en-US" sz="1200" dirty="0"/>
          </a:p>
        </p:txBody>
      </p:sp>
      <p:sp>
        <p:nvSpPr>
          <p:cNvPr id="17" name="Text 15"/>
          <p:cNvSpPr txBox="1"/>
          <p:nvPr/>
        </p:nvSpPr>
        <p:spPr>
          <a:xfrm>
            <a:off x="3530600" y="3466902"/>
            <a:ext cx="142287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Sentence vector</a:t>
            </a:r>
            <a:endParaRPr lang="en-US" sz="1200" dirty="0"/>
          </a:p>
        </p:txBody>
      </p:sp>
      <p:sp>
        <p:nvSpPr>
          <p:cNvPr id="18" name="Text 16"/>
          <p:cNvSpPr txBox="1"/>
          <p:nvPr/>
        </p:nvSpPr>
        <p:spPr>
          <a:xfrm>
            <a:off x="5073650" y="3466902"/>
            <a:ext cx="142287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Score</a:t>
            </a:r>
            <a:endParaRPr lang="en-US" sz="1200" dirty="0"/>
          </a:p>
        </p:txBody>
      </p:sp>
      <p:sp>
        <p:nvSpPr>
          <p:cNvPr id="19" name="Shape 17"/>
          <p:cNvSpPr/>
          <p:nvPr/>
        </p:nvSpPr>
        <p:spPr>
          <a:xfrm>
            <a:off x="812800" y="3708202"/>
            <a:ext cx="5715000" cy="304800"/>
          </a:xfrm>
          <a:prstGeom prst="rect">
            <a:avLst/>
          </a:prstGeom>
          <a:solidFill>
            <a:srgbClr val="E6EEF8"/>
          </a:solidFill>
          <a:ln/>
        </p:spPr>
      </p:sp>
      <p:sp>
        <p:nvSpPr>
          <p:cNvPr id="20" name="Text 18"/>
          <p:cNvSpPr txBox="1"/>
          <p:nvPr/>
        </p:nvSpPr>
        <p:spPr>
          <a:xfrm>
            <a:off x="901700" y="3771702"/>
            <a:ext cx="25141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“someone is cooking food”</a:t>
            </a:r>
            <a:endParaRPr lang="en-US" sz="1200" dirty="0"/>
          </a:p>
        </p:txBody>
      </p:sp>
      <p:sp>
        <p:nvSpPr>
          <p:cNvPr id="21" name="Text 19"/>
          <p:cNvSpPr txBox="1"/>
          <p:nvPr/>
        </p:nvSpPr>
        <p:spPr>
          <a:xfrm>
            <a:off x="3530600" y="3771702"/>
            <a:ext cx="142287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[0.9, 0.1, 0.0]</a:t>
            </a:r>
            <a:endParaRPr lang="en-US" sz="1200" dirty="0"/>
          </a:p>
        </p:txBody>
      </p:sp>
      <p:sp>
        <p:nvSpPr>
          <p:cNvPr id="22" name="Text 20"/>
          <p:cNvSpPr txBox="1"/>
          <p:nvPr/>
        </p:nvSpPr>
        <p:spPr>
          <a:xfrm>
            <a:off x="5073650" y="3771702"/>
            <a:ext cx="142287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0.78 ← highest</a:t>
            </a:r>
            <a:endParaRPr lang="en-US" sz="1200" dirty="0"/>
          </a:p>
        </p:txBody>
      </p:sp>
      <p:sp>
        <p:nvSpPr>
          <p:cNvPr id="23" name="Shape 21"/>
          <p:cNvSpPr/>
          <p:nvPr/>
        </p:nvSpPr>
        <p:spPr>
          <a:xfrm>
            <a:off x="812800" y="4013002"/>
            <a:ext cx="5715000" cy="304800"/>
          </a:xfrm>
          <a:prstGeom prst="rect">
            <a:avLst/>
          </a:prstGeom>
          <a:solidFill>
            <a:srgbClr val="F6F5F1"/>
          </a:solidFill>
          <a:ln/>
        </p:spPr>
      </p:sp>
      <p:sp>
        <p:nvSpPr>
          <p:cNvPr id="24" name="Text 22"/>
          <p:cNvSpPr txBox="1"/>
          <p:nvPr/>
        </p:nvSpPr>
        <p:spPr>
          <a:xfrm>
            <a:off x="901700" y="4076502"/>
            <a:ext cx="25141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“someone is sleeping”</a:t>
            </a:r>
            <a:endParaRPr lang="en-US" sz="1200" dirty="0"/>
          </a:p>
        </p:txBody>
      </p:sp>
      <p:sp>
        <p:nvSpPr>
          <p:cNvPr id="25" name="Text 23"/>
          <p:cNvSpPr txBox="1"/>
          <p:nvPr/>
        </p:nvSpPr>
        <p:spPr>
          <a:xfrm>
            <a:off x="3530600" y="4076502"/>
            <a:ext cx="142287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 0.1, 0.9]</a:t>
            </a:r>
            <a:endParaRPr lang="en-US" sz="1200" dirty="0"/>
          </a:p>
        </p:txBody>
      </p:sp>
      <p:sp>
        <p:nvSpPr>
          <p:cNvPr id="26" name="Text 24"/>
          <p:cNvSpPr txBox="1"/>
          <p:nvPr/>
        </p:nvSpPr>
        <p:spPr>
          <a:xfrm>
            <a:off x="5073650" y="4076502"/>
            <a:ext cx="142287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0.06</a:t>
            </a:r>
            <a:endParaRPr lang="en-US" sz="1200" dirty="0"/>
          </a:p>
        </p:txBody>
      </p:sp>
      <p:sp>
        <p:nvSpPr>
          <p:cNvPr id="27" name="Shape 25"/>
          <p:cNvSpPr/>
          <p:nvPr/>
        </p:nvSpPr>
        <p:spPr>
          <a:xfrm>
            <a:off x="812800" y="4317802"/>
            <a:ext cx="5715000" cy="304800"/>
          </a:xfrm>
          <a:prstGeom prst="rect">
            <a:avLst/>
          </a:prstGeom>
          <a:solidFill>
            <a:srgbClr val="FDFCFA"/>
          </a:solidFill>
          <a:ln/>
        </p:spPr>
      </p:sp>
      <p:sp>
        <p:nvSpPr>
          <p:cNvPr id="28" name="Text 26"/>
          <p:cNvSpPr txBox="1"/>
          <p:nvPr/>
        </p:nvSpPr>
        <p:spPr>
          <a:xfrm>
            <a:off x="901700" y="4381302"/>
            <a:ext cx="25141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“someone is vacuuming”</a:t>
            </a:r>
            <a:endParaRPr lang="en-US" sz="1200" dirty="0"/>
          </a:p>
        </p:txBody>
      </p:sp>
      <p:sp>
        <p:nvSpPr>
          <p:cNvPr id="29" name="Text 27"/>
          <p:cNvSpPr txBox="1"/>
          <p:nvPr/>
        </p:nvSpPr>
        <p:spPr>
          <a:xfrm>
            <a:off x="3530600" y="4381302"/>
            <a:ext cx="142287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[0.1, 0.9, 0.1]</a:t>
            </a:r>
            <a:endParaRPr lang="en-US" sz="1200" dirty="0"/>
          </a:p>
        </p:txBody>
      </p:sp>
      <p:sp>
        <p:nvSpPr>
          <p:cNvPr id="30" name="Text 28"/>
          <p:cNvSpPr txBox="1"/>
          <p:nvPr/>
        </p:nvSpPr>
        <p:spPr>
          <a:xfrm>
            <a:off x="5073650" y="4381302"/>
            <a:ext cx="142287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0.23</a:t>
            </a:r>
            <a:endParaRPr lang="en-US" sz="1200" dirty="0"/>
          </a:p>
        </p:txBody>
      </p:sp>
      <p:sp>
        <p:nvSpPr>
          <p:cNvPr id="31" name="Text 29"/>
          <p:cNvSpPr txBox="1"/>
          <p:nvPr/>
        </p:nvSpPr>
        <p:spPr>
          <a:xfrm>
            <a:off x="6781800" y="3132931"/>
            <a:ext cx="467118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P</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256 → 256 → 128 (~99k weights).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Q</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384 → 384 → 128 (~197k). Both normalised to length 1.</a:t>
            </a:r>
            <a:endParaRPr lang="en-US" sz="1200" dirty="0"/>
          </a:p>
        </p:txBody>
      </p:sp>
      <p:sp>
        <p:nvSpPr>
          <p:cNvPr id="32" name="Text 30"/>
          <p:cNvSpPr txBox="1"/>
          <p:nvPr/>
        </p:nvSpPr>
        <p:spPr>
          <a:xfrm>
            <a:off x="6781800" y="3648472"/>
            <a:ext cx="4671187" cy="598091"/>
          </a:xfrm>
          <a:prstGeom prst="rect">
            <a:avLst/>
          </a:prstGeom>
          <a:noFill/>
          <a:ln/>
        </p:spPr>
        <p:txBody>
          <a:bodyPr wrap="square" lIns="0" tIns="0" rIns="0" bIns="0" rtlCol="0" anchor="t"/>
          <a:lstStyle/>
          <a:p>
            <a:pPr algn="l" indent="0" marL="0">
              <a:lnSpc>
                <a:spcPts val="1680"/>
              </a:lnSpc>
              <a:buNone/>
            </a:pPr>
            <a:r>
              <a:rPr lang="en-US" sz="1200" dirty="0">
                <a:solidFill>
                  <a:srgbClr val="A8470B"/>
                </a:solidFill>
                <a:latin typeface="Arial" pitchFamily="34" charset="0"/>
                <a:ea typeface="Arial" pitchFamily="34" charset="-122"/>
                <a:cs typeface="Arial" pitchFamily="34" charset="-120"/>
              </a:rPr>
              <a:t>It only works because game 3 trains minutes and sentences into one space. Bolting a sentence head onto DomusFM would not work.</a:t>
            </a:r>
            <a:endParaRPr lang="en-US" sz="1200" dirty="0"/>
          </a:p>
        </p:txBody>
      </p:sp>
      <p:sp>
        <p:nvSpPr>
          <p:cNvPr id="33" name="Text 31"/>
          <p:cNvSpPr txBox="1"/>
          <p:nvPr/>
        </p:nvSpPr>
        <p:spPr>
          <a:xfrm>
            <a:off x="6781800" y="4377333"/>
            <a:ext cx="4671187"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Several activities can be on at once: each sentence is scored separately.</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ARCHITECTURE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Model sizes: teacher, student, and the corpus runs</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17835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Variant</a:t>
            </a:r>
            <a:endParaRPr lang="en-US" sz="1200" dirty="0"/>
          </a:p>
        </p:txBody>
      </p:sp>
      <p:sp>
        <p:nvSpPr>
          <p:cNvPr id="6" name="Text 4"/>
          <p:cNvSpPr txBox="1"/>
          <p:nvPr/>
        </p:nvSpPr>
        <p:spPr>
          <a:xfrm>
            <a:off x="2803624" y="1521420"/>
            <a:ext cx="1995937"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Parameters</a:t>
            </a:r>
            <a:endParaRPr lang="en-US" sz="1200" dirty="0"/>
          </a:p>
        </p:txBody>
      </p:sp>
      <p:sp>
        <p:nvSpPr>
          <p:cNvPr id="7" name="Text 5"/>
          <p:cNvSpPr txBox="1"/>
          <p:nvPr/>
        </p:nvSpPr>
        <p:spPr>
          <a:xfrm>
            <a:off x="4916884" y="1521420"/>
            <a:ext cx="17835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Where</a:t>
            </a:r>
            <a:endParaRPr lang="en-US" sz="1200" dirty="0"/>
          </a:p>
        </p:txBody>
      </p:sp>
      <p:sp>
        <p:nvSpPr>
          <p:cNvPr id="8" name="Text 6"/>
          <p:cNvSpPr txBox="1"/>
          <p:nvPr/>
        </p:nvSpPr>
        <p:spPr>
          <a:xfrm>
            <a:off x="6818809" y="1521420"/>
            <a:ext cx="454464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Purpose</a:t>
            </a:r>
            <a:endParaRPr lang="en-US" sz="1200" dirty="0"/>
          </a:p>
        </p:txBody>
      </p:sp>
      <p:sp>
        <p:nvSpPr>
          <p:cNvPr id="9" name="Shape 7"/>
          <p:cNvSpPr/>
          <p:nvPr/>
        </p:nvSpPr>
        <p:spPr>
          <a:xfrm>
            <a:off x="812800" y="1762720"/>
            <a:ext cx="10566400" cy="304800"/>
          </a:xfrm>
          <a:prstGeom prst="rect">
            <a:avLst/>
          </a:prstGeom>
          <a:solidFill>
            <a:srgbClr val="FDFCFA"/>
          </a:solidFill>
          <a:ln/>
        </p:spPr>
      </p:sp>
      <p:sp>
        <p:nvSpPr>
          <p:cNvPr id="10" name="Text 8"/>
          <p:cNvSpPr txBox="1"/>
          <p:nvPr/>
        </p:nvSpPr>
        <p:spPr>
          <a:xfrm>
            <a:off x="901700" y="1826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Teacher</a:t>
            </a:r>
            <a:endParaRPr lang="en-US" sz="1200" dirty="0"/>
          </a:p>
        </p:txBody>
      </p:sp>
      <p:sp>
        <p:nvSpPr>
          <p:cNvPr id="11" name="Text 9"/>
          <p:cNvSpPr txBox="1"/>
          <p:nvPr/>
        </p:nvSpPr>
        <p:spPr>
          <a:xfrm>
            <a:off x="2803624" y="1826220"/>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300M–1B</a:t>
            </a:r>
            <a:endParaRPr lang="en-US" sz="1200" dirty="0"/>
          </a:p>
        </p:txBody>
      </p:sp>
      <p:sp>
        <p:nvSpPr>
          <p:cNvPr id="12" name="Text 10"/>
          <p:cNvSpPr txBox="1"/>
          <p:nvPr/>
        </p:nvSpPr>
        <p:spPr>
          <a:xfrm>
            <a:off x="4916884" y="1826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Server GPU</a:t>
            </a:r>
            <a:endParaRPr lang="en-US" sz="1200" dirty="0"/>
          </a:p>
        </p:txBody>
      </p:sp>
      <p:sp>
        <p:nvSpPr>
          <p:cNvPr id="13" name="Text 11"/>
          <p:cNvSpPr txBox="1"/>
          <p:nvPr/>
        </p:nvSpPr>
        <p:spPr>
          <a:xfrm>
            <a:off x="6818809" y="1826220"/>
            <a:ext cx="45446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Pretraining at scale, pseudo-labels</a:t>
            </a:r>
            <a:endParaRPr lang="en-US" sz="1200" dirty="0"/>
          </a:p>
        </p:txBody>
      </p:sp>
      <p:sp>
        <p:nvSpPr>
          <p:cNvPr id="14" name="Shape 12"/>
          <p:cNvSpPr/>
          <p:nvPr/>
        </p:nvSpPr>
        <p:spPr>
          <a:xfrm>
            <a:off x="812800" y="2067520"/>
            <a:ext cx="10566400" cy="304800"/>
          </a:xfrm>
          <a:prstGeom prst="rect">
            <a:avLst/>
          </a:prstGeom>
          <a:solidFill>
            <a:srgbClr val="F6F5F1"/>
          </a:solidFill>
          <a:ln/>
        </p:spPr>
      </p:sp>
      <p:sp>
        <p:nvSpPr>
          <p:cNvPr id="15" name="Text 13"/>
          <p:cNvSpPr txBox="1"/>
          <p:nvPr/>
        </p:nvSpPr>
        <p:spPr>
          <a:xfrm>
            <a:off x="901700" y="2131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Student</a:t>
            </a:r>
            <a:endParaRPr lang="en-US" sz="1200" dirty="0"/>
          </a:p>
        </p:txBody>
      </p:sp>
      <p:sp>
        <p:nvSpPr>
          <p:cNvPr id="16" name="Text 14"/>
          <p:cNvSpPr txBox="1"/>
          <p:nvPr/>
        </p:nvSpPr>
        <p:spPr>
          <a:xfrm>
            <a:off x="2803624" y="2131020"/>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20–50M, int8</a:t>
            </a:r>
            <a:endParaRPr lang="en-US" sz="1200" dirty="0"/>
          </a:p>
        </p:txBody>
      </p:sp>
      <p:sp>
        <p:nvSpPr>
          <p:cNvPr id="17" name="Text 15"/>
          <p:cNvSpPr txBox="1"/>
          <p:nvPr/>
        </p:nvSpPr>
        <p:spPr>
          <a:xfrm>
            <a:off x="4916884" y="2131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Home hub</a:t>
            </a:r>
            <a:endParaRPr lang="en-US" sz="1200" dirty="0"/>
          </a:p>
        </p:txBody>
      </p:sp>
      <p:sp>
        <p:nvSpPr>
          <p:cNvPr id="18" name="Text 16"/>
          <p:cNvSpPr txBox="1"/>
          <p:nvPr/>
        </p:nvSpPr>
        <p:spPr>
          <a:xfrm>
            <a:off x="6818809" y="2131020"/>
            <a:ext cx="45446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Streaming inference, per-home adaptation</a:t>
            </a:r>
            <a:endParaRPr lang="en-US" sz="1200" dirty="0"/>
          </a:p>
        </p:txBody>
      </p:sp>
      <p:sp>
        <p:nvSpPr>
          <p:cNvPr id="19" name="Shape 17"/>
          <p:cNvSpPr/>
          <p:nvPr/>
        </p:nvSpPr>
        <p:spPr>
          <a:xfrm>
            <a:off x="812800" y="2372320"/>
            <a:ext cx="10566400" cy="304800"/>
          </a:xfrm>
          <a:prstGeom prst="rect">
            <a:avLst/>
          </a:prstGeom>
          <a:solidFill>
            <a:srgbClr val="FDFCFA"/>
          </a:solidFill>
          <a:ln/>
        </p:spPr>
      </p:sp>
      <p:sp>
        <p:nvSpPr>
          <p:cNvPr id="20" name="Text 18"/>
          <p:cNvSpPr txBox="1"/>
          <p:nvPr/>
        </p:nvSpPr>
        <p:spPr>
          <a:xfrm>
            <a:off x="901700" y="2435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Scaffold tiny</a:t>
            </a:r>
            <a:endParaRPr lang="en-US" sz="1200" dirty="0"/>
          </a:p>
        </p:txBody>
      </p:sp>
      <p:sp>
        <p:nvSpPr>
          <p:cNvPr id="21" name="Text 19"/>
          <p:cNvSpPr txBox="1"/>
          <p:nvPr/>
        </p:nvSpPr>
        <p:spPr>
          <a:xfrm>
            <a:off x="2803624" y="2435820"/>
            <a:ext cx="19959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~1–3M</a:t>
            </a:r>
            <a:endParaRPr lang="en-US" sz="1200" dirty="0"/>
          </a:p>
        </p:txBody>
      </p:sp>
      <p:sp>
        <p:nvSpPr>
          <p:cNvPr id="22" name="Text 20"/>
          <p:cNvSpPr txBox="1"/>
          <p:nvPr/>
        </p:nvSpPr>
        <p:spPr>
          <a:xfrm>
            <a:off x="4916884" y="2435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Laptop / CI</a:t>
            </a:r>
            <a:endParaRPr lang="en-US" sz="1200" dirty="0"/>
          </a:p>
        </p:txBody>
      </p:sp>
      <p:sp>
        <p:nvSpPr>
          <p:cNvPr id="23" name="Text 21"/>
          <p:cNvSpPr txBox="1"/>
          <p:nvPr/>
        </p:nvSpPr>
        <p:spPr>
          <a:xfrm>
            <a:off x="6818809" y="2435820"/>
            <a:ext cx="45446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Smoke tests, objective comparisons on synthetic homes</a:t>
            </a:r>
            <a:endParaRPr lang="en-US" sz="1200" dirty="0"/>
          </a:p>
        </p:txBody>
      </p:sp>
      <p:sp>
        <p:nvSpPr>
          <p:cNvPr id="24" name="Shape 22"/>
          <p:cNvSpPr/>
          <p:nvPr/>
        </p:nvSpPr>
        <p:spPr>
          <a:xfrm>
            <a:off x="812800" y="2854920"/>
            <a:ext cx="10566400" cy="304800"/>
          </a:xfrm>
          <a:prstGeom prst="rect">
            <a:avLst/>
          </a:prstGeom>
          <a:solidFill>
            <a:srgbClr val="14213D"/>
          </a:solidFill>
          <a:ln/>
        </p:spPr>
      </p:sp>
      <p:sp>
        <p:nvSpPr>
          <p:cNvPr id="25" name="Text 23"/>
          <p:cNvSpPr txBox="1"/>
          <p:nvPr/>
        </p:nvSpPr>
        <p:spPr>
          <a:xfrm>
            <a:off x="901700" y="2918420"/>
            <a:ext cx="454454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Configuration</a:t>
            </a:r>
            <a:endParaRPr lang="en-US" sz="1200" dirty="0"/>
          </a:p>
        </p:txBody>
      </p:sp>
      <p:sp>
        <p:nvSpPr>
          <p:cNvPr id="26" name="Text 24"/>
          <p:cNvSpPr txBox="1"/>
          <p:nvPr/>
        </p:nvSpPr>
        <p:spPr>
          <a:xfrm>
            <a:off x="5550892" y="2918420"/>
            <a:ext cx="72158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a:t>
            </a:r>
            <a:endParaRPr lang="en-US" sz="1200" dirty="0"/>
          </a:p>
        </p:txBody>
      </p:sp>
      <p:sp>
        <p:nvSpPr>
          <p:cNvPr id="27" name="Text 25"/>
          <p:cNvSpPr txBox="1"/>
          <p:nvPr/>
        </p:nvSpPr>
        <p:spPr>
          <a:xfrm>
            <a:off x="6396137" y="2918420"/>
            <a:ext cx="284540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Layers × heads</a:t>
            </a:r>
            <a:endParaRPr lang="en-US" sz="1200" dirty="0"/>
          </a:p>
        </p:txBody>
      </p:sp>
      <p:sp>
        <p:nvSpPr>
          <p:cNvPr id="28" name="Text 26"/>
          <p:cNvSpPr txBox="1"/>
          <p:nvPr/>
        </p:nvSpPr>
        <p:spPr>
          <a:xfrm>
            <a:off x="9354641" y="2918420"/>
            <a:ext cx="1996137"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Learnable parameters</a:t>
            </a:r>
            <a:endParaRPr lang="en-US" sz="1200" dirty="0"/>
          </a:p>
        </p:txBody>
      </p:sp>
      <p:sp>
        <p:nvSpPr>
          <p:cNvPr id="29" name="Shape 27"/>
          <p:cNvSpPr/>
          <p:nvPr/>
        </p:nvSpPr>
        <p:spPr>
          <a:xfrm>
            <a:off x="812800" y="3159720"/>
            <a:ext cx="10566400" cy="304800"/>
          </a:xfrm>
          <a:prstGeom prst="rect">
            <a:avLst/>
          </a:prstGeom>
          <a:solidFill>
            <a:srgbClr val="FDFCFA"/>
          </a:solidFill>
          <a:ln/>
        </p:spPr>
      </p:sp>
      <p:sp>
        <p:nvSpPr>
          <p:cNvPr id="30" name="Text 28"/>
          <p:cNvSpPr txBox="1"/>
          <p:nvPr/>
        </p:nvSpPr>
        <p:spPr>
          <a:xfrm>
            <a:off x="901700" y="32232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DomusFM reimplementation</a:t>
            </a:r>
            <a:endParaRPr lang="en-US" sz="1200" dirty="0"/>
          </a:p>
        </p:txBody>
      </p:sp>
      <p:sp>
        <p:nvSpPr>
          <p:cNvPr id="31" name="Text 29"/>
          <p:cNvSpPr txBox="1"/>
          <p:nvPr/>
        </p:nvSpPr>
        <p:spPr>
          <a:xfrm>
            <a:off x="5550892" y="3223220"/>
            <a:ext cx="7215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384</a:t>
            </a:r>
            <a:endParaRPr lang="en-US" sz="1200" dirty="0"/>
          </a:p>
        </p:txBody>
      </p:sp>
      <p:sp>
        <p:nvSpPr>
          <p:cNvPr id="32" name="Text 30"/>
          <p:cNvSpPr txBox="1"/>
          <p:nvPr/>
        </p:nvSpPr>
        <p:spPr>
          <a:xfrm>
            <a:off x="6396137" y="3223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12 × 12</a:t>
            </a:r>
            <a:endParaRPr lang="en-US" sz="1200" dirty="0"/>
          </a:p>
        </p:txBody>
      </p:sp>
      <p:sp>
        <p:nvSpPr>
          <p:cNvPr id="33" name="Text 31"/>
          <p:cNvSpPr txBox="1"/>
          <p:nvPr/>
        </p:nvSpPr>
        <p:spPr>
          <a:xfrm>
            <a:off x="9354641" y="3223220"/>
            <a:ext cx="19961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28,596,480</a:t>
            </a:r>
            <a:endParaRPr lang="en-US" sz="1200" dirty="0"/>
          </a:p>
        </p:txBody>
      </p:sp>
      <p:sp>
        <p:nvSpPr>
          <p:cNvPr id="34" name="Shape 32"/>
          <p:cNvSpPr/>
          <p:nvPr/>
        </p:nvSpPr>
        <p:spPr>
          <a:xfrm>
            <a:off x="812800" y="3464520"/>
            <a:ext cx="10566400" cy="304800"/>
          </a:xfrm>
          <a:prstGeom prst="rect">
            <a:avLst/>
          </a:prstGeom>
          <a:solidFill>
            <a:srgbClr val="E6EEF8"/>
          </a:solidFill>
          <a:ln/>
        </p:spPr>
      </p:sp>
      <p:sp>
        <p:nvSpPr>
          <p:cNvPr id="35" name="Text 33"/>
          <p:cNvSpPr txBox="1"/>
          <p:nvPr/>
        </p:nvSpPr>
        <p:spPr>
          <a:xfrm>
            <a:off x="901700" y="35280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HomeFM corpus (homefm_corpus.yaml)</a:t>
            </a:r>
            <a:endParaRPr lang="en-US" sz="1200" dirty="0"/>
          </a:p>
        </p:txBody>
      </p:sp>
      <p:sp>
        <p:nvSpPr>
          <p:cNvPr id="36" name="Text 34"/>
          <p:cNvSpPr txBox="1"/>
          <p:nvPr/>
        </p:nvSpPr>
        <p:spPr>
          <a:xfrm>
            <a:off x="5550892" y="3528020"/>
            <a:ext cx="7215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256</a:t>
            </a:r>
            <a:endParaRPr lang="en-US" sz="1200" dirty="0"/>
          </a:p>
        </p:txBody>
      </p:sp>
      <p:sp>
        <p:nvSpPr>
          <p:cNvPr id="37" name="Text 35"/>
          <p:cNvSpPr txBox="1"/>
          <p:nvPr/>
        </p:nvSpPr>
        <p:spPr>
          <a:xfrm>
            <a:off x="6396137" y="3528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6 × 8 stream + 2 read-out</a:t>
            </a:r>
            <a:endParaRPr lang="en-US" sz="1200" dirty="0"/>
          </a:p>
        </p:txBody>
      </p:sp>
      <p:sp>
        <p:nvSpPr>
          <p:cNvPr id="38" name="Text 36"/>
          <p:cNvSpPr txBox="1"/>
          <p:nvPr/>
        </p:nvSpPr>
        <p:spPr>
          <a:xfrm>
            <a:off x="9354641" y="3528020"/>
            <a:ext cx="19961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8,031,004</a:t>
            </a:r>
            <a:endParaRPr lang="en-US" sz="1200" dirty="0"/>
          </a:p>
        </p:txBody>
      </p:sp>
      <p:sp>
        <p:nvSpPr>
          <p:cNvPr id="39" name="Shape 37"/>
          <p:cNvSpPr/>
          <p:nvPr/>
        </p:nvSpPr>
        <p:spPr>
          <a:xfrm>
            <a:off x="812800" y="3769320"/>
            <a:ext cx="10566400" cy="304800"/>
          </a:xfrm>
          <a:prstGeom prst="rect">
            <a:avLst/>
          </a:prstGeom>
          <a:solidFill>
            <a:srgbClr val="FDFCFA"/>
          </a:solidFill>
          <a:ln/>
        </p:spPr>
      </p:sp>
      <p:sp>
        <p:nvSpPr>
          <p:cNvPr id="40" name="Text 38"/>
          <p:cNvSpPr txBox="1"/>
          <p:nvPr/>
        </p:nvSpPr>
        <p:spPr>
          <a:xfrm>
            <a:off x="901700" y="3832820"/>
            <a:ext cx="45445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HomeFM size-matched (homefm_corpus_384.yaml)</a:t>
            </a:r>
            <a:endParaRPr lang="en-US" sz="1200" dirty="0"/>
          </a:p>
        </p:txBody>
      </p:sp>
      <p:sp>
        <p:nvSpPr>
          <p:cNvPr id="41" name="Text 39"/>
          <p:cNvSpPr txBox="1"/>
          <p:nvPr/>
        </p:nvSpPr>
        <p:spPr>
          <a:xfrm>
            <a:off x="5550892" y="3832820"/>
            <a:ext cx="72158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384</a:t>
            </a:r>
            <a:endParaRPr lang="en-US" sz="1200" dirty="0"/>
          </a:p>
        </p:txBody>
      </p:sp>
      <p:sp>
        <p:nvSpPr>
          <p:cNvPr id="42" name="Text 40"/>
          <p:cNvSpPr txBox="1"/>
          <p:nvPr/>
        </p:nvSpPr>
        <p:spPr>
          <a:xfrm>
            <a:off x="6396137" y="38328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12 × 12 stream + 2 read-out</a:t>
            </a:r>
            <a:endParaRPr lang="en-US" sz="1200" dirty="0"/>
          </a:p>
        </p:txBody>
      </p:sp>
      <p:sp>
        <p:nvSpPr>
          <p:cNvPr id="43" name="Text 41"/>
          <p:cNvSpPr txBox="1"/>
          <p:nvPr/>
        </p:nvSpPr>
        <p:spPr>
          <a:xfrm>
            <a:off x="9354641" y="3832820"/>
            <a:ext cx="199613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28,591,516</a:t>
            </a:r>
            <a:endParaRPr lang="en-US" sz="1200" dirty="0"/>
          </a:p>
        </p:txBody>
      </p:sp>
      <p:sp>
        <p:nvSpPr>
          <p:cNvPr id="44" name="Text 42"/>
          <p:cNvSpPr txBox="1"/>
          <p:nvPr/>
        </p:nvSpPr>
        <p:spPr>
          <a:xfrm>
            <a:off x="812800" y="4270970"/>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d = 256 was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chosen, not tuned</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HomeFM runs more parts per window and game 2 keeps a second copy of the model. The size-matched run exists so a win or loss against DomusFM cannot be explained by size alone.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Pretraining makes the model file; the live pipeline runs it</a:t>
            </a:r>
            <a:endParaRPr lang="en-US" sz="2800" dirty="0"/>
          </a:p>
        </p:txBody>
      </p:sp>
      <p:sp>
        <p:nvSpPr>
          <p:cNvPr id="4" name="Text 2"/>
          <p:cNvSpPr txBox="1"/>
          <p:nvPr/>
        </p:nvSpPr>
        <p:spPr>
          <a:xfrm>
            <a:off x="812800" y="1476970"/>
            <a:ext cx="10670032" cy="231140"/>
          </a:xfrm>
          <a:prstGeom prst="rect">
            <a:avLst/>
          </a:prstGeom>
          <a:noFill/>
          <a:ln/>
        </p:spPr>
        <p:txBody>
          <a:bodyPr wrap="square" lIns="0" tIns="0" rIns="0" bIns="0" rtlCol="0" anchor="t"/>
          <a:lstStyle/>
          <a:p>
            <a:pPr algn="l" indent="0" marL="0">
              <a:lnSpc>
                <a:spcPts val="1820"/>
              </a:lnSpc>
              <a:buNone/>
            </a:pPr>
            <a:r>
              <a:rPr lang="en-US" sz="1300" b="1" dirty="0">
                <a:solidFill>
                  <a:srgbClr val="1E5AA8"/>
                </a:solidFill>
                <a:latin typeface="Arial" pitchFamily="34" charset="0"/>
                <a:ea typeface="Arial" pitchFamily="34" charset="-122"/>
                <a:cs typeface="Arial" pitchFamily="34" charset="-120"/>
              </a:rPr>
              <a:t>Training · offline, on a server, once per release</a:t>
            </a:r>
            <a:endParaRPr lang="en-US" sz="1300" dirty="0"/>
          </a:p>
        </p:txBody>
      </p:sp>
      <p:sp>
        <p:nvSpPr>
          <p:cNvPr id="5" name="Shape 3"/>
          <p:cNvSpPr/>
          <p:nvPr/>
        </p:nvSpPr>
        <p:spPr>
          <a:xfrm>
            <a:off x="819150" y="1873151"/>
            <a:ext cx="1409700" cy="982662"/>
          </a:xfrm>
          <a:prstGeom prst="roundRect">
            <a:avLst>
              <a:gd name="adj" fmla="val 7108"/>
            </a:avLst>
          </a:prstGeom>
          <a:solidFill>
            <a:srgbClr val="E6EEF8"/>
          </a:solidFill>
          <a:ln w="12700">
            <a:solidFill>
              <a:srgbClr val="B9CDE8"/>
            </a:solidFill>
            <a:prstDash val="solid"/>
          </a:ln>
        </p:spPr>
      </p:sp>
      <p:sp>
        <p:nvSpPr>
          <p:cNvPr id="6" name="Text 4"/>
          <p:cNvSpPr txBox="1"/>
          <p:nvPr/>
        </p:nvSpPr>
        <p:spPr>
          <a:xfrm>
            <a:off x="898716" y="1981101"/>
            <a:ext cx="1250569" cy="765572"/>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Many homes' data</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public · simulated · pilot</a:t>
            </a:r>
            <a:endParaRPr lang="en-US" sz="1200" dirty="0"/>
          </a:p>
        </p:txBody>
      </p:sp>
      <p:sp>
        <p:nvSpPr>
          <p:cNvPr id="7" name="Shape 5"/>
          <p:cNvSpPr/>
          <p:nvPr/>
        </p:nvSpPr>
        <p:spPr>
          <a:xfrm>
            <a:off x="2298700" y="2294632"/>
            <a:ext cx="279400" cy="139700"/>
          </a:xfrm>
          <a:prstGeom prst="rightArrow">
            <a:avLst/>
          </a:prstGeom>
          <a:solidFill>
            <a:srgbClr val="9AA3B2"/>
          </a:solidFill>
          <a:ln/>
        </p:spPr>
      </p:sp>
      <p:sp>
        <p:nvSpPr>
          <p:cNvPr id="8" name="Shape 6"/>
          <p:cNvSpPr/>
          <p:nvPr/>
        </p:nvSpPr>
        <p:spPr>
          <a:xfrm>
            <a:off x="2647950" y="1873151"/>
            <a:ext cx="1409700" cy="982662"/>
          </a:xfrm>
          <a:prstGeom prst="roundRect">
            <a:avLst>
              <a:gd name="adj" fmla="val 7108"/>
            </a:avLst>
          </a:prstGeom>
          <a:solidFill>
            <a:srgbClr val="E6EEF8"/>
          </a:solidFill>
          <a:ln w="12700">
            <a:solidFill>
              <a:srgbClr val="B9CDE8"/>
            </a:solidFill>
            <a:prstDash val="solid"/>
          </a:ln>
        </p:spPr>
      </p:sp>
      <p:sp>
        <p:nvSpPr>
          <p:cNvPr id="9" name="Text 7"/>
          <p:cNvSpPr txBox="1"/>
          <p:nvPr/>
        </p:nvSpPr>
        <p:spPr>
          <a:xfrm>
            <a:off x="2727516" y="1981101"/>
            <a:ext cx="1250569"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Home Tokens</a:t>
            </a:r>
            <a:endParaRPr lang="en-US" sz="1200" dirty="0"/>
          </a:p>
        </p:txBody>
      </p:sp>
      <p:sp>
        <p:nvSpPr>
          <p:cNvPr id="10" name="Shape 8"/>
          <p:cNvSpPr/>
          <p:nvPr/>
        </p:nvSpPr>
        <p:spPr>
          <a:xfrm>
            <a:off x="4127500" y="2294632"/>
            <a:ext cx="279400" cy="139700"/>
          </a:xfrm>
          <a:prstGeom prst="rightArrow">
            <a:avLst/>
          </a:prstGeom>
          <a:solidFill>
            <a:srgbClr val="9AA3B2"/>
          </a:solidFill>
          <a:ln/>
        </p:spPr>
      </p:sp>
      <p:sp>
        <p:nvSpPr>
          <p:cNvPr id="11" name="Shape 9"/>
          <p:cNvSpPr/>
          <p:nvPr/>
        </p:nvSpPr>
        <p:spPr>
          <a:xfrm>
            <a:off x="4476750" y="1873151"/>
            <a:ext cx="1409700" cy="982662"/>
          </a:xfrm>
          <a:prstGeom prst="roundRect">
            <a:avLst>
              <a:gd name="adj" fmla="val 7108"/>
            </a:avLst>
          </a:prstGeom>
          <a:solidFill>
            <a:srgbClr val="E6EEF8"/>
          </a:solidFill>
          <a:ln w="12700">
            <a:solidFill>
              <a:srgbClr val="B9CDE8"/>
            </a:solidFill>
            <a:prstDash val="solid"/>
          </a:ln>
        </p:spPr>
      </p:sp>
      <p:sp>
        <p:nvSpPr>
          <p:cNvPr id="12" name="Text 10"/>
          <p:cNvSpPr txBox="1"/>
          <p:nvPr/>
        </p:nvSpPr>
        <p:spPr>
          <a:xfrm>
            <a:off x="4556316" y="1981101"/>
            <a:ext cx="1250569"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Event vectors → minutes → stream</a:t>
            </a:r>
            <a:endParaRPr lang="en-US" sz="1200" dirty="0"/>
          </a:p>
        </p:txBody>
      </p:sp>
      <p:sp>
        <p:nvSpPr>
          <p:cNvPr id="13" name="Shape 11"/>
          <p:cNvSpPr/>
          <p:nvPr/>
        </p:nvSpPr>
        <p:spPr>
          <a:xfrm>
            <a:off x="5956300" y="2294632"/>
            <a:ext cx="279400" cy="139700"/>
          </a:xfrm>
          <a:prstGeom prst="rightArrow">
            <a:avLst/>
          </a:prstGeom>
          <a:solidFill>
            <a:srgbClr val="9AA3B2"/>
          </a:solidFill>
          <a:ln/>
        </p:spPr>
      </p:sp>
      <p:sp>
        <p:nvSpPr>
          <p:cNvPr id="14" name="Shape 12"/>
          <p:cNvSpPr/>
          <p:nvPr/>
        </p:nvSpPr>
        <p:spPr>
          <a:xfrm>
            <a:off x="6305550" y="1873151"/>
            <a:ext cx="1409700" cy="982662"/>
          </a:xfrm>
          <a:prstGeom prst="roundRect">
            <a:avLst>
              <a:gd name="adj" fmla="val 7108"/>
            </a:avLst>
          </a:prstGeom>
          <a:solidFill>
            <a:srgbClr val="E6EEF8"/>
          </a:solidFill>
          <a:ln w="12700">
            <a:solidFill>
              <a:srgbClr val="B9CDE8"/>
            </a:solidFill>
            <a:prstDash val="solid"/>
          </a:ln>
        </p:spPr>
      </p:sp>
      <p:sp>
        <p:nvSpPr>
          <p:cNvPr id="15" name="Text 13"/>
          <p:cNvSpPr txBox="1"/>
          <p:nvPr/>
        </p:nvSpPr>
        <p:spPr>
          <a:xfrm>
            <a:off x="6385116" y="1981101"/>
            <a:ext cx="1250569"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Practice games</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(no labels)</a:t>
            </a:r>
            <a:endParaRPr lang="en-US" sz="1200" dirty="0"/>
          </a:p>
        </p:txBody>
      </p:sp>
      <p:sp>
        <p:nvSpPr>
          <p:cNvPr id="16" name="Shape 14"/>
          <p:cNvSpPr/>
          <p:nvPr/>
        </p:nvSpPr>
        <p:spPr>
          <a:xfrm>
            <a:off x="7785100" y="2294632"/>
            <a:ext cx="279400" cy="139700"/>
          </a:xfrm>
          <a:prstGeom prst="rightArrow">
            <a:avLst/>
          </a:prstGeom>
          <a:solidFill>
            <a:srgbClr val="9AA3B2"/>
          </a:solidFill>
          <a:ln/>
        </p:spPr>
      </p:sp>
      <p:sp>
        <p:nvSpPr>
          <p:cNvPr id="17" name="Shape 15"/>
          <p:cNvSpPr/>
          <p:nvPr/>
        </p:nvSpPr>
        <p:spPr>
          <a:xfrm>
            <a:off x="8134350" y="1873151"/>
            <a:ext cx="1409700" cy="982662"/>
          </a:xfrm>
          <a:prstGeom prst="roundRect">
            <a:avLst>
              <a:gd name="adj" fmla="val 7108"/>
            </a:avLst>
          </a:prstGeom>
          <a:solidFill>
            <a:srgbClr val="E6EEF8"/>
          </a:solidFill>
          <a:ln w="12700">
            <a:solidFill>
              <a:srgbClr val="B9CDE8"/>
            </a:solidFill>
            <a:prstDash val="solid"/>
          </a:ln>
        </p:spPr>
      </p:sp>
      <p:sp>
        <p:nvSpPr>
          <p:cNvPr id="18" name="Text 16"/>
          <p:cNvSpPr txBox="1"/>
          <p:nvPr/>
        </p:nvSpPr>
        <p:spPr>
          <a:xfrm>
            <a:off x="8213916" y="1981101"/>
            <a:ext cx="1250569"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Adjust weights</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millions of steps</a:t>
            </a:r>
            <a:endParaRPr lang="en-US" sz="1200" dirty="0"/>
          </a:p>
        </p:txBody>
      </p:sp>
      <p:sp>
        <p:nvSpPr>
          <p:cNvPr id="19" name="Shape 17"/>
          <p:cNvSpPr/>
          <p:nvPr/>
        </p:nvSpPr>
        <p:spPr>
          <a:xfrm>
            <a:off x="9613900" y="2294632"/>
            <a:ext cx="279400" cy="139700"/>
          </a:xfrm>
          <a:prstGeom prst="rightArrow">
            <a:avLst/>
          </a:prstGeom>
          <a:solidFill>
            <a:srgbClr val="9AA3B2"/>
          </a:solidFill>
          <a:ln/>
        </p:spPr>
      </p:sp>
      <p:sp>
        <p:nvSpPr>
          <p:cNvPr id="20" name="Shape 18"/>
          <p:cNvSpPr/>
          <p:nvPr/>
        </p:nvSpPr>
        <p:spPr>
          <a:xfrm>
            <a:off x="9963150" y="1873151"/>
            <a:ext cx="1409700" cy="982662"/>
          </a:xfrm>
          <a:prstGeom prst="roundRect">
            <a:avLst>
              <a:gd name="adj" fmla="val 7108"/>
            </a:avLst>
          </a:prstGeom>
          <a:solidFill>
            <a:srgbClr val="E6EEF8"/>
          </a:solidFill>
          <a:ln w="12700">
            <a:solidFill>
              <a:srgbClr val="B9CDE8"/>
            </a:solidFill>
            <a:prstDash val="solid"/>
          </a:ln>
        </p:spPr>
      </p:sp>
      <p:sp>
        <p:nvSpPr>
          <p:cNvPr id="21" name="Text 19"/>
          <p:cNvSpPr txBox="1"/>
          <p:nvPr/>
        </p:nvSpPr>
        <p:spPr>
          <a:xfrm>
            <a:off x="10042716" y="1981101"/>
            <a:ext cx="1250569"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Teacher → int8 student</a:t>
            </a:r>
            <a:endParaRPr lang="en-US" sz="1200" dirty="0"/>
          </a:p>
        </p:txBody>
      </p:sp>
      <p:sp>
        <p:nvSpPr>
          <p:cNvPr id="22" name="Text 20"/>
          <p:cNvSpPr txBox="1"/>
          <p:nvPr/>
        </p:nvSpPr>
        <p:spPr>
          <a:xfrm>
            <a:off x="812800" y="3059013"/>
            <a:ext cx="10670032" cy="231140"/>
          </a:xfrm>
          <a:prstGeom prst="rect">
            <a:avLst/>
          </a:prstGeom>
          <a:noFill/>
          <a:ln/>
        </p:spPr>
        <p:txBody>
          <a:bodyPr wrap="square" lIns="0" tIns="0" rIns="0" bIns="0" rtlCol="0" anchor="t"/>
          <a:lstStyle/>
          <a:p>
            <a:pPr algn="l" indent="0" marL="0">
              <a:lnSpc>
                <a:spcPts val="1820"/>
              </a:lnSpc>
              <a:buNone/>
            </a:pPr>
            <a:r>
              <a:rPr lang="en-US" sz="1300" b="1" dirty="0">
                <a:solidFill>
                  <a:srgbClr val="2F6B45"/>
                </a:solidFill>
                <a:latin typeface="Arial" pitchFamily="34" charset="0"/>
                <a:ea typeface="Arial" pitchFamily="34" charset="-122"/>
                <a:cs typeface="Arial" pitchFamily="34" charset="-120"/>
              </a:rPr>
              <a:t>Live · on the home hub, all the time</a:t>
            </a:r>
            <a:endParaRPr lang="en-US" sz="1300" dirty="0"/>
          </a:p>
        </p:txBody>
      </p:sp>
      <p:sp>
        <p:nvSpPr>
          <p:cNvPr id="23" name="Shape 21"/>
          <p:cNvSpPr/>
          <p:nvPr/>
        </p:nvSpPr>
        <p:spPr>
          <a:xfrm>
            <a:off x="819150" y="3455194"/>
            <a:ext cx="1409700" cy="784622"/>
          </a:xfrm>
          <a:prstGeom prst="roundRect">
            <a:avLst>
              <a:gd name="adj" fmla="val 8902"/>
            </a:avLst>
          </a:prstGeom>
          <a:solidFill>
            <a:srgbClr val="E3F0E7"/>
          </a:solidFill>
          <a:ln w="12700">
            <a:solidFill>
              <a:srgbClr val="BFDCC8"/>
            </a:solidFill>
            <a:prstDash val="solid"/>
          </a:ln>
        </p:spPr>
      </p:sp>
      <p:sp>
        <p:nvSpPr>
          <p:cNvPr id="24" name="Text 22"/>
          <p:cNvSpPr txBox="1"/>
          <p:nvPr/>
        </p:nvSpPr>
        <p:spPr>
          <a:xfrm>
            <a:off x="898716" y="3563144"/>
            <a:ext cx="1250569"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Sensors + sound/camera tags</a:t>
            </a:r>
            <a:endParaRPr lang="en-US" sz="1200" dirty="0"/>
          </a:p>
        </p:txBody>
      </p:sp>
      <p:sp>
        <p:nvSpPr>
          <p:cNvPr id="25" name="Shape 23"/>
          <p:cNvSpPr/>
          <p:nvPr/>
        </p:nvSpPr>
        <p:spPr>
          <a:xfrm>
            <a:off x="2298700" y="3777655"/>
            <a:ext cx="279400" cy="139700"/>
          </a:xfrm>
          <a:prstGeom prst="rightArrow">
            <a:avLst/>
          </a:prstGeom>
          <a:solidFill>
            <a:srgbClr val="9AA3B2"/>
          </a:solidFill>
          <a:ln/>
        </p:spPr>
      </p:sp>
      <p:sp>
        <p:nvSpPr>
          <p:cNvPr id="26" name="Shape 24"/>
          <p:cNvSpPr/>
          <p:nvPr/>
        </p:nvSpPr>
        <p:spPr>
          <a:xfrm>
            <a:off x="2647950" y="3455194"/>
            <a:ext cx="1409700" cy="784622"/>
          </a:xfrm>
          <a:prstGeom prst="roundRect">
            <a:avLst>
              <a:gd name="adj" fmla="val 8902"/>
            </a:avLst>
          </a:prstGeom>
          <a:solidFill>
            <a:srgbClr val="E3F0E7"/>
          </a:solidFill>
          <a:ln w="12700">
            <a:solidFill>
              <a:srgbClr val="BFDCC8"/>
            </a:solidFill>
            <a:prstDash val="solid"/>
          </a:ln>
        </p:spPr>
      </p:sp>
      <p:sp>
        <p:nvSpPr>
          <p:cNvPr id="27" name="Text 25"/>
          <p:cNvSpPr txBox="1"/>
          <p:nvPr/>
        </p:nvSpPr>
        <p:spPr>
          <a:xfrm>
            <a:off x="2727516" y="3563144"/>
            <a:ext cx="1250569"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Home Tokens</a:t>
            </a:r>
            <a:endParaRPr lang="en-US" sz="1200" dirty="0"/>
          </a:p>
        </p:txBody>
      </p:sp>
      <p:sp>
        <p:nvSpPr>
          <p:cNvPr id="28" name="Shape 26"/>
          <p:cNvSpPr/>
          <p:nvPr/>
        </p:nvSpPr>
        <p:spPr>
          <a:xfrm>
            <a:off x="4127500" y="3777655"/>
            <a:ext cx="279400" cy="139700"/>
          </a:xfrm>
          <a:prstGeom prst="rightArrow">
            <a:avLst/>
          </a:prstGeom>
          <a:solidFill>
            <a:srgbClr val="9AA3B2"/>
          </a:solidFill>
          <a:ln/>
        </p:spPr>
      </p:sp>
      <p:sp>
        <p:nvSpPr>
          <p:cNvPr id="29" name="Shape 27"/>
          <p:cNvSpPr/>
          <p:nvPr/>
        </p:nvSpPr>
        <p:spPr>
          <a:xfrm>
            <a:off x="4476750" y="3455194"/>
            <a:ext cx="1409700" cy="784622"/>
          </a:xfrm>
          <a:prstGeom prst="roundRect">
            <a:avLst>
              <a:gd name="adj" fmla="val 8902"/>
            </a:avLst>
          </a:prstGeom>
          <a:solidFill>
            <a:srgbClr val="E3F0E7"/>
          </a:solidFill>
          <a:ln w="12700">
            <a:solidFill>
              <a:srgbClr val="BFDCC8"/>
            </a:solidFill>
            <a:prstDash val="solid"/>
          </a:ln>
        </p:spPr>
      </p:sp>
      <p:sp>
        <p:nvSpPr>
          <p:cNvPr id="30" name="Text 28"/>
          <p:cNvSpPr txBox="1"/>
          <p:nvPr/>
        </p:nvSpPr>
        <p:spPr>
          <a:xfrm>
            <a:off x="4556316" y="3563144"/>
            <a:ext cx="1250569"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Student model</a:t>
            </a:r>
            <a:endParaRPr lang="en-US" sz="1200" dirty="0"/>
          </a:p>
        </p:txBody>
      </p:sp>
      <p:sp>
        <p:nvSpPr>
          <p:cNvPr id="31" name="Shape 29"/>
          <p:cNvSpPr/>
          <p:nvPr/>
        </p:nvSpPr>
        <p:spPr>
          <a:xfrm>
            <a:off x="5956300" y="3777655"/>
            <a:ext cx="279400" cy="139700"/>
          </a:xfrm>
          <a:prstGeom prst="rightArrow">
            <a:avLst/>
          </a:prstGeom>
          <a:solidFill>
            <a:srgbClr val="9AA3B2"/>
          </a:solidFill>
          <a:ln/>
        </p:spPr>
      </p:sp>
      <p:sp>
        <p:nvSpPr>
          <p:cNvPr id="32" name="Shape 30"/>
          <p:cNvSpPr/>
          <p:nvPr/>
        </p:nvSpPr>
        <p:spPr>
          <a:xfrm>
            <a:off x="6305550" y="3455194"/>
            <a:ext cx="1409700" cy="784622"/>
          </a:xfrm>
          <a:prstGeom prst="roundRect">
            <a:avLst>
              <a:gd name="adj" fmla="val 8902"/>
            </a:avLst>
          </a:prstGeom>
          <a:solidFill>
            <a:srgbClr val="E3F0E7"/>
          </a:solidFill>
          <a:ln w="12700">
            <a:solidFill>
              <a:srgbClr val="BFDCC8"/>
            </a:solidFill>
            <a:prstDash val="solid"/>
          </a:ln>
        </p:spPr>
      </p:sp>
      <p:sp>
        <p:nvSpPr>
          <p:cNvPr id="33" name="Text 31"/>
          <p:cNvSpPr txBox="1"/>
          <p:nvPr/>
        </p:nvSpPr>
        <p:spPr>
          <a:xfrm>
            <a:off x="6385116" y="3563144"/>
            <a:ext cx="1250569"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Heads</a:t>
            </a:r>
            <a:endParaRPr lang="en-US" sz="1200" dirty="0"/>
          </a:p>
        </p:txBody>
      </p:sp>
      <p:sp>
        <p:nvSpPr>
          <p:cNvPr id="34" name="Shape 32"/>
          <p:cNvSpPr/>
          <p:nvPr/>
        </p:nvSpPr>
        <p:spPr>
          <a:xfrm>
            <a:off x="7785100" y="3777655"/>
            <a:ext cx="279400" cy="139700"/>
          </a:xfrm>
          <a:prstGeom prst="rightArrow">
            <a:avLst/>
          </a:prstGeom>
          <a:solidFill>
            <a:srgbClr val="9AA3B2"/>
          </a:solidFill>
          <a:ln/>
        </p:spPr>
      </p:sp>
      <p:sp>
        <p:nvSpPr>
          <p:cNvPr id="35" name="Shape 33"/>
          <p:cNvSpPr/>
          <p:nvPr/>
        </p:nvSpPr>
        <p:spPr>
          <a:xfrm>
            <a:off x="8134350" y="3455194"/>
            <a:ext cx="1409700" cy="784622"/>
          </a:xfrm>
          <a:prstGeom prst="roundRect">
            <a:avLst>
              <a:gd name="adj" fmla="val 8902"/>
            </a:avLst>
          </a:prstGeom>
          <a:solidFill>
            <a:srgbClr val="E3F0E7"/>
          </a:solidFill>
          <a:ln w="12700">
            <a:solidFill>
              <a:srgbClr val="BFDCC8"/>
            </a:solidFill>
            <a:prstDash val="solid"/>
          </a:ln>
        </p:spPr>
      </p:sp>
      <p:sp>
        <p:nvSpPr>
          <p:cNvPr id="36" name="Text 34"/>
          <p:cNvSpPr txBox="1"/>
          <p:nvPr/>
        </p:nvSpPr>
        <p:spPr>
          <a:xfrm>
            <a:off x="8213916" y="3563144"/>
            <a:ext cx="1250569"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Episode builder</a:t>
            </a:r>
            <a:endParaRPr lang="en-US" sz="1200" dirty="0"/>
          </a:p>
        </p:txBody>
      </p:sp>
      <p:sp>
        <p:nvSpPr>
          <p:cNvPr id="37" name="Shape 35"/>
          <p:cNvSpPr/>
          <p:nvPr/>
        </p:nvSpPr>
        <p:spPr>
          <a:xfrm>
            <a:off x="9613900" y="3777655"/>
            <a:ext cx="279400" cy="139700"/>
          </a:xfrm>
          <a:prstGeom prst="rightArrow">
            <a:avLst/>
          </a:prstGeom>
          <a:solidFill>
            <a:srgbClr val="9AA3B2"/>
          </a:solidFill>
          <a:ln/>
        </p:spPr>
      </p:sp>
      <p:sp>
        <p:nvSpPr>
          <p:cNvPr id="38" name="Shape 36"/>
          <p:cNvSpPr/>
          <p:nvPr/>
        </p:nvSpPr>
        <p:spPr>
          <a:xfrm>
            <a:off x="9963150" y="3455194"/>
            <a:ext cx="1409700" cy="784622"/>
          </a:xfrm>
          <a:prstGeom prst="roundRect">
            <a:avLst>
              <a:gd name="adj" fmla="val 8902"/>
            </a:avLst>
          </a:prstGeom>
          <a:solidFill>
            <a:srgbClr val="E3F0E7"/>
          </a:solidFill>
          <a:ln w="12700">
            <a:solidFill>
              <a:srgbClr val="BFDCC8"/>
            </a:solidFill>
            <a:prstDash val="solid"/>
          </a:ln>
        </p:spPr>
      </p:sp>
      <p:sp>
        <p:nvSpPr>
          <p:cNvPr id="39" name="Text 37"/>
          <p:cNvSpPr txBox="1"/>
          <p:nvPr/>
        </p:nvSpPr>
        <p:spPr>
          <a:xfrm>
            <a:off x="10042716" y="3563144"/>
            <a:ext cx="1250569"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Stores → agent</a:t>
            </a:r>
            <a:endParaRPr lang="en-US" sz="1200" dirty="0"/>
          </a:p>
        </p:txBody>
      </p:sp>
      <p:sp>
        <p:nvSpPr>
          <p:cNvPr id="40" name="Shape 38"/>
          <p:cNvSpPr/>
          <p:nvPr/>
        </p:nvSpPr>
        <p:spPr>
          <a:xfrm>
            <a:off x="819150" y="4430316"/>
            <a:ext cx="10553700" cy="1811734"/>
          </a:xfrm>
          <a:prstGeom prst="roundRect">
            <a:avLst>
              <a:gd name="adj" fmla="val 5257"/>
            </a:avLst>
          </a:prstGeom>
          <a:solidFill>
            <a:srgbClr val="FDFCFA"/>
          </a:solidFill>
          <a:ln w="12700">
            <a:solidFill>
              <a:srgbClr val="E3E0D7"/>
            </a:solidFill>
            <a:prstDash val="solid"/>
          </a:ln>
        </p:spPr>
      </p:sp>
      <p:sp>
        <p:nvSpPr>
          <p:cNvPr id="41" name="Text 39"/>
          <p:cNvSpPr txBox="1"/>
          <p:nvPr/>
        </p:nvSpPr>
        <p:spPr>
          <a:xfrm>
            <a:off x="1003300" y="4633516"/>
            <a:ext cx="10287127" cy="421580"/>
          </a:xfrm>
          <a:prstGeom prst="rect">
            <a:avLst/>
          </a:prstGeom>
          <a:noFill/>
          <a:ln/>
        </p:spPr>
        <p:txBody>
          <a:bodyPr wrap="square" lIns="0" tIns="0" rIns="0" bIns="0" rtlCol="0" anchor="t"/>
          <a:lstStyle/>
          <a:p>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A common misunderstanding:</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pretraining is not a step each event passes through. It produces the model; the live pipeline uses it with frozen weights. The games exist only in training.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PRETRAINING · DOMUSFM'S GAME</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How DomusFM pretrains: hide a little, then find your own window</a:t>
            </a:r>
            <a:endParaRPr lang="en-US" sz="2800" dirty="0"/>
          </a:p>
        </p:txBody>
      </p:sp>
      <p:sp>
        <p:nvSpPr>
          <p:cNvPr id="4" name="Shape 2"/>
          <p:cNvSpPr/>
          <p:nvPr/>
        </p:nvSpPr>
        <p:spPr>
          <a:xfrm>
            <a:off x="819150" y="1855391"/>
            <a:ext cx="5181600" cy="1607741"/>
          </a:xfrm>
          <a:prstGeom prst="roundRect">
            <a:avLst>
              <a:gd name="adj" fmla="val 5924"/>
            </a:avLst>
          </a:prstGeom>
          <a:solidFill>
            <a:srgbClr val="FDFCFA"/>
          </a:solidFill>
          <a:ln w="12700">
            <a:solidFill>
              <a:srgbClr val="E3E0D7"/>
            </a:solidFill>
            <a:prstDash val="solid"/>
          </a:ln>
        </p:spPr>
      </p:sp>
      <p:sp>
        <p:nvSpPr>
          <p:cNvPr id="5" name="Shape 3"/>
          <p:cNvSpPr/>
          <p:nvPr/>
        </p:nvSpPr>
        <p:spPr>
          <a:xfrm>
            <a:off x="1003300" y="2039541"/>
            <a:ext cx="2184995" cy="254000"/>
          </a:xfrm>
          <a:prstGeom prst="roundRect">
            <a:avLst>
              <a:gd name="adj" fmla="val 50000"/>
            </a:avLst>
          </a:prstGeom>
          <a:solidFill>
            <a:srgbClr val="FBEBDD"/>
          </a:solidFill>
          <a:ln/>
        </p:spPr>
      </p:sp>
      <p:sp>
        <p:nvSpPr>
          <p:cNvPr id="6" name="Text 4"/>
          <p:cNvSpPr txBox="1"/>
          <p:nvPr/>
        </p:nvSpPr>
        <p:spPr>
          <a:xfrm>
            <a:off x="1104900" y="2077641"/>
            <a:ext cx="2042504"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Phase 1 · attribute masking</a:t>
            </a:r>
            <a:endParaRPr lang="en-US" sz="1200" dirty="0"/>
          </a:p>
        </p:txBody>
      </p:sp>
      <p:sp>
        <p:nvSpPr>
          <p:cNvPr id="7" name="Text 5"/>
          <p:cNvSpPr txBox="1"/>
          <p:nvPr/>
        </p:nvSpPr>
        <p:spPr>
          <a:xfrm>
            <a:off x="1003300" y="2376091"/>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For about 15 % of events, hide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one attribute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1003300" y="2633861"/>
            <a:ext cx="4813300" cy="645120"/>
          </a:xfrm>
          <a:prstGeom prst="roundRect">
            <a:avLst>
              <a:gd name="adj" fmla="val 11812"/>
            </a:avLst>
          </a:prstGeom>
          <a:solidFill>
            <a:srgbClr val="EDEBE4"/>
          </a:solidFill>
          <a:ln/>
        </p:spPr>
      </p:sp>
      <p:sp>
        <p:nvSpPr>
          <p:cNvPr id="9" name="Text 7"/>
          <p:cNvSpPr txBox="1"/>
          <p:nvPr/>
        </p:nvSpPr>
        <p:spPr>
          <a:xfrm>
            <a:off x="1130300" y="2754511"/>
            <a:ext cx="4632897" cy="39241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18:29 fridge door · contact · kitchen · OPEN</a:t>
            </a:r>
            <a:endParaRPr lang="en-US" sz="1200" dirty="0"/>
          </a:p>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18:29 fridge door · contact · kitchen · ???</a:t>
            </a:r>
            <a:endParaRPr lang="en-US" sz="1200" dirty="0"/>
          </a:p>
        </p:txBody>
      </p:sp>
      <p:sp>
        <p:nvSpPr>
          <p:cNvPr id="10" name="Shape 8"/>
          <p:cNvSpPr/>
          <p:nvPr/>
        </p:nvSpPr>
        <p:spPr>
          <a:xfrm>
            <a:off x="6191250" y="1855391"/>
            <a:ext cx="5181600" cy="1607741"/>
          </a:xfrm>
          <a:prstGeom prst="roundRect">
            <a:avLst>
              <a:gd name="adj" fmla="val 5924"/>
            </a:avLst>
          </a:prstGeom>
          <a:solidFill>
            <a:srgbClr val="FDFCFA"/>
          </a:solidFill>
          <a:ln w="12700">
            <a:solidFill>
              <a:srgbClr val="E3E0D7"/>
            </a:solidFill>
            <a:prstDash val="solid"/>
          </a:ln>
        </p:spPr>
      </p:sp>
      <p:sp>
        <p:nvSpPr>
          <p:cNvPr id="11" name="Shape 9"/>
          <p:cNvSpPr/>
          <p:nvPr/>
        </p:nvSpPr>
        <p:spPr>
          <a:xfrm>
            <a:off x="6375400" y="2039541"/>
            <a:ext cx="1973560" cy="254000"/>
          </a:xfrm>
          <a:prstGeom prst="roundRect">
            <a:avLst>
              <a:gd name="adj" fmla="val 50000"/>
            </a:avLst>
          </a:prstGeom>
          <a:solidFill>
            <a:srgbClr val="FBEBDD"/>
          </a:solidFill>
          <a:ln/>
        </p:spPr>
      </p:sp>
      <p:sp>
        <p:nvSpPr>
          <p:cNvPr id="12" name="Text 10"/>
          <p:cNvSpPr txBox="1"/>
          <p:nvPr/>
        </p:nvSpPr>
        <p:spPr>
          <a:xfrm>
            <a:off x="6477000" y="2077641"/>
            <a:ext cx="1830012"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Phase 2 · event masking</a:t>
            </a:r>
            <a:endParaRPr lang="en-US" sz="1200" dirty="0"/>
          </a:p>
        </p:txBody>
      </p:sp>
      <p:sp>
        <p:nvSpPr>
          <p:cNvPr id="13" name="Text 11"/>
          <p:cNvSpPr txBox="1"/>
          <p:nvPr/>
        </p:nvSpPr>
        <p:spPr>
          <a:xfrm>
            <a:off x="6375400" y="2376091"/>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For about 15 % of events, hide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all attributes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event layers frozen:</a:t>
            </a:r>
            <a:endParaRPr lang="en-US" sz="1200" dirty="0"/>
          </a:p>
        </p:txBody>
      </p:sp>
      <p:sp>
        <p:nvSpPr>
          <p:cNvPr id="14" name="Shape 12"/>
          <p:cNvSpPr/>
          <p:nvPr/>
        </p:nvSpPr>
        <p:spPr>
          <a:xfrm>
            <a:off x="6375400" y="2633861"/>
            <a:ext cx="4813300" cy="645120"/>
          </a:xfrm>
          <a:prstGeom prst="roundRect">
            <a:avLst>
              <a:gd name="adj" fmla="val 11812"/>
            </a:avLst>
          </a:prstGeom>
          <a:solidFill>
            <a:srgbClr val="EDEBE4"/>
          </a:solidFill>
          <a:ln/>
        </p:spPr>
      </p:sp>
      <p:sp>
        <p:nvSpPr>
          <p:cNvPr id="15" name="Text 13"/>
          <p:cNvSpPr txBox="1"/>
          <p:nvPr/>
        </p:nvSpPr>
        <p:spPr>
          <a:xfrm>
            <a:off x="6502400" y="2754511"/>
            <a:ext cx="4632897" cy="39241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18:30 stove · power · kitchen · ON</a:t>
            </a:r>
            <a:endParaRPr lang="en-US" sz="1200" dirty="0"/>
          </a:p>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 · ??? · ??? · ???</a:t>
            </a:r>
            <a:endParaRPr lang="en-US" sz="1200" dirty="0"/>
          </a:p>
        </p:txBody>
      </p:sp>
      <p:sp>
        <p:nvSpPr>
          <p:cNvPr id="16" name="Shape 14"/>
          <p:cNvSpPr/>
          <p:nvPr/>
        </p:nvSpPr>
        <p:spPr>
          <a:xfrm>
            <a:off x="819150" y="3653631"/>
            <a:ext cx="2867918" cy="586581"/>
          </a:xfrm>
          <a:prstGeom prst="roundRect">
            <a:avLst>
              <a:gd name="adj" fmla="val 11908"/>
            </a:avLst>
          </a:prstGeom>
          <a:solidFill>
            <a:srgbClr val="FBEBDD"/>
          </a:solidFill>
          <a:ln w="12700">
            <a:solidFill>
              <a:srgbClr val="E9C3A2"/>
            </a:solidFill>
            <a:prstDash val="solid"/>
          </a:ln>
        </p:spPr>
      </p:sp>
      <p:sp>
        <p:nvSpPr>
          <p:cNvPr id="17" name="Text 15"/>
          <p:cNvSpPr txBox="1"/>
          <p:nvPr/>
        </p:nvSpPr>
        <p:spPr>
          <a:xfrm>
            <a:off x="895070" y="3761581"/>
            <a:ext cx="2716078"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Original window → model → average → vector A</a:t>
            </a:r>
            <a:endParaRPr lang="en-US" sz="1200" dirty="0"/>
          </a:p>
        </p:txBody>
      </p:sp>
      <p:sp>
        <p:nvSpPr>
          <p:cNvPr id="18" name="Shape 16"/>
          <p:cNvSpPr/>
          <p:nvPr/>
        </p:nvSpPr>
        <p:spPr>
          <a:xfrm>
            <a:off x="3769618" y="3877072"/>
            <a:ext cx="279400" cy="139700"/>
          </a:xfrm>
          <a:prstGeom prst="rightArrow">
            <a:avLst/>
          </a:prstGeom>
          <a:solidFill>
            <a:srgbClr val="9AA3B2"/>
          </a:solidFill>
          <a:ln/>
        </p:spPr>
      </p:sp>
      <p:sp>
        <p:nvSpPr>
          <p:cNvPr id="19" name="Shape 17"/>
          <p:cNvSpPr/>
          <p:nvPr/>
        </p:nvSpPr>
        <p:spPr>
          <a:xfrm>
            <a:off x="4131568" y="3653631"/>
            <a:ext cx="3928765" cy="586581"/>
          </a:xfrm>
          <a:prstGeom prst="roundRect">
            <a:avLst>
              <a:gd name="adj" fmla="val 11908"/>
            </a:avLst>
          </a:prstGeom>
          <a:solidFill>
            <a:srgbClr val="FBEBDD"/>
          </a:solidFill>
          <a:ln w="12700">
            <a:solidFill>
              <a:srgbClr val="E9C3A2"/>
            </a:solidFill>
            <a:prstDash val="solid"/>
          </a:ln>
        </p:spPr>
      </p:sp>
      <p:sp>
        <p:nvSpPr>
          <p:cNvPr id="20" name="Text 18"/>
          <p:cNvSpPr txBox="1"/>
          <p:nvPr/>
        </p:nvSpPr>
        <p:spPr>
          <a:xfrm>
            <a:off x="4204836" y="3761581"/>
            <a:ext cx="3782229"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Among 64–128 windows in the batch, each A must pick out its own masked copy B (InfoNCE)</a:t>
            </a:r>
            <a:endParaRPr lang="en-US" sz="1200" dirty="0"/>
          </a:p>
        </p:txBody>
      </p:sp>
      <p:sp>
        <p:nvSpPr>
          <p:cNvPr id="21" name="Shape 19"/>
          <p:cNvSpPr/>
          <p:nvPr/>
        </p:nvSpPr>
        <p:spPr>
          <a:xfrm>
            <a:off x="8142883" y="3877072"/>
            <a:ext cx="279400" cy="139700"/>
          </a:xfrm>
          <a:prstGeom prst="rightArrow">
            <a:avLst/>
          </a:prstGeom>
          <a:solidFill>
            <a:srgbClr val="9AA3B2"/>
          </a:solidFill>
          <a:ln/>
        </p:spPr>
      </p:sp>
      <p:sp>
        <p:nvSpPr>
          <p:cNvPr id="22" name="Shape 20"/>
          <p:cNvSpPr/>
          <p:nvPr/>
        </p:nvSpPr>
        <p:spPr>
          <a:xfrm>
            <a:off x="8504833" y="3653631"/>
            <a:ext cx="2867918" cy="586581"/>
          </a:xfrm>
          <a:prstGeom prst="roundRect">
            <a:avLst>
              <a:gd name="adj" fmla="val 11908"/>
            </a:avLst>
          </a:prstGeom>
          <a:solidFill>
            <a:srgbClr val="FBEBDD"/>
          </a:solidFill>
          <a:ln w="12700">
            <a:solidFill>
              <a:srgbClr val="E9C3A2"/>
            </a:solidFill>
            <a:prstDash val="solid"/>
          </a:ln>
        </p:spPr>
      </p:sp>
      <p:sp>
        <p:nvSpPr>
          <p:cNvPr id="23" name="Text 21"/>
          <p:cNvSpPr txBox="1"/>
          <p:nvPr/>
        </p:nvSpPr>
        <p:spPr>
          <a:xfrm>
            <a:off x="8580753" y="3761581"/>
            <a:ext cx="2716078"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Masked window → model → average → vector B</a:t>
            </a:r>
            <a:endParaRPr lang="en-US" sz="1200" dirty="0"/>
          </a:p>
        </p:txBody>
      </p:sp>
      <p:sp>
        <p:nvSpPr>
          <p:cNvPr id="24" name="Shape 22"/>
          <p:cNvSpPr/>
          <p:nvPr/>
        </p:nvSpPr>
        <p:spPr>
          <a:xfrm>
            <a:off x="819150" y="4430713"/>
            <a:ext cx="10553700" cy="1811338"/>
          </a:xfrm>
          <a:prstGeom prst="roundRect">
            <a:avLst>
              <a:gd name="adj" fmla="val 5259"/>
            </a:avLst>
          </a:prstGeom>
          <a:solidFill>
            <a:srgbClr val="FBEBDD"/>
          </a:solidFill>
          <a:ln w="12700">
            <a:solidFill>
              <a:srgbClr val="E9C3A2"/>
            </a:solidFill>
            <a:prstDash val="solid"/>
          </a:ln>
        </p:spPr>
      </p:sp>
      <p:sp>
        <p:nvSpPr>
          <p:cNvPr id="25" name="Text 23"/>
          <p:cNvSpPr txBox="1"/>
          <p:nvPr/>
        </p:nvSpPr>
        <p:spPr>
          <a:xfrm>
            <a:off x="1003300" y="4640263"/>
            <a:ext cx="10287127" cy="445691"/>
          </a:xfrm>
          <a:prstGeom prst="rect">
            <a:avLst/>
          </a:prstGeom>
          <a:noFill/>
          <a:ln/>
        </p:spPr>
        <p:txBody>
          <a:bodyPr wrap="square" lIns="0" tIns="0" rIns="0" bIns="0" rtlCol="0" anchor="t"/>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The key weakness: the model is never asked what was hidden.</a:t>
            </a:r>
            <a:pPr algn="l" indent="0" marL="0">
              <a:lnSpc>
                <a:spcPts val="1960"/>
              </a:lnSpc>
              <a:buNone/>
            </a:pPr>
            <a:r>
              <a:rPr lang="en-US" sz="1400" dirty="0">
                <a:solidFill>
                  <a:srgbClr val="14213D"/>
                </a:solidFill>
                <a:latin typeface="Arial" pitchFamily="34" charset="0"/>
                <a:ea typeface="Arial" pitchFamily="34" charset="-122"/>
                <a:cs typeface="Arial" pitchFamily="34" charset="-120"/>
              </a:rPr>
              <a:t> Masking is only damage; the task is to recognise the window despite it. Knowing that “the stove usually follows the fridge” gives no advantage.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PRETRAINING · WHY HOMEFM DROPS IT</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Why HomeFM removes attribute masking and event masking</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337639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Disadvantage</a:t>
            </a:r>
            <a:endParaRPr lang="en-US" sz="1200" dirty="0"/>
          </a:p>
        </p:txBody>
      </p:sp>
      <p:sp>
        <p:nvSpPr>
          <p:cNvPr id="6" name="Text 4"/>
          <p:cNvSpPr txBox="1"/>
          <p:nvPr/>
        </p:nvSpPr>
        <p:spPr>
          <a:xfrm>
            <a:off x="4388545" y="1521420"/>
            <a:ext cx="369497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What happens</a:t>
            </a:r>
            <a:endParaRPr lang="en-US" sz="1200" dirty="0"/>
          </a:p>
        </p:txBody>
      </p:sp>
      <p:sp>
        <p:nvSpPr>
          <p:cNvPr id="7" name="Text 5"/>
          <p:cNvSpPr txBox="1"/>
          <p:nvPr/>
        </p:nvSpPr>
        <p:spPr>
          <a:xfrm>
            <a:off x="8192393" y="1521420"/>
            <a:ext cx="3164197"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Consequence</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 · Never recovers the hidden part</a:t>
            </a:r>
            <a:endParaRPr lang="en-US" sz="1200" dirty="0"/>
          </a:p>
        </p:txBody>
      </p:sp>
      <p:sp>
        <p:nvSpPr>
          <p:cNvPr id="10" name="Text 8"/>
          <p:cNvSpPr txBox="1"/>
          <p:nvPr/>
        </p:nvSpPr>
        <p:spPr>
          <a:xfrm>
            <a:off x="4388545" y="18262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Only: recognise your own window</a:t>
            </a:r>
            <a:endParaRPr lang="en-US" sz="1200" dirty="0"/>
          </a:p>
        </p:txBody>
      </p:sp>
      <p:sp>
        <p:nvSpPr>
          <p:cNvPr id="11" name="Text 9"/>
          <p:cNvSpPr txBox="1"/>
          <p:nvPr/>
        </p:nvSpPr>
        <p:spPr>
          <a:xfrm>
            <a:off x="8192393" y="18262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Understanding routines gives no advantage</a:t>
            </a:r>
            <a:endParaRPr lang="en-US" sz="1200" dirty="0"/>
          </a:p>
        </p:txBody>
      </p:sp>
      <p:sp>
        <p:nvSpPr>
          <p:cNvPr id="12" name="Shape 10"/>
          <p:cNvSpPr/>
          <p:nvPr/>
        </p:nvSpPr>
        <p:spPr>
          <a:xfrm>
            <a:off x="812800" y="2067520"/>
            <a:ext cx="10566400" cy="304800"/>
          </a:xfrm>
          <a:prstGeom prst="rect">
            <a:avLst/>
          </a:prstGeom>
          <a:solidFill>
            <a:srgbClr val="F6F5F1"/>
          </a:solidFill>
          <a:ln/>
        </p:spPr>
      </p:sp>
      <p:sp>
        <p:nvSpPr>
          <p:cNvPr id="13" name="Text 11"/>
          <p:cNvSpPr txBox="1"/>
          <p:nvPr/>
        </p:nvSpPr>
        <p:spPr>
          <a:xfrm>
            <a:off x="901700" y="21310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2 · Too little is hidden</a:t>
            </a:r>
            <a:endParaRPr lang="en-US" sz="1200" dirty="0"/>
          </a:p>
        </p:txBody>
      </p:sp>
      <p:sp>
        <p:nvSpPr>
          <p:cNvPr id="14" name="Text 12"/>
          <p:cNvSpPr txBox="1"/>
          <p:nvPr/>
        </p:nvSpPr>
        <p:spPr>
          <a:xfrm>
            <a:off x="4388545" y="21310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About 15 % masked: 28 of 30 events untouched</a:t>
            </a:r>
            <a:endParaRPr lang="en-US" sz="1200" dirty="0"/>
          </a:p>
        </p:txBody>
      </p:sp>
      <p:sp>
        <p:nvSpPr>
          <p:cNvPr id="15" name="Text 13"/>
          <p:cNvSpPr txBox="1"/>
          <p:nvPr/>
        </p:nvSpPr>
        <p:spPr>
          <a:xfrm>
            <a:off x="8192393" y="21310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The masked copy is nearly identical</a:t>
            </a:r>
            <a:endParaRPr lang="en-US" sz="1200" dirty="0"/>
          </a:p>
        </p:txBody>
      </p:sp>
      <p:sp>
        <p:nvSpPr>
          <p:cNvPr id="16" name="Shape 14"/>
          <p:cNvSpPr/>
          <p:nvPr/>
        </p:nvSpPr>
        <p:spPr>
          <a:xfrm>
            <a:off x="812800" y="2372320"/>
            <a:ext cx="10566400" cy="304800"/>
          </a:xfrm>
          <a:prstGeom prst="rect">
            <a:avLst/>
          </a:prstGeom>
          <a:solidFill>
            <a:srgbClr val="FDFCFA"/>
          </a:solidFill>
          <a:ln/>
        </p:spPr>
      </p:sp>
      <p:sp>
        <p:nvSpPr>
          <p:cNvPr id="17" name="Text 15"/>
          <p:cNvSpPr txBox="1"/>
          <p:nvPr/>
        </p:nvSpPr>
        <p:spPr>
          <a:xfrm>
            <a:off x="901700" y="24358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 · Timestamps are a fingerprint</a:t>
            </a:r>
            <a:endParaRPr lang="en-US" sz="1200" dirty="0"/>
          </a:p>
        </p:txBody>
      </p:sp>
      <p:sp>
        <p:nvSpPr>
          <p:cNvPr id="18" name="Text 16"/>
          <p:cNvSpPr txBox="1"/>
          <p:nvPr/>
        </p:nvSpPr>
        <p:spPr>
          <a:xfrm>
            <a:off x="4388545" y="24358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Exact seconds survive the masking</a:t>
            </a:r>
            <a:endParaRPr lang="en-US" sz="1200" dirty="0"/>
          </a:p>
        </p:txBody>
      </p:sp>
      <p:sp>
        <p:nvSpPr>
          <p:cNvPr id="19" name="Text 17"/>
          <p:cNvSpPr txBox="1"/>
          <p:nvPr/>
        </p:nvSpPr>
        <p:spPr>
          <a:xfrm>
            <a:off x="8192393" y="24358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Windows matched like serial numbers</a:t>
            </a:r>
            <a:endParaRPr lang="en-US" sz="1200" dirty="0"/>
          </a:p>
        </p:txBody>
      </p:sp>
      <p:sp>
        <p:nvSpPr>
          <p:cNvPr id="20" name="Shape 18"/>
          <p:cNvSpPr/>
          <p:nvPr/>
        </p:nvSpPr>
        <p:spPr>
          <a:xfrm>
            <a:off x="812800" y="2677120"/>
            <a:ext cx="10566400" cy="304800"/>
          </a:xfrm>
          <a:prstGeom prst="rect">
            <a:avLst/>
          </a:prstGeom>
          <a:solidFill>
            <a:srgbClr val="F6F5F1"/>
          </a:solidFill>
          <a:ln/>
        </p:spPr>
      </p:sp>
      <p:sp>
        <p:nvSpPr>
          <p:cNvPr id="21" name="Text 19"/>
          <p:cNvSpPr txBox="1"/>
          <p:nvPr/>
        </p:nvSpPr>
        <p:spPr>
          <a:xfrm>
            <a:off x="901700" y="27406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4 · ON/OFF pairs give it away</a:t>
            </a:r>
            <a:endParaRPr lang="en-US" sz="1200" dirty="0"/>
          </a:p>
        </p:txBody>
      </p:sp>
      <p:sp>
        <p:nvSpPr>
          <p:cNvPr id="22" name="Text 20"/>
          <p:cNvSpPr txBox="1"/>
          <p:nvPr/>
        </p:nvSpPr>
        <p:spPr>
          <a:xfrm>
            <a:off x="4388545" y="27406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Hide the OFF: it follows from the ON</a:t>
            </a:r>
            <a:endParaRPr lang="en-US" sz="1200" dirty="0"/>
          </a:p>
        </p:txBody>
      </p:sp>
      <p:sp>
        <p:nvSpPr>
          <p:cNvPr id="23" name="Text 21"/>
          <p:cNvSpPr txBox="1"/>
          <p:nvPr/>
        </p:nvSpPr>
        <p:spPr>
          <a:xfrm>
            <a:off x="8192393" y="27406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Learns sensor mechanics, not behaviour</a:t>
            </a:r>
            <a:endParaRPr lang="en-US" sz="1200" dirty="0"/>
          </a:p>
        </p:txBody>
      </p:sp>
      <p:sp>
        <p:nvSpPr>
          <p:cNvPr id="24" name="Shape 22"/>
          <p:cNvSpPr/>
          <p:nvPr/>
        </p:nvSpPr>
        <p:spPr>
          <a:xfrm>
            <a:off x="812800" y="2981920"/>
            <a:ext cx="10566400" cy="304800"/>
          </a:xfrm>
          <a:prstGeom prst="rect">
            <a:avLst/>
          </a:prstGeom>
          <a:solidFill>
            <a:srgbClr val="FDFCFA"/>
          </a:solidFill>
          <a:ln/>
        </p:spPr>
      </p:sp>
      <p:sp>
        <p:nvSpPr>
          <p:cNvPr id="25" name="Text 23"/>
          <p:cNvSpPr txBox="1"/>
          <p:nvPr/>
        </p:nvSpPr>
        <p:spPr>
          <a:xfrm>
            <a:off x="901700" y="30454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5 · Similar routines pushed apart</a:t>
            </a:r>
            <a:endParaRPr lang="en-US" sz="1200" dirty="0"/>
          </a:p>
        </p:txBody>
      </p:sp>
      <p:sp>
        <p:nvSpPr>
          <p:cNvPr id="26" name="Text 24"/>
          <p:cNvSpPr txBox="1"/>
          <p:nvPr/>
        </p:nvSpPr>
        <p:spPr>
          <a:xfrm>
            <a:off x="4388545" y="30454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Two normal nights are “different”</a:t>
            </a:r>
            <a:endParaRPr lang="en-US" sz="1200" dirty="0"/>
          </a:p>
        </p:txBody>
      </p:sp>
      <p:sp>
        <p:nvSpPr>
          <p:cNvPr id="27" name="Text 25"/>
          <p:cNvSpPr txBox="1"/>
          <p:nvPr/>
        </p:nvSpPr>
        <p:spPr>
          <a:xfrm>
            <a:off x="8192393" y="30454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False negatives: routines unlearned</a:t>
            </a:r>
            <a:endParaRPr lang="en-US" sz="1200" dirty="0"/>
          </a:p>
        </p:txBody>
      </p:sp>
      <p:sp>
        <p:nvSpPr>
          <p:cNvPr id="28" name="Shape 26"/>
          <p:cNvSpPr/>
          <p:nvPr/>
        </p:nvSpPr>
        <p:spPr>
          <a:xfrm>
            <a:off x="812800" y="3286720"/>
            <a:ext cx="10566400" cy="304800"/>
          </a:xfrm>
          <a:prstGeom prst="rect">
            <a:avLst/>
          </a:prstGeom>
          <a:solidFill>
            <a:srgbClr val="F6F5F1"/>
          </a:solidFill>
          <a:ln/>
        </p:spPr>
      </p:sp>
      <p:sp>
        <p:nvSpPr>
          <p:cNvPr id="29" name="Text 27"/>
          <p:cNvSpPr txBox="1"/>
          <p:nvPr/>
        </p:nvSpPr>
        <p:spPr>
          <a:xfrm>
            <a:off x="901700" y="33502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6 · One check per window</a:t>
            </a:r>
            <a:endParaRPr lang="en-US" sz="1200" dirty="0"/>
          </a:p>
        </p:txBody>
      </p:sp>
      <p:sp>
        <p:nvSpPr>
          <p:cNvPr id="30" name="Text 28"/>
          <p:cNvSpPr txBox="1"/>
          <p:nvPr/>
        </p:nvSpPr>
        <p:spPr>
          <a:xfrm>
            <a:off x="4388545" y="33502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averaged vector per 30 events</a:t>
            </a:r>
            <a:endParaRPr lang="en-US" sz="1200" dirty="0"/>
          </a:p>
        </p:txBody>
      </p:sp>
      <p:sp>
        <p:nvSpPr>
          <p:cNvPr id="31" name="Text 29"/>
          <p:cNvSpPr txBox="1"/>
          <p:nvPr/>
        </p:nvSpPr>
        <p:spPr>
          <a:xfrm>
            <a:off x="8192393" y="33502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Weak signal; no per-minute meaning</a:t>
            </a:r>
            <a:endParaRPr lang="en-US" sz="1200" dirty="0"/>
          </a:p>
        </p:txBody>
      </p:sp>
      <p:sp>
        <p:nvSpPr>
          <p:cNvPr id="32" name="Shape 30"/>
          <p:cNvSpPr/>
          <p:nvPr/>
        </p:nvSpPr>
        <p:spPr>
          <a:xfrm>
            <a:off x="812800" y="3591520"/>
            <a:ext cx="10566400" cy="304800"/>
          </a:xfrm>
          <a:prstGeom prst="rect">
            <a:avLst/>
          </a:prstGeom>
          <a:solidFill>
            <a:srgbClr val="FDFCFA"/>
          </a:solidFill>
          <a:ln/>
        </p:spPr>
      </p:sp>
      <p:sp>
        <p:nvSpPr>
          <p:cNvPr id="33" name="Text 31"/>
          <p:cNvSpPr txBox="1"/>
          <p:nvPr/>
        </p:nvSpPr>
        <p:spPr>
          <a:xfrm>
            <a:off x="901700" y="36550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7 · Bidirectional only</a:t>
            </a:r>
            <a:endParaRPr lang="en-US" sz="1200" dirty="0"/>
          </a:p>
        </p:txBody>
      </p:sp>
      <p:sp>
        <p:nvSpPr>
          <p:cNvPr id="34" name="Text 32"/>
          <p:cNvSpPr txBox="1"/>
          <p:nvPr/>
        </p:nvSpPr>
        <p:spPr>
          <a:xfrm>
            <a:off x="4388545" y="36550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Always sees the whole window</a:t>
            </a:r>
            <a:endParaRPr lang="en-US" sz="1200" dirty="0"/>
          </a:p>
        </p:txBody>
      </p:sp>
      <p:sp>
        <p:nvSpPr>
          <p:cNvPr id="35" name="Text 33"/>
          <p:cNvSpPr txBox="1"/>
          <p:nvPr/>
        </p:nvSpPr>
        <p:spPr>
          <a:xfrm>
            <a:off x="8192393" y="36550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probability of what comes next</a:t>
            </a:r>
            <a:endParaRPr lang="en-US" sz="1200" dirty="0"/>
          </a:p>
        </p:txBody>
      </p:sp>
      <p:sp>
        <p:nvSpPr>
          <p:cNvPr id="36" name="Shape 34"/>
          <p:cNvSpPr/>
          <p:nvPr/>
        </p:nvSpPr>
        <p:spPr>
          <a:xfrm>
            <a:off x="812800" y="3896320"/>
            <a:ext cx="10566400" cy="304800"/>
          </a:xfrm>
          <a:prstGeom prst="rect">
            <a:avLst/>
          </a:prstGeom>
          <a:solidFill>
            <a:srgbClr val="F6F5F1"/>
          </a:solidFill>
          <a:ln/>
        </p:spPr>
      </p:sp>
      <p:sp>
        <p:nvSpPr>
          <p:cNvPr id="37" name="Text 35"/>
          <p:cNvSpPr txBox="1"/>
          <p:nvPr/>
        </p:nvSpPr>
        <p:spPr>
          <a:xfrm>
            <a:off x="901700" y="39598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8 · Timing ignored</a:t>
            </a:r>
            <a:endParaRPr lang="en-US" sz="1200" dirty="0"/>
          </a:p>
        </p:txBody>
      </p:sp>
      <p:sp>
        <p:nvSpPr>
          <p:cNvPr id="38" name="Text 36"/>
          <p:cNvSpPr txBox="1"/>
          <p:nvPr/>
        </p:nvSpPr>
        <p:spPr>
          <a:xfrm>
            <a:off x="4388545" y="39598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Order counts; durations do not</a:t>
            </a:r>
            <a:endParaRPr lang="en-US" sz="1200" dirty="0"/>
          </a:p>
        </p:txBody>
      </p:sp>
      <p:sp>
        <p:nvSpPr>
          <p:cNvPr id="39" name="Text 37"/>
          <p:cNvSpPr txBox="1"/>
          <p:nvPr/>
        </p:nvSpPr>
        <p:spPr>
          <a:xfrm>
            <a:off x="8192393" y="39598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 s and 30 min visits look alike</a:t>
            </a:r>
            <a:endParaRPr lang="en-US" sz="1200" dirty="0"/>
          </a:p>
        </p:txBody>
      </p:sp>
      <p:sp>
        <p:nvSpPr>
          <p:cNvPr id="40" name="Shape 38"/>
          <p:cNvSpPr/>
          <p:nvPr/>
        </p:nvSpPr>
        <p:spPr>
          <a:xfrm>
            <a:off x="812800" y="4201120"/>
            <a:ext cx="10566400" cy="304800"/>
          </a:xfrm>
          <a:prstGeom prst="rect">
            <a:avLst/>
          </a:prstGeom>
          <a:solidFill>
            <a:srgbClr val="FDFCFA"/>
          </a:solidFill>
          <a:ln/>
        </p:spPr>
      </p:sp>
      <p:sp>
        <p:nvSpPr>
          <p:cNvPr id="41" name="Text 39"/>
          <p:cNvSpPr txBox="1"/>
          <p:nvPr/>
        </p:nvSpPr>
        <p:spPr>
          <a:xfrm>
            <a:off x="901700" y="426462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9 · Common sensors dominate</a:t>
            </a:r>
            <a:endParaRPr lang="en-US" sz="1200" dirty="0"/>
          </a:p>
        </p:txBody>
      </p:sp>
      <p:sp>
        <p:nvSpPr>
          <p:cNvPr id="42" name="Text 40"/>
          <p:cNvSpPr txBox="1"/>
          <p:nvPr/>
        </p:nvSpPr>
        <p:spPr>
          <a:xfrm>
            <a:off x="4388545" y="42646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About 99 % of CASAS events are motion</a:t>
            </a:r>
            <a:endParaRPr lang="en-US" sz="1200" dirty="0"/>
          </a:p>
        </p:txBody>
      </p:sp>
      <p:sp>
        <p:nvSpPr>
          <p:cNvPr id="43" name="Text 41"/>
          <p:cNvSpPr txBox="1"/>
          <p:nvPr/>
        </p:nvSpPr>
        <p:spPr>
          <a:xfrm>
            <a:off x="8192393" y="4264620"/>
            <a:ext cx="316419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Rare doors, leaks, night events unpractised</a:t>
            </a:r>
            <a:endParaRPr lang="en-US" sz="1200" dirty="0"/>
          </a:p>
        </p:txBody>
      </p:sp>
      <p:sp>
        <p:nvSpPr>
          <p:cNvPr id="44" name="Text 42"/>
          <p:cNvSpPr txBox="1"/>
          <p:nvPr/>
        </p:nvSpPr>
        <p:spPr>
          <a:xfrm>
            <a:off x="812800" y="4702770"/>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Problems 1–6 make the game easy to win without learning behaviour. Problems 7–9 mean that even a perfectly played game trains the wrong skills for a home.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PRETRAINING · WHY HOMEFM DROPS IT</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Use cases the masking game would struggle with</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231452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Question</a:t>
            </a:r>
            <a:endParaRPr lang="en-US" sz="1200" dirty="0"/>
          </a:p>
        </p:txBody>
      </p:sp>
      <p:sp>
        <p:nvSpPr>
          <p:cNvPr id="6" name="Text 4"/>
          <p:cNvSpPr txBox="1"/>
          <p:nvPr/>
        </p:nvSpPr>
        <p:spPr>
          <a:xfrm>
            <a:off x="3331964" y="1521420"/>
            <a:ext cx="26330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What it needs</a:t>
            </a:r>
            <a:endParaRPr lang="en-US" sz="1200" dirty="0"/>
          </a:p>
        </p:txBody>
      </p:sp>
      <p:sp>
        <p:nvSpPr>
          <p:cNvPr id="7" name="Text 5"/>
          <p:cNvSpPr txBox="1"/>
          <p:nvPr/>
        </p:nvSpPr>
        <p:spPr>
          <a:xfrm>
            <a:off x="6079133" y="1521420"/>
            <a:ext cx="284540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Why DomusFM's game can't give it</a:t>
            </a:r>
            <a:endParaRPr lang="en-US" sz="1200" dirty="0"/>
          </a:p>
        </p:txBody>
      </p:sp>
      <p:sp>
        <p:nvSpPr>
          <p:cNvPr id="8" name="Text 6"/>
          <p:cNvSpPr txBox="1"/>
          <p:nvPr/>
        </p:nvSpPr>
        <p:spPr>
          <a:xfrm>
            <a:off x="9037638" y="1521420"/>
            <a:ext cx="231472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HomeFM game that trains it</a:t>
            </a:r>
            <a:endParaRPr lang="en-US" sz="1200" dirty="0"/>
          </a:p>
        </p:txBody>
      </p:sp>
      <p:sp>
        <p:nvSpPr>
          <p:cNvPr id="9" name="Shape 7"/>
          <p:cNvSpPr/>
          <p:nvPr/>
        </p:nvSpPr>
        <p:spPr>
          <a:xfrm>
            <a:off x="812800" y="1762720"/>
            <a:ext cx="10566400" cy="304800"/>
          </a:xfrm>
          <a:prstGeom prst="rect">
            <a:avLst/>
          </a:prstGeom>
          <a:solidFill>
            <a:srgbClr val="FDFCFA"/>
          </a:solidFill>
          <a:ln/>
        </p:spPr>
      </p:sp>
      <p:sp>
        <p:nvSpPr>
          <p:cNvPr id="10" name="Text 8"/>
          <p:cNvSpPr txBox="1"/>
          <p:nvPr/>
        </p:nvSpPr>
        <p:spPr>
          <a:xfrm>
            <a:off x="901700" y="18262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Anything unusual last night?</a:t>
            </a:r>
            <a:endParaRPr lang="en-US" sz="1200" dirty="0"/>
          </a:p>
        </p:txBody>
      </p:sp>
      <p:sp>
        <p:nvSpPr>
          <p:cNvPr id="11" name="Text 9"/>
          <p:cNvSpPr txBox="1"/>
          <p:nvPr/>
        </p:nvSpPr>
        <p:spPr>
          <a:xfrm>
            <a:off x="3331964" y="1826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 probability for what just happened</a:t>
            </a:r>
            <a:endParaRPr lang="en-US" sz="1200" dirty="0"/>
          </a:p>
        </p:txBody>
      </p:sp>
      <p:sp>
        <p:nvSpPr>
          <p:cNvPr id="12" name="Text 10"/>
          <p:cNvSpPr txBox="1"/>
          <p:nvPr/>
        </p:nvSpPr>
        <p:spPr>
          <a:xfrm>
            <a:off x="6079133" y="1826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Contrastive vectors give no likelihood</a:t>
            </a:r>
            <a:endParaRPr lang="en-US" sz="1200" dirty="0"/>
          </a:p>
        </p:txBody>
      </p:sp>
      <p:sp>
        <p:nvSpPr>
          <p:cNvPr id="13" name="Text 11"/>
          <p:cNvSpPr txBox="1"/>
          <p:nvPr/>
        </p:nvSpPr>
        <p:spPr>
          <a:xfrm>
            <a:off x="9037638" y="1826220"/>
            <a:ext cx="23147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1: surprise = −log p</a:t>
            </a:r>
            <a:endParaRPr lang="en-US" sz="1200" dirty="0"/>
          </a:p>
        </p:txBody>
      </p:sp>
      <p:sp>
        <p:nvSpPr>
          <p:cNvPr id="14" name="Shape 12"/>
          <p:cNvSpPr/>
          <p:nvPr/>
        </p:nvSpPr>
        <p:spPr>
          <a:xfrm>
            <a:off x="812800" y="2067520"/>
            <a:ext cx="10566400" cy="304800"/>
          </a:xfrm>
          <a:prstGeom prst="rect">
            <a:avLst/>
          </a:prstGeom>
          <a:solidFill>
            <a:srgbClr val="F6F5F1"/>
          </a:solidFill>
          <a:ln/>
        </p:spPr>
      </p:sp>
      <p:sp>
        <p:nvSpPr>
          <p:cNvPr id="15" name="Text 13"/>
          <p:cNvSpPr txBox="1"/>
          <p:nvPr/>
        </p:nvSpPr>
        <p:spPr>
          <a:xfrm>
            <a:off x="901700" y="21310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Will Dad be up soon?</a:t>
            </a:r>
            <a:endParaRPr lang="en-US" sz="1200" dirty="0"/>
          </a:p>
        </p:txBody>
      </p:sp>
      <p:sp>
        <p:nvSpPr>
          <p:cNvPr id="16" name="Text 14"/>
          <p:cNvSpPr txBox="1"/>
          <p:nvPr/>
        </p:nvSpPr>
        <p:spPr>
          <a:xfrm>
            <a:off x="3331964" y="2131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When the next event comes</a:t>
            </a:r>
            <a:endParaRPr lang="en-US" sz="1200" dirty="0"/>
          </a:p>
        </p:txBody>
      </p:sp>
      <p:sp>
        <p:nvSpPr>
          <p:cNvPr id="17" name="Text 15"/>
          <p:cNvSpPr txBox="1"/>
          <p:nvPr/>
        </p:nvSpPr>
        <p:spPr>
          <a:xfrm>
            <a:off x="6079133" y="2131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timing; order-free bag of events</a:t>
            </a:r>
            <a:endParaRPr lang="en-US" sz="1200" dirty="0"/>
          </a:p>
        </p:txBody>
      </p:sp>
      <p:sp>
        <p:nvSpPr>
          <p:cNvPr id="18" name="Text 16"/>
          <p:cNvSpPr txBox="1"/>
          <p:nvPr/>
        </p:nvSpPr>
        <p:spPr>
          <a:xfrm>
            <a:off x="9037638" y="2131020"/>
            <a:ext cx="23147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1: time until next event</a:t>
            </a:r>
            <a:endParaRPr lang="en-US" sz="1200" dirty="0"/>
          </a:p>
        </p:txBody>
      </p:sp>
      <p:sp>
        <p:nvSpPr>
          <p:cNvPr id="19" name="Shape 17"/>
          <p:cNvSpPr/>
          <p:nvPr/>
        </p:nvSpPr>
        <p:spPr>
          <a:xfrm>
            <a:off x="812800" y="2372320"/>
            <a:ext cx="10566400" cy="482600"/>
          </a:xfrm>
          <a:prstGeom prst="rect">
            <a:avLst/>
          </a:prstGeom>
          <a:solidFill>
            <a:srgbClr val="FDFCFA"/>
          </a:solidFill>
          <a:ln/>
        </p:spPr>
      </p:sp>
      <p:sp>
        <p:nvSpPr>
          <p:cNvPr id="20" name="Text 18"/>
          <p:cNvSpPr txBox="1"/>
          <p:nvPr/>
        </p:nvSpPr>
        <p:spPr>
          <a:xfrm>
            <a:off x="901700" y="25247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Did we skip breakfast?</a:t>
            </a:r>
            <a:endParaRPr lang="en-US" sz="1200" dirty="0"/>
          </a:p>
        </p:txBody>
      </p:sp>
      <p:sp>
        <p:nvSpPr>
          <p:cNvPr id="21" name="Text 19"/>
          <p:cNvSpPr txBox="1"/>
          <p:nvPr/>
        </p:nvSpPr>
        <p:spPr>
          <a:xfrm>
            <a:off x="3331964" y="2435820"/>
            <a:ext cx="2633016"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 timed expectation, “expected by 9:00”</a:t>
            </a:r>
            <a:endParaRPr lang="en-US" sz="1200" dirty="0"/>
          </a:p>
        </p:txBody>
      </p:sp>
      <p:sp>
        <p:nvSpPr>
          <p:cNvPr id="22" name="Text 20"/>
          <p:cNvSpPr txBox="1"/>
          <p:nvPr/>
        </p:nvSpPr>
        <p:spPr>
          <a:xfrm>
            <a:off x="6079133" y="25247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Nothing is expected at a time</a:t>
            </a:r>
            <a:endParaRPr lang="en-US" sz="1200" dirty="0"/>
          </a:p>
        </p:txBody>
      </p:sp>
      <p:sp>
        <p:nvSpPr>
          <p:cNvPr id="23" name="Text 21"/>
          <p:cNvSpPr txBox="1"/>
          <p:nvPr/>
        </p:nvSpPr>
        <p:spPr>
          <a:xfrm>
            <a:off x="9037638" y="2524720"/>
            <a:ext cx="23147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1 (+ G3 multi-horizon)</a:t>
            </a:r>
            <a:endParaRPr lang="en-US" sz="1200" dirty="0"/>
          </a:p>
        </p:txBody>
      </p:sp>
      <p:sp>
        <p:nvSpPr>
          <p:cNvPr id="24" name="Shape 22"/>
          <p:cNvSpPr/>
          <p:nvPr/>
        </p:nvSpPr>
        <p:spPr>
          <a:xfrm>
            <a:off x="812800" y="2854920"/>
            <a:ext cx="10566400" cy="304800"/>
          </a:xfrm>
          <a:prstGeom prst="rect">
            <a:avLst/>
          </a:prstGeom>
          <a:solidFill>
            <a:srgbClr val="F6F5F1"/>
          </a:solidFill>
          <a:ln/>
        </p:spPr>
      </p:sp>
      <p:sp>
        <p:nvSpPr>
          <p:cNvPr id="25" name="Text 23"/>
          <p:cNvSpPr txBox="1"/>
          <p:nvPr/>
        </p:nvSpPr>
        <p:spPr>
          <a:xfrm>
            <a:off x="901700" y="29184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How many times did we cook?</a:t>
            </a:r>
            <a:endParaRPr lang="en-US" sz="1200" dirty="0"/>
          </a:p>
        </p:txBody>
      </p:sp>
      <p:sp>
        <p:nvSpPr>
          <p:cNvPr id="26" name="Text 24"/>
          <p:cNvSpPr txBox="1"/>
          <p:nvPr/>
        </p:nvSpPr>
        <p:spPr>
          <a:xfrm>
            <a:off x="3331964" y="29184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Meaningful minutes, starts and ends</a:t>
            </a:r>
            <a:endParaRPr lang="en-US" sz="1200" dirty="0"/>
          </a:p>
        </p:txBody>
      </p:sp>
      <p:sp>
        <p:nvSpPr>
          <p:cNvPr id="27" name="Text 25"/>
          <p:cNvSpPr txBox="1"/>
          <p:nvPr/>
        </p:nvSpPr>
        <p:spPr>
          <a:xfrm>
            <a:off x="6079133" y="29184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averaged vector per window</a:t>
            </a:r>
            <a:endParaRPr lang="en-US" sz="1200" dirty="0"/>
          </a:p>
        </p:txBody>
      </p:sp>
      <p:sp>
        <p:nvSpPr>
          <p:cNvPr id="28" name="Text 26"/>
          <p:cNvSpPr txBox="1"/>
          <p:nvPr/>
        </p:nvSpPr>
        <p:spPr>
          <a:xfrm>
            <a:off x="9037638" y="2918420"/>
            <a:ext cx="23147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2: per-minute targets</a:t>
            </a:r>
            <a:endParaRPr lang="en-US" sz="1200" dirty="0"/>
          </a:p>
        </p:txBody>
      </p:sp>
      <p:sp>
        <p:nvSpPr>
          <p:cNvPr id="29" name="Shape 27"/>
          <p:cNvSpPr/>
          <p:nvPr/>
        </p:nvSpPr>
        <p:spPr>
          <a:xfrm>
            <a:off x="812800" y="3159720"/>
            <a:ext cx="10566400" cy="482600"/>
          </a:xfrm>
          <a:prstGeom prst="rect">
            <a:avLst/>
          </a:prstGeom>
          <a:solidFill>
            <a:srgbClr val="FDFCFA"/>
          </a:solidFill>
          <a:ln/>
        </p:spPr>
      </p:sp>
      <p:sp>
        <p:nvSpPr>
          <p:cNvPr id="30" name="Text 28"/>
          <p:cNvSpPr txBox="1"/>
          <p:nvPr/>
        </p:nvSpPr>
        <p:spPr>
          <a:xfrm>
            <a:off x="901700" y="33121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 sensor dies</a:t>
            </a:r>
            <a:endParaRPr lang="en-US" sz="1200" dirty="0"/>
          </a:p>
        </p:txBody>
      </p:sp>
      <p:sp>
        <p:nvSpPr>
          <p:cNvPr id="31" name="Text 29"/>
          <p:cNvSpPr txBox="1"/>
          <p:nvPr/>
        </p:nvSpPr>
        <p:spPr>
          <a:xfrm>
            <a:off x="3331964" y="33121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Fill in from the rest of the home</a:t>
            </a:r>
            <a:endParaRPr lang="en-US" sz="1200" dirty="0"/>
          </a:p>
        </p:txBody>
      </p:sp>
      <p:sp>
        <p:nvSpPr>
          <p:cNvPr id="32" name="Text 30"/>
          <p:cNvSpPr txBox="1"/>
          <p:nvPr/>
        </p:nvSpPr>
        <p:spPr>
          <a:xfrm>
            <a:off x="6079133" y="33121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Hides random bits, never a whole device</a:t>
            </a:r>
            <a:endParaRPr lang="en-US" sz="1200" dirty="0"/>
          </a:p>
        </p:txBody>
      </p:sp>
      <p:sp>
        <p:nvSpPr>
          <p:cNvPr id="33" name="Text 31"/>
          <p:cNvSpPr txBox="1"/>
          <p:nvPr/>
        </p:nvSpPr>
        <p:spPr>
          <a:xfrm>
            <a:off x="9037638" y="3223220"/>
            <a:ext cx="2314726"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2: device, room, type masks</a:t>
            </a:r>
            <a:endParaRPr lang="en-US" sz="1200" dirty="0"/>
          </a:p>
        </p:txBody>
      </p:sp>
      <p:sp>
        <p:nvSpPr>
          <p:cNvPr id="34" name="Shape 32"/>
          <p:cNvSpPr/>
          <p:nvPr/>
        </p:nvSpPr>
        <p:spPr>
          <a:xfrm>
            <a:off x="812800" y="3642320"/>
            <a:ext cx="10566400" cy="482600"/>
          </a:xfrm>
          <a:prstGeom prst="rect">
            <a:avLst/>
          </a:prstGeom>
          <a:solidFill>
            <a:srgbClr val="F6F5F1"/>
          </a:solidFill>
          <a:ln/>
        </p:spPr>
      </p:sp>
      <p:sp>
        <p:nvSpPr>
          <p:cNvPr id="35" name="Text 33"/>
          <p:cNvSpPr txBox="1"/>
          <p:nvPr/>
        </p:nvSpPr>
        <p:spPr>
          <a:xfrm>
            <a:off x="901700" y="37947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Live on a small hub</a:t>
            </a:r>
            <a:endParaRPr lang="en-US" sz="1200" dirty="0"/>
          </a:p>
        </p:txBody>
      </p:sp>
      <p:sp>
        <p:nvSpPr>
          <p:cNvPr id="36" name="Text 34"/>
          <p:cNvSpPr txBox="1"/>
          <p:nvPr/>
        </p:nvSpPr>
        <p:spPr>
          <a:xfrm>
            <a:off x="3331964" y="37947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Past-only reading, cached</a:t>
            </a:r>
            <a:endParaRPr lang="en-US" sz="1200" dirty="0"/>
          </a:p>
        </p:txBody>
      </p:sp>
      <p:sp>
        <p:nvSpPr>
          <p:cNvPr id="37" name="Text 35"/>
          <p:cNvSpPr txBox="1"/>
          <p:nvPr/>
        </p:nvSpPr>
        <p:spPr>
          <a:xfrm>
            <a:off x="6079133" y="3705820"/>
            <a:ext cx="2845408"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Bidirectional window recomputed per event</a:t>
            </a:r>
            <a:endParaRPr lang="en-US" sz="1200" dirty="0"/>
          </a:p>
        </p:txBody>
      </p:sp>
      <p:sp>
        <p:nvSpPr>
          <p:cNvPr id="38" name="Text 36"/>
          <p:cNvSpPr txBox="1"/>
          <p:nvPr/>
        </p:nvSpPr>
        <p:spPr>
          <a:xfrm>
            <a:off x="9037638" y="3794720"/>
            <a:ext cx="23147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1 trains causal mode</a:t>
            </a:r>
            <a:endParaRPr lang="en-US" sz="1200" dirty="0"/>
          </a:p>
        </p:txBody>
      </p:sp>
      <p:sp>
        <p:nvSpPr>
          <p:cNvPr id="39" name="Shape 37"/>
          <p:cNvSpPr/>
          <p:nvPr/>
        </p:nvSpPr>
        <p:spPr>
          <a:xfrm>
            <a:off x="812800" y="4124920"/>
            <a:ext cx="10566400" cy="304800"/>
          </a:xfrm>
          <a:prstGeom prst="rect">
            <a:avLst/>
          </a:prstGeom>
          <a:solidFill>
            <a:srgbClr val="FDFCFA"/>
          </a:solidFill>
          <a:ln/>
        </p:spPr>
      </p:sp>
      <p:sp>
        <p:nvSpPr>
          <p:cNvPr id="40" name="Text 38"/>
          <p:cNvSpPr txBox="1"/>
          <p:nvPr/>
        </p:nvSpPr>
        <p:spPr>
          <a:xfrm>
            <a:off x="901700" y="41884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Is Mum sleeping worse?</a:t>
            </a:r>
            <a:endParaRPr lang="en-US" sz="1200" dirty="0"/>
          </a:p>
        </p:txBody>
      </p:sp>
      <p:sp>
        <p:nvSpPr>
          <p:cNvPr id="41" name="Text 39"/>
          <p:cNvSpPr txBox="1"/>
          <p:nvPr/>
        </p:nvSpPr>
        <p:spPr>
          <a:xfrm>
            <a:off x="3331964" y="41884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Similar nights seen as similar</a:t>
            </a:r>
            <a:endParaRPr lang="en-US" sz="1200" dirty="0"/>
          </a:p>
        </p:txBody>
      </p:sp>
      <p:sp>
        <p:nvSpPr>
          <p:cNvPr id="42" name="Text 40"/>
          <p:cNvSpPr txBox="1"/>
          <p:nvPr/>
        </p:nvSpPr>
        <p:spPr>
          <a:xfrm>
            <a:off x="6079133" y="41884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Similar nights pushed apart</a:t>
            </a:r>
            <a:endParaRPr lang="en-US" sz="1200" dirty="0"/>
          </a:p>
        </p:txBody>
      </p:sp>
      <p:sp>
        <p:nvSpPr>
          <p:cNvPr id="43" name="Text 41"/>
          <p:cNvSpPr txBox="1"/>
          <p:nvPr/>
        </p:nvSpPr>
        <p:spPr>
          <a:xfrm>
            <a:off x="9037638" y="4188420"/>
            <a:ext cx="23147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Games 1–2 have no negatives</a:t>
            </a:r>
            <a:endParaRPr lang="en-US" sz="1200" dirty="0"/>
          </a:p>
        </p:txBody>
      </p:sp>
      <p:sp>
        <p:nvSpPr>
          <p:cNvPr id="44" name="Shape 42"/>
          <p:cNvSpPr/>
          <p:nvPr/>
        </p:nvSpPr>
        <p:spPr>
          <a:xfrm>
            <a:off x="812800" y="4429720"/>
            <a:ext cx="10566400" cy="304800"/>
          </a:xfrm>
          <a:prstGeom prst="rect">
            <a:avLst/>
          </a:prstGeom>
          <a:solidFill>
            <a:srgbClr val="F6F5F1"/>
          </a:solidFill>
          <a:ln/>
        </p:spPr>
      </p:sp>
      <p:sp>
        <p:nvSpPr>
          <p:cNvPr id="45" name="Text 43"/>
          <p:cNvSpPr txBox="1"/>
          <p:nvPr/>
        </p:nvSpPr>
        <p:spPr>
          <a:xfrm>
            <a:off x="901700" y="4493220"/>
            <a:ext cx="23145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Did anyone vacuum?</a:t>
            </a:r>
            <a:endParaRPr lang="en-US" sz="1200" dirty="0"/>
          </a:p>
        </p:txBody>
      </p:sp>
      <p:sp>
        <p:nvSpPr>
          <p:cNvPr id="46" name="Text 44"/>
          <p:cNvSpPr txBox="1"/>
          <p:nvPr/>
        </p:nvSpPr>
        <p:spPr>
          <a:xfrm>
            <a:off x="3331964" y="4493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 link from minutes to words</a:t>
            </a:r>
            <a:endParaRPr lang="en-US" sz="1200" dirty="0"/>
          </a:p>
        </p:txBody>
      </p:sp>
      <p:sp>
        <p:nvSpPr>
          <p:cNvPr id="47" name="Text 45"/>
          <p:cNvSpPr txBox="1"/>
          <p:nvPr/>
        </p:nvSpPr>
        <p:spPr>
          <a:xfrm>
            <a:off x="6079133" y="4493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language anywhere</a:t>
            </a:r>
            <a:endParaRPr lang="en-US" sz="1200" dirty="0"/>
          </a:p>
        </p:txBody>
      </p:sp>
      <p:sp>
        <p:nvSpPr>
          <p:cNvPr id="48" name="Text 46"/>
          <p:cNvSpPr txBox="1"/>
          <p:nvPr/>
        </p:nvSpPr>
        <p:spPr>
          <a:xfrm>
            <a:off x="9037638" y="4493220"/>
            <a:ext cx="231472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3: SigLIP</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A8470B"/>
                </a:solidFill>
                <a:latin typeface="Arial" pitchFamily="34" charset="0"/>
                <a:ea typeface="Arial" pitchFamily="34" charset="-122"/>
                <a:cs typeface="Arial" pitchFamily="34" charset="-120"/>
              </a:rPr>
              <a:t>PRETRAINING · WHY HOMEFM DROPS IT</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What our runs showed</a:t>
            </a:r>
            <a:endParaRPr lang="en-US" sz="2800" dirty="0"/>
          </a:p>
        </p:txBody>
      </p:sp>
      <p:sp>
        <p:nvSpPr>
          <p:cNvPr id="4" name="Text 2"/>
          <p:cNvSpPr txBox="1"/>
          <p:nvPr/>
        </p:nvSpPr>
        <p:spPr>
          <a:xfrm>
            <a:off x="812800" y="1476970"/>
            <a:ext cx="4645660"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Activity F1, 5 % labels, paper's game, 77 homes</a:t>
            </a:r>
            <a:endParaRPr lang="en-US" sz="1200" dirty="0"/>
          </a:p>
        </p:txBody>
      </p:sp>
      <p:sp>
        <p:nvSpPr>
          <p:cNvPr id="5" name="Shape 3"/>
          <p:cNvSpPr/>
          <p:nvPr/>
        </p:nvSpPr>
        <p:spPr>
          <a:xfrm>
            <a:off x="812800" y="1747441"/>
            <a:ext cx="4572000" cy="304800"/>
          </a:xfrm>
          <a:prstGeom prst="rect">
            <a:avLst/>
          </a:prstGeom>
          <a:solidFill>
            <a:srgbClr val="14213D"/>
          </a:solidFill>
          <a:ln/>
        </p:spPr>
      </p:sp>
      <p:sp>
        <p:nvSpPr>
          <p:cNvPr id="6" name="Text 4"/>
          <p:cNvSpPr txBox="1"/>
          <p:nvPr/>
        </p:nvSpPr>
        <p:spPr>
          <a:xfrm>
            <a:off x="901700" y="1810941"/>
            <a:ext cx="171005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Held-out home</a:t>
            </a:r>
            <a:endParaRPr lang="en-US" sz="1200" dirty="0"/>
          </a:p>
        </p:txBody>
      </p:sp>
      <p:sp>
        <p:nvSpPr>
          <p:cNvPr id="7" name="Text 5"/>
          <p:cNvSpPr txBox="1"/>
          <p:nvPr/>
        </p:nvSpPr>
        <p:spPr>
          <a:xfrm>
            <a:off x="2730500" y="1810941"/>
            <a:ext cx="125056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Pretrained</a:t>
            </a:r>
            <a:endParaRPr lang="en-US" sz="1200" dirty="0"/>
          </a:p>
        </p:txBody>
      </p:sp>
      <p:sp>
        <p:nvSpPr>
          <p:cNvPr id="8" name="Text 6"/>
          <p:cNvSpPr txBox="1"/>
          <p:nvPr/>
        </p:nvSpPr>
        <p:spPr>
          <a:xfrm>
            <a:off x="4102100" y="1810941"/>
            <a:ext cx="125056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No pretraining</a:t>
            </a:r>
            <a:endParaRPr lang="en-US" sz="1200" dirty="0"/>
          </a:p>
        </p:txBody>
      </p:sp>
      <p:sp>
        <p:nvSpPr>
          <p:cNvPr id="9" name="Shape 7"/>
          <p:cNvSpPr/>
          <p:nvPr/>
        </p:nvSpPr>
        <p:spPr>
          <a:xfrm>
            <a:off x="812800" y="2052241"/>
            <a:ext cx="4572000" cy="304800"/>
          </a:xfrm>
          <a:prstGeom prst="rect">
            <a:avLst/>
          </a:prstGeom>
          <a:solidFill>
            <a:srgbClr val="FDFCFA"/>
          </a:solidFill>
          <a:ln/>
        </p:spPr>
      </p:sp>
      <p:sp>
        <p:nvSpPr>
          <p:cNvPr id="10" name="Text 8"/>
          <p:cNvSpPr txBox="1"/>
          <p:nvPr/>
        </p:nvSpPr>
        <p:spPr>
          <a:xfrm>
            <a:off x="901700" y="21157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UCI B</a:t>
            </a:r>
            <a:endParaRPr lang="en-US" sz="1200" dirty="0"/>
          </a:p>
        </p:txBody>
      </p:sp>
      <p:sp>
        <p:nvSpPr>
          <p:cNvPr id="11" name="Text 9"/>
          <p:cNvSpPr txBox="1"/>
          <p:nvPr/>
        </p:nvSpPr>
        <p:spPr>
          <a:xfrm>
            <a:off x="2730500" y="21157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0.25</a:t>
            </a:r>
            <a:endParaRPr lang="en-US" sz="1200" dirty="0"/>
          </a:p>
        </p:txBody>
      </p:sp>
      <p:sp>
        <p:nvSpPr>
          <p:cNvPr id="12" name="Text 10"/>
          <p:cNvSpPr txBox="1"/>
          <p:nvPr/>
        </p:nvSpPr>
        <p:spPr>
          <a:xfrm>
            <a:off x="4102100" y="21157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0.22</a:t>
            </a:r>
            <a:endParaRPr lang="en-US" sz="1200" dirty="0"/>
          </a:p>
        </p:txBody>
      </p:sp>
      <p:sp>
        <p:nvSpPr>
          <p:cNvPr id="13" name="Shape 11"/>
          <p:cNvSpPr/>
          <p:nvPr/>
        </p:nvSpPr>
        <p:spPr>
          <a:xfrm>
            <a:off x="812800" y="2357041"/>
            <a:ext cx="4572000" cy="304800"/>
          </a:xfrm>
          <a:prstGeom prst="rect">
            <a:avLst/>
          </a:prstGeom>
          <a:solidFill>
            <a:srgbClr val="F6F5F1"/>
          </a:solidFill>
          <a:ln/>
        </p:spPr>
      </p:sp>
      <p:sp>
        <p:nvSpPr>
          <p:cNvPr id="14" name="Text 12"/>
          <p:cNvSpPr txBox="1"/>
          <p:nvPr/>
        </p:nvSpPr>
        <p:spPr>
          <a:xfrm>
            <a:off x="901700" y="24205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hh101</a:t>
            </a:r>
            <a:endParaRPr lang="en-US" sz="1200" dirty="0"/>
          </a:p>
        </p:txBody>
      </p:sp>
      <p:sp>
        <p:nvSpPr>
          <p:cNvPr id="15" name="Text 13"/>
          <p:cNvSpPr txBox="1"/>
          <p:nvPr/>
        </p:nvSpPr>
        <p:spPr>
          <a:xfrm>
            <a:off x="2730500" y="24205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0.49</a:t>
            </a:r>
            <a:endParaRPr lang="en-US" sz="1200" dirty="0"/>
          </a:p>
        </p:txBody>
      </p:sp>
      <p:sp>
        <p:nvSpPr>
          <p:cNvPr id="16" name="Text 14"/>
          <p:cNvSpPr txBox="1"/>
          <p:nvPr/>
        </p:nvSpPr>
        <p:spPr>
          <a:xfrm>
            <a:off x="4102100" y="24205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0.56</a:t>
            </a:r>
            <a:endParaRPr lang="en-US" sz="1200" dirty="0"/>
          </a:p>
        </p:txBody>
      </p:sp>
      <p:sp>
        <p:nvSpPr>
          <p:cNvPr id="17" name="Shape 15"/>
          <p:cNvSpPr/>
          <p:nvPr/>
        </p:nvSpPr>
        <p:spPr>
          <a:xfrm>
            <a:off x="812800" y="2661841"/>
            <a:ext cx="4572000" cy="304800"/>
          </a:xfrm>
          <a:prstGeom prst="rect">
            <a:avLst/>
          </a:prstGeom>
          <a:solidFill>
            <a:srgbClr val="FDFCFA"/>
          </a:solidFill>
          <a:ln/>
        </p:spPr>
      </p:sp>
      <p:sp>
        <p:nvSpPr>
          <p:cNvPr id="18" name="Text 16"/>
          <p:cNvSpPr txBox="1"/>
          <p:nvPr/>
        </p:nvSpPr>
        <p:spPr>
          <a:xfrm>
            <a:off x="901700" y="27253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hh103</a:t>
            </a:r>
            <a:endParaRPr lang="en-US" sz="1200" dirty="0"/>
          </a:p>
        </p:txBody>
      </p:sp>
      <p:sp>
        <p:nvSpPr>
          <p:cNvPr id="19" name="Text 17"/>
          <p:cNvSpPr txBox="1"/>
          <p:nvPr/>
        </p:nvSpPr>
        <p:spPr>
          <a:xfrm>
            <a:off x="2730500" y="27253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0.54</a:t>
            </a:r>
            <a:endParaRPr lang="en-US" sz="1200" dirty="0"/>
          </a:p>
        </p:txBody>
      </p:sp>
      <p:sp>
        <p:nvSpPr>
          <p:cNvPr id="20" name="Text 18"/>
          <p:cNvSpPr txBox="1"/>
          <p:nvPr/>
        </p:nvSpPr>
        <p:spPr>
          <a:xfrm>
            <a:off x="4102100" y="27253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0.68</a:t>
            </a:r>
            <a:endParaRPr lang="en-US" sz="1200" dirty="0"/>
          </a:p>
        </p:txBody>
      </p:sp>
      <p:sp>
        <p:nvSpPr>
          <p:cNvPr id="21" name="Shape 19"/>
          <p:cNvSpPr/>
          <p:nvPr/>
        </p:nvSpPr>
        <p:spPr>
          <a:xfrm>
            <a:off x="812800" y="2966641"/>
            <a:ext cx="4572000" cy="304800"/>
          </a:xfrm>
          <a:prstGeom prst="rect">
            <a:avLst/>
          </a:prstGeom>
          <a:solidFill>
            <a:srgbClr val="F6F5F1"/>
          </a:solidFill>
          <a:ln/>
        </p:spPr>
      </p:sp>
      <p:sp>
        <p:nvSpPr>
          <p:cNvPr id="22" name="Text 20"/>
          <p:cNvSpPr txBox="1"/>
          <p:nvPr/>
        </p:nvSpPr>
        <p:spPr>
          <a:xfrm>
            <a:off x="901700" y="30301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hh105</a:t>
            </a:r>
            <a:endParaRPr lang="en-US" sz="1200" dirty="0"/>
          </a:p>
        </p:txBody>
      </p:sp>
      <p:sp>
        <p:nvSpPr>
          <p:cNvPr id="23" name="Text 21"/>
          <p:cNvSpPr txBox="1"/>
          <p:nvPr/>
        </p:nvSpPr>
        <p:spPr>
          <a:xfrm>
            <a:off x="2730500" y="30301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0.36</a:t>
            </a:r>
            <a:endParaRPr lang="en-US" sz="1200" dirty="0"/>
          </a:p>
        </p:txBody>
      </p:sp>
      <p:sp>
        <p:nvSpPr>
          <p:cNvPr id="24" name="Text 22"/>
          <p:cNvSpPr txBox="1"/>
          <p:nvPr/>
        </p:nvSpPr>
        <p:spPr>
          <a:xfrm>
            <a:off x="4102100" y="30301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0.41</a:t>
            </a:r>
            <a:endParaRPr lang="en-US" sz="1200" dirty="0"/>
          </a:p>
        </p:txBody>
      </p:sp>
      <p:sp>
        <p:nvSpPr>
          <p:cNvPr id="25" name="Shape 23"/>
          <p:cNvSpPr/>
          <p:nvPr/>
        </p:nvSpPr>
        <p:spPr>
          <a:xfrm>
            <a:off x="812800" y="3271441"/>
            <a:ext cx="4572000" cy="304800"/>
          </a:xfrm>
          <a:prstGeom prst="rect">
            <a:avLst/>
          </a:prstGeom>
          <a:solidFill>
            <a:srgbClr val="FDFCFA"/>
          </a:solidFill>
          <a:ln/>
        </p:spPr>
      </p:sp>
      <p:sp>
        <p:nvSpPr>
          <p:cNvPr id="26" name="Text 24"/>
          <p:cNvSpPr txBox="1"/>
          <p:nvPr/>
        </p:nvSpPr>
        <p:spPr>
          <a:xfrm>
            <a:off x="901700" y="33349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hh110</a:t>
            </a:r>
            <a:endParaRPr lang="en-US" sz="1200" dirty="0"/>
          </a:p>
        </p:txBody>
      </p:sp>
      <p:sp>
        <p:nvSpPr>
          <p:cNvPr id="27" name="Text 25"/>
          <p:cNvSpPr txBox="1"/>
          <p:nvPr/>
        </p:nvSpPr>
        <p:spPr>
          <a:xfrm>
            <a:off x="2730500" y="33349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0.32</a:t>
            </a:r>
            <a:endParaRPr lang="en-US" sz="1200" dirty="0"/>
          </a:p>
        </p:txBody>
      </p:sp>
      <p:sp>
        <p:nvSpPr>
          <p:cNvPr id="28" name="Text 26"/>
          <p:cNvSpPr txBox="1"/>
          <p:nvPr/>
        </p:nvSpPr>
        <p:spPr>
          <a:xfrm>
            <a:off x="4102100" y="33349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0.33</a:t>
            </a:r>
            <a:endParaRPr lang="en-US" sz="1200" dirty="0"/>
          </a:p>
        </p:txBody>
      </p:sp>
      <p:sp>
        <p:nvSpPr>
          <p:cNvPr id="29" name="Shape 27"/>
          <p:cNvSpPr/>
          <p:nvPr/>
        </p:nvSpPr>
        <p:spPr>
          <a:xfrm>
            <a:off x="812800" y="3576241"/>
            <a:ext cx="4572000" cy="304800"/>
          </a:xfrm>
          <a:prstGeom prst="rect">
            <a:avLst/>
          </a:prstGeom>
          <a:solidFill>
            <a:srgbClr val="F6F5F1"/>
          </a:solidFill>
          <a:ln/>
        </p:spPr>
      </p:sp>
      <p:sp>
        <p:nvSpPr>
          <p:cNvPr id="30" name="Text 28"/>
          <p:cNvSpPr txBox="1"/>
          <p:nvPr/>
        </p:nvSpPr>
        <p:spPr>
          <a:xfrm>
            <a:off x="901700" y="36397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hh119</a:t>
            </a:r>
            <a:endParaRPr lang="en-US" sz="1200" dirty="0"/>
          </a:p>
        </p:txBody>
      </p:sp>
      <p:sp>
        <p:nvSpPr>
          <p:cNvPr id="31" name="Text 29"/>
          <p:cNvSpPr txBox="1"/>
          <p:nvPr/>
        </p:nvSpPr>
        <p:spPr>
          <a:xfrm>
            <a:off x="2730500" y="36397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0.35</a:t>
            </a:r>
            <a:endParaRPr lang="en-US" sz="1200" dirty="0"/>
          </a:p>
        </p:txBody>
      </p:sp>
      <p:sp>
        <p:nvSpPr>
          <p:cNvPr id="32" name="Text 30"/>
          <p:cNvSpPr txBox="1"/>
          <p:nvPr/>
        </p:nvSpPr>
        <p:spPr>
          <a:xfrm>
            <a:off x="4102100" y="36397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0.41</a:t>
            </a:r>
            <a:endParaRPr lang="en-US" sz="1200" dirty="0"/>
          </a:p>
        </p:txBody>
      </p:sp>
      <p:sp>
        <p:nvSpPr>
          <p:cNvPr id="33" name="Shape 31"/>
          <p:cNvSpPr/>
          <p:nvPr/>
        </p:nvSpPr>
        <p:spPr>
          <a:xfrm>
            <a:off x="812800" y="3881041"/>
            <a:ext cx="4572000" cy="304800"/>
          </a:xfrm>
          <a:prstGeom prst="rect">
            <a:avLst/>
          </a:prstGeom>
          <a:solidFill>
            <a:srgbClr val="FDFCFA"/>
          </a:solidFill>
          <a:ln/>
        </p:spPr>
      </p:sp>
      <p:sp>
        <p:nvSpPr>
          <p:cNvPr id="34" name="Text 32"/>
          <p:cNvSpPr txBox="1"/>
          <p:nvPr/>
        </p:nvSpPr>
        <p:spPr>
          <a:xfrm>
            <a:off x="901700" y="39445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hh122</a:t>
            </a:r>
            <a:endParaRPr lang="en-US" sz="1200" dirty="0"/>
          </a:p>
        </p:txBody>
      </p:sp>
      <p:sp>
        <p:nvSpPr>
          <p:cNvPr id="35" name="Text 33"/>
          <p:cNvSpPr txBox="1"/>
          <p:nvPr/>
        </p:nvSpPr>
        <p:spPr>
          <a:xfrm>
            <a:off x="2730500" y="39445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0.38</a:t>
            </a:r>
            <a:endParaRPr lang="en-US" sz="1200" dirty="0"/>
          </a:p>
        </p:txBody>
      </p:sp>
      <p:sp>
        <p:nvSpPr>
          <p:cNvPr id="36" name="Text 34"/>
          <p:cNvSpPr txBox="1"/>
          <p:nvPr/>
        </p:nvSpPr>
        <p:spPr>
          <a:xfrm>
            <a:off x="4102100" y="39445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0.43</a:t>
            </a:r>
            <a:endParaRPr lang="en-US" sz="1200" dirty="0"/>
          </a:p>
        </p:txBody>
      </p:sp>
      <p:sp>
        <p:nvSpPr>
          <p:cNvPr id="37" name="Shape 35"/>
          <p:cNvSpPr/>
          <p:nvPr/>
        </p:nvSpPr>
        <p:spPr>
          <a:xfrm>
            <a:off x="812800" y="4185841"/>
            <a:ext cx="4572000" cy="304800"/>
          </a:xfrm>
          <a:prstGeom prst="rect">
            <a:avLst/>
          </a:prstGeom>
          <a:solidFill>
            <a:srgbClr val="E6EEF8"/>
          </a:solidFill>
          <a:ln/>
        </p:spPr>
      </p:sp>
      <p:sp>
        <p:nvSpPr>
          <p:cNvPr id="38" name="Text 36"/>
          <p:cNvSpPr txBox="1"/>
          <p:nvPr/>
        </p:nvSpPr>
        <p:spPr>
          <a:xfrm>
            <a:off x="901700" y="4249341"/>
            <a:ext cx="171005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Mean</a:t>
            </a:r>
            <a:endParaRPr lang="en-US" sz="1200" dirty="0"/>
          </a:p>
        </p:txBody>
      </p:sp>
      <p:sp>
        <p:nvSpPr>
          <p:cNvPr id="39" name="Text 37"/>
          <p:cNvSpPr txBox="1"/>
          <p:nvPr/>
        </p:nvSpPr>
        <p:spPr>
          <a:xfrm>
            <a:off x="2730500" y="42493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0.385</a:t>
            </a:r>
            <a:endParaRPr lang="en-US" sz="1200" dirty="0"/>
          </a:p>
        </p:txBody>
      </p:sp>
      <p:sp>
        <p:nvSpPr>
          <p:cNvPr id="40" name="Text 38"/>
          <p:cNvSpPr txBox="1"/>
          <p:nvPr/>
        </p:nvSpPr>
        <p:spPr>
          <a:xfrm>
            <a:off x="4102100" y="4249341"/>
            <a:ext cx="125056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0.435</a:t>
            </a:r>
            <a:endParaRPr lang="en-US" sz="1200" dirty="0"/>
          </a:p>
        </p:txBody>
      </p:sp>
      <p:sp>
        <p:nvSpPr>
          <p:cNvPr id="41" name="Text 39"/>
          <p:cNvSpPr txBox="1"/>
          <p:nvPr/>
        </p:nvSpPr>
        <p:spPr>
          <a:xfrm>
            <a:off x="5689600" y="1476970"/>
            <a:ext cx="5768848" cy="421580"/>
          </a:xfrm>
          <a:prstGeom prst="rect">
            <a:avLst/>
          </a:prstGeom>
          <a:noFill/>
          <a:ln/>
        </p:spPr>
        <p:txBody>
          <a:bodyPr wrap="square" lIns="0" tIns="0" rIns="0" bIns="0" rtlCol="0" anchor="t"/>
          <a:lstStyle/>
          <a:p>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Loss collapse:</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2.35 → about 0.0005 within 5,000 of 40,000 steps. Next-30 prediction: no difference either way.</a:t>
            </a:r>
            <a:endParaRPr lang="en-US" sz="1300" dirty="0"/>
          </a:p>
        </p:txBody>
      </p:sp>
      <p:sp>
        <p:nvSpPr>
          <p:cNvPr id="42" name="Text 40"/>
          <p:cNvSpPr txBox="1"/>
          <p:nvPr/>
        </p:nvSpPr>
        <p:spPr>
          <a:xfrm>
            <a:off x="5689600" y="2066131"/>
            <a:ext cx="5768848" cy="652661"/>
          </a:xfrm>
          <a:prstGeom prst="rect">
            <a:avLst/>
          </a:prstGeom>
          <a:noFill/>
          <a:ln/>
        </p:spPr>
        <p:txBody>
          <a:bodyPr wrap="square" lIns="0" tIns="0" rIns="0" bIns="0" rtlCol="0" anchor="t"/>
          <a:lstStyle/>
          <a:p>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Patching the game works for activities:</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with six fixes, pretraining wins 26 of 28 settings (activity F1 at 5 % labels: 0.517 vs 0.441); run 3 on 10 homes: 34 of 40.</a:t>
            </a:r>
            <a:endParaRPr lang="en-US" sz="1300" dirty="0"/>
          </a:p>
        </p:txBody>
      </p:sp>
      <p:sp>
        <p:nvSpPr>
          <p:cNvPr id="43" name="Text 41"/>
          <p:cNvSpPr txBox="1"/>
          <p:nvPr/>
        </p:nvSpPr>
        <p:spPr>
          <a:xfrm>
            <a:off x="5689600" y="2886373"/>
            <a:ext cx="5768848" cy="421580"/>
          </a:xfrm>
          <a:prstGeom prst="rect">
            <a:avLst/>
          </a:prstGeom>
          <a:noFill/>
          <a:ln/>
        </p:spPr>
        <p:txBody>
          <a:bodyPr wrap="square" lIns="0" tIns="0" rIns="0" bIns="0" rtlCol="0" anchor="t"/>
          <a:lstStyle/>
          <a:p>
            <a:pPr algn="l" indent="0" marL="0">
              <a:lnSpc>
                <a:spcPts val="1820"/>
              </a:lnSpc>
              <a:buNone/>
            </a:pPr>
            <a:r>
              <a:rPr lang="en-US" sz="1300" b="1" dirty="0">
                <a:solidFill>
                  <a:srgbClr val="A8470B"/>
                </a:solidFill>
                <a:latin typeface="Arial" pitchFamily="34" charset="0"/>
                <a:ea typeface="Arial" pitchFamily="34" charset="-122"/>
                <a:cs typeface="Arial" pitchFamily="34" charset="-120"/>
              </a:rPr>
              <a:t>But the fixed game still trains none of:</a:t>
            </a:r>
            <a:pPr algn="l" indent="0" marL="0">
              <a:lnSpc>
                <a:spcPts val="1820"/>
              </a:lnSpc>
              <a:buNone/>
            </a:pPr>
            <a:r>
              <a:rPr lang="en-US" sz="1300" dirty="0">
                <a:solidFill>
                  <a:srgbClr val="A8470B"/>
                </a:solidFill>
                <a:latin typeface="Arial" pitchFamily="34" charset="0"/>
                <a:ea typeface="Arial" pitchFamily="34" charset="-122"/>
                <a:cs typeface="Arial" pitchFamily="34" charset="-120"/>
              </a:rPr>
              <a:t> timing, surprise, per-minute meaning, robustness to a missing device, language.</a:t>
            </a:r>
            <a:endParaRPr lang="en-US" sz="1300" dirty="0"/>
          </a:p>
        </p:txBody>
      </p:sp>
      <p:sp>
        <p:nvSpPr>
          <p:cNvPr id="44" name="Text 42"/>
          <p:cNvSpPr txBox="1"/>
          <p:nvPr/>
        </p:nvSpPr>
        <p:spPr>
          <a:xfrm>
            <a:off x="5689600" y="3475534"/>
            <a:ext cx="5768848" cy="652661"/>
          </a:xfrm>
          <a:prstGeom prst="rect">
            <a:avLst/>
          </a:prstGeom>
          <a:noFill/>
          <a:ln/>
        </p:spPr>
        <p:txBody>
          <a:bodyPr wrap="square" lIns="0" tIns="0" rIns="0" bIns="0" rtlCol="0" anchor="t"/>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So HomeFM replaces the game instead of patching it.</a:t>
            </a:r>
            <a:pPr algn="l" indent="0" marL="0">
              <a:lnSpc>
                <a:spcPts val="1820"/>
              </a:lnSpc>
              <a:buNone/>
            </a:pPr>
            <a:r>
              <a:rPr lang="en-US" sz="1300" dirty="0">
                <a:solidFill>
                  <a:srgbClr val="14213D"/>
                </a:solidFill>
                <a:latin typeface="Arial" pitchFamily="34" charset="0"/>
                <a:ea typeface="Arial" pitchFamily="34" charset="-122"/>
                <a:cs typeface="Arial" pitchFamily="34" charset="-120"/>
              </a:rPr>
              <a:t> Masking is not thrown away: game 2 hides big structured chunks and must recover them; our DomusFM fix's fill-in-the-blanks loss points the same way.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THE HOMEFM RECIPE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four-stage recipe</a:t>
            </a:r>
            <a:endParaRPr lang="en-US" sz="2800" dirty="0"/>
          </a:p>
        </p:txBody>
      </p:sp>
      <p:sp>
        <p:nvSpPr>
          <p:cNvPr id="4" name="Shape 2"/>
          <p:cNvSpPr/>
          <p:nvPr/>
        </p:nvSpPr>
        <p:spPr>
          <a:xfrm>
            <a:off x="819150" y="1464270"/>
            <a:ext cx="2305050" cy="2072481"/>
          </a:xfrm>
          <a:prstGeom prst="roundRect">
            <a:avLst>
              <a:gd name="adj" fmla="val 4596"/>
            </a:avLst>
          </a:prstGeom>
          <a:solidFill>
            <a:srgbClr val="FDFCFA"/>
          </a:solidFill>
          <a:ln w="12700">
            <a:solidFill>
              <a:srgbClr val="E3E0D7"/>
            </a:solidFill>
            <a:prstDash val="solid"/>
          </a:ln>
        </p:spPr>
      </p:sp>
      <p:sp>
        <p:nvSpPr>
          <p:cNvPr id="5" name="Shape 3"/>
          <p:cNvSpPr/>
          <p:nvPr/>
        </p:nvSpPr>
        <p:spPr>
          <a:xfrm>
            <a:off x="977900" y="1623020"/>
            <a:ext cx="745331" cy="254000"/>
          </a:xfrm>
          <a:prstGeom prst="roundRect">
            <a:avLst>
              <a:gd name="adj" fmla="val 50000"/>
            </a:avLst>
          </a:prstGeom>
          <a:solidFill>
            <a:srgbClr val="E6EEF8"/>
          </a:solidFill>
          <a:ln/>
        </p:spPr>
      </p:sp>
      <p:sp>
        <p:nvSpPr>
          <p:cNvPr id="6" name="Text 4"/>
          <p:cNvSpPr txBox="1"/>
          <p:nvPr/>
        </p:nvSpPr>
        <p:spPr>
          <a:xfrm>
            <a:off x="1079500" y="1661120"/>
            <a:ext cx="595642"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Stage 1</a:t>
            </a:r>
            <a:endParaRPr lang="en-US" sz="1200" dirty="0"/>
          </a:p>
        </p:txBody>
      </p:sp>
      <p:sp>
        <p:nvSpPr>
          <p:cNvPr id="7" name="Text 5"/>
          <p:cNvSpPr txBox="1"/>
          <p:nvPr/>
        </p:nvSpPr>
        <p:spPr>
          <a:xfrm>
            <a:off x="977900" y="1946870"/>
            <a:ext cx="204828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What happens next?</a:t>
            </a:r>
            <a:endParaRPr lang="en-US" sz="1500" dirty="0"/>
          </a:p>
        </p:txBody>
      </p:sp>
      <p:sp>
        <p:nvSpPr>
          <p:cNvPr id="8" name="Text 6"/>
          <p:cNvSpPr txBox="1"/>
          <p:nvPr/>
        </p:nvSpPr>
        <p:spPr>
          <a:xfrm>
            <a:off x="977900" y="2251670"/>
            <a:ext cx="2048288"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Next event: which device, what value, when. Past only.</a:t>
            </a:r>
            <a:endParaRPr lang="en-US" sz="1200" dirty="0"/>
          </a:p>
        </p:txBody>
      </p:sp>
      <p:sp>
        <p:nvSpPr>
          <p:cNvPr id="9" name="Text 7"/>
          <p:cNvSpPr txBox="1"/>
          <p:nvPr/>
        </p:nvSpPr>
        <p:spPr>
          <a:xfrm>
            <a:off x="977900" y="2741811"/>
            <a:ext cx="2048288"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No labels</a:t>
            </a:r>
            <a:endParaRPr lang="en-US" sz="1200" dirty="0"/>
          </a:p>
        </p:txBody>
      </p:sp>
      <p:sp>
        <p:nvSpPr>
          <p:cNvPr id="10" name="Shape 8"/>
          <p:cNvSpPr/>
          <p:nvPr/>
        </p:nvSpPr>
        <p:spPr>
          <a:xfrm>
            <a:off x="3206750" y="2430661"/>
            <a:ext cx="279400" cy="139700"/>
          </a:xfrm>
          <a:prstGeom prst="rightArrow">
            <a:avLst/>
          </a:prstGeom>
          <a:solidFill>
            <a:srgbClr val="9AA3B2"/>
          </a:solidFill>
          <a:ln/>
        </p:spPr>
      </p:sp>
      <p:sp>
        <p:nvSpPr>
          <p:cNvPr id="11" name="Shape 9"/>
          <p:cNvSpPr/>
          <p:nvPr/>
        </p:nvSpPr>
        <p:spPr>
          <a:xfrm>
            <a:off x="3568700" y="1464270"/>
            <a:ext cx="2305050" cy="2072481"/>
          </a:xfrm>
          <a:prstGeom prst="roundRect">
            <a:avLst>
              <a:gd name="adj" fmla="val 4596"/>
            </a:avLst>
          </a:prstGeom>
          <a:solidFill>
            <a:srgbClr val="FDFCFA"/>
          </a:solidFill>
          <a:ln w="12700">
            <a:solidFill>
              <a:srgbClr val="E3E0D7"/>
            </a:solidFill>
            <a:prstDash val="solid"/>
          </a:ln>
        </p:spPr>
      </p:sp>
      <p:sp>
        <p:nvSpPr>
          <p:cNvPr id="12" name="Shape 10"/>
          <p:cNvSpPr/>
          <p:nvPr/>
        </p:nvSpPr>
        <p:spPr>
          <a:xfrm>
            <a:off x="3727450" y="1623020"/>
            <a:ext cx="745331" cy="254000"/>
          </a:xfrm>
          <a:prstGeom prst="roundRect">
            <a:avLst>
              <a:gd name="adj" fmla="val 50000"/>
            </a:avLst>
          </a:prstGeom>
          <a:solidFill>
            <a:srgbClr val="E6EEF8"/>
          </a:solidFill>
          <a:ln/>
        </p:spPr>
      </p:sp>
      <p:sp>
        <p:nvSpPr>
          <p:cNvPr id="13" name="Text 11"/>
          <p:cNvSpPr txBox="1"/>
          <p:nvPr/>
        </p:nvSpPr>
        <p:spPr>
          <a:xfrm>
            <a:off x="3829050" y="1661120"/>
            <a:ext cx="595642"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Stage 2</a:t>
            </a:r>
            <a:endParaRPr lang="en-US" sz="1200" dirty="0"/>
          </a:p>
        </p:txBody>
      </p:sp>
      <p:sp>
        <p:nvSpPr>
          <p:cNvPr id="14" name="Text 12"/>
          <p:cNvSpPr txBox="1"/>
          <p:nvPr/>
        </p:nvSpPr>
        <p:spPr>
          <a:xfrm>
            <a:off x="3727450" y="1946870"/>
            <a:ext cx="2048288" cy="43815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Fill in a missing chunk</a:t>
            </a:r>
            <a:endParaRPr lang="en-US" sz="1500" dirty="0"/>
          </a:p>
        </p:txBody>
      </p:sp>
      <p:sp>
        <p:nvSpPr>
          <p:cNvPr id="15" name="Text 13"/>
          <p:cNvSpPr txBox="1"/>
          <p:nvPr/>
        </p:nvSpPr>
        <p:spPr>
          <a:xfrm>
            <a:off x="3727450" y="2480270"/>
            <a:ext cx="2048288"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Hide big structured pieces; predict their meaning (JEPA).</a:t>
            </a:r>
            <a:endParaRPr lang="en-US" sz="1200" dirty="0"/>
          </a:p>
        </p:txBody>
      </p:sp>
      <p:sp>
        <p:nvSpPr>
          <p:cNvPr id="16" name="Text 14"/>
          <p:cNvSpPr txBox="1"/>
          <p:nvPr/>
        </p:nvSpPr>
        <p:spPr>
          <a:xfrm>
            <a:off x="3727450" y="2970411"/>
            <a:ext cx="2048288"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No labels</a:t>
            </a:r>
            <a:endParaRPr lang="en-US" sz="1200" dirty="0"/>
          </a:p>
        </p:txBody>
      </p:sp>
      <p:sp>
        <p:nvSpPr>
          <p:cNvPr id="17" name="Shape 15"/>
          <p:cNvSpPr/>
          <p:nvPr/>
        </p:nvSpPr>
        <p:spPr>
          <a:xfrm>
            <a:off x="5956300" y="2430661"/>
            <a:ext cx="279400" cy="139700"/>
          </a:xfrm>
          <a:prstGeom prst="rightArrow">
            <a:avLst/>
          </a:prstGeom>
          <a:solidFill>
            <a:srgbClr val="9AA3B2"/>
          </a:solidFill>
          <a:ln/>
        </p:spPr>
      </p:sp>
      <p:sp>
        <p:nvSpPr>
          <p:cNvPr id="18" name="Shape 16"/>
          <p:cNvSpPr/>
          <p:nvPr/>
        </p:nvSpPr>
        <p:spPr>
          <a:xfrm>
            <a:off x="6318250" y="1464270"/>
            <a:ext cx="2305050" cy="2072481"/>
          </a:xfrm>
          <a:prstGeom prst="roundRect">
            <a:avLst>
              <a:gd name="adj" fmla="val 4596"/>
            </a:avLst>
          </a:prstGeom>
          <a:solidFill>
            <a:srgbClr val="FDFCFA"/>
          </a:solidFill>
          <a:ln w="12700">
            <a:solidFill>
              <a:srgbClr val="E3E0D7"/>
            </a:solidFill>
            <a:prstDash val="solid"/>
          </a:ln>
        </p:spPr>
      </p:sp>
      <p:sp>
        <p:nvSpPr>
          <p:cNvPr id="19" name="Shape 17"/>
          <p:cNvSpPr/>
          <p:nvPr/>
        </p:nvSpPr>
        <p:spPr>
          <a:xfrm>
            <a:off x="6477000" y="1623020"/>
            <a:ext cx="745331" cy="254000"/>
          </a:xfrm>
          <a:prstGeom prst="roundRect">
            <a:avLst>
              <a:gd name="adj" fmla="val 50000"/>
            </a:avLst>
          </a:prstGeom>
          <a:solidFill>
            <a:srgbClr val="E6EEF8"/>
          </a:solidFill>
          <a:ln/>
        </p:spPr>
      </p:sp>
      <p:sp>
        <p:nvSpPr>
          <p:cNvPr id="20" name="Text 18"/>
          <p:cNvSpPr txBox="1"/>
          <p:nvPr/>
        </p:nvSpPr>
        <p:spPr>
          <a:xfrm>
            <a:off x="6578600" y="1661120"/>
            <a:ext cx="595642"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Stage 3</a:t>
            </a:r>
            <a:endParaRPr lang="en-US" sz="1200" dirty="0"/>
          </a:p>
        </p:txBody>
      </p:sp>
      <p:sp>
        <p:nvSpPr>
          <p:cNvPr id="21" name="Text 19"/>
          <p:cNvSpPr txBox="1"/>
          <p:nvPr/>
        </p:nvSpPr>
        <p:spPr>
          <a:xfrm>
            <a:off x="6477000" y="1946870"/>
            <a:ext cx="204828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Make things agree</a:t>
            </a:r>
            <a:endParaRPr lang="en-US" sz="1500" dirty="0"/>
          </a:p>
        </p:txBody>
      </p:sp>
      <p:sp>
        <p:nvSpPr>
          <p:cNvPr id="22" name="Text 20"/>
          <p:cNvSpPr txBox="1"/>
          <p:nvPr/>
        </p:nvSpPr>
        <p:spPr>
          <a:xfrm>
            <a:off x="6477000" y="2251670"/>
            <a:ext cx="2048288"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Sensors ↔ audio/vision, minute ↔ hour ↔ day, minutes ↔ language, across homes.</a:t>
            </a:r>
            <a:endParaRPr lang="en-US" sz="1200" dirty="0"/>
          </a:p>
        </p:txBody>
      </p:sp>
      <p:sp>
        <p:nvSpPr>
          <p:cNvPr id="23" name="Text 21"/>
          <p:cNvSpPr txBox="1"/>
          <p:nvPr/>
        </p:nvSpPr>
        <p:spPr>
          <a:xfrm>
            <a:off x="6477000" y="3168452"/>
            <a:ext cx="2048288"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Captions</a:t>
            </a:r>
            <a:endParaRPr lang="en-US" sz="1200" dirty="0"/>
          </a:p>
        </p:txBody>
      </p:sp>
      <p:sp>
        <p:nvSpPr>
          <p:cNvPr id="24" name="Shape 22"/>
          <p:cNvSpPr/>
          <p:nvPr/>
        </p:nvSpPr>
        <p:spPr>
          <a:xfrm>
            <a:off x="8705850" y="2430661"/>
            <a:ext cx="279400" cy="139700"/>
          </a:xfrm>
          <a:prstGeom prst="rightArrow">
            <a:avLst/>
          </a:prstGeom>
          <a:solidFill>
            <a:srgbClr val="9AA3B2"/>
          </a:solidFill>
          <a:ln/>
        </p:spPr>
      </p:sp>
      <p:sp>
        <p:nvSpPr>
          <p:cNvPr id="25" name="Shape 23"/>
          <p:cNvSpPr/>
          <p:nvPr/>
        </p:nvSpPr>
        <p:spPr>
          <a:xfrm>
            <a:off x="9067800" y="1464270"/>
            <a:ext cx="2305050" cy="2072481"/>
          </a:xfrm>
          <a:prstGeom prst="roundRect">
            <a:avLst>
              <a:gd name="adj" fmla="val 4596"/>
            </a:avLst>
          </a:prstGeom>
          <a:solidFill>
            <a:srgbClr val="FDFCFA"/>
          </a:solidFill>
          <a:ln w="12700">
            <a:solidFill>
              <a:srgbClr val="E3E0D7"/>
            </a:solidFill>
            <a:prstDash val="solid"/>
          </a:ln>
        </p:spPr>
      </p:sp>
      <p:sp>
        <p:nvSpPr>
          <p:cNvPr id="26" name="Shape 24"/>
          <p:cNvSpPr/>
          <p:nvPr/>
        </p:nvSpPr>
        <p:spPr>
          <a:xfrm>
            <a:off x="9226550" y="1623020"/>
            <a:ext cx="745331" cy="254000"/>
          </a:xfrm>
          <a:prstGeom prst="roundRect">
            <a:avLst>
              <a:gd name="adj" fmla="val 50000"/>
            </a:avLst>
          </a:prstGeom>
          <a:solidFill>
            <a:srgbClr val="E6EEF8"/>
          </a:solidFill>
          <a:ln/>
        </p:spPr>
      </p:sp>
      <p:sp>
        <p:nvSpPr>
          <p:cNvPr id="27" name="Text 25"/>
          <p:cNvSpPr txBox="1"/>
          <p:nvPr/>
        </p:nvSpPr>
        <p:spPr>
          <a:xfrm>
            <a:off x="9328150" y="1661120"/>
            <a:ext cx="595642"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Stage 4</a:t>
            </a:r>
            <a:endParaRPr lang="en-US" sz="1200" dirty="0"/>
          </a:p>
        </p:txBody>
      </p:sp>
      <p:sp>
        <p:nvSpPr>
          <p:cNvPr id="28" name="Text 26"/>
          <p:cNvSpPr txBox="1"/>
          <p:nvPr/>
        </p:nvSpPr>
        <p:spPr>
          <a:xfrm>
            <a:off x="9226550" y="1946870"/>
            <a:ext cx="2048288" cy="43815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A few labels, then each home</a:t>
            </a:r>
            <a:endParaRPr lang="en-US" sz="1500" dirty="0"/>
          </a:p>
        </p:txBody>
      </p:sp>
      <p:sp>
        <p:nvSpPr>
          <p:cNvPr id="29" name="Text 27"/>
          <p:cNvSpPr txBox="1"/>
          <p:nvPr/>
        </p:nvSpPr>
        <p:spPr>
          <a:xfrm>
            <a:off x="9226550" y="2480270"/>
            <a:ext cx="2048288"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Supervised heads; keep playing stages 1–2 on each home's own data.</a:t>
            </a:r>
            <a:endParaRPr lang="en-US" sz="1200" dirty="0"/>
          </a:p>
        </p:txBody>
      </p:sp>
      <p:sp>
        <p:nvSpPr>
          <p:cNvPr id="30" name="Text 28"/>
          <p:cNvSpPr txBox="1"/>
          <p:nvPr/>
        </p:nvSpPr>
        <p:spPr>
          <a:xfrm>
            <a:off x="9226550" y="3183731"/>
            <a:ext cx="2048288"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Labels, feedback</a:t>
            </a:r>
            <a:endParaRPr lang="en-US" sz="1200" dirty="0"/>
          </a:p>
        </p:txBody>
      </p:sp>
      <p:sp>
        <p:nvSpPr>
          <p:cNvPr id="31" name="Text 29"/>
          <p:cNvSpPr txBox="1"/>
          <p:nvPr/>
        </p:nvSpPr>
        <p:spPr>
          <a:xfrm>
            <a:off x="812800" y="3739952"/>
            <a:ext cx="10670032" cy="421580"/>
          </a:xfrm>
          <a:prstGeom prst="rect">
            <a:avLst/>
          </a:prstGeom>
          <a:noFill/>
          <a:ln/>
        </p:spPr>
        <p:txBody>
          <a:bodyPr wrap="square" lIns="0" tIns="0" rIns="0" bIns="0" rtlCol="0" anchor="t"/>
          <a:lstStyle/>
          <a:p>
            <a:pPr algn="l" indent="0" marL="0">
              <a:lnSpc>
                <a:spcPts val="1820"/>
              </a:lnSpc>
              <a:buNone/>
            </a:pPr>
            <a:r>
              <a:rPr lang="en-US" sz="1300" dirty="0">
                <a:solidFill>
                  <a:srgbClr val="3D4757"/>
                </a:solidFill>
                <a:latin typeface="Arial" pitchFamily="34" charset="0"/>
                <a:ea typeface="Arial" pitchFamily="34" charset="-122"/>
                <a:cs typeface="Arial" pitchFamily="34" charset="-120"/>
              </a:rPr>
              <a:t>Stages 1 and 2 are trained </a:t>
            </a:r>
            <a:pPr algn="l" indent="0" marL="0">
              <a:lnSpc>
                <a:spcPts val="1820"/>
              </a:lnSpc>
              <a:buNone/>
            </a:pPr>
            <a:r>
              <a:rPr lang="en-US" sz="1300" b="1" dirty="0">
                <a:solidFill>
                  <a:srgbClr val="3D4757"/>
                </a:solidFill>
                <a:latin typeface="Arial" pitchFamily="34" charset="0"/>
                <a:ea typeface="Arial" pitchFamily="34" charset="-122"/>
                <a:cs typeface="Arial" pitchFamily="34" charset="-120"/>
              </a:rPr>
              <a:t>together</a:t>
            </a:r>
            <a:pPr algn="l" indent="0" marL="0">
              <a:lnSpc>
                <a:spcPts val="1820"/>
              </a:lnSpc>
              <a:buNone/>
            </a:pPr>
            <a:r>
              <a:rPr lang="en-US" sz="1300" dirty="0">
                <a:solidFill>
                  <a:srgbClr val="3D4757"/>
                </a:solidFill>
                <a:latin typeface="Arial" pitchFamily="34" charset="0"/>
                <a:ea typeface="Arial" pitchFamily="34" charset="-122"/>
                <a:cs typeface="Arial" pitchFamily="34" charset="-120"/>
              </a:rPr>
              <a:t> (variant E). Stage 3's language part is game 3 (variant F). Stage 3's home-invariance uses gradient reversal so the model cannot tell which home data came from.</a:t>
            </a:r>
            <a:endParaRPr lang="en-US" sz="1300" dirty="0"/>
          </a:p>
        </p:txBody>
      </p:sp>
      <p:sp>
        <p:nvSpPr>
          <p:cNvPr id="32" name="Shape 30"/>
          <p:cNvSpPr/>
          <p:nvPr/>
        </p:nvSpPr>
        <p:spPr>
          <a:xfrm>
            <a:off x="819150" y="4367213"/>
            <a:ext cx="10553700" cy="1874838"/>
          </a:xfrm>
          <a:prstGeom prst="roundRect">
            <a:avLst>
              <a:gd name="adj" fmla="val 5080"/>
            </a:avLst>
          </a:prstGeom>
          <a:solidFill>
            <a:srgbClr val="FDFCFA"/>
          </a:solidFill>
          <a:ln w="12700">
            <a:solidFill>
              <a:srgbClr val="E3E0D7"/>
            </a:solidFill>
            <a:prstDash val="solid"/>
          </a:ln>
        </p:spPr>
      </p:sp>
      <p:sp>
        <p:nvSpPr>
          <p:cNvPr id="33" name="Text 31"/>
          <p:cNvSpPr txBox="1"/>
          <p:nvPr/>
        </p:nvSpPr>
        <p:spPr>
          <a:xfrm>
            <a:off x="1003300" y="4570413"/>
            <a:ext cx="1028712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Cheap extra games: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guess the time of day from a window · predict the unordered bag of the next k events (DomusFM's task) · consistency checks (stove power should mean someone is in the kitchen).</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GAME 1</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Game 1: predict the next event, and when</a:t>
            </a:r>
            <a:endParaRPr lang="en-US" sz="2800" dirty="0"/>
          </a:p>
        </p:txBody>
      </p:sp>
      <p:sp>
        <p:nvSpPr>
          <p:cNvPr id="4" name="Shape 2"/>
          <p:cNvSpPr/>
          <p:nvPr/>
        </p:nvSpPr>
        <p:spPr>
          <a:xfrm>
            <a:off x="812800" y="1457920"/>
            <a:ext cx="10566400" cy="442516"/>
          </a:xfrm>
          <a:prstGeom prst="roundRect">
            <a:avLst>
              <a:gd name="adj" fmla="val 17220"/>
            </a:avLst>
          </a:prstGeom>
          <a:solidFill>
            <a:srgbClr val="EDEBE4"/>
          </a:solidFill>
          <a:ln/>
        </p:spPr>
      </p:sp>
      <p:sp>
        <p:nvSpPr>
          <p:cNvPr id="5" name="Text 3"/>
          <p:cNvSpPr txBox="1"/>
          <p:nvPr/>
        </p:nvSpPr>
        <p:spPr>
          <a:xfrm>
            <a:off x="939800" y="1578570"/>
            <a:ext cx="10414762" cy="239395"/>
          </a:xfrm>
          <a:prstGeom prst="rect">
            <a:avLst/>
          </a:prstGeom>
          <a:noFill/>
          <a:ln/>
        </p:spPr>
        <p:txBody>
          <a:bodyPr wrap="square" lIns="0" tIns="0" rIns="0" bIns="0" rtlCol="0" anchor="t"/>
          <a:lstStyle/>
          <a:p>
            <a:pPr algn="l" indent="0" marL="0">
              <a:lnSpc>
                <a:spcPts val="1885"/>
              </a:lnSpc>
              <a:buNone/>
            </a:pPr>
            <a:r>
              <a:rPr lang="en-US" sz="1300" dirty="0">
                <a:solidFill>
                  <a:srgbClr val="14213D"/>
                </a:solidFill>
                <a:latin typeface="Courier New" pitchFamily="34" charset="0"/>
                <a:ea typeface="Courier New" pitchFamily="34" charset="-122"/>
                <a:cs typeface="Courier New" pitchFamily="34" charset="-120"/>
              </a:rPr>
              <a:t>L_next = CE(device) + CE(state) + λ·L_value + NLL_LogNormalMixture(Δt)</a:t>
            </a:r>
            <a:endParaRPr lang="en-US" sz="1300" dirty="0"/>
          </a:p>
        </p:txBody>
      </p:sp>
      <p:sp>
        <p:nvSpPr>
          <p:cNvPr id="6" name="Text 4"/>
          <p:cNvSpPr txBox="1"/>
          <p:nvPr/>
        </p:nvSpPr>
        <p:spPr>
          <a:xfrm>
            <a:off x="812800" y="2097286"/>
            <a:ext cx="492645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Which device: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scored against every row of </a:t>
            </a:r>
            <a:pPr algn="l" indent="0" marL="0">
              <a:lnSpc>
                <a:spcPts val="1680"/>
              </a:lnSpc>
              <a:buNone/>
            </a:pPr>
            <a:r>
              <a:rPr lang="en-US" sz="1200" i="1" dirty="0">
                <a:solidFill>
                  <a:srgbClr val="3D4757"/>
                </a:solidFill>
                <a:latin typeface="Arial" pitchFamily="34" charset="0"/>
                <a:ea typeface="Arial" pitchFamily="34" charset="-122"/>
                <a:cs typeface="Arial" pitchFamily="34" charset="-120"/>
              </a:rPr>
              <a:t>this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home's registry, so it never predicts a device the home lacks.</a:t>
            </a:r>
            <a:endParaRPr lang="en-US" sz="1200" dirty="0"/>
          </a:p>
        </p:txBody>
      </p:sp>
      <p:sp>
        <p:nvSpPr>
          <p:cNvPr id="7" name="Text 5"/>
          <p:cNvSpPr txBox="1"/>
          <p:nvPr/>
        </p:nvSpPr>
        <p:spPr>
          <a:xfrm>
            <a:off x="812800" y="2612827"/>
            <a:ext cx="492645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When:</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 log-normal mixture over the wait, so “in 10 s” and “in 3 h” can both be likely.</a:t>
            </a:r>
            <a:endParaRPr lang="en-US" sz="1200" dirty="0"/>
          </a:p>
        </p:txBody>
      </p:sp>
      <p:sp>
        <p:nvSpPr>
          <p:cNvPr id="8" name="Text 6"/>
          <p:cNvSpPr txBox="1"/>
          <p:nvPr/>
        </p:nvSpPr>
        <p:spPr>
          <a:xfrm>
            <a:off x="812800" y="3128367"/>
            <a:ext cx="492645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Surprise for free: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how wrong a guess was, −log p(event | history), is the anomaly signal.</a:t>
            </a:r>
            <a:endParaRPr lang="en-US" sz="1200" dirty="0"/>
          </a:p>
        </p:txBody>
      </p:sp>
      <p:sp>
        <p:nvSpPr>
          <p:cNvPr id="9" name="Text 7"/>
          <p:cNvSpPr txBox="1"/>
          <p:nvPr/>
        </p:nvSpPr>
        <p:spPr>
          <a:xfrm>
            <a:off x="812800" y="3643908"/>
            <a:ext cx="492645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Cannot be cheated:</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the future is unseen, with no copy or timestamp to peek at. Every event is a question: dozens per window.</a:t>
            </a:r>
            <a:endParaRPr lang="en-US" sz="1200" dirty="0"/>
          </a:p>
        </p:txBody>
      </p:sp>
      <p:sp>
        <p:nvSpPr>
          <p:cNvPr id="10" name="Text 8"/>
          <p:cNvSpPr txBox="1"/>
          <p:nvPr/>
        </p:nvSpPr>
        <p:spPr>
          <a:xfrm>
            <a:off x="812800" y="4159448"/>
            <a:ext cx="4926457" cy="384770"/>
          </a:xfrm>
          <a:prstGeom prst="rect">
            <a:avLst/>
          </a:prstGeom>
          <a:noFill/>
          <a:ln/>
        </p:spPr>
        <p:txBody>
          <a:bodyPr wrap="square" lIns="0" tIns="0" rIns="0" bIns="0" rtlCol="0" anchor="t"/>
          <a:lstStyle/>
          <a:p>
            <a:pPr algn="l" indent="0" marL="0">
              <a:lnSpc>
                <a:spcPts val="1680"/>
              </a:lnSpc>
              <a:buNone/>
            </a:pPr>
            <a:r>
              <a:rPr lang="en-US" sz="1200" b="1" dirty="0">
                <a:solidFill>
                  <a:srgbClr val="A8470B"/>
                </a:solidFill>
                <a:latin typeface="Arial" pitchFamily="34" charset="0"/>
                <a:ea typeface="Arial" pitchFamily="34" charset="-122"/>
                <a:cs typeface="Arial" pitchFamily="34" charset="-120"/>
              </a:rPr>
              <a:t>Weak spots:</a:t>
            </a:r>
            <a:pPr algn="l" indent="0" marL="0">
              <a:lnSpc>
                <a:spcPts val="1680"/>
              </a:lnSpc>
              <a:buNone/>
            </a:pPr>
            <a:r>
              <a:rPr lang="en-US" sz="1200" dirty="0">
                <a:solidFill>
                  <a:srgbClr val="A8470B"/>
                </a:solidFill>
                <a:latin typeface="Arial" pitchFamily="34" charset="0"/>
                <a:ea typeface="Arial" pitchFamily="34" charset="-122"/>
                <a:cs typeface="Arial" pitchFamily="34" charset="-120"/>
              </a:rPr>
              <a:t> past only, and short-sighted (much of it is “motion OFF after motion ON”).</a:t>
            </a:r>
            <a:endParaRPr lang="en-US" sz="1200" dirty="0"/>
          </a:p>
        </p:txBody>
      </p:sp>
      <p:sp>
        <p:nvSpPr>
          <p:cNvPr id="11" name="Text 9"/>
          <p:cNvSpPr txBox="1"/>
          <p:nvPr/>
        </p:nvSpPr>
        <p:spPr>
          <a:xfrm>
            <a:off x="5918200" y="2097286"/>
            <a:ext cx="5539105" cy="21336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Example (hh102, Tuesday evening):</a:t>
            </a:r>
            <a:endParaRPr lang="en-US" sz="1200" dirty="0"/>
          </a:p>
        </p:txBody>
      </p:sp>
      <p:sp>
        <p:nvSpPr>
          <p:cNvPr id="12" name="Shape 10"/>
          <p:cNvSpPr/>
          <p:nvPr/>
        </p:nvSpPr>
        <p:spPr>
          <a:xfrm>
            <a:off x="5918200" y="2367756"/>
            <a:ext cx="5461000" cy="304800"/>
          </a:xfrm>
          <a:prstGeom prst="rect">
            <a:avLst/>
          </a:prstGeom>
          <a:solidFill>
            <a:srgbClr val="14213D"/>
          </a:solidFill>
          <a:ln/>
        </p:spPr>
      </p:sp>
      <p:sp>
        <p:nvSpPr>
          <p:cNvPr id="13" name="Text 11"/>
          <p:cNvSpPr txBox="1"/>
          <p:nvPr/>
        </p:nvSpPr>
        <p:spPr>
          <a:xfrm>
            <a:off x="6007100" y="2431256"/>
            <a:ext cx="129903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After seeing</a:t>
            </a:r>
            <a:endParaRPr lang="en-US" sz="1200" dirty="0"/>
          </a:p>
        </p:txBody>
      </p:sp>
      <p:sp>
        <p:nvSpPr>
          <p:cNvPr id="14" name="Text 12"/>
          <p:cNvSpPr txBox="1"/>
          <p:nvPr/>
        </p:nvSpPr>
        <p:spPr>
          <a:xfrm>
            <a:off x="7426920" y="2431256"/>
            <a:ext cx="1518603"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The model guesses</a:t>
            </a:r>
            <a:endParaRPr lang="en-US" sz="1200" dirty="0"/>
          </a:p>
        </p:txBody>
      </p:sp>
      <p:sp>
        <p:nvSpPr>
          <p:cNvPr id="15" name="Text 13"/>
          <p:cNvSpPr txBox="1"/>
          <p:nvPr/>
        </p:nvSpPr>
        <p:spPr>
          <a:xfrm>
            <a:off x="9065220" y="2431256"/>
            <a:ext cx="14088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What came next</a:t>
            </a:r>
            <a:endParaRPr lang="en-US" sz="1200" dirty="0"/>
          </a:p>
        </p:txBody>
      </p:sp>
      <p:sp>
        <p:nvSpPr>
          <p:cNvPr id="16" name="Text 14"/>
          <p:cNvSpPr txBox="1"/>
          <p:nvPr/>
        </p:nvSpPr>
        <p:spPr>
          <a:xfrm>
            <a:off x="10594280" y="2431256"/>
            <a:ext cx="75030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Result</a:t>
            </a:r>
            <a:endParaRPr lang="en-US" sz="1200" dirty="0"/>
          </a:p>
        </p:txBody>
      </p:sp>
      <p:sp>
        <p:nvSpPr>
          <p:cNvPr id="17" name="Shape 15"/>
          <p:cNvSpPr/>
          <p:nvPr/>
        </p:nvSpPr>
        <p:spPr>
          <a:xfrm>
            <a:off x="5918200" y="2672556"/>
            <a:ext cx="5461000" cy="482600"/>
          </a:xfrm>
          <a:prstGeom prst="rect">
            <a:avLst/>
          </a:prstGeom>
          <a:solidFill>
            <a:srgbClr val="FDFCFA"/>
          </a:solidFill>
          <a:ln/>
        </p:spPr>
      </p:sp>
      <p:sp>
        <p:nvSpPr>
          <p:cNvPr id="18" name="Text 16"/>
          <p:cNvSpPr txBox="1"/>
          <p:nvPr/>
        </p:nvSpPr>
        <p:spPr>
          <a:xfrm>
            <a:off x="6007100" y="2824956"/>
            <a:ext cx="12990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Fridge door open</a:t>
            </a:r>
            <a:endParaRPr lang="en-US" sz="1200" dirty="0"/>
          </a:p>
        </p:txBody>
      </p:sp>
      <p:sp>
        <p:nvSpPr>
          <p:cNvPr id="19" name="Text 17"/>
          <p:cNvSpPr txBox="1"/>
          <p:nvPr/>
        </p:nvSpPr>
        <p:spPr>
          <a:xfrm>
            <a:off x="7426920" y="2736056"/>
            <a:ext cx="1518603"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Kitchen motion, in ~5 s</a:t>
            </a:r>
            <a:endParaRPr lang="en-US" sz="1200" dirty="0"/>
          </a:p>
        </p:txBody>
      </p:sp>
      <p:sp>
        <p:nvSpPr>
          <p:cNvPr id="20" name="Text 18"/>
          <p:cNvSpPr txBox="1"/>
          <p:nvPr/>
        </p:nvSpPr>
        <p:spPr>
          <a:xfrm>
            <a:off x="9065220" y="2824956"/>
            <a:ext cx="14088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Motion after 4 s</a:t>
            </a:r>
            <a:endParaRPr lang="en-US" sz="1200" dirty="0"/>
          </a:p>
        </p:txBody>
      </p:sp>
      <p:sp>
        <p:nvSpPr>
          <p:cNvPr id="21" name="Text 19"/>
          <p:cNvSpPr txBox="1"/>
          <p:nvPr/>
        </p:nvSpPr>
        <p:spPr>
          <a:xfrm>
            <a:off x="10594280" y="2824956"/>
            <a:ext cx="75030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Close</a:t>
            </a:r>
            <a:endParaRPr lang="en-US" sz="1200" dirty="0"/>
          </a:p>
        </p:txBody>
      </p:sp>
      <p:sp>
        <p:nvSpPr>
          <p:cNvPr id="22" name="Shape 20"/>
          <p:cNvSpPr/>
          <p:nvPr/>
        </p:nvSpPr>
        <p:spPr>
          <a:xfrm>
            <a:off x="5918200" y="3155156"/>
            <a:ext cx="5461000" cy="482600"/>
          </a:xfrm>
          <a:prstGeom prst="rect">
            <a:avLst/>
          </a:prstGeom>
          <a:solidFill>
            <a:srgbClr val="F6F5F1"/>
          </a:solidFill>
          <a:ln/>
        </p:spPr>
      </p:sp>
      <p:sp>
        <p:nvSpPr>
          <p:cNvPr id="23" name="Text 21"/>
          <p:cNvSpPr txBox="1"/>
          <p:nvPr/>
        </p:nvSpPr>
        <p:spPr>
          <a:xfrm>
            <a:off x="6007100" y="3307556"/>
            <a:ext cx="12990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Kitchen motion</a:t>
            </a:r>
            <a:endParaRPr lang="en-US" sz="1200" dirty="0"/>
          </a:p>
        </p:txBody>
      </p:sp>
      <p:sp>
        <p:nvSpPr>
          <p:cNvPr id="24" name="Text 22"/>
          <p:cNvSpPr txBox="1"/>
          <p:nvPr/>
        </p:nvSpPr>
        <p:spPr>
          <a:xfrm>
            <a:off x="7426920" y="3218656"/>
            <a:ext cx="1518603"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Fridge closes, in ~20 s</a:t>
            </a:r>
            <a:endParaRPr lang="en-US" sz="1200" dirty="0"/>
          </a:p>
        </p:txBody>
      </p:sp>
      <p:sp>
        <p:nvSpPr>
          <p:cNvPr id="25" name="Text 23"/>
          <p:cNvSpPr txBox="1"/>
          <p:nvPr/>
        </p:nvSpPr>
        <p:spPr>
          <a:xfrm>
            <a:off x="9065220" y="3307556"/>
            <a:ext cx="14088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Stove on after 51 s</a:t>
            </a:r>
            <a:endParaRPr lang="en-US" sz="1200" dirty="0"/>
          </a:p>
        </p:txBody>
      </p:sp>
      <p:sp>
        <p:nvSpPr>
          <p:cNvPr id="26" name="Text 24"/>
          <p:cNvSpPr txBox="1"/>
          <p:nvPr/>
        </p:nvSpPr>
        <p:spPr>
          <a:xfrm>
            <a:off x="10594280" y="3307556"/>
            <a:ext cx="75030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Wrong</a:t>
            </a:r>
            <a:endParaRPr lang="en-US" sz="1200" dirty="0"/>
          </a:p>
        </p:txBody>
      </p:sp>
      <p:sp>
        <p:nvSpPr>
          <p:cNvPr id="27" name="Shape 25"/>
          <p:cNvSpPr/>
          <p:nvPr/>
        </p:nvSpPr>
        <p:spPr>
          <a:xfrm>
            <a:off x="5918200" y="3637756"/>
            <a:ext cx="5461000" cy="482600"/>
          </a:xfrm>
          <a:prstGeom prst="rect">
            <a:avLst/>
          </a:prstGeom>
          <a:solidFill>
            <a:srgbClr val="FDFCFA"/>
          </a:solidFill>
          <a:ln/>
        </p:spPr>
      </p:sp>
      <p:sp>
        <p:nvSpPr>
          <p:cNvPr id="28" name="Text 26"/>
          <p:cNvSpPr txBox="1"/>
          <p:nvPr/>
        </p:nvSpPr>
        <p:spPr>
          <a:xfrm>
            <a:off x="6007100" y="3790156"/>
            <a:ext cx="12990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Stove on</a:t>
            </a:r>
            <a:endParaRPr lang="en-US" sz="1200" dirty="0"/>
          </a:p>
        </p:txBody>
      </p:sp>
      <p:sp>
        <p:nvSpPr>
          <p:cNvPr id="29" name="Text 27"/>
          <p:cNvSpPr txBox="1"/>
          <p:nvPr/>
        </p:nvSpPr>
        <p:spPr>
          <a:xfrm>
            <a:off x="7426920" y="3701256"/>
            <a:ext cx="1518603"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Kitchen motion, in ~1 min</a:t>
            </a:r>
            <a:endParaRPr lang="en-US" sz="1200" dirty="0"/>
          </a:p>
        </p:txBody>
      </p:sp>
      <p:sp>
        <p:nvSpPr>
          <p:cNvPr id="30" name="Text 28"/>
          <p:cNvSpPr txBox="1"/>
          <p:nvPr/>
        </p:nvSpPr>
        <p:spPr>
          <a:xfrm>
            <a:off x="9065220" y="3790156"/>
            <a:ext cx="14088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Motion after 75 s</a:t>
            </a:r>
            <a:endParaRPr lang="en-US" sz="1200" dirty="0"/>
          </a:p>
        </p:txBody>
      </p:sp>
      <p:sp>
        <p:nvSpPr>
          <p:cNvPr id="31" name="Text 29"/>
          <p:cNvSpPr txBox="1"/>
          <p:nvPr/>
        </p:nvSpPr>
        <p:spPr>
          <a:xfrm>
            <a:off x="10594280" y="3790156"/>
            <a:ext cx="75030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Close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GAME 2</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Game 2: hide a big chunk, predict its meaning (JEPA)</a:t>
            </a:r>
            <a:endParaRPr lang="en-US" sz="2800" dirty="0"/>
          </a:p>
        </p:txBody>
      </p:sp>
      <p:sp>
        <p:nvSpPr>
          <p:cNvPr id="4" name="Shape 2"/>
          <p:cNvSpPr/>
          <p:nvPr/>
        </p:nvSpPr>
        <p:spPr>
          <a:xfrm>
            <a:off x="812800" y="1457920"/>
            <a:ext cx="10566400" cy="424160"/>
          </a:xfrm>
          <a:prstGeom prst="roundRect">
            <a:avLst>
              <a:gd name="adj" fmla="val 17965"/>
            </a:avLst>
          </a:prstGeom>
          <a:solidFill>
            <a:srgbClr val="EDEBE4"/>
          </a:solidFill>
          <a:ln/>
        </p:spPr>
      </p:sp>
      <p:sp>
        <p:nvSpPr>
          <p:cNvPr id="5" name="Text 3"/>
          <p:cNvSpPr txBox="1"/>
          <p:nvPr/>
        </p:nvSpPr>
        <p:spPr>
          <a:xfrm>
            <a:off x="939800" y="1578570"/>
            <a:ext cx="10414762" cy="22098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18:28 motion · 18:29 fridge OPEN · [ 18:30–18:36 HIDDEN ] · 18:37 stove OFF · 18:38 dining light ON</a:t>
            </a:r>
            <a:endParaRPr lang="en-US" sz="1200" dirty="0"/>
          </a:p>
        </p:txBody>
      </p:sp>
      <p:sp>
        <p:nvSpPr>
          <p:cNvPr id="6" name="Shape 4"/>
          <p:cNvSpPr/>
          <p:nvPr/>
        </p:nvSpPr>
        <p:spPr>
          <a:xfrm>
            <a:off x="812800" y="2059880"/>
            <a:ext cx="10566400" cy="304800"/>
          </a:xfrm>
          <a:prstGeom prst="rect">
            <a:avLst/>
          </a:prstGeom>
          <a:solidFill>
            <a:srgbClr val="14213D"/>
          </a:solidFill>
          <a:ln/>
        </p:spPr>
      </p:sp>
      <p:sp>
        <p:nvSpPr>
          <p:cNvPr id="7" name="Text 5"/>
          <p:cNvSpPr txBox="1"/>
          <p:nvPr/>
        </p:nvSpPr>
        <p:spPr>
          <a:xfrm>
            <a:off x="901700" y="2123380"/>
            <a:ext cx="167734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Mask family</a:t>
            </a:r>
            <a:endParaRPr lang="en-US" sz="1200" dirty="0"/>
          </a:p>
        </p:txBody>
      </p:sp>
      <p:sp>
        <p:nvSpPr>
          <p:cNvPr id="8" name="Text 6"/>
          <p:cNvSpPr txBox="1"/>
          <p:nvPr/>
        </p:nvSpPr>
        <p:spPr>
          <a:xfrm>
            <a:off x="2697956" y="2123380"/>
            <a:ext cx="337639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What is hidden</a:t>
            </a:r>
            <a:endParaRPr lang="en-US" sz="1200" dirty="0"/>
          </a:p>
        </p:txBody>
      </p:sp>
      <p:sp>
        <p:nvSpPr>
          <p:cNvPr id="9" name="Text 7"/>
          <p:cNvSpPr txBox="1"/>
          <p:nvPr/>
        </p:nvSpPr>
        <p:spPr>
          <a:xfrm>
            <a:off x="6184801" y="2123380"/>
            <a:ext cx="390737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Forces the model to learn</a:t>
            </a:r>
            <a:endParaRPr lang="en-US" sz="1200" dirty="0"/>
          </a:p>
        </p:txBody>
      </p:sp>
      <p:sp>
        <p:nvSpPr>
          <p:cNvPr id="10" name="Text 8"/>
          <p:cNvSpPr txBox="1"/>
          <p:nvPr/>
        </p:nvSpPr>
        <p:spPr>
          <a:xfrm>
            <a:off x="10199985" y="2123380"/>
            <a:ext cx="114656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Share</a:t>
            </a:r>
            <a:endParaRPr lang="en-US" sz="1200" dirty="0"/>
          </a:p>
        </p:txBody>
      </p:sp>
      <p:sp>
        <p:nvSpPr>
          <p:cNvPr id="11" name="Shape 9"/>
          <p:cNvSpPr/>
          <p:nvPr/>
        </p:nvSpPr>
        <p:spPr>
          <a:xfrm>
            <a:off x="812800" y="2364680"/>
            <a:ext cx="10566400" cy="304800"/>
          </a:xfrm>
          <a:prstGeom prst="rect">
            <a:avLst/>
          </a:prstGeom>
          <a:solidFill>
            <a:srgbClr val="FDFCFA"/>
          </a:solidFill>
          <a:ln/>
        </p:spPr>
      </p:sp>
      <p:sp>
        <p:nvSpPr>
          <p:cNvPr id="12" name="Text 10"/>
          <p:cNvSpPr txBox="1"/>
          <p:nvPr/>
        </p:nvSpPr>
        <p:spPr>
          <a:xfrm>
            <a:off x="901700" y="242818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Time block</a:t>
            </a:r>
            <a:endParaRPr lang="en-US" sz="1200" dirty="0"/>
          </a:p>
        </p:txBody>
      </p:sp>
      <p:sp>
        <p:nvSpPr>
          <p:cNvPr id="13" name="Text 11"/>
          <p:cNvSpPr txBox="1"/>
          <p:nvPr/>
        </p:nvSpPr>
        <p:spPr>
          <a:xfrm>
            <a:off x="2697956" y="242818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All events in a run of minutes (3–10 min)</a:t>
            </a:r>
            <a:endParaRPr lang="en-US" sz="1200" dirty="0"/>
          </a:p>
        </p:txBody>
      </p:sp>
      <p:sp>
        <p:nvSpPr>
          <p:cNvPr id="14" name="Text 12"/>
          <p:cNvSpPr txBox="1"/>
          <p:nvPr/>
        </p:nvSpPr>
        <p:spPr>
          <a:xfrm>
            <a:off x="6184801" y="2428180"/>
            <a:ext cx="39073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Behaviour over minutes</a:t>
            </a:r>
            <a:endParaRPr lang="en-US" sz="1200" dirty="0"/>
          </a:p>
        </p:txBody>
      </p:sp>
      <p:sp>
        <p:nvSpPr>
          <p:cNvPr id="15" name="Text 13"/>
          <p:cNvSpPr txBox="1"/>
          <p:nvPr/>
        </p:nvSpPr>
        <p:spPr>
          <a:xfrm>
            <a:off x="10199985" y="2428180"/>
            <a:ext cx="114656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0.4</a:t>
            </a:r>
            <a:endParaRPr lang="en-US" sz="1200" dirty="0"/>
          </a:p>
        </p:txBody>
      </p:sp>
      <p:sp>
        <p:nvSpPr>
          <p:cNvPr id="16" name="Shape 14"/>
          <p:cNvSpPr/>
          <p:nvPr/>
        </p:nvSpPr>
        <p:spPr>
          <a:xfrm>
            <a:off x="812800" y="2669480"/>
            <a:ext cx="10566400" cy="304800"/>
          </a:xfrm>
          <a:prstGeom prst="rect">
            <a:avLst/>
          </a:prstGeom>
          <a:solidFill>
            <a:srgbClr val="F6F5F1"/>
          </a:solidFill>
          <a:ln/>
        </p:spPr>
      </p:sp>
      <p:sp>
        <p:nvSpPr>
          <p:cNvPr id="17" name="Text 15"/>
          <p:cNvSpPr txBox="1"/>
          <p:nvPr/>
        </p:nvSpPr>
        <p:spPr>
          <a:xfrm>
            <a:off x="901700" y="273298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Device span</a:t>
            </a:r>
            <a:endParaRPr lang="en-US" sz="1200" dirty="0"/>
          </a:p>
        </p:txBody>
      </p:sp>
      <p:sp>
        <p:nvSpPr>
          <p:cNvPr id="18" name="Text 16"/>
          <p:cNvSpPr txBox="1"/>
          <p:nvPr/>
        </p:nvSpPr>
        <p:spPr>
          <a:xfrm>
            <a:off x="2697956" y="273298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All events of 1–3 devices</a:t>
            </a:r>
            <a:endParaRPr lang="en-US" sz="1200" dirty="0"/>
          </a:p>
        </p:txBody>
      </p:sp>
      <p:sp>
        <p:nvSpPr>
          <p:cNvPr id="19" name="Text 17"/>
          <p:cNvSpPr txBox="1"/>
          <p:nvPr/>
        </p:nvSpPr>
        <p:spPr>
          <a:xfrm>
            <a:off x="6184801" y="2732980"/>
            <a:ext cx="39073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Cross-sensor redundancy (stove ↔ kitchen motion)</a:t>
            </a:r>
            <a:endParaRPr lang="en-US" sz="1200" dirty="0"/>
          </a:p>
        </p:txBody>
      </p:sp>
      <p:sp>
        <p:nvSpPr>
          <p:cNvPr id="20" name="Text 18"/>
          <p:cNvSpPr txBox="1"/>
          <p:nvPr/>
        </p:nvSpPr>
        <p:spPr>
          <a:xfrm>
            <a:off x="10199985" y="2732980"/>
            <a:ext cx="114656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a:t>
            </a:r>
            <a:endParaRPr lang="en-US" sz="1200" dirty="0"/>
          </a:p>
        </p:txBody>
      </p:sp>
      <p:sp>
        <p:nvSpPr>
          <p:cNvPr id="21" name="Shape 19"/>
          <p:cNvSpPr/>
          <p:nvPr/>
        </p:nvSpPr>
        <p:spPr>
          <a:xfrm>
            <a:off x="812800" y="2974280"/>
            <a:ext cx="10566400" cy="304800"/>
          </a:xfrm>
          <a:prstGeom prst="rect">
            <a:avLst/>
          </a:prstGeom>
          <a:solidFill>
            <a:srgbClr val="FDFCFA"/>
          </a:solidFill>
          <a:ln/>
        </p:spPr>
      </p:sp>
      <p:sp>
        <p:nvSpPr>
          <p:cNvPr id="22" name="Text 20"/>
          <p:cNvSpPr txBox="1"/>
          <p:nvPr/>
        </p:nvSpPr>
        <p:spPr>
          <a:xfrm>
            <a:off x="901700" y="303778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Room</a:t>
            </a:r>
            <a:endParaRPr lang="en-US" sz="1200" dirty="0"/>
          </a:p>
        </p:txBody>
      </p:sp>
      <p:sp>
        <p:nvSpPr>
          <p:cNvPr id="23" name="Text 21"/>
          <p:cNvSpPr txBox="1"/>
          <p:nvPr/>
        </p:nvSpPr>
        <p:spPr>
          <a:xfrm>
            <a:off x="2697956" y="303778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All devices in one room</a:t>
            </a:r>
            <a:endParaRPr lang="en-US" sz="1200" dirty="0"/>
          </a:p>
        </p:txBody>
      </p:sp>
      <p:sp>
        <p:nvSpPr>
          <p:cNvPr id="24" name="Text 22"/>
          <p:cNvSpPr txBox="1"/>
          <p:nvPr/>
        </p:nvSpPr>
        <p:spPr>
          <a:xfrm>
            <a:off x="6184801" y="3037780"/>
            <a:ext cx="39073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Spatial reasoning, occupancy</a:t>
            </a:r>
            <a:endParaRPr lang="en-US" sz="1200" dirty="0"/>
          </a:p>
        </p:txBody>
      </p:sp>
      <p:sp>
        <p:nvSpPr>
          <p:cNvPr id="25" name="Text 23"/>
          <p:cNvSpPr txBox="1"/>
          <p:nvPr/>
        </p:nvSpPr>
        <p:spPr>
          <a:xfrm>
            <a:off x="10199985" y="3037780"/>
            <a:ext cx="114656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0.2</a:t>
            </a:r>
            <a:endParaRPr lang="en-US" sz="1200" dirty="0"/>
          </a:p>
        </p:txBody>
      </p:sp>
      <p:sp>
        <p:nvSpPr>
          <p:cNvPr id="26" name="Shape 24"/>
          <p:cNvSpPr/>
          <p:nvPr/>
        </p:nvSpPr>
        <p:spPr>
          <a:xfrm>
            <a:off x="812800" y="3279080"/>
            <a:ext cx="10566400" cy="304800"/>
          </a:xfrm>
          <a:prstGeom prst="rect">
            <a:avLst/>
          </a:prstGeom>
          <a:solidFill>
            <a:srgbClr val="F6F5F1"/>
          </a:solidFill>
          <a:ln/>
        </p:spPr>
      </p:sp>
      <p:sp>
        <p:nvSpPr>
          <p:cNvPr id="27" name="Text 25"/>
          <p:cNvSpPr txBox="1"/>
          <p:nvPr/>
        </p:nvSpPr>
        <p:spPr>
          <a:xfrm>
            <a:off x="901700" y="334258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Signal type</a:t>
            </a:r>
            <a:endParaRPr lang="en-US" sz="1200" dirty="0"/>
          </a:p>
        </p:txBody>
      </p:sp>
      <p:sp>
        <p:nvSpPr>
          <p:cNvPr id="28" name="Text 26"/>
          <p:cNvSpPr txBox="1"/>
          <p:nvPr/>
        </p:nvSpPr>
        <p:spPr>
          <a:xfrm>
            <a:off x="2697956" y="334258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All power readings, or all audio</a:t>
            </a:r>
            <a:endParaRPr lang="en-US" sz="1200" dirty="0"/>
          </a:p>
        </p:txBody>
      </p:sp>
      <p:sp>
        <p:nvSpPr>
          <p:cNvPr id="29" name="Text 27"/>
          <p:cNvSpPr txBox="1"/>
          <p:nvPr/>
        </p:nvSpPr>
        <p:spPr>
          <a:xfrm>
            <a:off x="6184801" y="3342580"/>
            <a:ext cx="39073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Coping when a signal is missing</a:t>
            </a:r>
            <a:endParaRPr lang="en-US" sz="1200" dirty="0"/>
          </a:p>
        </p:txBody>
      </p:sp>
      <p:sp>
        <p:nvSpPr>
          <p:cNvPr id="30" name="Text 28"/>
          <p:cNvSpPr txBox="1"/>
          <p:nvPr/>
        </p:nvSpPr>
        <p:spPr>
          <a:xfrm>
            <a:off x="10199985" y="3342580"/>
            <a:ext cx="114656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0.1</a:t>
            </a:r>
            <a:endParaRPr lang="en-US" sz="1200" dirty="0"/>
          </a:p>
        </p:txBody>
      </p:sp>
      <p:sp>
        <p:nvSpPr>
          <p:cNvPr id="31" name="Shape 29"/>
          <p:cNvSpPr/>
          <p:nvPr/>
        </p:nvSpPr>
        <p:spPr>
          <a:xfrm>
            <a:off x="812800" y="3583880"/>
            <a:ext cx="10566400" cy="304800"/>
          </a:xfrm>
          <a:prstGeom prst="rect">
            <a:avLst/>
          </a:prstGeom>
          <a:solidFill>
            <a:srgbClr val="FDFCFA"/>
          </a:solidFill>
          <a:ln/>
        </p:spPr>
      </p:sp>
      <p:sp>
        <p:nvSpPr>
          <p:cNvPr id="32" name="Text 30"/>
          <p:cNvSpPr txBox="1"/>
          <p:nvPr/>
        </p:nvSpPr>
        <p:spPr>
          <a:xfrm>
            <a:off x="901700" y="3647380"/>
            <a:ext cx="167734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Rare devices</a:t>
            </a:r>
            <a:endParaRPr lang="en-US" sz="1200" dirty="0"/>
          </a:p>
        </p:txBody>
      </p:sp>
      <p:sp>
        <p:nvSpPr>
          <p:cNvPr id="33" name="Text 31"/>
          <p:cNvSpPr txBox="1"/>
          <p:nvPr/>
        </p:nvSpPr>
        <p:spPr>
          <a:xfrm>
            <a:off x="2697956" y="3647380"/>
            <a:ext cx="33763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Events sampled ∝ 1 / frequency</a:t>
            </a:r>
            <a:endParaRPr lang="en-US" sz="1200" dirty="0"/>
          </a:p>
        </p:txBody>
      </p:sp>
      <p:sp>
        <p:nvSpPr>
          <p:cNvPr id="34" name="Text 32"/>
          <p:cNvSpPr txBox="1"/>
          <p:nvPr/>
        </p:nvSpPr>
        <p:spPr>
          <a:xfrm>
            <a:off x="6184801" y="3647380"/>
            <a:ext cx="39073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Rare but important events</a:t>
            </a:r>
            <a:endParaRPr lang="en-US" sz="1200" dirty="0"/>
          </a:p>
        </p:txBody>
      </p:sp>
      <p:sp>
        <p:nvSpPr>
          <p:cNvPr id="35" name="Text 33"/>
          <p:cNvSpPr txBox="1"/>
          <p:nvPr/>
        </p:nvSpPr>
        <p:spPr>
          <a:xfrm>
            <a:off x="10199985" y="3647380"/>
            <a:ext cx="114656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0.1</a:t>
            </a:r>
            <a:endParaRPr lang="en-US" sz="1200" dirty="0"/>
          </a:p>
        </p:txBody>
      </p:sp>
      <p:sp>
        <p:nvSpPr>
          <p:cNvPr id="36" name="Shape 34"/>
          <p:cNvSpPr/>
          <p:nvPr/>
        </p:nvSpPr>
        <p:spPr>
          <a:xfrm>
            <a:off x="819150" y="4072830"/>
            <a:ext cx="5194300" cy="1221581"/>
          </a:xfrm>
          <a:prstGeom prst="roundRect">
            <a:avLst>
              <a:gd name="adj" fmla="val 7797"/>
            </a:avLst>
          </a:prstGeom>
          <a:solidFill>
            <a:srgbClr val="FDFCFA"/>
          </a:solidFill>
          <a:ln w="12700">
            <a:solidFill>
              <a:srgbClr val="E3E0D7"/>
            </a:solidFill>
            <a:prstDash val="solid"/>
          </a:ln>
        </p:spPr>
      </p:sp>
      <p:sp>
        <p:nvSpPr>
          <p:cNvPr id="37" name="Text 35"/>
          <p:cNvSpPr txBox="1"/>
          <p:nvPr/>
        </p:nvSpPr>
        <p:spPr>
          <a:xfrm>
            <a:off x="1003300" y="4276030"/>
            <a:ext cx="4900930" cy="81141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How:</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the context encoder sees the masked input; a predictor fills in each hidden minute's vector; the target comes from a slowly updated copy that saw everything (99.6 % old + 0.4 % new per step). Loss: Smooth-L1 on normalised vectors, hidden minutes only.</a:t>
            </a:r>
            <a:endParaRPr lang="en-US" sz="1200" dirty="0"/>
          </a:p>
        </p:txBody>
      </p:sp>
      <p:sp>
        <p:nvSpPr>
          <p:cNvPr id="38" name="Shape 36"/>
          <p:cNvSpPr/>
          <p:nvPr/>
        </p:nvSpPr>
        <p:spPr>
          <a:xfrm>
            <a:off x="6178550" y="4072830"/>
            <a:ext cx="5194300" cy="1221581"/>
          </a:xfrm>
          <a:prstGeom prst="roundRect">
            <a:avLst>
              <a:gd name="adj" fmla="val 7797"/>
            </a:avLst>
          </a:prstGeom>
          <a:solidFill>
            <a:srgbClr val="FDFCFA"/>
          </a:solidFill>
          <a:ln w="12700">
            <a:solidFill>
              <a:srgbClr val="E3E0D7"/>
            </a:solidFill>
            <a:prstDash val="solid"/>
          </a:ln>
        </p:spPr>
      </p:sp>
      <p:sp>
        <p:nvSpPr>
          <p:cNvPr id="39" name="Text 37"/>
          <p:cNvSpPr txBox="1"/>
          <p:nvPr/>
        </p:nvSpPr>
        <p:spPr>
          <a:xfrm>
            <a:off x="6362700" y="4276030"/>
            <a:ext cx="4900930" cy="81141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 meaning, not events: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exact seconds and cupboard-vs-fridge order are noise.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Why big chunks: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small holes are filled by copying the ON/OFF partner, DomusFM's shortcut.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Weak spot:</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alone, no forecasting or surprise.</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GAME 3</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Game 3: match minutes with sentences (SigLIP), optional</a:t>
            </a:r>
            <a:endParaRPr lang="en-US" sz="2800" dirty="0"/>
          </a:p>
        </p:txBody>
      </p:sp>
      <p:sp>
        <p:nvSpPr>
          <p:cNvPr id="4" name="Text 2"/>
          <p:cNvSpPr txBox="1"/>
          <p:nvPr/>
        </p:nvSpPr>
        <p:spPr>
          <a:xfrm>
            <a:off x="812800" y="1476970"/>
            <a:ext cx="5181727" cy="81141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How:</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P(minute vector) and Q(sentence vector) go into a shared 128-number space. Every pair is scored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separately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as match or no-match, so one minute can match “cooking”, “someone in the kitchen” and “dinner prep”, and repeated routines are not pushed apart. MiniLM stays frozen.</a:t>
            </a:r>
            <a:endParaRPr lang="en-US" sz="1200" dirty="0"/>
          </a:p>
        </p:txBody>
      </p:sp>
      <p:sp>
        <p:nvSpPr>
          <p:cNvPr id="5" name="Text 3"/>
          <p:cNvSpPr txBox="1"/>
          <p:nvPr/>
        </p:nvSpPr>
        <p:spPr>
          <a:xfrm>
            <a:off x="812800" y="2431852"/>
            <a:ext cx="518172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Caption sources: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activity labels turned into sentences, MuRAL's free-text description on every event, simulator captions, checked LLM captions.</a:t>
            </a:r>
            <a:endParaRPr lang="en-US" sz="1200" dirty="0"/>
          </a:p>
        </p:txBody>
      </p:sp>
      <p:sp>
        <p:nvSpPr>
          <p:cNvPr id="6" name="Text 4"/>
          <p:cNvSpPr txBox="1"/>
          <p:nvPr/>
        </p:nvSpPr>
        <p:spPr>
          <a:xfrm>
            <a:off x="812800" y="2960092"/>
            <a:ext cx="5181727" cy="384770"/>
          </a:xfrm>
          <a:prstGeom prst="rect">
            <a:avLst/>
          </a:prstGeom>
          <a:noFill/>
          <a:ln/>
        </p:spPr>
        <p:txBody>
          <a:bodyPr wrap="square" lIns="0" tIns="0" rIns="0" bIns="0" rtlCol="0" anchor="t"/>
          <a:lstStyle/>
          <a:p>
            <a:pPr algn="l" indent="0" marL="0">
              <a:lnSpc>
                <a:spcPts val="1680"/>
              </a:lnSpc>
              <a:buNone/>
            </a:pPr>
            <a:r>
              <a:rPr lang="en-US" sz="1200" b="1" dirty="0">
                <a:solidFill>
                  <a:srgbClr val="A8470B"/>
                </a:solidFill>
                <a:latin typeface="Arial" pitchFamily="34" charset="0"/>
                <a:ea typeface="Arial" pitchFamily="34" charset="-122"/>
                <a:cs typeface="Arial" pitchFamily="34" charset="-120"/>
              </a:rPr>
              <a:t>Risk:</a:t>
            </a:r>
            <a:pPr algn="l" indent="0" marL="0">
              <a:lnSpc>
                <a:spcPts val="1680"/>
              </a:lnSpc>
              <a:buNone/>
            </a:pPr>
            <a:r>
              <a:rPr lang="en-US" sz="1200" dirty="0">
                <a:solidFill>
                  <a:srgbClr val="A8470B"/>
                </a:solidFill>
                <a:latin typeface="Arial" pitchFamily="34" charset="0"/>
                <a:ea typeface="Arial" pitchFamily="34" charset="-122"/>
                <a:cs typeface="Arial" pitchFamily="34" charset="-120"/>
              </a:rPr>
              <a:t> if every caption is one of ~35 label names, game 3 adds little beyond labels.</a:t>
            </a:r>
            <a:endParaRPr lang="en-US" sz="1200" dirty="0"/>
          </a:p>
        </p:txBody>
      </p:sp>
      <p:sp>
        <p:nvSpPr>
          <p:cNvPr id="7" name="Shape 5"/>
          <p:cNvSpPr/>
          <p:nvPr/>
        </p:nvSpPr>
        <p:spPr>
          <a:xfrm>
            <a:off x="6172200" y="1457920"/>
            <a:ext cx="5207000" cy="304800"/>
          </a:xfrm>
          <a:prstGeom prst="rect">
            <a:avLst/>
          </a:prstGeom>
          <a:solidFill>
            <a:srgbClr val="14213D"/>
          </a:solidFill>
          <a:ln/>
        </p:spPr>
      </p:sp>
      <p:sp>
        <p:nvSpPr>
          <p:cNvPr id="8" name="Text 6"/>
          <p:cNvSpPr txBox="1"/>
          <p:nvPr/>
        </p:nvSpPr>
        <p:spPr>
          <a:xfrm>
            <a:off x="6261100" y="1521420"/>
            <a:ext cx="353523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Use</a:t>
            </a:r>
            <a:endParaRPr lang="en-US" sz="1200" dirty="0"/>
          </a:p>
        </p:txBody>
      </p:sp>
      <p:sp>
        <p:nvSpPr>
          <p:cNvPr id="9" name="Text 7"/>
          <p:cNvSpPr txBox="1"/>
          <p:nvPr/>
        </p:nvSpPr>
        <p:spPr>
          <a:xfrm>
            <a:off x="9906000" y="1521420"/>
            <a:ext cx="144202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Game 3?</a:t>
            </a:r>
            <a:endParaRPr lang="en-US" sz="1200" dirty="0"/>
          </a:p>
        </p:txBody>
      </p:sp>
      <p:sp>
        <p:nvSpPr>
          <p:cNvPr id="10" name="Shape 8"/>
          <p:cNvSpPr/>
          <p:nvPr/>
        </p:nvSpPr>
        <p:spPr>
          <a:xfrm>
            <a:off x="6172200" y="1762720"/>
            <a:ext cx="5207000" cy="482600"/>
          </a:xfrm>
          <a:prstGeom prst="rect">
            <a:avLst/>
          </a:prstGeom>
          <a:solidFill>
            <a:srgbClr val="FDFCFA"/>
          </a:solidFill>
          <a:ln/>
        </p:spPr>
      </p:sp>
      <p:sp>
        <p:nvSpPr>
          <p:cNvPr id="11" name="Text 9"/>
          <p:cNvSpPr txBox="1"/>
          <p:nvPr/>
        </p:nvSpPr>
        <p:spPr>
          <a:xfrm>
            <a:off x="6261100" y="1915120"/>
            <a:ext cx="353523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Activity recognition after fine-tuning with labels</a:t>
            </a:r>
            <a:endParaRPr lang="en-US" sz="1200" dirty="0"/>
          </a:p>
        </p:txBody>
      </p:sp>
      <p:sp>
        <p:nvSpPr>
          <p:cNvPr id="12" name="Text 10"/>
          <p:cNvSpPr txBox="1"/>
          <p:nvPr/>
        </p:nvSpPr>
        <p:spPr>
          <a:xfrm>
            <a:off x="9906000" y="1826220"/>
            <a:ext cx="1442022"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Works without game 3</a:t>
            </a:r>
            <a:endParaRPr lang="en-US" sz="1200" dirty="0"/>
          </a:p>
        </p:txBody>
      </p:sp>
      <p:sp>
        <p:nvSpPr>
          <p:cNvPr id="13" name="Shape 11"/>
          <p:cNvSpPr/>
          <p:nvPr/>
        </p:nvSpPr>
        <p:spPr>
          <a:xfrm>
            <a:off x="6172200" y="2245320"/>
            <a:ext cx="5207000" cy="482600"/>
          </a:xfrm>
          <a:prstGeom prst="rect">
            <a:avLst/>
          </a:prstGeom>
          <a:solidFill>
            <a:srgbClr val="F6F5F1"/>
          </a:solidFill>
          <a:ln/>
        </p:spPr>
      </p:sp>
      <p:sp>
        <p:nvSpPr>
          <p:cNvPr id="14" name="Text 12"/>
          <p:cNvSpPr txBox="1"/>
          <p:nvPr/>
        </p:nvSpPr>
        <p:spPr>
          <a:xfrm>
            <a:off x="6261100" y="2397720"/>
            <a:ext cx="353523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Forecasting, anomalies, counts, missing sensors</a:t>
            </a:r>
            <a:endParaRPr lang="en-US" sz="1200" dirty="0"/>
          </a:p>
        </p:txBody>
      </p:sp>
      <p:sp>
        <p:nvSpPr>
          <p:cNvPr id="15" name="Text 13"/>
          <p:cNvSpPr txBox="1"/>
          <p:nvPr/>
        </p:nvSpPr>
        <p:spPr>
          <a:xfrm>
            <a:off x="9906000" y="2308820"/>
            <a:ext cx="1442022"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Works without game 3</a:t>
            </a:r>
            <a:endParaRPr lang="en-US" sz="1200" dirty="0"/>
          </a:p>
        </p:txBody>
      </p:sp>
      <p:sp>
        <p:nvSpPr>
          <p:cNvPr id="16" name="Shape 14"/>
          <p:cNvSpPr/>
          <p:nvPr/>
        </p:nvSpPr>
        <p:spPr>
          <a:xfrm>
            <a:off x="6172200" y="2727920"/>
            <a:ext cx="5207000" cy="482600"/>
          </a:xfrm>
          <a:prstGeom prst="rect">
            <a:avLst/>
          </a:prstGeom>
          <a:solidFill>
            <a:srgbClr val="E6EEF8"/>
          </a:solidFill>
          <a:ln/>
        </p:spPr>
      </p:sp>
      <p:sp>
        <p:nvSpPr>
          <p:cNvPr id="17" name="Text 15"/>
          <p:cNvSpPr txBox="1"/>
          <p:nvPr/>
        </p:nvSpPr>
        <p:spPr>
          <a:xfrm>
            <a:off x="6261100" y="2791420"/>
            <a:ext cx="3535236"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“Did anyone vacuum today?” with no labelled examples</a:t>
            </a:r>
            <a:endParaRPr lang="en-US" sz="1200" dirty="0"/>
          </a:p>
        </p:txBody>
      </p:sp>
      <p:sp>
        <p:nvSpPr>
          <p:cNvPr id="18" name="Text 16"/>
          <p:cNvSpPr txBox="1"/>
          <p:nvPr/>
        </p:nvSpPr>
        <p:spPr>
          <a:xfrm>
            <a:off x="9906000" y="2880320"/>
            <a:ext cx="14420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Needs game 3</a:t>
            </a:r>
            <a:endParaRPr lang="en-US" sz="1200" dirty="0"/>
          </a:p>
        </p:txBody>
      </p:sp>
      <p:sp>
        <p:nvSpPr>
          <p:cNvPr id="19" name="Shape 17"/>
          <p:cNvSpPr/>
          <p:nvPr/>
        </p:nvSpPr>
        <p:spPr>
          <a:xfrm>
            <a:off x="6172200" y="3210520"/>
            <a:ext cx="5207000" cy="304800"/>
          </a:xfrm>
          <a:prstGeom prst="rect">
            <a:avLst/>
          </a:prstGeom>
          <a:solidFill>
            <a:srgbClr val="E6EEF8"/>
          </a:solidFill>
          <a:ln/>
        </p:spPr>
      </p:sp>
      <p:sp>
        <p:nvSpPr>
          <p:cNvPr id="20" name="Text 18"/>
          <p:cNvSpPr txBox="1"/>
          <p:nvPr/>
        </p:nvSpPr>
        <p:spPr>
          <a:xfrm>
            <a:off x="6261100" y="3274020"/>
            <a:ext cx="353523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Search history in plain words; tagger by sentence</a:t>
            </a:r>
            <a:endParaRPr lang="en-US" sz="1200" dirty="0"/>
          </a:p>
        </p:txBody>
      </p:sp>
      <p:sp>
        <p:nvSpPr>
          <p:cNvPr id="21" name="Text 19"/>
          <p:cNvSpPr txBox="1"/>
          <p:nvPr/>
        </p:nvSpPr>
        <p:spPr>
          <a:xfrm>
            <a:off x="9906000" y="3274020"/>
            <a:ext cx="14420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Needs game 3</a:t>
            </a:r>
            <a:endParaRPr lang="en-US" sz="1200" dirty="0"/>
          </a:p>
        </p:txBody>
      </p:sp>
      <p:sp>
        <p:nvSpPr>
          <p:cNvPr id="22" name="Shape 20"/>
          <p:cNvSpPr/>
          <p:nvPr/>
        </p:nvSpPr>
        <p:spPr>
          <a:xfrm>
            <a:off x="6178550" y="3648670"/>
            <a:ext cx="5194300" cy="794941"/>
          </a:xfrm>
          <a:prstGeom prst="roundRect">
            <a:avLst>
              <a:gd name="adj" fmla="val 11982"/>
            </a:avLst>
          </a:prstGeom>
          <a:solidFill>
            <a:srgbClr val="E6EEF8"/>
          </a:solidFill>
          <a:ln w="12700">
            <a:solidFill>
              <a:srgbClr val="B9CDE8"/>
            </a:solidFill>
            <a:prstDash val="solid"/>
          </a:ln>
        </p:spPr>
      </p:sp>
      <p:sp>
        <p:nvSpPr>
          <p:cNvPr id="23" name="Text 21"/>
          <p:cNvSpPr txBox="1"/>
          <p:nvPr/>
        </p:nvSpPr>
        <p:spPr>
          <a:xfrm>
            <a:off x="6362700" y="3851870"/>
            <a:ext cx="4900930"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Decision:</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build and prove E (games 1 + 2) first. F = E + game 3 is tested on finding held-out concepts from text, and kept only if it helps.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COMPARISON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same window, three games</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2803624" y="1521420"/>
            <a:ext cx="284540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DomusFM masking</a:t>
            </a:r>
            <a:endParaRPr lang="en-US" sz="1200" dirty="0"/>
          </a:p>
        </p:txBody>
      </p:sp>
      <p:sp>
        <p:nvSpPr>
          <p:cNvPr id="6" name="Text 4"/>
          <p:cNvSpPr txBox="1"/>
          <p:nvPr/>
        </p:nvSpPr>
        <p:spPr>
          <a:xfrm>
            <a:off x="5762129" y="1521420"/>
            <a:ext cx="26330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HomeFM game 1</a:t>
            </a:r>
            <a:endParaRPr lang="en-US" sz="1200" dirty="0"/>
          </a:p>
        </p:txBody>
      </p:sp>
      <p:sp>
        <p:nvSpPr>
          <p:cNvPr id="7" name="Text 5"/>
          <p:cNvSpPr txBox="1"/>
          <p:nvPr/>
        </p:nvSpPr>
        <p:spPr>
          <a:xfrm>
            <a:off x="8509298" y="1521420"/>
            <a:ext cx="2845707"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HomeFM game 2</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What is hidden</a:t>
            </a:r>
            <a:endParaRPr lang="en-US" sz="1200" dirty="0"/>
          </a:p>
        </p:txBody>
      </p:sp>
      <p:sp>
        <p:nvSpPr>
          <p:cNvPr id="10" name="Text 8"/>
          <p:cNvSpPr txBox="1"/>
          <p:nvPr/>
        </p:nvSpPr>
        <p:spPr>
          <a:xfrm>
            <a:off x="2803624" y="1826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 attribute, or a few events (~15 %)</a:t>
            </a:r>
            <a:endParaRPr lang="en-US" sz="1200" dirty="0"/>
          </a:p>
        </p:txBody>
      </p:sp>
      <p:sp>
        <p:nvSpPr>
          <p:cNvPr id="11" name="Text 9"/>
          <p:cNvSpPr txBox="1"/>
          <p:nvPr/>
        </p:nvSpPr>
        <p:spPr>
          <a:xfrm>
            <a:off x="5762129" y="1826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The future: the next event</a:t>
            </a:r>
            <a:endParaRPr lang="en-US" sz="1200" dirty="0"/>
          </a:p>
        </p:txBody>
      </p:sp>
      <p:sp>
        <p:nvSpPr>
          <p:cNvPr id="12" name="Text 10"/>
          <p:cNvSpPr txBox="1"/>
          <p:nvPr/>
        </p:nvSpPr>
        <p:spPr>
          <a:xfrm>
            <a:off x="8509298" y="1826220"/>
            <a:ext cx="284570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Minutes, a device, a room, a signal type</a:t>
            </a:r>
            <a:endParaRPr lang="en-US" sz="1200" dirty="0"/>
          </a:p>
        </p:txBody>
      </p:sp>
      <p:sp>
        <p:nvSpPr>
          <p:cNvPr id="13" name="Shape 11"/>
          <p:cNvSpPr/>
          <p:nvPr/>
        </p:nvSpPr>
        <p:spPr>
          <a:xfrm>
            <a:off x="812800" y="2067520"/>
            <a:ext cx="10566400" cy="304800"/>
          </a:xfrm>
          <a:prstGeom prst="rect">
            <a:avLst/>
          </a:prstGeom>
          <a:solidFill>
            <a:srgbClr val="F6F5F1"/>
          </a:solidFill>
          <a:ln/>
        </p:spPr>
      </p:sp>
      <p:sp>
        <p:nvSpPr>
          <p:cNvPr id="14" name="Text 12"/>
          <p:cNvSpPr txBox="1"/>
          <p:nvPr/>
        </p:nvSpPr>
        <p:spPr>
          <a:xfrm>
            <a:off x="901700" y="2131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Must it recover it?</a:t>
            </a:r>
            <a:endParaRPr lang="en-US" sz="1200" dirty="0"/>
          </a:p>
        </p:txBody>
      </p:sp>
      <p:sp>
        <p:nvSpPr>
          <p:cNvPr id="15" name="Text 13"/>
          <p:cNvSpPr txBox="1"/>
          <p:nvPr/>
        </p:nvSpPr>
        <p:spPr>
          <a:xfrm>
            <a:off x="2803624" y="2131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only recognise its own window</a:t>
            </a:r>
            <a:endParaRPr lang="en-US" sz="1200" dirty="0"/>
          </a:p>
        </p:txBody>
      </p:sp>
      <p:sp>
        <p:nvSpPr>
          <p:cNvPr id="16" name="Text 14"/>
          <p:cNvSpPr txBox="1"/>
          <p:nvPr/>
        </p:nvSpPr>
        <p:spPr>
          <a:xfrm>
            <a:off x="5762129" y="2131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 device, value and time</a:t>
            </a:r>
            <a:endParaRPr lang="en-US" sz="1200" dirty="0"/>
          </a:p>
        </p:txBody>
      </p:sp>
      <p:sp>
        <p:nvSpPr>
          <p:cNvPr id="17" name="Text 15"/>
          <p:cNvSpPr txBox="1"/>
          <p:nvPr/>
        </p:nvSpPr>
        <p:spPr>
          <a:xfrm>
            <a:off x="8509298" y="2131020"/>
            <a:ext cx="284570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 each hidden minute's meaning</a:t>
            </a:r>
            <a:endParaRPr lang="en-US" sz="1200" dirty="0"/>
          </a:p>
        </p:txBody>
      </p:sp>
      <p:sp>
        <p:nvSpPr>
          <p:cNvPr id="18" name="Shape 16"/>
          <p:cNvSpPr/>
          <p:nvPr/>
        </p:nvSpPr>
        <p:spPr>
          <a:xfrm>
            <a:off x="812800" y="2372320"/>
            <a:ext cx="10566400" cy="304800"/>
          </a:xfrm>
          <a:prstGeom prst="rect">
            <a:avLst/>
          </a:prstGeom>
          <a:solidFill>
            <a:srgbClr val="FDFCFA"/>
          </a:solidFill>
          <a:ln/>
        </p:spPr>
      </p:sp>
      <p:sp>
        <p:nvSpPr>
          <p:cNvPr id="19" name="Text 17"/>
          <p:cNvSpPr txBox="1"/>
          <p:nvPr/>
        </p:nvSpPr>
        <p:spPr>
          <a:xfrm>
            <a:off x="901700" y="24358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Guesses per window</a:t>
            </a:r>
            <a:endParaRPr lang="en-US" sz="1200" dirty="0"/>
          </a:p>
        </p:txBody>
      </p:sp>
      <p:sp>
        <p:nvSpPr>
          <p:cNvPr id="20" name="Text 18"/>
          <p:cNvSpPr txBox="1"/>
          <p:nvPr/>
        </p:nvSpPr>
        <p:spPr>
          <a:xfrm>
            <a:off x="2803624" y="24358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a:t>
            </a:r>
            <a:endParaRPr lang="en-US" sz="1200" dirty="0"/>
          </a:p>
        </p:txBody>
      </p:sp>
      <p:sp>
        <p:nvSpPr>
          <p:cNvPr id="21" name="Text 19"/>
          <p:cNvSpPr txBox="1"/>
          <p:nvPr/>
        </p:nvSpPr>
        <p:spPr>
          <a:xfrm>
            <a:off x="5762129" y="24358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per event (dozens)</a:t>
            </a:r>
            <a:endParaRPr lang="en-US" sz="1200" dirty="0"/>
          </a:p>
        </p:txBody>
      </p:sp>
      <p:sp>
        <p:nvSpPr>
          <p:cNvPr id="22" name="Text 20"/>
          <p:cNvSpPr txBox="1"/>
          <p:nvPr/>
        </p:nvSpPr>
        <p:spPr>
          <a:xfrm>
            <a:off x="8509298" y="2435820"/>
            <a:ext cx="284570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per hidden minute</a:t>
            </a:r>
            <a:endParaRPr lang="en-US" sz="1200" dirty="0"/>
          </a:p>
        </p:txBody>
      </p:sp>
      <p:sp>
        <p:nvSpPr>
          <p:cNvPr id="23" name="Shape 21"/>
          <p:cNvSpPr/>
          <p:nvPr/>
        </p:nvSpPr>
        <p:spPr>
          <a:xfrm>
            <a:off x="812800" y="2677120"/>
            <a:ext cx="10566400" cy="304800"/>
          </a:xfrm>
          <a:prstGeom prst="rect">
            <a:avLst/>
          </a:prstGeom>
          <a:solidFill>
            <a:srgbClr val="F6F5F1"/>
          </a:solidFill>
          <a:ln/>
        </p:spPr>
      </p:sp>
      <p:sp>
        <p:nvSpPr>
          <p:cNvPr id="24" name="Text 22"/>
          <p:cNvSpPr txBox="1"/>
          <p:nvPr/>
        </p:nvSpPr>
        <p:spPr>
          <a:xfrm>
            <a:off x="901700" y="27406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Cheap shortcuts</a:t>
            </a:r>
            <a:endParaRPr lang="en-US" sz="1200" dirty="0"/>
          </a:p>
        </p:txBody>
      </p:sp>
      <p:sp>
        <p:nvSpPr>
          <p:cNvPr id="25" name="Text 23"/>
          <p:cNvSpPr txBox="1"/>
          <p:nvPr/>
        </p:nvSpPr>
        <p:spPr>
          <a:xfrm>
            <a:off x="2803624" y="27406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Timestamps, untouched events, pairs</a:t>
            </a:r>
            <a:endParaRPr lang="en-US" sz="1200" dirty="0"/>
          </a:p>
        </p:txBody>
      </p:sp>
      <p:sp>
        <p:nvSpPr>
          <p:cNvPr id="26" name="Text 24"/>
          <p:cNvSpPr txBox="1"/>
          <p:nvPr/>
        </p:nvSpPr>
        <p:spPr>
          <a:xfrm>
            <a:off x="5762129" y="27406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None: the future is unseen</a:t>
            </a:r>
            <a:endParaRPr lang="en-US" sz="1200" dirty="0"/>
          </a:p>
        </p:txBody>
      </p:sp>
      <p:sp>
        <p:nvSpPr>
          <p:cNvPr id="27" name="Text 25"/>
          <p:cNvSpPr txBox="1"/>
          <p:nvPr/>
        </p:nvSpPr>
        <p:spPr>
          <a:xfrm>
            <a:off x="8509298" y="2740620"/>
            <a:ext cx="284570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Few: neighbours hidden too</a:t>
            </a:r>
            <a:endParaRPr lang="en-US" sz="1200" dirty="0"/>
          </a:p>
        </p:txBody>
      </p:sp>
      <p:sp>
        <p:nvSpPr>
          <p:cNvPr id="28" name="Shape 26"/>
          <p:cNvSpPr/>
          <p:nvPr/>
        </p:nvSpPr>
        <p:spPr>
          <a:xfrm>
            <a:off x="812800" y="2981920"/>
            <a:ext cx="10566400" cy="304800"/>
          </a:xfrm>
          <a:prstGeom prst="rect">
            <a:avLst/>
          </a:prstGeom>
          <a:solidFill>
            <a:srgbClr val="FDFCFA"/>
          </a:solidFill>
          <a:ln/>
        </p:spPr>
      </p:sp>
      <p:sp>
        <p:nvSpPr>
          <p:cNvPr id="29" name="Text 27"/>
          <p:cNvSpPr txBox="1"/>
          <p:nvPr/>
        </p:nvSpPr>
        <p:spPr>
          <a:xfrm>
            <a:off x="901700" y="30454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Similar routines</a:t>
            </a:r>
            <a:endParaRPr lang="en-US" sz="1200" dirty="0"/>
          </a:p>
        </p:txBody>
      </p:sp>
      <p:sp>
        <p:nvSpPr>
          <p:cNvPr id="30" name="Text 28"/>
          <p:cNvSpPr txBox="1"/>
          <p:nvPr/>
        </p:nvSpPr>
        <p:spPr>
          <a:xfrm>
            <a:off x="2803624" y="30454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Pushed apart</a:t>
            </a:r>
            <a:endParaRPr lang="en-US" sz="1200" dirty="0"/>
          </a:p>
        </p:txBody>
      </p:sp>
      <p:sp>
        <p:nvSpPr>
          <p:cNvPr id="31" name="Text 29"/>
          <p:cNvSpPr txBox="1"/>
          <p:nvPr/>
        </p:nvSpPr>
        <p:spPr>
          <a:xfrm>
            <a:off x="5762129" y="30454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negatives</a:t>
            </a:r>
            <a:endParaRPr lang="en-US" sz="1200" dirty="0"/>
          </a:p>
        </p:txBody>
      </p:sp>
      <p:sp>
        <p:nvSpPr>
          <p:cNvPr id="32" name="Text 30"/>
          <p:cNvSpPr txBox="1"/>
          <p:nvPr/>
        </p:nvSpPr>
        <p:spPr>
          <a:xfrm>
            <a:off x="8509298" y="3045420"/>
            <a:ext cx="284570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negatives</a:t>
            </a:r>
            <a:endParaRPr lang="en-US" sz="1200" dirty="0"/>
          </a:p>
        </p:txBody>
      </p:sp>
      <p:sp>
        <p:nvSpPr>
          <p:cNvPr id="33" name="Shape 31"/>
          <p:cNvSpPr/>
          <p:nvPr/>
        </p:nvSpPr>
        <p:spPr>
          <a:xfrm>
            <a:off x="812800" y="3286720"/>
            <a:ext cx="10566400" cy="304800"/>
          </a:xfrm>
          <a:prstGeom prst="rect">
            <a:avLst/>
          </a:prstGeom>
          <a:solidFill>
            <a:srgbClr val="F6F5F1"/>
          </a:solidFill>
          <a:ln/>
        </p:spPr>
      </p:sp>
      <p:sp>
        <p:nvSpPr>
          <p:cNvPr id="34" name="Text 32"/>
          <p:cNvSpPr txBox="1"/>
          <p:nvPr/>
        </p:nvSpPr>
        <p:spPr>
          <a:xfrm>
            <a:off x="901700" y="3350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Loss in practice</a:t>
            </a:r>
            <a:endParaRPr lang="en-US" sz="1200" dirty="0"/>
          </a:p>
        </p:txBody>
      </p:sp>
      <p:sp>
        <p:nvSpPr>
          <p:cNvPr id="35" name="Text 33"/>
          <p:cNvSpPr txBox="1"/>
          <p:nvPr/>
        </p:nvSpPr>
        <p:spPr>
          <a:xfrm>
            <a:off x="2803624" y="3350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~0.001 within 1,000 of 40,000 steps</a:t>
            </a:r>
            <a:endParaRPr lang="en-US" sz="1200" dirty="0"/>
          </a:p>
        </p:txBody>
      </p:sp>
      <p:sp>
        <p:nvSpPr>
          <p:cNvPr id="36" name="Text 34"/>
          <p:cNvSpPr txBox="1"/>
          <p:nvPr/>
        </p:nvSpPr>
        <p:spPr>
          <a:xfrm>
            <a:off x="5762129" y="3350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Expected to fall gradually</a:t>
            </a:r>
            <a:endParaRPr lang="en-US" sz="1200" dirty="0"/>
          </a:p>
        </p:txBody>
      </p:sp>
      <p:sp>
        <p:nvSpPr>
          <p:cNvPr id="37" name="Text 35"/>
          <p:cNvSpPr txBox="1"/>
          <p:nvPr/>
        </p:nvSpPr>
        <p:spPr>
          <a:xfrm>
            <a:off x="8509298" y="3350220"/>
            <a:ext cx="284570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Expected to fall gradually</a:t>
            </a:r>
            <a:endParaRPr lang="en-US" sz="1200" dirty="0"/>
          </a:p>
        </p:txBody>
      </p:sp>
      <p:sp>
        <p:nvSpPr>
          <p:cNvPr id="38" name="Shape 36"/>
          <p:cNvSpPr/>
          <p:nvPr/>
        </p:nvSpPr>
        <p:spPr>
          <a:xfrm>
            <a:off x="812800" y="3591520"/>
            <a:ext cx="10566400" cy="304800"/>
          </a:xfrm>
          <a:prstGeom prst="rect">
            <a:avLst/>
          </a:prstGeom>
          <a:solidFill>
            <a:srgbClr val="FDFCFA"/>
          </a:solidFill>
          <a:ln/>
        </p:spPr>
      </p:sp>
      <p:sp>
        <p:nvSpPr>
          <p:cNvPr id="39" name="Text 37"/>
          <p:cNvSpPr txBox="1"/>
          <p:nvPr/>
        </p:nvSpPr>
        <p:spPr>
          <a:xfrm>
            <a:off x="901700" y="36550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What vectors learn</a:t>
            </a:r>
            <a:endParaRPr lang="en-US" sz="1200" dirty="0"/>
          </a:p>
        </p:txBody>
      </p:sp>
      <p:sp>
        <p:nvSpPr>
          <p:cNvPr id="40" name="Text 38"/>
          <p:cNvSpPr txBox="1"/>
          <p:nvPr/>
        </p:nvSpPr>
        <p:spPr>
          <a:xfrm>
            <a:off x="2803624" y="3655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Stay stable when bits are removed</a:t>
            </a:r>
            <a:endParaRPr lang="en-US" sz="1200" dirty="0"/>
          </a:p>
        </p:txBody>
      </p:sp>
      <p:sp>
        <p:nvSpPr>
          <p:cNvPr id="41" name="Text 39"/>
          <p:cNvSpPr txBox="1"/>
          <p:nvPr/>
        </p:nvSpPr>
        <p:spPr>
          <a:xfrm>
            <a:off x="5762129" y="3655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Routines, order, timing, values</a:t>
            </a:r>
            <a:endParaRPr lang="en-US" sz="1200" dirty="0"/>
          </a:p>
        </p:txBody>
      </p:sp>
      <p:sp>
        <p:nvSpPr>
          <p:cNvPr id="42" name="Text 40"/>
          <p:cNvSpPr txBox="1"/>
          <p:nvPr/>
        </p:nvSpPr>
        <p:spPr>
          <a:xfrm>
            <a:off x="8509298" y="3655020"/>
            <a:ext cx="2845707"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How the parts of a home fit</a:t>
            </a:r>
            <a:endParaRPr lang="en-US" sz="1200" dirty="0"/>
          </a:p>
        </p:txBody>
      </p:sp>
      <p:sp>
        <p:nvSpPr>
          <p:cNvPr id="43" name="Text 41"/>
          <p:cNvSpPr txBox="1"/>
          <p:nvPr/>
        </p:nvSpPr>
        <p:spPr>
          <a:xfrm>
            <a:off x="812800" y="4093170"/>
            <a:ext cx="10670032"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Window: 18:28 kitchen motion · 18:29 fridge OPEN · 18:30 stove 1,850 W · 18:31 motion · … · 18:37 stove OFF · 18:38 dining light ON.</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THE CHOICE</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Why games 1 and 2 together (variant E)</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3860205" y="1521420"/>
            <a:ext cx="220833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Game 1</a:t>
            </a:r>
            <a:endParaRPr lang="en-US" sz="1200" dirty="0"/>
          </a:p>
        </p:txBody>
      </p:sp>
      <p:sp>
        <p:nvSpPr>
          <p:cNvPr id="6" name="Text 4"/>
          <p:cNvSpPr txBox="1"/>
          <p:nvPr/>
        </p:nvSpPr>
        <p:spPr>
          <a:xfrm>
            <a:off x="6184801" y="1521420"/>
            <a:ext cx="26330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Game 2</a:t>
            </a:r>
            <a:endParaRPr lang="en-US" sz="1200" dirty="0"/>
          </a:p>
        </p:txBody>
      </p:sp>
      <p:sp>
        <p:nvSpPr>
          <p:cNvPr id="7" name="Text 5"/>
          <p:cNvSpPr txBox="1"/>
          <p:nvPr/>
        </p:nvSpPr>
        <p:spPr>
          <a:xfrm>
            <a:off x="8931970" y="1521420"/>
            <a:ext cx="242092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Together</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Reading direction</a:t>
            </a:r>
            <a:endParaRPr lang="en-US" sz="1200" dirty="0"/>
          </a:p>
        </p:txBody>
      </p:sp>
      <p:sp>
        <p:nvSpPr>
          <p:cNvPr id="10" name="Text 8"/>
          <p:cNvSpPr txBox="1"/>
          <p:nvPr/>
        </p:nvSpPr>
        <p:spPr>
          <a:xfrm>
            <a:off x="3860205" y="1826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Past only (live)</a:t>
            </a:r>
            <a:endParaRPr lang="en-US" sz="1200" dirty="0"/>
          </a:p>
        </p:txBody>
      </p:sp>
      <p:sp>
        <p:nvSpPr>
          <p:cNvPr id="11" name="Text 9"/>
          <p:cNvSpPr txBox="1"/>
          <p:nvPr/>
        </p:nvSpPr>
        <p:spPr>
          <a:xfrm>
            <a:off x="6184801" y="1826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Both sides (look-back)</a:t>
            </a:r>
            <a:endParaRPr lang="en-US" sz="1200" dirty="0"/>
          </a:p>
        </p:txBody>
      </p:sp>
      <p:sp>
        <p:nvSpPr>
          <p:cNvPr id="12" name="Text 10"/>
          <p:cNvSpPr txBox="1"/>
          <p:nvPr/>
        </p:nvSpPr>
        <p:spPr>
          <a:xfrm>
            <a:off x="8931970" y="1826220"/>
            <a:ext cx="24209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Both modes the system uses</a:t>
            </a:r>
            <a:endParaRPr lang="en-US" sz="1200" dirty="0"/>
          </a:p>
        </p:txBody>
      </p:sp>
      <p:sp>
        <p:nvSpPr>
          <p:cNvPr id="13" name="Shape 11"/>
          <p:cNvSpPr/>
          <p:nvPr/>
        </p:nvSpPr>
        <p:spPr>
          <a:xfrm>
            <a:off x="812800" y="2067520"/>
            <a:ext cx="10566400" cy="304800"/>
          </a:xfrm>
          <a:prstGeom prst="rect">
            <a:avLst/>
          </a:prstGeom>
          <a:solidFill>
            <a:srgbClr val="F6F5F1"/>
          </a:solidFill>
          <a:ln/>
        </p:spPr>
      </p:sp>
      <p:sp>
        <p:nvSpPr>
          <p:cNvPr id="14" name="Text 12"/>
          <p:cNvSpPr txBox="1"/>
          <p:nvPr/>
        </p:nvSpPr>
        <p:spPr>
          <a:xfrm>
            <a:off x="901700" y="2131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Time scale</a:t>
            </a:r>
            <a:endParaRPr lang="en-US" sz="1200" dirty="0"/>
          </a:p>
        </p:txBody>
      </p:sp>
      <p:sp>
        <p:nvSpPr>
          <p:cNvPr id="15" name="Text 13"/>
          <p:cNvSpPr txBox="1"/>
          <p:nvPr/>
        </p:nvSpPr>
        <p:spPr>
          <a:xfrm>
            <a:off x="3860205" y="2131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Seconds to minutes</a:t>
            </a:r>
            <a:endParaRPr lang="en-US" sz="1200" dirty="0"/>
          </a:p>
        </p:txBody>
      </p:sp>
      <p:sp>
        <p:nvSpPr>
          <p:cNvPr id="16" name="Text 14"/>
          <p:cNvSpPr txBox="1"/>
          <p:nvPr/>
        </p:nvSpPr>
        <p:spPr>
          <a:xfrm>
            <a:off x="6184801" y="2131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5–10 min, rooms, signal types</a:t>
            </a:r>
            <a:endParaRPr lang="en-US" sz="1200" dirty="0"/>
          </a:p>
        </p:txBody>
      </p:sp>
      <p:sp>
        <p:nvSpPr>
          <p:cNvPr id="17" name="Text 15"/>
          <p:cNvSpPr txBox="1"/>
          <p:nvPr/>
        </p:nvSpPr>
        <p:spPr>
          <a:xfrm>
            <a:off x="8931970" y="2131020"/>
            <a:ext cx="24209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Short and long</a:t>
            </a:r>
            <a:endParaRPr lang="en-US" sz="1200" dirty="0"/>
          </a:p>
        </p:txBody>
      </p:sp>
      <p:sp>
        <p:nvSpPr>
          <p:cNvPr id="18" name="Shape 16"/>
          <p:cNvSpPr/>
          <p:nvPr/>
        </p:nvSpPr>
        <p:spPr>
          <a:xfrm>
            <a:off x="812800" y="2372320"/>
            <a:ext cx="10566400" cy="304800"/>
          </a:xfrm>
          <a:prstGeom prst="rect">
            <a:avLst/>
          </a:prstGeom>
          <a:solidFill>
            <a:srgbClr val="FDFCFA"/>
          </a:solidFill>
          <a:ln/>
        </p:spPr>
      </p:sp>
      <p:sp>
        <p:nvSpPr>
          <p:cNvPr id="19" name="Text 17"/>
          <p:cNvSpPr txBox="1"/>
          <p:nvPr/>
        </p:nvSpPr>
        <p:spPr>
          <a:xfrm>
            <a:off x="901700" y="24358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Level</a:t>
            </a:r>
            <a:endParaRPr lang="en-US" sz="1200" dirty="0"/>
          </a:p>
        </p:txBody>
      </p:sp>
      <p:sp>
        <p:nvSpPr>
          <p:cNvPr id="20" name="Text 18"/>
          <p:cNvSpPr txBox="1"/>
          <p:nvPr/>
        </p:nvSpPr>
        <p:spPr>
          <a:xfrm>
            <a:off x="3860205" y="24358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Single events</a:t>
            </a:r>
            <a:endParaRPr lang="en-US" sz="1200" dirty="0"/>
          </a:p>
        </p:txBody>
      </p:sp>
      <p:sp>
        <p:nvSpPr>
          <p:cNvPr id="21" name="Text 19"/>
          <p:cNvSpPr txBox="1"/>
          <p:nvPr/>
        </p:nvSpPr>
        <p:spPr>
          <a:xfrm>
            <a:off x="6184801" y="24358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Whole minutes</a:t>
            </a:r>
            <a:endParaRPr lang="en-US" sz="1200" dirty="0"/>
          </a:p>
        </p:txBody>
      </p:sp>
      <p:sp>
        <p:nvSpPr>
          <p:cNvPr id="22" name="Text 20"/>
          <p:cNvSpPr txBox="1"/>
          <p:nvPr/>
        </p:nvSpPr>
        <p:spPr>
          <a:xfrm>
            <a:off x="8931970" y="2435820"/>
            <a:ext cx="24209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Both</a:t>
            </a:r>
            <a:endParaRPr lang="en-US" sz="1200" dirty="0"/>
          </a:p>
        </p:txBody>
      </p:sp>
      <p:sp>
        <p:nvSpPr>
          <p:cNvPr id="23" name="Shape 21"/>
          <p:cNvSpPr/>
          <p:nvPr/>
        </p:nvSpPr>
        <p:spPr>
          <a:xfrm>
            <a:off x="812800" y="2677120"/>
            <a:ext cx="10566400" cy="304800"/>
          </a:xfrm>
          <a:prstGeom prst="rect">
            <a:avLst/>
          </a:prstGeom>
          <a:solidFill>
            <a:srgbClr val="F6F5F1"/>
          </a:solidFill>
          <a:ln/>
        </p:spPr>
      </p:sp>
      <p:sp>
        <p:nvSpPr>
          <p:cNvPr id="24" name="Text 22"/>
          <p:cNvSpPr txBox="1"/>
          <p:nvPr/>
        </p:nvSpPr>
        <p:spPr>
          <a:xfrm>
            <a:off x="901700" y="27406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Forecasting and surprise</a:t>
            </a:r>
            <a:endParaRPr lang="en-US" sz="1200" dirty="0"/>
          </a:p>
        </p:txBody>
      </p:sp>
      <p:sp>
        <p:nvSpPr>
          <p:cNvPr id="25" name="Text 23"/>
          <p:cNvSpPr txBox="1"/>
          <p:nvPr/>
        </p:nvSpPr>
        <p:spPr>
          <a:xfrm>
            <a:off x="3860205" y="27406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26" name="Text 24"/>
          <p:cNvSpPr txBox="1"/>
          <p:nvPr/>
        </p:nvSpPr>
        <p:spPr>
          <a:xfrm>
            <a:off x="6184801" y="27406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a:t>
            </a:r>
            <a:endParaRPr lang="en-US" sz="1200" dirty="0"/>
          </a:p>
        </p:txBody>
      </p:sp>
      <p:sp>
        <p:nvSpPr>
          <p:cNvPr id="27" name="Text 25"/>
          <p:cNvSpPr txBox="1"/>
          <p:nvPr/>
        </p:nvSpPr>
        <p:spPr>
          <a:xfrm>
            <a:off x="8931970" y="2740620"/>
            <a:ext cx="24209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28" name="Shape 26"/>
          <p:cNvSpPr/>
          <p:nvPr/>
        </p:nvSpPr>
        <p:spPr>
          <a:xfrm>
            <a:off x="812800" y="2981920"/>
            <a:ext cx="10566400" cy="304800"/>
          </a:xfrm>
          <a:prstGeom prst="rect">
            <a:avLst/>
          </a:prstGeom>
          <a:solidFill>
            <a:srgbClr val="FDFCFA"/>
          </a:solidFill>
          <a:ln/>
        </p:spPr>
      </p:sp>
      <p:sp>
        <p:nvSpPr>
          <p:cNvPr id="29" name="Text 27"/>
          <p:cNvSpPr txBox="1"/>
          <p:nvPr/>
        </p:nvSpPr>
        <p:spPr>
          <a:xfrm>
            <a:off x="901700" y="30454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Meaningful minute vectors</a:t>
            </a:r>
            <a:endParaRPr lang="en-US" sz="1200" dirty="0"/>
          </a:p>
        </p:txBody>
      </p:sp>
      <p:sp>
        <p:nvSpPr>
          <p:cNvPr id="30" name="Text 28"/>
          <p:cNvSpPr txBox="1"/>
          <p:nvPr/>
        </p:nvSpPr>
        <p:spPr>
          <a:xfrm>
            <a:off x="3860205" y="30454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Partly</a:t>
            </a:r>
            <a:endParaRPr lang="en-US" sz="1200" dirty="0"/>
          </a:p>
        </p:txBody>
      </p:sp>
      <p:sp>
        <p:nvSpPr>
          <p:cNvPr id="31" name="Text 29"/>
          <p:cNvSpPr txBox="1"/>
          <p:nvPr/>
        </p:nvSpPr>
        <p:spPr>
          <a:xfrm>
            <a:off x="6184801" y="30454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32" name="Text 30"/>
          <p:cNvSpPr txBox="1"/>
          <p:nvPr/>
        </p:nvSpPr>
        <p:spPr>
          <a:xfrm>
            <a:off x="8931970" y="3045420"/>
            <a:ext cx="24209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33" name="Shape 31"/>
          <p:cNvSpPr/>
          <p:nvPr/>
        </p:nvSpPr>
        <p:spPr>
          <a:xfrm>
            <a:off x="812800" y="3286720"/>
            <a:ext cx="10566400" cy="304800"/>
          </a:xfrm>
          <a:prstGeom prst="rect">
            <a:avLst/>
          </a:prstGeom>
          <a:solidFill>
            <a:srgbClr val="F6F5F1"/>
          </a:solidFill>
          <a:ln/>
        </p:spPr>
      </p:sp>
      <p:sp>
        <p:nvSpPr>
          <p:cNvPr id="34" name="Text 32"/>
          <p:cNvSpPr txBox="1"/>
          <p:nvPr/>
        </p:nvSpPr>
        <p:spPr>
          <a:xfrm>
            <a:off x="901700" y="33502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Robust to missing sensors</a:t>
            </a:r>
            <a:endParaRPr lang="en-US" sz="1200" dirty="0"/>
          </a:p>
        </p:txBody>
      </p:sp>
      <p:sp>
        <p:nvSpPr>
          <p:cNvPr id="35" name="Text 33"/>
          <p:cNvSpPr txBox="1"/>
          <p:nvPr/>
        </p:nvSpPr>
        <p:spPr>
          <a:xfrm>
            <a:off x="3860205" y="33502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a:t>
            </a:r>
            <a:endParaRPr lang="en-US" sz="1200" dirty="0"/>
          </a:p>
        </p:txBody>
      </p:sp>
      <p:sp>
        <p:nvSpPr>
          <p:cNvPr id="36" name="Text 34"/>
          <p:cNvSpPr txBox="1"/>
          <p:nvPr/>
        </p:nvSpPr>
        <p:spPr>
          <a:xfrm>
            <a:off x="6184801" y="3350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37" name="Text 35"/>
          <p:cNvSpPr txBox="1"/>
          <p:nvPr/>
        </p:nvSpPr>
        <p:spPr>
          <a:xfrm>
            <a:off x="8931970" y="3350220"/>
            <a:ext cx="24209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38" name="Shape 36"/>
          <p:cNvSpPr/>
          <p:nvPr/>
        </p:nvSpPr>
        <p:spPr>
          <a:xfrm>
            <a:off x="812800" y="3591520"/>
            <a:ext cx="10566400" cy="304800"/>
          </a:xfrm>
          <a:prstGeom prst="rect">
            <a:avLst/>
          </a:prstGeom>
          <a:solidFill>
            <a:srgbClr val="FDFCFA"/>
          </a:solidFill>
          <a:ln/>
        </p:spPr>
      </p:sp>
      <p:sp>
        <p:nvSpPr>
          <p:cNvPr id="39" name="Text 37"/>
          <p:cNvSpPr txBox="1"/>
          <p:nvPr/>
        </p:nvSpPr>
        <p:spPr>
          <a:xfrm>
            <a:off x="901700" y="3655020"/>
            <a:ext cx="284540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Needs labels</a:t>
            </a:r>
            <a:endParaRPr lang="en-US" sz="1200" dirty="0"/>
          </a:p>
        </p:txBody>
      </p:sp>
      <p:sp>
        <p:nvSpPr>
          <p:cNvPr id="40" name="Text 38"/>
          <p:cNvSpPr txBox="1"/>
          <p:nvPr/>
        </p:nvSpPr>
        <p:spPr>
          <a:xfrm>
            <a:off x="3860205" y="3655020"/>
            <a:ext cx="220833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a:t>
            </a:r>
            <a:endParaRPr lang="en-US" sz="1200" dirty="0"/>
          </a:p>
        </p:txBody>
      </p:sp>
      <p:sp>
        <p:nvSpPr>
          <p:cNvPr id="41" name="Text 39"/>
          <p:cNvSpPr txBox="1"/>
          <p:nvPr/>
        </p:nvSpPr>
        <p:spPr>
          <a:xfrm>
            <a:off x="6184801" y="3655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a:t>
            </a:r>
            <a:endParaRPr lang="en-US" sz="1200" dirty="0"/>
          </a:p>
        </p:txBody>
      </p:sp>
      <p:sp>
        <p:nvSpPr>
          <p:cNvPr id="42" name="Text 40"/>
          <p:cNvSpPr txBox="1"/>
          <p:nvPr/>
        </p:nvSpPr>
        <p:spPr>
          <a:xfrm>
            <a:off x="8931970" y="3655020"/>
            <a:ext cx="242092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all training homes usable</a:t>
            </a:r>
            <a:endParaRPr lang="en-US" sz="1200" dirty="0"/>
          </a:p>
        </p:txBody>
      </p:sp>
      <p:sp>
        <p:nvSpPr>
          <p:cNvPr id="43" name="Text 41"/>
          <p:cNvSpPr txBox="1"/>
          <p:nvPr/>
        </p:nvSpPr>
        <p:spPr>
          <a:xfrm>
            <a:off x="812800" y="4099520"/>
            <a:ext cx="10670032" cy="445691"/>
          </a:xfrm>
          <a:prstGeom prst="rect">
            <a:avLst/>
          </a:prstGeom>
          <a:noFill/>
          <a:ln/>
        </p:spPr>
        <p:txBody>
          <a:bodyPr wrap="square" lIns="0" tIns="0" rIns="0" bIns="0" rtlCol="0" anchor="t"/>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Game 1 teaches what happens next. Game 2 teaches what was going on. A home system needs both.</a:t>
            </a:r>
            <a:pPr algn="l" indent="0" marL="0">
              <a:lnSpc>
                <a:spcPts val="1960"/>
              </a:lnSpc>
              <a:buNone/>
            </a:pPr>
            <a:r>
              <a:rPr lang="en-US" sz="1400" dirty="0">
                <a:solidFill>
                  <a:srgbClr val="14213D"/>
                </a:solidFill>
                <a:latin typeface="Arial" pitchFamily="34" charset="0"/>
                <a:ea typeface="Arial" pitchFamily="34" charset="-122"/>
                <a:cs typeface="Arial" pitchFamily="34" charset="-120"/>
              </a:rPr>
              <a:t> Chosen from the jobs the system must do, not from what worked in other fields.</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TEST, DON'T ASSUME</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A–G comparison: same model, data and compute; only the game changes</a:t>
            </a:r>
            <a:endParaRPr lang="en-US" sz="2800" dirty="0"/>
          </a:p>
        </p:txBody>
      </p:sp>
      <p:sp>
        <p:nvSpPr>
          <p:cNvPr id="4" name="Shape 2"/>
          <p:cNvSpPr/>
          <p:nvPr/>
        </p:nvSpPr>
        <p:spPr>
          <a:xfrm>
            <a:off x="812800" y="1849041"/>
            <a:ext cx="5715000" cy="319385"/>
          </a:xfrm>
          <a:prstGeom prst="rect">
            <a:avLst/>
          </a:prstGeom>
          <a:solidFill>
            <a:srgbClr val="14213D"/>
          </a:solidFill>
          <a:ln/>
        </p:spPr>
      </p:sp>
      <p:sp>
        <p:nvSpPr>
          <p:cNvPr id="5" name="Text 3"/>
          <p:cNvSpPr txBox="1"/>
          <p:nvPr/>
        </p:nvSpPr>
        <p:spPr>
          <a:xfrm>
            <a:off x="901700" y="1919784"/>
            <a:ext cx="791083"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Variant</a:t>
            </a:r>
            <a:endParaRPr lang="en-US" sz="1200" dirty="0"/>
          </a:p>
        </p:txBody>
      </p:sp>
      <p:sp>
        <p:nvSpPr>
          <p:cNvPr id="6" name="Text 4"/>
          <p:cNvSpPr txBox="1"/>
          <p:nvPr/>
        </p:nvSpPr>
        <p:spPr>
          <a:xfrm>
            <a:off x="1816100" y="1919784"/>
            <a:ext cx="469671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Game</a:t>
            </a:r>
            <a:endParaRPr lang="en-US" sz="1200" dirty="0"/>
          </a:p>
        </p:txBody>
      </p:sp>
      <p:sp>
        <p:nvSpPr>
          <p:cNvPr id="7" name="Shape 5"/>
          <p:cNvSpPr/>
          <p:nvPr/>
        </p:nvSpPr>
        <p:spPr>
          <a:xfrm>
            <a:off x="812800" y="2168426"/>
            <a:ext cx="5715000" cy="319385"/>
          </a:xfrm>
          <a:prstGeom prst="rect">
            <a:avLst/>
          </a:prstGeom>
          <a:solidFill>
            <a:srgbClr val="FDFCFA"/>
          </a:solidFill>
          <a:ln/>
        </p:spPr>
      </p:sp>
      <p:sp>
        <p:nvSpPr>
          <p:cNvPr id="8" name="Text 6"/>
          <p:cNvSpPr txBox="1"/>
          <p:nvPr/>
        </p:nvSpPr>
        <p:spPr>
          <a:xfrm>
            <a:off x="901700" y="2239169"/>
            <a:ext cx="79108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a:t>
            </a:r>
            <a:endParaRPr lang="en-US" sz="1200" dirty="0"/>
          </a:p>
        </p:txBody>
      </p:sp>
      <p:sp>
        <p:nvSpPr>
          <p:cNvPr id="9" name="Text 7"/>
          <p:cNvSpPr txBox="1"/>
          <p:nvPr/>
        </p:nvSpPr>
        <p:spPr>
          <a:xfrm>
            <a:off x="1816100" y="2239169"/>
            <a:ext cx="46967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DomusFM-style contrastive (attribute → event masking)</a:t>
            </a:r>
            <a:endParaRPr lang="en-US" sz="1200" dirty="0"/>
          </a:p>
        </p:txBody>
      </p:sp>
      <p:sp>
        <p:nvSpPr>
          <p:cNvPr id="10" name="Shape 8"/>
          <p:cNvSpPr/>
          <p:nvPr/>
        </p:nvSpPr>
        <p:spPr>
          <a:xfrm>
            <a:off x="812800" y="2487811"/>
            <a:ext cx="5715000" cy="319385"/>
          </a:xfrm>
          <a:prstGeom prst="rect">
            <a:avLst/>
          </a:prstGeom>
          <a:solidFill>
            <a:srgbClr val="F6F5F1"/>
          </a:solidFill>
          <a:ln/>
        </p:spPr>
      </p:sp>
      <p:sp>
        <p:nvSpPr>
          <p:cNvPr id="11" name="Text 9"/>
          <p:cNvSpPr txBox="1"/>
          <p:nvPr/>
        </p:nvSpPr>
        <p:spPr>
          <a:xfrm>
            <a:off x="901700" y="2558554"/>
            <a:ext cx="79108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a:t>
            </a:r>
            <a:endParaRPr lang="en-US" sz="1200" dirty="0"/>
          </a:p>
        </p:txBody>
      </p:sp>
      <p:sp>
        <p:nvSpPr>
          <p:cNvPr id="12" name="Text 10"/>
          <p:cNvSpPr txBox="1"/>
          <p:nvPr/>
        </p:nvSpPr>
        <p:spPr>
          <a:xfrm>
            <a:off x="1816100" y="2558554"/>
            <a:ext cx="46967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BERT-style random masking + reconstruction</a:t>
            </a:r>
            <a:endParaRPr lang="en-US" sz="1200" dirty="0"/>
          </a:p>
        </p:txBody>
      </p:sp>
      <p:sp>
        <p:nvSpPr>
          <p:cNvPr id="13" name="Shape 11"/>
          <p:cNvSpPr/>
          <p:nvPr/>
        </p:nvSpPr>
        <p:spPr>
          <a:xfrm>
            <a:off x="812800" y="2807196"/>
            <a:ext cx="5715000" cy="319385"/>
          </a:xfrm>
          <a:prstGeom prst="rect">
            <a:avLst/>
          </a:prstGeom>
          <a:solidFill>
            <a:srgbClr val="FDFCFA"/>
          </a:solidFill>
          <a:ln/>
        </p:spPr>
      </p:sp>
      <p:sp>
        <p:nvSpPr>
          <p:cNvPr id="14" name="Text 12"/>
          <p:cNvSpPr txBox="1"/>
          <p:nvPr/>
        </p:nvSpPr>
        <p:spPr>
          <a:xfrm>
            <a:off x="901700" y="2877939"/>
            <a:ext cx="79108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t>
            </a:r>
            <a:endParaRPr lang="en-US" sz="1200" dirty="0"/>
          </a:p>
        </p:txBody>
      </p:sp>
      <p:sp>
        <p:nvSpPr>
          <p:cNvPr id="15" name="Text 13"/>
          <p:cNvSpPr txBox="1"/>
          <p:nvPr/>
        </p:nvSpPr>
        <p:spPr>
          <a:xfrm>
            <a:off x="1816100" y="2877939"/>
            <a:ext cx="46967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2 only (JEPA)</a:t>
            </a:r>
            <a:endParaRPr lang="en-US" sz="1200" dirty="0"/>
          </a:p>
        </p:txBody>
      </p:sp>
      <p:sp>
        <p:nvSpPr>
          <p:cNvPr id="16" name="Shape 14"/>
          <p:cNvSpPr/>
          <p:nvPr/>
        </p:nvSpPr>
        <p:spPr>
          <a:xfrm>
            <a:off x="812800" y="3126581"/>
            <a:ext cx="5715000" cy="319385"/>
          </a:xfrm>
          <a:prstGeom prst="rect">
            <a:avLst/>
          </a:prstGeom>
          <a:solidFill>
            <a:srgbClr val="F6F5F1"/>
          </a:solidFill>
          <a:ln/>
        </p:spPr>
      </p:sp>
      <p:sp>
        <p:nvSpPr>
          <p:cNvPr id="17" name="Text 15"/>
          <p:cNvSpPr txBox="1"/>
          <p:nvPr/>
        </p:nvSpPr>
        <p:spPr>
          <a:xfrm>
            <a:off x="901700" y="3197324"/>
            <a:ext cx="79108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a:t>
            </a:r>
            <a:endParaRPr lang="en-US" sz="1200" dirty="0"/>
          </a:p>
        </p:txBody>
      </p:sp>
      <p:sp>
        <p:nvSpPr>
          <p:cNvPr id="18" name="Text 16"/>
          <p:cNvSpPr txBox="1"/>
          <p:nvPr/>
        </p:nvSpPr>
        <p:spPr>
          <a:xfrm>
            <a:off x="1816100" y="3197324"/>
            <a:ext cx="46967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 1 only (next event)</a:t>
            </a:r>
            <a:endParaRPr lang="en-US" sz="1200" dirty="0"/>
          </a:p>
        </p:txBody>
      </p:sp>
      <p:sp>
        <p:nvSpPr>
          <p:cNvPr id="19" name="Shape 17"/>
          <p:cNvSpPr/>
          <p:nvPr/>
        </p:nvSpPr>
        <p:spPr>
          <a:xfrm>
            <a:off x="812800" y="3445966"/>
            <a:ext cx="5715000" cy="319385"/>
          </a:xfrm>
          <a:prstGeom prst="rect">
            <a:avLst/>
          </a:prstGeom>
          <a:solidFill>
            <a:srgbClr val="E6EEF8"/>
          </a:solidFill>
          <a:ln/>
        </p:spPr>
      </p:sp>
      <p:sp>
        <p:nvSpPr>
          <p:cNvPr id="20" name="Text 18"/>
          <p:cNvSpPr txBox="1"/>
          <p:nvPr/>
        </p:nvSpPr>
        <p:spPr>
          <a:xfrm>
            <a:off x="901700" y="3516709"/>
            <a:ext cx="79108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a:t>
            </a:r>
            <a:endParaRPr lang="en-US" sz="1200" dirty="0"/>
          </a:p>
        </p:txBody>
      </p:sp>
      <p:sp>
        <p:nvSpPr>
          <p:cNvPr id="21" name="Text 19"/>
          <p:cNvSpPr txBox="1"/>
          <p:nvPr/>
        </p:nvSpPr>
        <p:spPr>
          <a:xfrm>
            <a:off x="1816100" y="3516709"/>
            <a:ext cx="46967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 + C, proposed base</a:t>
            </a:r>
            <a:endParaRPr lang="en-US" sz="1200" dirty="0"/>
          </a:p>
        </p:txBody>
      </p:sp>
      <p:sp>
        <p:nvSpPr>
          <p:cNvPr id="22" name="Shape 20"/>
          <p:cNvSpPr/>
          <p:nvPr/>
        </p:nvSpPr>
        <p:spPr>
          <a:xfrm>
            <a:off x="812800" y="3765352"/>
            <a:ext cx="5715000" cy="319385"/>
          </a:xfrm>
          <a:prstGeom prst="rect">
            <a:avLst/>
          </a:prstGeom>
          <a:solidFill>
            <a:srgbClr val="F6F5F1"/>
          </a:solidFill>
          <a:ln/>
        </p:spPr>
      </p:sp>
      <p:sp>
        <p:nvSpPr>
          <p:cNvPr id="23" name="Text 21"/>
          <p:cNvSpPr txBox="1"/>
          <p:nvPr/>
        </p:nvSpPr>
        <p:spPr>
          <a:xfrm>
            <a:off x="901700" y="3836095"/>
            <a:ext cx="79108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a:t>
            </a:r>
            <a:endParaRPr lang="en-US" sz="1200" dirty="0"/>
          </a:p>
        </p:txBody>
      </p:sp>
      <p:sp>
        <p:nvSpPr>
          <p:cNvPr id="24" name="Text 22"/>
          <p:cNvSpPr txBox="1"/>
          <p:nvPr/>
        </p:nvSpPr>
        <p:spPr>
          <a:xfrm>
            <a:off x="1816100" y="3836095"/>
            <a:ext cx="46967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 + game 3 + home-invariance</a:t>
            </a:r>
            <a:endParaRPr lang="en-US" sz="1200" dirty="0"/>
          </a:p>
        </p:txBody>
      </p:sp>
      <p:sp>
        <p:nvSpPr>
          <p:cNvPr id="25" name="Shape 23"/>
          <p:cNvSpPr/>
          <p:nvPr/>
        </p:nvSpPr>
        <p:spPr>
          <a:xfrm>
            <a:off x="812800" y="4084737"/>
            <a:ext cx="5715000" cy="319385"/>
          </a:xfrm>
          <a:prstGeom prst="rect">
            <a:avLst/>
          </a:prstGeom>
          <a:solidFill>
            <a:srgbClr val="FDFCFA"/>
          </a:solidFill>
          <a:ln/>
        </p:spPr>
      </p:sp>
      <p:sp>
        <p:nvSpPr>
          <p:cNvPr id="26" name="Text 24"/>
          <p:cNvSpPr txBox="1"/>
          <p:nvPr/>
        </p:nvSpPr>
        <p:spPr>
          <a:xfrm>
            <a:off x="901700" y="4155480"/>
            <a:ext cx="79108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t>
            </a:r>
            <a:endParaRPr lang="en-US" sz="1200" dirty="0"/>
          </a:p>
        </p:txBody>
      </p:sp>
      <p:sp>
        <p:nvSpPr>
          <p:cNvPr id="27" name="Text 25"/>
          <p:cNvSpPr txBox="1"/>
          <p:nvPr/>
        </p:nvSpPr>
        <p:spPr>
          <a:xfrm>
            <a:off x="1816100" y="4155480"/>
            <a:ext cx="469671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 + refinements (not built)</a:t>
            </a:r>
            <a:endParaRPr lang="en-US" sz="1200" dirty="0"/>
          </a:p>
        </p:txBody>
      </p:sp>
      <p:sp>
        <p:nvSpPr>
          <p:cNvPr id="28" name="Text 26"/>
          <p:cNvSpPr txBox="1"/>
          <p:nvPr/>
        </p:nvSpPr>
        <p:spPr>
          <a:xfrm>
            <a:off x="6781800" y="1868091"/>
            <a:ext cx="4671187" cy="384770"/>
          </a:xfrm>
          <a:prstGeom prst="rect">
            <a:avLst/>
          </a:prstGeom>
          <a:noFill/>
          <a:ln/>
        </p:spPr>
        <p:txBody>
          <a:bodyPr wrap="square" lIns="0" tIns="0" rIns="0" bIns="0" rtlCol="0" anchor="t"/>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Tiny synthetic smoke test (10–25 s of training): a weak hint only</a:t>
            </a:r>
            <a:endParaRPr lang="en-US" sz="1200" dirty="0"/>
          </a:p>
        </p:txBody>
      </p:sp>
      <p:sp>
        <p:nvSpPr>
          <p:cNvPr id="29" name="Shape 27"/>
          <p:cNvSpPr/>
          <p:nvPr/>
        </p:nvSpPr>
        <p:spPr>
          <a:xfrm>
            <a:off x="6781800" y="2364581"/>
            <a:ext cx="4445000" cy="304800"/>
          </a:xfrm>
          <a:prstGeom prst="rect">
            <a:avLst/>
          </a:prstGeom>
          <a:solidFill>
            <a:srgbClr val="14213D"/>
          </a:solidFill>
          <a:ln/>
        </p:spPr>
      </p:sp>
      <p:sp>
        <p:nvSpPr>
          <p:cNvPr id="30" name="Text 28"/>
          <p:cNvSpPr txBox="1"/>
          <p:nvPr/>
        </p:nvSpPr>
        <p:spPr>
          <a:xfrm>
            <a:off x="6870700" y="2428081"/>
            <a:ext cx="103359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Variant</a:t>
            </a:r>
            <a:endParaRPr lang="en-US" sz="1200" dirty="0"/>
          </a:p>
        </p:txBody>
      </p:sp>
      <p:sp>
        <p:nvSpPr>
          <p:cNvPr id="31" name="Text 29"/>
          <p:cNvSpPr txBox="1"/>
          <p:nvPr/>
        </p:nvSpPr>
        <p:spPr>
          <a:xfrm>
            <a:off x="8026400" y="2428081"/>
            <a:ext cx="165900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Activity F1 (probe)</a:t>
            </a:r>
            <a:endParaRPr lang="en-US" sz="1200" dirty="0"/>
          </a:p>
        </p:txBody>
      </p:sp>
      <p:sp>
        <p:nvSpPr>
          <p:cNvPr id="32" name="Text 30"/>
          <p:cNvSpPr txBox="1"/>
          <p:nvPr/>
        </p:nvSpPr>
        <p:spPr>
          <a:xfrm>
            <a:off x="9804400" y="2428081"/>
            <a:ext cx="139096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Exact counts</a:t>
            </a:r>
            <a:endParaRPr lang="en-US" sz="1200" dirty="0"/>
          </a:p>
        </p:txBody>
      </p:sp>
      <p:sp>
        <p:nvSpPr>
          <p:cNvPr id="33" name="Shape 31"/>
          <p:cNvSpPr/>
          <p:nvPr/>
        </p:nvSpPr>
        <p:spPr>
          <a:xfrm>
            <a:off x="6781800" y="2669381"/>
            <a:ext cx="4445000" cy="304800"/>
          </a:xfrm>
          <a:prstGeom prst="rect">
            <a:avLst/>
          </a:prstGeom>
          <a:solidFill>
            <a:srgbClr val="FDFCFA"/>
          </a:solidFill>
          <a:ln/>
        </p:spPr>
      </p:sp>
      <p:sp>
        <p:nvSpPr>
          <p:cNvPr id="34" name="Text 32"/>
          <p:cNvSpPr txBox="1"/>
          <p:nvPr/>
        </p:nvSpPr>
        <p:spPr>
          <a:xfrm>
            <a:off x="6870700" y="2732881"/>
            <a:ext cx="10335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a:t>
            </a:r>
            <a:endParaRPr lang="en-US" sz="1200" dirty="0"/>
          </a:p>
        </p:txBody>
      </p:sp>
      <p:sp>
        <p:nvSpPr>
          <p:cNvPr id="35" name="Text 33"/>
          <p:cNvSpPr txBox="1"/>
          <p:nvPr/>
        </p:nvSpPr>
        <p:spPr>
          <a:xfrm>
            <a:off x="8026400" y="2732881"/>
            <a:ext cx="16590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0.82</a:t>
            </a:r>
            <a:endParaRPr lang="en-US" sz="1200" dirty="0"/>
          </a:p>
        </p:txBody>
      </p:sp>
      <p:sp>
        <p:nvSpPr>
          <p:cNvPr id="36" name="Text 34"/>
          <p:cNvSpPr txBox="1"/>
          <p:nvPr/>
        </p:nvSpPr>
        <p:spPr>
          <a:xfrm>
            <a:off x="9804400" y="2732881"/>
            <a:ext cx="139096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40 %</a:t>
            </a:r>
            <a:endParaRPr lang="en-US" sz="1200" dirty="0"/>
          </a:p>
        </p:txBody>
      </p:sp>
      <p:sp>
        <p:nvSpPr>
          <p:cNvPr id="37" name="Shape 35"/>
          <p:cNvSpPr/>
          <p:nvPr/>
        </p:nvSpPr>
        <p:spPr>
          <a:xfrm>
            <a:off x="6781800" y="2974181"/>
            <a:ext cx="4445000" cy="304800"/>
          </a:xfrm>
          <a:prstGeom prst="rect">
            <a:avLst/>
          </a:prstGeom>
          <a:solidFill>
            <a:srgbClr val="F6F5F1"/>
          </a:solidFill>
          <a:ln/>
        </p:spPr>
      </p:sp>
      <p:sp>
        <p:nvSpPr>
          <p:cNvPr id="38" name="Text 36"/>
          <p:cNvSpPr txBox="1"/>
          <p:nvPr/>
        </p:nvSpPr>
        <p:spPr>
          <a:xfrm>
            <a:off x="6870700" y="3037681"/>
            <a:ext cx="10335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t>
            </a:r>
            <a:endParaRPr lang="en-US" sz="1200" dirty="0"/>
          </a:p>
        </p:txBody>
      </p:sp>
      <p:sp>
        <p:nvSpPr>
          <p:cNvPr id="39" name="Text 37"/>
          <p:cNvSpPr txBox="1"/>
          <p:nvPr/>
        </p:nvSpPr>
        <p:spPr>
          <a:xfrm>
            <a:off x="8026400" y="3037681"/>
            <a:ext cx="16590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0.81</a:t>
            </a:r>
            <a:endParaRPr lang="en-US" sz="1200" dirty="0"/>
          </a:p>
        </p:txBody>
      </p:sp>
      <p:sp>
        <p:nvSpPr>
          <p:cNvPr id="40" name="Text 38"/>
          <p:cNvSpPr txBox="1"/>
          <p:nvPr/>
        </p:nvSpPr>
        <p:spPr>
          <a:xfrm>
            <a:off x="9804400" y="3037681"/>
            <a:ext cx="139096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40 %</a:t>
            </a:r>
            <a:endParaRPr lang="en-US" sz="1200" dirty="0"/>
          </a:p>
        </p:txBody>
      </p:sp>
      <p:sp>
        <p:nvSpPr>
          <p:cNvPr id="41" name="Shape 39"/>
          <p:cNvSpPr/>
          <p:nvPr/>
        </p:nvSpPr>
        <p:spPr>
          <a:xfrm>
            <a:off x="6781800" y="3278981"/>
            <a:ext cx="4445000" cy="304800"/>
          </a:xfrm>
          <a:prstGeom prst="rect">
            <a:avLst/>
          </a:prstGeom>
          <a:solidFill>
            <a:srgbClr val="FDFCFA"/>
          </a:solidFill>
          <a:ln/>
        </p:spPr>
      </p:sp>
      <p:sp>
        <p:nvSpPr>
          <p:cNvPr id="42" name="Text 40"/>
          <p:cNvSpPr txBox="1"/>
          <p:nvPr/>
        </p:nvSpPr>
        <p:spPr>
          <a:xfrm>
            <a:off x="6870700" y="3342481"/>
            <a:ext cx="10335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a:t>
            </a:r>
            <a:endParaRPr lang="en-US" sz="1200" dirty="0"/>
          </a:p>
        </p:txBody>
      </p:sp>
      <p:sp>
        <p:nvSpPr>
          <p:cNvPr id="43" name="Text 41"/>
          <p:cNvSpPr txBox="1"/>
          <p:nvPr/>
        </p:nvSpPr>
        <p:spPr>
          <a:xfrm>
            <a:off x="8026400" y="3342481"/>
            <a:ext cx="16590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0.84</a:t>
            </a:r>
            <a:endParaRPr lang="en-US" sz="1200" dirty="0"/>
          </a:p>
        </p:txBody>
      </p:sp>
      <p:sp>
        <p:nvSpPr>
          <p:cNvPr id="44" name="Text 42"/>
          <p:cNvSpPr txBox="1"/>
          <p:nvPr/>
        </p:nvSpPr>
        <p:spPr>
          <a:xfrm>
            <a:off x="9804400" y="3342481"/>
            <a:ext cx="139096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48 %</a:t>
            </a:r>
            <a:endParaRPr lang="en-US" sz="1200" dirty="0"/>
          </a:p>
        </p:txBody>
      </p:sp>
      <p:sp>
        <p:nvSpPr>
          <p:cNvPr id="45" name="Shape 43"/>
          <p:cNvSpPr/>
          <p:nvPr/>
        </p:nvSpPr>
        <p:spPr>
          <a:xfrm>
            <a:off x="6781800" y="3583781"/>
            <a:ext cx="4445000" cy="304800"/>
          </a:xfrm>
          <a:prstGeom prst="rect">
            <a:avLst/>
          </a:prstGeom>
          <a:solidFill>
            <a:srgbClr val="E6EEF8"/>
          </a:solidFill>
          <a:ln/>
        </p:spPr>
      </p:sp>
      <p:sp>
        <p:nvSpPr>
          <p:cNvPr id="46" name="Text 44"/>
          <p:cNvSpPr txBox="1"/>
          <p:nvPr/>
        </p:nvSpPr>
        <p:spPr>
          <a:xfrm>
            <a:off x="6870700" y="3647281"/>
            <a:ext cx="10335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a:t>
            </a:r>
            <a:endParaRPr lang="en-US" sz="1200" dirty="0"/>
          </a:p>
        </p:txBody>
      </p:sp>
      <p:sp>
        <p:nvSpPr>
          <p:cNvPr id="47" name="Text 45"/>
          <p:cNvSpPr txBox="1"/>
          <p:nvPr/>
        </p:nvSpPr>
        <p:spPr>
          <a:xfrm>
            <a:off x="8026400" y="3647281"/>
            <a:ext cx="165900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0.85</a:t>
            </a:r>
            <a:endParaRPr lang="en-US" sz="1200" dirty="0"/>
          </a:p>
        </p:txBody>
      </p:sp>
      <p:sp>
        <p:nvSpPr>
          <p:cNvPr id="48" name="Text 46"/>
          <p:cNvSpPr txBox="1"/>
          <p:nvPr/>
        </p:nvSpPr>
        <p:spPr>
          <a:xfrm>
            <a:off x="9804400" y="3647281"/>
            <a:ext cx="139096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49 %</a:t>
            </a:r>
            <a:endParaRPr lang="en-US" sz="1200" dirty="0"/>
          </a:p>
        </p:txBody>
      </p:sp>
      <p:sp>
        <p:nvSpPr>
          <p:cNvPr id="49" name="Text 47"/>
          <p:cNvSpPr txBox="1"/>
          <p:nvPr/>
        </p:nvSpPr>
        <p:spPr>
          <a:xfrm>
            <a:off x="6781800" y="3996531"/>
            <a:ext cx="4671187"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Hypothesis: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E beats A–D on anomaly, forecasting and counting and matches A on activities; F adds zero-shot; G trains more stably.</a:t>
            </a:r>
            <a:endParaRPr lang="en-US" sz="1200" dirty="0"/>
          </a:p>
        </p:txBody>
      </p:sp>
      <p:sp>
        <p:nvSpPr>
          <p:cNvPr id="50" name="Text 48"/>
          <p:cNvSpPr txBox="1"/>
          <p:nvPr/>
        </p:nvSpPr>
        <p:spPr>
          <a:xfrm>
            <a:off x="812800" y="4600972"/>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Scored on: activity F1 (probe and fine-tune) · exact episode counts · anomaly AUROC on injected faults · forecast NLL · retrieval of held-out concepts · 1 % and 5 % label adaptation.</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VARIANT G</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Five refinements aimed at the collapse we measured</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50918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a:t>
            </a:r>
            <a:endParaRPr lang="en-US" sz="1200" dirty="0"/>
          </a:p>
        </p:txBody>
      </p:sp>
      <p:sp>
        <p:nvSpPr>
          <p:cNvPr id="6" name="Text 4"/>
          <p:cNvSpPr txBox="1"/>
          <p:nvPr/>
        </p:nvSpPr>
        <p:spPr>
          <a:xfrm>
            <a:off x="1535609" y="1521420"/>
            <a:ext cx="2420723"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Refinement</a:t>
            </a:r>
            <a:endParaRPr lang="en-US" sz="1200" dirty="0"/>
          </a:p>
        </p:txBody>
      </p:sp>
      <p:sp>
        <p:nvSpPr>
          <p:cNvPr id="7" name="Text 5"/>
          <p:cNvSpPr txBox="1"/>
          <p:nvPr/>
        </p:nvSpPr>
        <p:spPr>
          <a:xfrm>
            <a:off x="4071541" y="1521420"/>
            <a:ext cx="539412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In simple words</a:t>
            </a:r>
            <a:endParaRPr lang="en-US" sz="1200" dirty="0"/>
          </a:p>
        </p:txBody>
      </p:sp>
      <p:sp>
        <p:nvSpPr>
          <p:cNvPr id="8" name="Text 6"/>
          <p:cNvSpPr txBox="1"/>
          <p:nvPr/>
        </p:nvSpPr>
        <p:spPr>
          <a:xfrm>
            <a:off x="9566077" y="1521420"/>
            <a:ext cx="17836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Fixes</a:t>
            </a:r>
            <a:endParaRPr lang="en-US" sz="1200" dirty="0"/>
          </a:p>
        </p:txBody>
      </p:sp>
      <p:sp>
        <p:nvSpPr>
          <p:cNvPr id="9" name="Shape 7"/>
          <p:cNvSpPr/>
          <p:nvPr/>
        </p:nvSpPr>
        <p:spPr>
          <a:xfrm>
            <a:off x="812800" y="1762720"/>
            <a:ext cx="10566400" cy="304800"/>
          </a:xfrm>
          <a:prstGeom prst="rect">
            <a:avLst/>
          </a:prstGeom>
          <a:solidFill>
            <a:srgbClr val="FDFCFA"/>
          </a:solidFill>
          <a:ln/>
        </p:spPr>
      </p:sp>
      <p:sp>
        <p:nvSpPr>
          <p:cNvPr id="10" name="Text 8"/>
          <p:cNvSpPr txBox="1"/>
          <p:nvPr/>
        </p:nvSpPr>
        <p:spPr>
          <a:xfrm>
            <a:off x="901700" y="18262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G1</a:t>
            </a:r>
            <a:endParaRPr lang="en-US" sz="1200" dirty="0"/>
          </a:p>
        </p:txBody>
      </p:sp>
      <p:sp>
        <p:nvSpPr>
          <p:cNvPr id="11" name="Text 9"/>
          <p:cNvSpPr txBox="1"/>
          <p:nvPr/>
        </p:nvSpPr>
        <p:spPr>
          <a:xfrm>
            <a:off x="1535609" y="1826220"/>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Pair-aware masking</a:t>
            </a:r>
            <a:endParaRPr lang="en-US" sz="1200" dirty="0"/>
          </a:p>
        </p:txBody>
      </p:sp>
      <p:sp>
        <p:nvSpPr>
          <p:cNvPr id="12" name="Text 10"/>
          <p:cNvSpPr txBox="1"/>
          <p:nvPr/>
        </p:nvSpPr>
        <p:spPr>
          <a:xfrm>
            <a:off x="4071541" y="1826220"/>
            <a:ext cx="539412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Hide motion ON and its OFF together</a:t>
            </a:r>
            <a:endParaRPr lang="en-US" sz="1200" dirty="0"/>
          </a:p>
        </p:txBody>
      </p:sp>
      <p:sp>
        <p:nvSpPr>
          <p:cNvPr id="13" name="Text 11"/>
          <p:cNvSpPr txBox="1"/>
          <p:nvPr/>
        </p:nvSpPr>
        <p:spPr>
          <a:xfrm>
            <a:off x="9566077" y="1826220"/>
            <a:ext cx="17836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Easy guesses</a:t>
            </a:r>
            <a:endParaRPr lang="en-US" sz="1200" dirty="0"/>
          </a:p>
        </p:txBody>
      </p:sp>
      <p:sp>
        <p:nvSpPr>
          <p:cNvPr id="14" name="Shape 12"/>
          <p:cNvSpPr/>
          <p:nvPr/>
        </p:nvSpPr>
        <p:spPr>
          <a:xfrm>
            <a:off x="812800" y="2067520"/>
            <a:ext cx="10566400" cy="304800"/>
          </a:xfrm>
          <a:prstGeom prst="rect">
            <a:avLst/>
          </a:prstGeom>
          <a:solidFill>
            <a:srgbClr val="F6F5F1"/>
          </a:solidFill>
          <a:ln/>
        </p:spPr>
      </p:sp>
      <p:sp>
        <p:nvSpPr>
          <p:cNvPr id="15" name="Text 13"/>
          <p:cNvSpPr txBox="1"/>
          <p:nvPr/>
        </p:nvSpPr>
        <p:spPr>
          <a:xfrm>
            <a:off x="901700" y="21310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G2</a:t>
            </a:r>
            <a:endParaRPr lang="en-US" sz="1200" dirty="0"/>
          </a:p>
        </p:txBody>
      </p:sp>
      <p:sp>
        <p:nvSpPr>
          <p:cNvPr id="16" name="Text 14"/>
          <p:cNvSpPr txBox="1"/>
          <p:nvPr/>
        </p:nvSpPr>
        <p:spPr>
          <a:xfrm>
            <a:off x="1535609" y="2131020"/>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Adaptive difficulty</a:t>
            </a:r>
            <a:endParaRPr lang="en-US" sz="1200" dirty="0"/>
          </a:p>
        </p:txBody>
      </p:sp>
      <p:sp>
        <p:nvSpPr>
          <p:cNvPr id="17" name="Text 15"/>
          <p:cNvSpPr txBox="1"/>
          <p:nvPr/>
        </p:nvSpPr>
        <p:spPr>
          <a:xfrm>
            <a:off x="4071541" y="2131020"/>
            <a:ext cx="539412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If the loss collapses, hide bigger chunks (1 → 5 → 15 min; device → room)</a:t>
            </a:r>
            <a:endParaRPr lang="en-US" sz="1200" dirty="0"/>
          </a:p>
        </p:txBody>
      </p:sp>
      <p:sp>
        <p:nvSpPr>
          <p:cNvPr id="18" name="Text 16"/>
          <p:cNvSpPr txBox="1"/>
          <p:nvPr/>
        </p:nvSpPr>
        <p:spPr>
          <a:xfrm>
            <a:off x="9566077" y="2131020"/>
            <a:ext cx="17836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Collapse</a:t>
            </a:r>
            <a:endParaRPr lang="en-US" sz="1200" dirty="0"/>
          </a:p>
        </p:txBody>
      </p:sp>
      <p:sp>
        <p:nvSpPr>
          <p:cNvPr id="19" name="Shape 17"/>
          <p:cNvSpPr/>
          <p:nvPr/>
        </p:nvSpPr>
        <p:spPr>
          <a:xfrm>
            <a:off x="812800" y="2372320"/>
            <a:ext cx="10566400" cy="304800"/>
          </a:xfrm>
          <a:prstGeom prst="rect">
            <a:avLst/>
          </a:prstGeom>
          <a:solidFill>
            <a:srgbClr val="FDFCFA"/>
          </a:solidFill>
          <a:ln/>
        </p:spPr>
      </p:sp>
      <p:sp>
        <p:nvSpPr>
          <p:cNvPr id="20" name="Text 18"/>
          <p:cNvSpPr txBox="1"/>
          <p:nvPr/>
        </p:nvSpPr>
        <p:spPr>
          <a:xfrm>
            <a:off x="901700" y="24358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G3</a:t>
            </a:r>
            <a:endParaRPr lang="en-US" sz="1200" dirty="0"/>
          </a:p>
        </p:txBody>
      </p:sp>
      <p:sp>
        <p:nvSpPr>
          <p:cNvPr id="21" name="Text 19"/>
          <p:cNvSpPr txBox="1"/>
          <p:nvPr/>
        </p:nvSpPr>
        <p:spPr>
          <a:xfrm>
            <a:off x="1535609" y="2435820"/>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Multi-horizon forecasting</a:t>
            </a:r>
            <a:endParaRPr lang="en-US" sz="1200" dirty="0"/>
          </a:p>
        </p:txBody>
      </p:sp>
      <p:sp>
        <p:nvSpPr>
          <p:cNvPr id="22" name="Text 20"/>
          <p:cNvSpPr txBox="1"/>
          <p:nvPr/>
        </p:nvSpPr>
        <p:spPr>
          <a:xfrm>
            <a:off x="4071541" y="2435820"/>
            <a:ext cx="539412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Predict the summary of the next 1, 10 and 60 min, past only</a:t>
            </a:r>
            <a:endParaRPr lang="en-US" sz="1200" dirty="0"/>
          </a:p>
        </p:txBody>
      </p:sp>
      <p:sp>
        <p:nvSpPr>
          <p:cNvPr id="23" name="Text 21"/>
          <p:cNvSpPr txBox="1"/>
          <p:nvPr/>
        </p:nvSpPr>
        <p:spPr>
          <a:xfrm>
            <a:off x="9566077" y="2435820"/>
            <a:ext cx="17836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Routines, when</a:t>
            </a:r>
            <a:endParaRPr lang="en-US" sz="1200" dirty="0"/>
          </a:p>
        </p:txBody>
      </p:sp>
      <p:sp>
        <p:nvSpPr>
          <p:cNvPr id="24" name="Shape 22"/>
          <p:cNvSpPr/>
          <p:nvPr/>
        </p:nvSpPr>
        <p:spPr>
          <a:xfrm>
            <a:off x="812800" y="2677120"/>
            <a:ext cx="10566400" cy="304800"/>
          </a:xfrm>
          <a:prstGeom prst="rect">
            <a:avLst/>
          </a:prstGeom>
          <a:solidFill>
            <a:srgbClr val="F6F5F1"/>
          </a:solidFill>
          <a:ln/>
        </p:spPr>
      </p:sp>
      <p:sp>
        <p:nvSpPr>
          <p:cNvPr id="25" name="Text 23"/>
          <p:cNvSpPr txBox="1"/>
          <p:nvPr/>
        </p:nvSpPr>
        <p:spPr>
          <a:xfrm>
            <a:off x="901700" y="27406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G4</a:t>
            </a:r>
            <a:endParaRPr lang="en-US" sz="1200" dirty="0"/>
          </a:p>
        </p:txBody>
      </p:sp>
      <p:sp>
        <p:nvSpPr>
          <p:cNvPr id="26" name="Text 24"/>
          <p:cNvSpPr txBox="1"/>
          <p:nvPr/>
        </p:nvSpPr>
        <p:spPr>
          <a:xfrm>
            <a:off x="1535609" y="2740620"/>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Routine-aware positives</a:t>
            </a:r>
            <a:endParaRPr lang="en-US" sz="1200" dirty="0"/>
          </a:p>
        </p:txBody>
      </p:sp>
      <p:sp>
        <p:nvSpPr>
          <p:cNvPr id="27" name="Text 25"/>
          <p:cNvSpPr txBox="1"/>
          <p:nvPr/>
        </p:nvSpPr>
        <p:spPr>
          <a:xfrm>
            <a:off x="4071541" y="2740620"/>
            <a:ext cx="539412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Same home, same time of day, other days = probably similar</a:t>
            </a:r>
            <a:endParaRPr lang="en-US" sz="1200" dirty="0"/>
          </a:p>
        </p:txBody>
      </p:sp>
      <p:sp>
        <p:nvSpPr>
          <p:cNvPr id="28" name="Text 26"/>
          <p:cNvSpPr txBox="1"/>
          <p:nvPr/>
        </p:nvSpPr>
        <p:spPr>
          <a:xfrm>
            <a:off x="9566077" y="2740620"/>
            <a:ext cx="17836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False negatives</a:t>
            </a:r>
            <a:endParaRPr lang="en-US" sz="1200" dirty="0"/>
          </a:p>
        </p:txBody>
      </p:sp>
      <p:sp>
        <p:nvSpPr>
          <p:cNvPr id="29" name="Shape 27"/>
          <p:cNvSpPr/>
          <p:nvPr/>
        </p:nvSpPr>
        <p:spPr>
          <a:xfrm>
            <a:off x="812800" y="2981920"/>
            <a:ext cx="10566400" cy="304800"/>
          </a:xfrm>
          <a:prstGeom prst="rect">
            <a:avLst/>
          </a:prstGeom>
          <a:solidFill>
            <a:srgbClr val="FDFCFA"/>
          </a:solidFill>
          <a:ln/>
        </p:spPr>
      </p:sp>
      <p:sp>
        <p:nvSpPr>
          <p:cNvPr id="30" name="Text 28"/>
          <p:cNvSpPr txBox="1"/>
          <p:nvPr/>
        </p:nvSpPr>
        <p:spPr>
          <a:xfrm>
            <a:off x="901700" y="3045420"/>
            <a:ext cx="50918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G5</a:t>
            </a:r>
            <a:endParaRPr lang="en-US" sz="1200" dirty="0"/>
          </a:p>
        </p:txBody>
      </p:sp>
      <p:sp>
        <p:nvSpPr>
          <p:cNvPr id="31" name="Text 29"/>
          <p:cNvSpPr txBox="1"/>
          <p:nvPr/>
        </p:nvSpPr>
        <p:spPr>
          <a:xfrm>
            <a:off x="1535609" y="3045420"/>
            <a:ext cx="242072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Collapse guard</a:t>
            </a:r>
            <a:endParaRPr lang="en-US" sz="1200" dirty="0"/>
          </a:p>
        </p:txBody>
      </p:sp>
      <p:sp>
        <p:nvSpPr>
          <p:cNvPr id="32" name="Text 30"/>
          <p:cNvSpPr txBox="1"/>
          <p:nvPr/>
        </p:nvSpPr>
        <p:spPr>
          <a:xfrm>
            <a:off x="4071541" y="3045420"/>
            <a:ext cx="539412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Penalise embedding dimensions whose spread falls below a floor</a:t>
            </a:r>
            <a:endParaRPr lang="en-US" sz="1200" dirty="0"/>
          </a:p>
        </p:txBody>
      </p:sp>
      <p:sp>
        <p:nvSpPr>
          <p:cNvPr id="33" name="Text 31"/>
          <p:cNvSpPr txBox="1"/>
          <p:nvPr/>
        </p:nvSpPr>
        <p:spPr>
          <a:xfrm>
            <a:off x="9566077" y="3045420"/>
            <a:ext cx="17836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JEPA stability</a:t>
            </a:r>
            <a:endParaRPr lang="en-US" sz="1200" dirty="0"/>
          </a:p>
        </p:txBody>
      </p:sp>
      <p:sp>
        <p:nvSpPr>
          <p:cNvPr id="34" name="Shape 32"/>
          <p:cNvSpPr/>
          <p:nvPr/>
        </p:nvSpPr>
        <p:spPr>
          <a:xfrm>
            <a:off x="812800" y="3464520"/>
            <a:ext cx="10566400" cy="424160"/>
          </a:xfrm>
          <a:prstGeom prst="roundRect">
            <a:avLst>
              <a:gd name="adj" fmla="val 17965"/>
            </a:avLst>
          </a:prstGeom>
          <a:solidFill>
            <a:srgbClr val="EDEBE4"/>
          </a:solidFill>
          <a:ln/>
        </p:spPr>
      </p:sp>
      <p:sp>
        <p:nvSpPr>
          <p:cNvPr id="35" name="Text 33"/>
          <p:cNvSpPr txBox="1"/>
          <p:nvPr/>
        </p:nvSpPr>
        <p:spPr>
          <a:xfrm>
            <a:off x="939800" y="3585170"/>
            <a:ext cx="10414762" cy="22098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L_G = L_next + λf·L_future + λj·L_jepa(pair-aware, adaptive masks) + λv·L_var + alignment(routine-aware)</a:t>
            </a:r>
            <a:endParaRPr lang="en-US" sz="1200" dirty="0"/>
          </a:p>
        </p:txBody>
      </p:sp>
      <p:sp>
        <p:nvSpPr>
          <p:cNvPr id="36" name="Text 34"/>
          <p:cNvSpPr txBox="1"/>
          <p:nvPr/>
        </p:nvSpPr>
        <p:spPr>
          <a:xfrm>
            <a:off x="812800" y="4085530"/>
            <a:ext cx="10670032"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Success means: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the loss falls steadily instead of collapsing, embedding spread stays above the floor, and pretraining beats no pretraining on UCI B and hh101.</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PRETRAINING · THE FIRST REAL RUN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HomeFM corpus run: settings and how we will judge it</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26330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Setting</a:t>
            </a:r>
            <a:endParaRPr lang="en-US" sz="1200" dirty="0"/>
          </a:p>
        </p:txBody>
      </p:sp>
      <p:sp>
        <p:nvSpPr>
          <p:cNvPr id="6" name="Text 4"/>
          <p:cNvSpPr txBox="1"/>
          <p:nvPr/>
        </p:nvSpPr>
        <p:spPr>
          <a:xfrm>
            <a:off x="3648869" y="1521420"/>
            <a:ext cx="773043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Value (configs/homefm_corpus.yaml)</a:t>
            </a:r>
            <a:endParaRPr lang="en-US" sz="1200" dirty="0"/>
          </a:p>
        </p:txBody>
      </p:sp>
      <p:sp>
        <p:nvSpPr>
          <p:cNvPr id="7" name="Shape 5"/>
          <p:cNvSpPr/>
          <p:nvPr/>
        </p:nvSpPr>
        <p:spPr>
          <a:xfrm>
            <a:off x="812800" y="1762720"/>
            <a:ext cx="10566400" cy="304800"/>
          </a:xfrm>
          <a:prstGeom prst="rect">
            <a:avLst/>
          </a:prstGeom>
          <a:solidFill>
            <a:srgbClr val="FDFCFA"/>
          </a:solidFill>
          <a:ln/>
        </p:spPr>
      </p:sp>
      <p:sp>
        <p:nvSpPr>
          <p:cNvPr id="8" name="Text 6"/>
          <p:cNvSpPr txBox="1"/>
          <p:nvPr/>
        </p:nvSpPr>
        <p:spPr>
          <a:xfrm>
            <a:off x="901700" y="1826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Training homes</a:t>
            </a:r>
            <a:endParaRPr lang="en-US" sz="1200" dirty="0"/>
          </a:p>
        </p:txBody>
      </p:sp>
      <p:sp>
        <p:nvSpPr>
          <p:cNvPr id="9" name="Text 7"/>
          <p:cNvSpPr txBox="1"/>
          <p:nvPr/>
        </p:nvSpPr>
        <p:spPr>
          <a:xfrm>
            <a:off x="3648869" y="1826220"/>
            <a:ext cx="77304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77: same pool as the DomusFM run (7 test homes held out)</a:t>
            </a:r>
            <a:endParaRPr lang="en-US" sz="1200" dirty="0"/>
          </a:p>
        </p:txBody>
      </p:sp>
      <p:sp>
        <p:nvSpPr>
          <p:cNvPr id="10" name="Shape 8"/>
          <p:cNvSpPr/>
          <p:nvPr/>
        </p:nvSpPr>
        <p:spPr>
          <a:xfrm>
            <a:off x="812800" y="2067520"/>
            <a:ext cx="10566400" cy="304800"/>
          </a:xfrm>
          <a:prstGeom prst="rect">
            <a:avLst/>
          </a:prstGeom>
          <a:solidFill>
            <a:srgbClr val="F6F5F1"/>
          </a:solidFill>
          <a:ln/>
        </p:spPr>
      </p:sp>
      <p:sp>
        <p:nvSpPr>
          <p:cNvPr id="11" name="Text 9"/>
          <p:cNvSpPr txBox="1"/>
          <p:nvPr/>
        </p:nvSpPr>
        <p:spPr>
          <a:xfrm>
            <a:off x="901700" y="2131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Stretch</a:t>
            </a:r>
            <a:endParaRPr lang="en-US" sz="1200" dirty="0"/>
          </a:p>
        </p:txBody>
      </p:sp>
      <p:sp>
        <p:nvSpPr>
          <p:cNvPr id="12" name="Text 10"/>
          <p:cNvSpPr txBox="1"/>
          <p:nvPr/>
        </p:nvSpPr>
        <p:spPr>
          <a:xfrm>
            <a:off x="3648869" y="2131020"/>
            <a:ext cx="77304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30 minutes of 60-second minutes, at most 256 events; one starts every 10 min</a:t>
            </a:r>
            <a:endParaRPr lang="en-US" sz="1200" dirty="0"/>
          </a:p>
        </p:txBody>
      </p:sp>
      <p:sp>
        <p:nvSpPr>
          <p:cNvPr id="13" name="Shape 11"/>
          <p:cNvSpPr/>
          <p:nvPr/>
        </p:nvSpPr>
        <p:spPr>
          <a:xfrm>
            <a:off x="812800" y="2372320"/>
            <a:ext cx="10566400" cy="304800"/>
          </a:xfrm>
          <a:prstGeom prst="rect">
            <a:avLst/>
          </a:prstGeom>
          <a:solidFill>
            <a:srgbClr val="FDFCFA"/>
          </a:solidFill>
          <a:ln/>
        </p:spPr>
      </p:sp>
      <p:sp>
        <p:nvSpPr>
          <p:cNvPr id="14" name="Text 12"/>
          <p:cNvSpPr txBox="1"/>
          <p:nvPr/>
        </p:nvSpPr>
        <p:spPr>
          <a:xfrm>
            <a:off x="901700" y="24358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Per round / rounds</a:t>
            </a:r>
            <a:endParaRPr lang="en-US" sz="1200" dirty="0"/>
          </a:p>
        </p:txBody>
      </p:sp>
      <p:sp>
        <p:nvSpPr>
          <p:cNvPr id="15" name="Text 13"/>
          <p:cNvSpPr txBox="1"/>
          <p:nvPr/>
        </p:nvSpPr>
        <p:spPr>
          <a:xfrm>
            <a:off x="3648869" y="2435820"/>
            <a:ext cx="77304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32 stretches, evenly across homes / 20,000 rounds (first 500 warm-up)</a:t>
            </a:r>
            <a:endParaRPr lang="en-US" sz="1200" dirty="0"/>
          </a:p>
        </p:txBody>
      </p:sp>
      <p:sp>
        <p:nvSpPr>
          <p:cNvPr id="16" name="Shape 14"/>
          <p:cNvSpPr/>
          <p:nvPr/>
        </p:nvSpPr>
        <p:spPr>
          <a:xfrm>
            <a:off x="812800" y="2677120"/>
            <a:ext cx="10566400" cy="304800"/>
          </a:xfrm>
          <a:prstGeom prst="rect">
            <a:avLst/>
          </a:prstGeom>
          <a:solidFill>
            <a:srgbClr val="F6F5F1"/>
          </a:solidFill>
          <a:ln/>
        </p:spPr>
      </p:sp>
      <p:sp>
        <p:nvSpPr>
          <p:cNvPr id="17" name="Text 15"/>
          <p:cNvSpPr txBox="1"/>
          <p:nvPr/>
        </p:nvSpPr>
        <p:spPr>
          <a:xfrm>
            <a:off x="901700" y="27406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Learning rate</a:t>
            </a:r>
            <a:endParaRPr lang="en-US" sz="1200" dirty="0"/>
          </a:p>
        </p:txBody>
      </p:sp>
      <p:sp>
        <p:nvSpPr>
          <p:cNvPr id="18" name="Text 16"/>
          <p:cNvSpPr txBox="1"/>
          <p:nvPr/>
        </p:nvSpPr>
        <p:spPr>
          <a:xfrm>
            <a:off x="3648869" y="2740620"/>
            <a:ext cx="77304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0.0003, AdamW</a:t>
            </a:r>
            <a:endParaRPr lang="en-US" sz="1200" dirty="0"/>
          </a:p>
        </p:txBody>
      </p:sp>
      <p:sp>
        <p:nvSpPr>
          <p:cNvPr id="19" name="Shape 17"/>
          <p:cNvSpPr/>
          <p:nvPr/>
        </p:nvSpPr>
        <p:spPr>
          <a:xfrm>
            <a:off x="812800" y="2981920"/>
            <a:ext cx="10566400" cy="304800"/>
          </a:xfrm>
          <a:prstGeom prst="rect">
            <a:avLst/>
          </a:prstGeom>
          <a:solidFill>
            <a:srgbClr val="FDFCFA"/>
          </a:solidFill>
          <a:ln/>
        </p:spPr>
      </p:sp>
      <p:sp>
        <p:nvSpPr>
          <p:cNvPr id="20" name="Text 18"/>
          <p:cNvSpPr txBox="1"/>
          <p:nvPr/>
        </p:nvSpPr>
        <p:spPr>
          <a:xfrm>
            <a:off x="901700" y="30454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Model</a:t>
            </a:r>
            <a:endParaRPr lang="en-US" sz="1200" dirty="0"/>
          </a:p>
        </p:txBody>
      </p:sp>
      <p:sp>
        <p:nvSpPr>
          <p:cNvPr id="21" name="Text 19"/>
          <p:cNvSpPr txBox="1"/>
          <p:nvPr/>
        </p:nvSpPr>
        <p:spPr>
          <a:xfrm>
            <a:off x="3648869" y="3045420"/>
            <a:ext cx="77304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 = 256, 6 layers, about 8 million learnable numbers</a:t>
            </a:r>
            <a:endParaRPr lang="en-US" sz="1200" dirty="0"/>
          </a:p>
        </p:txBody>
      </p:sp>
      <p:sp>
        <p:nvSpPr>
          <p:cNvPr id="22" name="Shape 20"/>
          <p:cNvSpPr/>
          <p:nvPr/>
        </p:nvSpPr>
        <p:spPr>
          <a:xfrm>
            <a:off x="812800" y="3286720"/>
            <a:ext cx="10566400" cy="304800"/>
          </a:xfrm>
          <a:prstGeom prst="rect">
            <a:avLst/>
          </a:prstGeom>
          <a:solidFill>
            <a:srgbClr val="F6F5F1"/>
          </a:solidFill>
          <a:ln/>
        </p:spPr>
      </p:sp>
      <p:sp>
        <p:nvSpPr>
          <p:cNvPr id="23" name="Text 21"/>
          <p:cNvSpPr txBox="1"/>
          <p:nvPr/>
        </p:nvSpPr>
        <p:spPr>
          <a:xfrm>
            <a:off x="901700" y="3350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Games</a:t>
            </a:r>
            <a:endParaRPr lang="en-US" sz="1200" dirty="0"/>
          </a:p>
        </p:txBody>
      </p:sp>
      <p:sp>
        <p:nvSpPr>
          <p:cNvPr id="24" name="Text 22"/>
          <p:cNvSpPr txBox="1"/>
          <p:nvPr/>
        </p:nvSpPr>
        <p:spPr>
          <a:xfrm>
            <a:off x="3648869" y="3350220"/>
            <a:ext cx="77304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1 + 2 (variant E); game 2 hides 3–10 min, a device, a room or a signal type</a:t>
            </a:r>
            <a:endParaRPr lang="en-US" sz="1200" dirty="0"/>
          </a:p>
        </p:txBody>
      </p:sp>
      <p:sp>
        <p:nvSpPr>
          <p:cNvPr id="25" name="Shape 23"/>
          <p:cNvSpPr/>
          <p:nvPr/>
        </p:nvSpPr>
        <p:spPr>
          <a:xfrm>
            <a:off x="812800" y="3591520"/>
            <a:ext cx="10566400" cy="304800"/>
          </a:xfrm>
          <a:prstGeom prst="rect">
            <a:avLst/>
          </a:prstGeom>
          <a:solidFill>
            <a:srgbClr val="FDFCFA"/>
          </a:solidFill>
          <a:ln/>
        </p:spPr>
      </p:sp>
      <p:sp>
        <p:nvSpPr>
          <p:cNvPr id="26" name="Text 24"/>
          <p:cNvSpPr txBox="1"/>
          <p:nvPr/>
        </p:nvSpPr>
        <p:spPr>
          <a:xfrm>
            <a:off x="901700" y="3655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Slow copy (game 2)</a:t>
            </a:r>
            <a:endParaRPr lang="en-US" sz="1200" dirty="0"/>
          </a:p>
        </p:txBody>
      </p:sp>
      <p:sp>
        <p:nvSpPr>
          <p:cNvPr id="27" name="Text 25"/>
          <p:cNvSpPr txBox="1"/>
          <p:nvPr/>
        </p:nvSpPr>
        <p:spPr>
          <a:xfrm>
            <a:off x="3648869" y="3655020"/>
            <a:ext cx="77304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99.6 % old + 0.4 % new after each round</a:t>
            </a:r>
            <a:endParaRPr lang="en-US" sz="1200" dirty="0"/>
          </a:p>
        </p:txBody>
      </p:sp>
      <p:sp>
        <p:nvSpPr>
          <p:cNvPr id="28" name="Shape 26"/>
          <p:cNvSpPr/>
          <p:nvPr/>
        </p:nvSpPr>
        <p:spPr>
          <a:xfrm>
            <a:off x="819150" y="4080470"/>
            <a:ext cx="5194300" cy="1300361"/>
          </a:xfrm>
          <a:prstGeom prst="roundRect">
            <a:avLst>
              <a:gd name="adj" fmla="val 7325"/>
            </a:avLst>
          </a:prstGeom>
          <a:solidFill>
            <a:srgbClr val="FDFCFA"/>
          </a:solidFill>
          <a:ln w="12700">
            <a:solidFill>
              <a:srgbClr val="E3E0D7"/>
            </a:solidFill>
            <a:prstDash val="solid"/>
          </a:ln>
        </p:spPr>
      </p:sp>
      <p:sp>
        <p:nvSpPr>
          <p:cNvPr id="29" name="Text 27"/>
          <p:cNvSpPr txBox="1"/>
          <p:nvPr/>
        </p:nvSpPr>
        <p:spPr>
          <a:xfrm>
            <a:off x="1003300" y="4270970"/>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Two runs, one question each</a:t>
            </a:r>
            <a:endParaRPr lang="en-US" sz="1500" dirty="0"/>
          </a:p>
        </p:txBody>
      </p:sp>
      <p:sp>
        <p:nvSpPr>
          <p:cNvPr id="30" name="Text 28"/>
          <p:cNvSpPr txBox="1"/>
          <p:nvPr/>
        </p:nvSpPr>
        <p:spPr>
          <a:xfrm>
            <a:off x="1003300" y="4575770"/>
            <a:ext cx="4900930"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8.0M: can a small model with better games beat DomusFM? 28.6M, size-matched: is HomeFM better at the same size?</a:t>
            </a:r>
            <a:endParaRPr lang="en-US" sz="1200" dirty="0"/>
          </a:p>
        </p:txBody>
      </p:sp>
      <p:sp>
        <p:nvSpPr>
          <p:cNvPr id="31" name="Shape 29"/>
          <p:cNvSpPr/>
          <p:nvPr/>
        </p:nvSpPr>
        <p:spPr>
          <a:xfrm>
            <a:off x="6178550" y="4080470"/>
            <a:ext cx="5194300" cy="1300361"/>
          </a:xfrm>
          <a:prstGeom prst="roundRect">
            <a:avLst>
              <a:gd name="adj" fmla="val 7325"/>
            </a:avLst>
          </a:prstGeom>
          <a:solidFill>
            <a:srgbClr val="FDFCFA"/>
          </a:solidFill>
          <a:ln w="12700">
            <a:solidFill>
              <a:srgbClr val="E3E0D7"/>
            </a:solidFill>
            <a:prstDash val="solid"/>
          </a:ln>
        </p:spPr>
      </p:sp>
      <p:sp>
        <p:nvSpPr>
          <p:cNvPr id="32" name="Text 30"/>
          <p:cNvSpPr txBox="1"/>
          <p:nvPr/>
        </p:nvSpPr>
        <p:spPr>
          <a:xfrm>
            <a:off x="6362700" y="4270970"/>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It succeeds if</a:t>
            </a:r>
            <a:endParaRPr lang="en-US" sz="1500" dirty="0"/>
          </a:p>
        </p:txBody>
      </p:sp>
      <p:sp>
        <p:nvSpPr>
          <p:cNvPr id="33" name="Text 31"/>
          <p:cNvSpPr txBox="1"/>
          <p:nvPr/>
        </p:nvSpPr>
        <p:spPr>
          <a:xfrm>
            <a:off x="6362700" y="4575770"/>
            <a:ext cx="4900930"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The loss falls gradually (not to ~0.001), and pretrained HomeFM beats HomeFM without pretraining on held-out homes, especially at 5 % labels.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FROM MODEL TO ANSWERS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Episodes: turning minute scores into things you can count</a:t>
            </a:r>
            <a:endParaRPr lang="en-US" sz="2800" dirty="0"/>
          </a:p>
        </p:txBody>
      </p:sp>
      <p:sp>
        <p:nvSpPr>
          <p:cNvPr id="4" name="Shape 2"/>
          <p:cNvSpPr/>
          <p:nvPr/>
        </p:nvSpPr>
        <p:spPr>
          <a:xfrm>
            <a:off x="819150" y="1464270"/>
            <a:ext cx="1775420" cy="982662"/>
          </a:xfrm>
          <a:prstGeom prst="roundRect">
            <a:avLst>
              <a:gd name="adj" fmla="val 7108"/>
            </a:avLst>
          </a:prstGeom>
          <a:solidFill>
            <a:srgbClr val="E6EEF8"/>
          </a:solidFill>
          <a:ln w="12700">
            <a:solidFill>
              <a:srgbClr val="B9CDE8"/>
            </a:solidFill>
            <a:prstDash val="solid"/>
          </a:ln>
        </p:spPr>
      </p:sp>
      <p:sp>
        <p:nvSpPr>
          <p:cNvPr id="5" name="Text 3"/>
          <p:cNvSpPr txBox="1"/>
          <p:nvPr/>
        </p:nvSpPr>
        <p:spPr>
          <a:xfrm>
            <a:off x="897801" y="1572220"/>
            <a:ext cx="1618118"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Minute vectors</a:t>
            </a:r>
            <a:endParaRPr lang="en-US" sz="1200" dirty="0"/>
          </a:p>
        </p:txBody>
      </p:sp>
      <p:sp>
        <p:nvSpPr>
          <p:cNvPr id="6" name="Shape 4"/>
          <p:cNvSpPr/>
          <p:nvPr/>
        </p:nvSpPr>
        <p:spPr>
          <a:xfrm>
            <a:off x="2664420" y="1885752"/>
            <a:ext cx="279400" cy="139700"/>
          </a:xfrm>
          <a:prstGeom prst="rightArrow">
            <a:avLst/>
          </a:prstGeom>
          <a:solidFill>
            <a:srgbClr val="9AA3B2"/>
          </a:solidFill>
          <a:ln/>
        </p:spPr>
      </p:sp>
      <p:sp>
        <p:nvSpPr>
          <p:cNvPr id="7" name="Shape 5"/>
          <p:cNvSpPr/>
          <p:nvPr/>
        </p:nvSpPr>
        <p:spPr>
          <a:xfrm>
            <a:off x="3013670" y="1464270"/>
            <a:ext cx="1775420" cy="982662"/>
          </a:xfrm>
          <a:prstGeom prst="roundRect">
            <a:avLst>
              <a:gd name="adj" fmla="val 7108"/>
            </a:avLst>
          </a:prstGeom>
          <a:solidFill>
            <a:srgbClr val="E6EEF8"/>
          </a:solidFill>
          <a:ln w="12700">
            <a:solidFill>
              <a:srgbClr val="B9CDE8"/>
            </a:solidFill>
            <a:prstDash val="solid"/>
          </a:ln>
        </p:spPr>
      </p:sp>
      <p:sp>
        <p:nvSpPr>
          <p:cNvPr id="8" name="Text 6"/>
          <p:cNvSpPr txBox="1"/>
          <p:nvPr/>
        </p:nvSpPr>
        <p:spPr>
          <a:xfrm>
            <a:off x="3092322" y="1572220"/>
            <a:ext cx="1618118"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Tagger (vs concept sentence) + start/end head</a:t>
            </a:r>
            <a:endParaRPr lang="en-US" sz="1200" dirty="0"/>
          </a:p>
        </p:txBody>
      </p:sp>
      <p:sp>
        <p:nvSpPr>
          <p:cNvPr id="9" name="Shape 7"/>
          <p:cNvSpPr/>
          <p:nvPr/>
        </p:nvSpPr>
        <p:spPr>
          <a:xfrm>
            <a:off x="4858941" y="1885752"/>
            <a:ext cx="279400" cy="139700"/>
          </a:xfrm>
          <a:prstGeom prst="rightArrow">
            <a:avLst/>
          </a:prstGeom>
          <a:solidFill>
            <a:srgbClr val="9AA3B2"/>
          </a:solidFill>
          <a:ln/>
        </p:spPr>
      </p:sp>
      <p:sp>
        <p:nvSpPr>
          <p:cNvPr id="10" name="Shape 8"/>
          <p:cNvSpPr/>
          <p:nvPr/>
        </p:nvSpPr>
        <p:spPr>
          <a:xfrm>
            <a:off x="5208191" y="1464270"/>
            <a:ext cx="1775420" cy="982662"/>
          </a:xfrm>
          <a:prstGeom prst="roundRect">
            <a:avLst>
              <a:gd name="adj" fmla="val 7108"/>
            </a:avLst>
          </a:prstGeom>
          <a:solidFill>
            <a:srgbClr val="E6EEF8"/>
          </a:solidFill>
          <a:ln w="12700">
            <a:solidFill>
              <a:srgbClr val="B9CDE8"/>
            </a:solidFill>
            <a:prstDash val="solid"/>
          </a:ln>
        </p:spPr>
      </p:sp>
      <p:sp>
        <p:nvSpPr>
          <p:cNvPr id="11" name="Text 9"/>
          <p:cNvSpPr txBox="1"/>
          <p:nvPr/>
        </p:nvSpPr>
        <p:spPr>
          <a:xfrm>
            <a:off x="5286842" y="1572220"/>
            <a:ext cx="1618118" cy="765572"/>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Smoothing + hysteresis</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on above θ_on, off below θ_off</a:t>
            </a:r>
            <a:endParaRPr lang="en-US" sz="1200" dirty="0"/>
          </a:p>
        </p:txBody>
      </p:sp>
      <p:sp>
        <p:nvSpPr>
          <p:cNvPr id="12" name="Shape 10"/>
          <p:cNvSpPr/>
          <p:nvPr/>
        </p:nvSpPr>
        <p:spPr>
          <a:xfrm>
            <a:off x="7053461" y="1885752"/>
            <a:ext cx="279400" cy="139700"/>
          </a:xfrm>
          <a:prstGeom prst="rightArrow">
            <a:avLst/>
          </a:prstGeom>
          <a:solidFill>
            <a:srgbClr val="9AA3B2"/>
          </a:solidFill>
          <a:ln/>
        </p:spPr>
      </p:sp>
      <p:sp>
        <p:nvSpPr>
          <p:cNvPr id="13" name="Shape 11"/>
          <p:cNvSpPr/>
          <p:nvPr/>
        </p:nvSpPr>
        <p:spPr>
          <a:xfrm>
            <a:off x="7402711" y="1464270"/>
            <a:ext cx="1775420" cy="982662"/>
          </a:xfrm>
          <a:prstGeom prst="roundRect">
            <a:avLst>
              <a:gd name="adj" fmla="val 7108"/>
            </a:avLst>
          </a:prstGeom>
          <a:solidFill>
            <a:srgbClr val="E6EEF8"/>
          </a:solidFill>
          <a:ln w="12700">
            <a:solidFill>
              <a:srgbClr val="B9CDE8"/>
            </a:solidFill>
            <a:prstDash val="solid"/>
          </a:ln>
        </p:spPr>
      </p:sp>
      <p:sp>
        <p:nvSpPr>
          <p:cNvPr id="14" name="Text 12"/>
          <p:cNvSpPr txBox="1"/>
          <p:nvPr/>
        </p:nvSpPr>
        <p:spPr>
          <a:xfrm>
            <a:off x="7481362" y="1572220"/>
            <a:ext cx="1618118" cy="765572"/>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Merge gaps under g(concept)</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drop under min_duration</a:t>
            </a:r>
            <a:endParaRPr lang="en-US" sz="1200" dirty="0"/>
          </a:p>
        </p:txBody>
      </p:sp>
      <p:sp>
        <p:nvSpPr>
          <p:cNvPr id="15" name="Shape 13"/>
          <p:cNvSpPr/>
          <p:nvPr/>
        </p:nvSpPr>
        <p:spPr>
          <a:xfrm>
            <a:off x="9247981" y="1885752"/>
            <a:ext cx="279400" cy="139700"/>
          </a:xfrm>
          <a:prstGeom prst="rightArrow">
            <a:avLst/>
          </a:prstGeom>
          <a:solidFill>
            <a:srgbClr val="9AA3B2"/>
          </a:solidFill>
          <a:ln/>
        </p:spPr>
      </p:sp>
      <p:sp>
        <p:nvSpPr>
          <p:cNvPr id="16" name="Shape 14"/>
          <p:cNvSpPr/>
          <p:nvPr/>
        </p:nvSpPr>
        <p:spPr>
          <a:xfrm>
            <a:off x="9597231" y="1464270"/>
            <a:ext cx="1775420" cy="982662"/>
          </a:xfrm>
          <a:prstGeom prst="roundRect">
            <a:avLst>
              <a:gd name="adj" fmla="val 7108"/>
            </a:avLst>
          </a:prstGeom>
          <a:solidFill>
            <a:srgbClr val="E6EEF8"/>
          </a:solidFill>
          <a:ln w="12700">
            <a:solidFill>
              <a:srgbClr val="B9CDE8"/>
            </a:solidFill>
            <a:prstDash val="solid"/>
          </a:ln>
        </p:spPr>
      </p:sp>
      <p:sp>
        <p:nvSpPr>
          <p:cNvPr id="17" name="Text 15"/>
          <p:cNvSpPr txBox="1"/>
          <p:nvPr/>
        </p:nvSpPr>
        <p:spPr>
          <a:xfrm>
            <a:off x="9675882" y="1572220"/>
            <a:ext cx="1618118" cy="56753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Episode store</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concept · start · end · conf</a:t>
            </a:r>
            <a:endParaRPr lang="en-US" sz="1200" dirty="0"/>
          </a:p>
        </p:txBody>
      </p:sp>
      <p:sp>
        <p:nvSpPr>
          <p:cNvPr id="18" name="Shape 16"/>
          <p:cNvSpPr/>
          <p:nvPr/>
        </p:nvSpPr>
        <p:spPr>
          <a:xfrm>
            <a:off x="819150" y="2637433"/>
            <a:ext cx="5194300" cy="1640681"/>
          </a:xfrm>
          <a:prstGeom prst="roundRect">
            <a:avLst>
              <a:gd name="adj" fmla="val 5806"/>
            </a:avLst>
          </a:prstGeom>
          <a:solidFill>
            <a:srgbClr val="FDFCFA"/>
          </a:solidFill>
          <a:ln w="12700">
            <a:solidFill>
              <a:srgbClr val="E3E0D7"/>
            </a:solidFill>
            <a:prstDash val="solid"/>
          </a:ln>
        </p:spPr>
      </p:sp>
      <p:sp>
        <p:nvSpPr>
          <p:cNvPr id="19" name="Text 17"/>
          <p:cNvSpPr txBox="1"/>
          <p:nvPr/>
        </p:nvSpPr>
        <p:spPr>
          <a:xfrm>
            <a:off x="1003300" y="2827933"/>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What counts as “one time” is per concept</a:t>
            </a:r>
            <a:endParaRPr lang="en-US" sz="1500" dirty="0"/>
          </a:p>
        </p:txBody>
      </p:sp>
      <p:sp>
        <p:nvSpPr>
          <p:cNvPr id="20" name="Text 18"/>
          <p:cNvSpPr txBox="1"/>
          <p:nvPr/>
        </p:nvSpPr>
        <p:spPr>
          <a:xfrm>
            <a:off x="1003300" y="3132733"/>
            <a:ext cx="4900930"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Cooking: breaks under 10 min are the same session; under 3 min is not cooking, so a 1-minute microwave use is not counted.</a:t>
            </a:r>
            <a:endParaRPr lang="en-US" sz="1200" dirty="0"/>
          </a:p>
        </p:txBody>
      </p:sp>
      <p:sp>
        <p:nvSpPr>
          <p:cNvPr id="21" name="Text 19"/>
          <p:cNvSpPr txBox="1"/>
          <p:nvPr/>
        </p:nvSpPr>
        <p:spPr>
          <a:xfrm>
            <a:off x="1003300" y="3622873"/>
            <a:ext cx="4900930" cy="21336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Baby crying: cries under 60 s apart are one episode.</a:t>
            </a:r>
            <a:endParaRPr lang="en-US" sz="1200" dirty="0"/>
          </a:p>
        </p:txBody>
      </p:sp>
      <p:sp>
        <p:nvSpPr>
          <p:cNvPr id="22" name="Text 20"/>
          <p:cNvSpPr txBox="1"/>
          <p:nvPr/>
        </p:nvSpPr>
        <p:spPr>
          <a:xfrm>
            <a:off x="1003300" y="3899694"/>
            <a:ext cx="4900930"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Rules live in the ontology and are tuned per home from feedback.</a:t>
            </a:r>
            <a:endParaRPr lang="en-US" sz="1200" dirty="0"/>
          </a:p>
        </p:txBody>
      </p:sp>
      <p:sp>
        <p:nvSpPr>
          <p:cNvPr id="23" name="Shape 21"/>
          <p:cNvSpPr/>
          <p:nvPr/>
        </p:nvSpPr>
        <p:spPr>
          <a:xfrm>
            <a:off x="6178550" y="2637433"/>
            <a:ext cx="5194300" cy="1640681"/>
          </a:xfrm>
          <a:prstGeom prst="roundRect">
            <a:avLst>
              <a:gd name="adj" fmla="val 5806"/>
            </a:avLst>
          </a:prstGeom>
          <a:solidFill>
            <a:srgbClr val="FDFCFA"/>
          </a:solidFill>
          <a:ln w="12700">
            <a:solidFill>
              <a:srgbClr val="E3E0D7"/>
            </a:solidFill>
            <a:prstDash val="solid"/>
          </a:ln>
        </p:spPr>
      </p:sp>
      <p:sp>
        <p:nvSpPr>
          <p:cNvPr id="24" name="Text 22"/>
          <p:cNvSpPr txBox="1"/>
          <p:nvPr/>
        </p:nvSpPr>
        <p:spPr>
          <a:xfrm>
            <a:off x="6362700" y="2827933"/>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The biggest driver of count accuracy</a:t>
            </a:r>
            <a:endParaRPr lang="en-US" sz="1500" dirty="0"/>
          </a:p>
        </p:txBody>
      </p:sp>
      <p:sp>
        <p:nvSpPr>
          <p:cNvPr id="25" name="Text 23"/>
          <p:cNvSpPr txBox="1"/>
          <p:nvPr/>
        </p:nvSpPr>
        <p:spPr>
          <a:xfrm>
            <a:off x="6362700" y="3132733"/>
            <a:ext cx="4900930"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Counts come from episodes, not windows. The episode row is plain text and timestamps:</a:t>
            </a:r>
            <a:endParaRPr lang="en-US" sz="1200" dirty="0"/>
          </a:p>
        </p:txBody>
      </p:sp>
      <p:sp>
        <p:nvSpPr>
          <p:cNvPr id="26" name="Shape 24"/>
          <p:cNvSpPr/>
          <p:nvPr/>
        </p:nvSpPr>
        <p:spPr>
          <a:xfrm>
            <a:off x="6362700" y="3603823"/>
            <a:ext cx="4826000" cy="424160"/>
          </a:xfrm>
          <a:prstGeom prst="roundRect">
            <a:avLst>
              <a:gd name="adj" fmla="val 17965"/>
            </a:avLst>
          </a:prstGeom>
          <a:solidFill>
            <a:srgbClr val="EDEBE4"/>
          </a:solidFill>
          <a:ln/>
        </p:spPr>
      </p:sp>
      <p:sp>
        <p:nvSpPr>
          <p:cNvPr id="27" name="Text 25"/>
          <p:cNvSpPr txBox="1"/>
          <p:nvPr/>
        </p:nvSpPr>
        <p:spPr>
          <a:xfrm>
            <a:off x="6489700" y="3724473"/>
            <a:ext cx="4645660" cy="22098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cooking · 18:30–19:22 · kitchen · 0.94</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FROM MODEL TO ANSWERS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Anomaly, device health and occupancy</a:t>
            </a:r>
            <a:endParaRPr lang="en-US" sz="2800" dirty="0"/>
          </a:p>
        </p:txBody>
      </p:sp>
      <p:sp>
        <p:nvSpPr>
          <p:cNvPr id="4" name="Shape 2"/>
          <p:cNvSpPr/>
          <p:nvPr/>
        </p:nvSpPr>
        <p:spPr>
          <a:xfrm>
            <a:off x="819150" y="1464270"/>
            <a:ext cx="3407866" cy="3266083"/>
          </a:xfrm>
          <a:prstGeom prst="roundRect">
            <a:avLst>
              <a:gd name="adj" fmla="val 2916"/>
            </a:avLst>
          </a:prstGeom>
          <a:solidFill>
            <a:srgbClr val="FDFCFA"/>
          </a:solidFill>
          <a:ln w="12700">
            <a:solidFill>
              <a:srgbClr val="E3E0D7"/>
            </a:solidFill>
            <a:prstDash val="solid"/>
          </a:ln>
        </p:spPr>
      </p:sp>
      <p:sp>
        <p:nvSpPr>
          <p:cNvPr id="5" name="Text 3"/>
          <p:cNvSpPr txBox="1"/>
          <p:nvPr/>
        </p:nvSpPr>
        <p:spPr>
          <a:xfrm>
            <a:off x="1003300" y="16547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Anomaly engine</a:t>
            </a:r>
            <a:endParaRPr lang="en-US" sz="1500" dirty="0"/>
          </a:p>
        </p:txBody>
      </p:sp>
      <p:sp>
        <p:nvSpPr>
          <p:cNvPr id="6" name="Shape 4"/>
          <p:cNvSpPr/>
          <p:nvPr/>
        </p:nvSpPr>
        <p:spPr>
          <a:xfrm>
            <a:off x="1003300" y="1940520"/>
            <a:ext cx="3039566" cy="645120"/>
          </a:xfrm>
          <a:prstGeom prst="roundRect">
            <a:avLst>
              <a:gd name="adj" fmla="val 11812"/>
            </a:avLst>
          </a:prstGeom>
          <a:solidFill>
            <a:srgbClr val="EDEBE4"/>
          </a:solidFill>
          <a:ln/>
        </p:spPr>
      </p:sp>
      <p:sp>
        <p:nvSpPr>
          <p:cNvPr id="7" name="Text 5"/>
          <p:cNvSpPr txBox="1"/>
          <p:nvPr/>
        </p:nvSpPr>
        <p:spPr>
          <a:xfrm>
            <a:off x="1130300" y="2061170"/>
            <a:ext cx="2850294" cy="392410"/>
          </a:xfrm>
          <a:prstGeom prst="rect">
            <a:avLst/>
          </a:prstGeom>
          <a:noFill/>
          <a:ln/>
        </p:spPr>
        <p:txBody>
          <a:bodyPr wrap="square" lIns="0" tIns="0" rIns="0" bIns="0" rtlCol="0" anchor="t"/>
          <a:lstStyle/>
          <a:p>
            <a:pPr algn="l" indent="0" marL="0">
              <a:lnSpc>
                <a:spcPts val="1740"/>
              </a:lnSpc>
              <a:buNone/>
            </a:pPr>
            <a:r>
              <a:rPr lang="en-US" sz="1200" dirty="0">
                <a:solidFill>
                  <a:srgbClr val="14213D"/>
                </a:solidFill>
                <a:latin typeface="Courier New" pitchFamily="34" charset="0"/>
                <a:ea typeface="Courier New" pitchFamily="34" charset="-122"/>
                <a:cs typeface="Courier New" pitchFamily="34" charset="-120"/>
              </a:rPr>
              <a:t>score = w1·surprise + w2·rarity + w3·drift</a:t>
            </a:r>
            <a:endParaRPr lang="en-US" sz="1200" dirty="0"/>
          </a:p>
        </p:txBody>
      </p:sp>
      <p:sp>
        <p:nvSpPr>
          <p:cNvPr id="8" name="Text 6"/>
          <p:cNvSpPr txBox="1"/>
          <p:nvPr/>
        </p:nvSpPr>
        <p:spPr>
          <a:xfrm>
            <a:off x="1003300" y="2668191"/>
            <a:ext cx="3105564"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Surprise: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−log p(event | history) from game 1.</a:t>
            </a:r>
            <a:endParaRPr lang="en-US" sz="1200" dirty="0"/>
          </a:p>
        </p:txBody>
      </p:sp>
      <p:sp>
        <p:nvSpPr>
          <p:cNvPr id="9" name="Text 7"/>
          <p:cNvSpPr txBox="1"/>
          <p:nvPr/>
        </p:nvSpPr>
        <p:spPr>
          <a:xfrm>
            <a:off x="1003300" y="3158331"/>
            <a:ext cx="3105564"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Rarity: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how far the window vector is from this home's history (nearest neighbours).</a:t>
            </a:r>
            <a:endParaRPr lang="en-US" sz="1200" dirty="0"/>
          </a:p>
        </p:txBody>
      </p:sp>
      <p:sp>
        <p:nvSpPr>
          <p:cNvPr id="10" name="Text 8"/>
          <p:cNvSpPr txBox="1"/>
          <p:nvPr/>
        </p:nvSpPr>
        <p:spPr>
          <a:xfrm>
            <a:off x="1003300" y="3648472"/>
            <a:ext cx="3105564"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Drift:</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episode timing, duration and frequency against a per-person baseline.</a:t>
            </a:r>
            <a:endParaRPr lang="en-US" sz="1200" dirty="0"/>
          </a:p>
        </p:txBody>
      </p:sp>
      <p:sp>
        <p:nvSpPr>
          <p:cNvPr id="11" name="Text 9"/>
          <p:cNvSpPr txBox="1"/>
          <p:nvPr/>
        </p:nvSpPr>
        <p:spPr>
          <a:xfrm>
            <a:off x="1003300" y="4138613"/>
            <a:ext cx="3105564" cy="384770"/>
          </a:xfrm>
          <a:prstGeom prst="rect">
            <a:avLst/>
          </a:prstGeom>
          <a:noFill/>
          <a:ln/>
        </p:spPr>
        <p:txBody>
          <a:bodyPr wrap="square" lIns="0" tIns="0" rIns="0" bIns="0" rtlCol="0" anchor="t"/>
          <a:lstStyle/>
          <a:p>
            <a:pPr algn="l" indent="0" marL="0">
              <a:lnSpc>
                <a:spcPts val="1680"/>
              </a:lnSpc>
              <a:buNone/>
            </a:pPr>
            <a:r>
              <a:rPr lang="en-US" sz="1200" dirty="0">
                <a:solidFill>
                  <a:srgbClr val="1E5AA8"/>
                </a:solidFill>
                <a:latin typeface="Arial" pitchFamily="34" charset="0"/>
                <a:ea typeface="Arial" pitchFamily="34" charset="-122"/>
                <a:cs typeface="Arial" pitchFamily="34" charset="-120"/>
              </a:rPr>
              <a:t>Every flag is explained: “front door opened at 03:12; normally no door events after 23:00”.</a:t>
            </a:r>
            <a:endParaRPr lang="en-US" sz="1200" dirty="0"/>
          </a:p>
        </p:txBody>
      </p:sp>
      <p:sp>
        <p:nvSpPr>
          <p:cNvPr id="12" name="Shape 10"/>
          <p:cNvSpPr/>
          <p:nvPr/>
        </p:nvSpPr>
        <p:spPr>
          <a:xfrm>
            <a:off x="4392116" y="1464270"/>
            <a:ext cx="3407866" cy="3266083"/>
          </a:xfrm>
          <a:prstGeom prst="roundRect">
            <a:avLst>
              <a:gd name="adj" fmla="val 2916"/>
            </a:avLst>
          </a:prstGeom>
          <a:solidFill>
            <a:srgbClr val="FDFCFA"/>
          </a:solidFill>
          <a:ln w="12700">
            <a:solidFill>
              <a:srgbClr val="E3E0D7"/>
            </a:solidFill>
            <a:prstDash val="solid"/>
          </a:ln>
        </p:spPr>
      </p:sp>
      <p:sp>
        <p:nvSpPr>
          <p:cNvPr id="13" name="Text 11"/>
          <p:cNvSpPr txBox="1"/>
          <p:nvPr/>
        </p:nvSpPr>
        <p:spPr>
          <a:xfrm>
            <a:off x="4576266" y="16547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Device-health engine</a:t>
            </a:r>
            <a:endParaRPr lang="en-US" sz="1500" dirty="0"/>
          </a:p>
        </p:txBody>
      </p:sp>
      <p:sp>
        <p:nvSpPr>
          <p:cNvPr id="14" name="Text 12"/>
          <p:cNvSpPr txBox="1"/>
          <p:nvPr/>
        </p:nvSpPr>
        <p:spPr>
          <a:xfrm>
            <a:off x="4576266" y="1959570"/>
            <a:ext cx="3105564" cy="59809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Sensor faults: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silence, stuck-on, battery decay, radio signal drop, event rate that disagrees with neighbouring sensors.</a:t>
            </a:r>
            <a:endParaRPr lang="en-US" sz="1200" dirty="0"/>
          </a:p>
        </p:txBody>
      </p:sp>
      <p:sp>
        <p:nvSpPr>
          <p:cNvPr id="15" name="Text 13"/>
          <p:cNvSpPr txBox="1"/>
          <p:nvPr/>
        </p:nvSpPr>
        <p:spPr>
          <a:xfrm>
            <a:off x="4576266" y="2663031"/>
            <a:ext cx="3105564" cy="102473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Appliance faults: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power-signature vectors against the device's own history and the same type in other homes: longer fridge compressor cycles, changed wash cycles, standby creep.</a:t>
            </a:r>
            <a:endParaRPr lang="en-US" sz="1200" dirty="0"/>
          </a:p>
        </p:txBody>
      </p:sp>
      <p:sp>
        <p:nvSpPr>
          <p:cNvPr id="16" name="Shape 14"/>
          <p:cNvSpPr/>
          <p:nvPr/>
        </p:nvSpPr>
        <p:spPr>
          <a:xfrm>
            <a:off x="7965083" y="1464270"/>
            <a:ext cx="3407866" cy="3266083"/>
          </a:xfrm>
          <a:prstGeom prst="roundRect">
            <a:avLst>
              <a:gd name="adj" fmla="val 2916"/>
            </a:avLst>
          </a:prstGeom>
          <a:solidFill>
            <a:srgbClr val="FDFCFA"/>
          </a:solidFill>
          <a:ln w="12700">
            <a:solidFill>
              <a:srgbClr val="E3E0D7"/>
            </a:solidFill>
            <a:prstDash val="solid"/>
          </a:ln>
        </p:spPr>
      </p:sp>
      <p:sp>
        <p:nvSpPr>
          <p:cNvPr id="17" name="Text 15"/>
          <p:cNvSpPr txBox="1"/>
          <p:nvPr/>
        </p:nvSpPr>
        <p:spPr>
          <a:xfrm>
            <a:off x="8149233" y="1654770"/>
            <a:ext cx="3105564"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Occupancy and identity</a:t>
            </a:r>
            <a:endParaRPr lang="en-US" sz="1500" dirty="0"/>
          </a:p>
        </p:txBody>
      </p:sp>
      <p:sp>
        <p:nvSpPr>
          <p:cNvPr id="18" name="Text 16"/>
          <p:cNvSpPr txBox="1"/>
          <p:nvPr/>
        </p:nvSpPr>
        <p:spPr>
          <a:xfrm>
            <a:off x="8149233" y="1959570"/>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People per room, supervised by camera or radar counts where allowed; person cards for who.</a:t>
            </a:r>
            <a:endParaRPr lang="en-US" sz="1200" dirty="0"/>
          </a:p>
        </p:txBody>
      </p:sp>
      <p:sp>
        <p:nvSpPr>
          <p:cNvPr id="19" name="Text 17"/>
          <p:cNvSpPr txBox="1"/>
          <p:nvPr/>
        </p:nvSpPr>
        <p:spPr>
          <a:xfrm>
            <a:off x="8149233" y="2663031"/>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Motion-only homes get a calibrated range (“1–2 people”), not a falsely confident number.</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FROM MODEL TO ANSWERS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query agent: text in, tools, text out</a:t>
            </a:r>
            <a:endParaRPr lang="en-US" sz="2800" dirty="0"/>
          </a:p>
        </p:txBody>
      </p:sp>
      <p:sp>
        <p:nvSpPr>
          <p:cNvPr id="4" name="Shape 2"/>
          <p:cNvSpPr/>
          <p:nvPr/>
        </p:nvSpPr>
        <p:spPr>
          <a:xfrm>
            <a:off x="819150" y="1464270"/>
            <a:ext cx="5194300" cy="1325761"/>
          </a:xfrm>
          <a:prstGeom prst="roundRect">
            <a:avLst>
              <a:gd name="adj" fmla="val 7185"/>
            </a:avLst>
          </a:prstGeom>
          <a:solidFill>
            <a:srgbClr val="FDFCFA"/>
          </a:solidFill>
          <a:ln w="12700">
            <a:solidFill>
              <a:srgbClr val="E3E0D7"/>
            </a:solidFill>
            <a:prstDash val="solid"/>
          </a:ln>
        </p:spPr>
      </p:sp>
      <p:sp>
        <p:nvSpPr>
          <p:cNvPr id="5" name="Shape 3"/>
          <p:cNvSpPr/>
          <p:nvPr/>
        </p:nvSpPr>
        <p:spPr>
          <a:xfrm>
            <a:off x="1003300" y="1648420"/>
            <a:ext cx="2675830" cy="254000"/>
          </a:xfrm>
          <a:prstGeom prst="roundRect">
            <a:avLst>
              <a:gd name="adj" fmla="val 50000"/>
            </a:avLst>
          </a:prstGeom>
          <a:solidFill>
            <a:srgbClr val="E6EEF8"/>
          </a:solidFill>
          <a:ln/>
        </p:spPr>
      </p:sp>
      <p:sp>
        <p:nvSpPr>
          <p:cNvPr id="6" name="Text 4"/>
          <p:cNvSpPr txBox="1"/>
          <p:nvPr/>
        </p:nvSpPr>
        <p:spPr>
          <a:xfrm>
            <a:off x="1104900" y="1686520"/>
            <a:ext cx="2535794"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Bridge 1 · stored facts (main path)</a:t>
            </a:r>
            <a:endParaRPr lang="en-US" sz="1200" dirty="0"/>
          </a:p>
        </p:txBody>
      </p:sp>
      <p:sp>
        <p:nvSpPr>
          <p:cNvPr id="7" name="Text 5"/>
          <p:cNvSpPr txBox="1"/>
          <p:nvPr/>
        </p:nvSpPr>
        <p:spPr>
          <a:xfrm>
            <a:off x="1003300" y="1984970"/>
            <a:ext cx="4900930"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Heads turn vectors into rows with text labels: episodes, states, anomalies, device health. The agent answers with plain SQL, e.g. count_episodes(cooking, 16:00, 20:00).</a:t>
            </a:r>
            <a:endParaRPr lang="en-US" sz="1200" dirty="0"/>
          </a:p>
        </p:txBody>
      </p:sp>
      <p:sp>
        <p:nvSpPr>
          <p:cNvPr id="8" name="Shape 6"/>
          <p:cNvSpPr/>
          <p:nvPr/>
        </p:nvSpPr>
        <p:spPr>
          <a:xfrm>
            <a:off x="6178550" y="1464270"/>
            <a:ext cx="5194300" cy="1325761"/>
          </a:xfrm>
          <a:prstGeom prst="roundRect">
            <a:avLst>
              <a:gd name="adj" fmla="val 7185"/>
            </a:avLst>
          </a:prstGeom>
          <a:solidFill>
            <a:srgbClr val="FDFCFA"/>
          </a:solidFill>
          <a:ln w="12700">
            <a:solidFill>
              <a:srgbClr val="E3E0D7"/>
            </a:solidFill>
            <a:prstDash val="solid"/>
          </a:ln>
        </p:spPr>
      </p:sp>
      <p:sp>
        <p:nvSpPr>
          <p:cNvPr id="9" name="Shape 7"/>
          <p:cNvSpPr/>
          <p:nvPr/>
        </p:nvSpPr>
        <p:spPr>
          <a:xfrm>
            <a:off x="6362700" y="1648420"/>
            <a:ext cx="3200896" cy="254000"/>
          </a:xfrm>
          <a:prstGeom prst="roundRect">
            <a:avLst>
              <a:gd name="adj" fmla="val 50000"/>
            </a:avLst>
          </a:prstGeom>
          <a:solidFill>
            <a:srgbClr val="E6EEF8"/>
          </a:solidFill>
          <a:ln/>
        </p:spPr>
      </p:sp>
      <p:sp>
        <p:nvSpPr>
          <p:cNvPr id="10" name="Text 8"/>
          <p:cNvSpPr txBox="1"/>
          <p:nvPr/>
        </p:nvSpPr>
        <p:spPr>
          <a:xfrm>
            <a:off x="6464300" y="1686520"/>
            <a:ext cx="3063485"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Bridge 2 · search by meaning (open path)</a:t>
            </a:r>
            <a:endParaRPr lang="en-US" sz="1200" dirty="0"/>
          </a:p>
        </p:txBody>
      </p:sp>
      <p:sp>
        <p:nvSpPr>
          <p:cNvPr id="11" name="Text 9"/>
          <p:cNvSpPr txBox="1"/>
          <p:nvPr/>
        </p:nvSpPr>
        <p:spPr>
          <a:xfrm>
            <a:off x="6362700" y="1984970"/>
            <a:ext cx="4900930"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Projected minute vectors in a vector index (1,440 × 128 × fp16 ≈ 370 KB per home per day). semantic_search: text in, JSON out; the tool does the vector maths.</a:t>
            </a:r>
            <a:endParaRPr lang="en-US" sz="1200" dirty="0"/>
          </a:p>
        </p:txBody>
      </p:sp>
      <p:sp>
        <p:nvSpPr>
          <p:cNvPr id="12" name="Shape 10"/>
          <p:cNvSpPr/>
          <p:nvPr/>
        </p:nvSpPr>
        <p:spPr>
          <a:xfrm>
            <a:off x="819150" y="2980531"/>
            <a:ext cx="5194300" cy="1513681"/>
          </a:xfrm>
          <a:prstGeom prst="roundRect">
            <a:avLst>
              <a:gd name="adj" fmla="val 6293"/>
            </a:avLst>
          </a:prstGeom>
          <a:solidFill>
            <a:srgbClr val="FDFCFA"/>
          </a:solidFill>
          <a:ln w="12700">
            <a:solidFill>
              <a:srgbClr val="E3E0D7"/>
            </a:solidFill>
            <a:prstDash val="solid"/>
          </a:ln>
        </p:spPr>
      </p:sp>
      <p:sp>
        <p:nvSpPr>
          <p:cNvPr id="13" name="Text 11"/>
          <p:cNvSpPr txBox="1"/>
          <p:nvPr/>
        </p:nvSpPr>
        <p:spPr>
          <a:xfrm>
            <a:off x="1003300" y="3171031"/>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Rules</a:t>
            </a:r>
            <a:endParaRPr lang="en-US" sz="1500" dirty="0"/>
          </a:p>
        </p:txBody>
      </p:sp>
      <p:sp>
        <p:nvSpPr>
          <p:cNvPr id="14" name="Text 12"/>
          <p:cNvSpPr txBox="1"/>
          <p:nvPr/>
        </p:nvSpPr>
        <p:spPr>
          <a:xfrm>
            <a:off x="1003300" y="3475831"/>
            <a:ext cx="4900930"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The LLM never produces numbers; tools do · time resolved in code, in the home's timezone · every answer has evidence and confidence · unobservable concepts are refused honestly.</a:t>
            </a:r>
            <a:endParaRPr lang="en-US" sz="1200" dirty="0"/>
          </a:p>
        </p:txBody>
      </p:sp>
      <p:sp>
        <p:nvSpPr>
          <p:cNvPr id="15" name="Shape 13"/>
          <p:cNvSpPr/>
          <p:nvPr/>
        </p:nvSpPr>
        <p:spPr>
          <a:xfrm>
            <a:off x="6178550" y="2980531"/>
            <a:ext cx="5194300" cy="1513681"/>
          </a:xfrm>
          <a:prstGeom prst="roundRect">
            <a:avLst>
              <a:gd name="adj" fmla="val 6293"/>
            </a:avLst>
          </a:prstGeom>
          <a:solidFill>
            <a:srgbClr val="FDFCFA"/>
          </a:solidFill>
          <a:ln w="12700">
            <a:solidFill>
              <a:srgbClr val="E3E0D7"/>
            </a:solidFill>
            <a:prstDash val="solid"/>
          </a:ln>
        </p:spPr>
      </p:sp>
      <p:sp>
        <p:nvSpPr>
          <p:cNvPr id="16" name="Text 14"/>
          <p:cNvSpPr txBox="1"/>
          <p:nvPr/>
        </p:nvSpPr>
        <p:spPr>
          <a:xfrm>
            <a:off x="6362700" y="3171031"/>
            <a:ext cx="4900930"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Example, open path</a:t>
            </a:r>
            <a:endParaRPr lang="en-US" sz="1500" dirty="0"/>
          </a:p>
        </p:txBody>
      </p:sp>
      <p:sp>
        <p:nvSpPr>
          <p:cNvPr id="17" name="Text 15"/>
          <p:cNvSpPr txBox="1"/>
          <p:nvPr/>
        </p:nvSpPr>
        <p:spPr>
          <a:xfrm>
            <a:off x="6362700" y="3475831"/>
            <a:ext cx="4900930" cy="811411"/>
          </a:xfrm>
          <a:prstGeom prst="rect">
            <a:avLst/>
          </a:prstGeom>
          <a:noFill/>
          <a:ln/>
        </p:spPr>
        <p:txBody>
          <a:bodyPr wrap="square" lIns="0" tIns="0" rIns="0" bIns="0" rtlCol="0" anchor="t"/>
          <a:lstStyle/>
          <a:p>
            <a:pPr algn="l" indent="0" marL="0">
              <a:lnSpc>
                <a:spcPts val="1680"/>
              </a:lnSpc>
              <a:buNone/>
            </a:pPr>
            <a:r>
              <a:rPr lang="en-US" sz="1200" i="1" dirty="0">
                <a:solidFill>
                  <a:srgbClr val="3D4757"/>
                </a:solidFill>
                <a:latin typeface="Arial" pitchFamily="34" charset="0"/>
                <a:ea typeface="Arial" pitchFamily="34" charset="-122"/>
                <a:cs typeface="Arial" pitchFamily="34" charset="-120"/>
              </a:rPr>
              <a:t>“Did anyone vacuum today?”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Not a stored concept, but a vacuum plug exists → search “someone vacuuming” → 10:05–10:38, living room, score 0.78, plug at 1.2 kW →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“Probably yes, ~10:05–10:38 (medium confidence)”</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a:t>
            </a:r>
            <a:endParaRPr lang="en-US" sz="1200" dirty="0"/>
          </a:p>
        </p:txBody>
      </p:sp>
      <p:sp>
        <p:nvSpPr>
          <p:cNvPr id="18" name="Text 16"/>
          <p:cNvSpPr txBox="1"/>
          <p:nvPr/>
        </p:nvSpPr>
        <p:spPr>
          <a:xfrm>
            <a:off x="812800" y="4697413"/>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Tools: query_events · query_episodes · get_state · semantic_search · compare_baseline · detect_anomalies · device_health · energy_breakdown · forecast · list_capabilities. Model: a small local 3–8B LLM with function calling; cloud only if the household opts in.</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FROM MODEL TO ANSWERS</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The live pipeline runs at five rhythms</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1783545"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Rhythm</a:t>
            </a:r>
            <a:endParaRPr lang="en-US" sz="1200" dirty="0"/>
          </a:p>
        </p:txBody>
      </p:sp>
      <p:sp>
        <p:nvSpPr>
          <p:cNvPr id="6" name="Text 4"/>
          <p:cNvSpPr txBox="1"/>
          <p:nvPr/>
        </p:nvSpPr>
        <p:spPr>
          <a:xfrm>
            <a:off x="2803624" y="1521420"/>
            <a:ext cx="4756942"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What happens</a:t>
            </a:r>
            <a:endParaRPr lang="en-US" sz="1200" dirty="0"/>
          </a:p>
        </p:txBody>
      </p:sp>
      <p:sp>
        <p:nvSpPr>
          <p:cNvPr id="7" name="Text 5"/>
          <p:cNvSpPr txBox="1"/>
          <p:nvPr/>
        </p:nvSpPr>
        <p:spPr>
          <a:xfrm>
            <a:off x="7664152" y="1521420"/>
            <a:ext cx="369507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What gets stored</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Every event</a:t>
            </a:r>
            <a:endParaRPr lang="en-US" sz="1200" dirty="0"/>
          </a:p>
        </p:txBody>
      </p:sp>
      <p:sp>
        <p:nvSpPr>
          <p:cNvPr id="10" name="Text 8"/>
          <p:cNvSpPr txBox="1"/>
          <p:nvPr/>
        </p:nvSpPr>
        <p:spPr>
          <a:xfrm>
            <a:off x="2803624" y="1826220"/>
            <a:ext cx="475694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Sensor reading → Home Token → event vector</a:t>
            </a:r>
            <a:endParaRPr lang="en-US" sz="1200" dirty="0"/>
          </a:p>
        </p:txBody>
      </p:sp>
      <p:sp>
        <p:nvSpPr>
          <p:cNvPr id="11" name="Text 9"/>
          <p:cNvSpPr txBox="1"/>
          <p:nvPr/>
        </p:nvSpPr>
        <p:spPr>
          <a:xfrm>
            <a:off x="7664152" y="1826220"/>
            <a:ext cx="369507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Raw event → event store</a:t>
            </a:r>
            <a:endParaRPr lang="en-US" sz="1200" dirty="0"/>
          </a:p>
        </p:txBody>
      </p:sp>
      <p:sp>
        <p:nvSpPr>
          <p:cNvPr id="12" name="Shape 10"/>
          <p:cNvSpPr/>
          <p:nvPr/>
        </p:nvSpPr>
        <p:spPr>
          <a:xfrm>
            <a:off x="812800" y="2067520"/>
            <a:ext cx="10566400" cy="482600"/>
          </a:xfrm>
          <a:prstGeom prst="rect">
            <a:avLst/>
          </a:prstGeom>
          <a:solidFill>
            <a:srgbClr val="F6F5F1"/>
          </a:solidFill>
          <a:ln/>
        </p:spPr>
      </p:sp>
      <p:sp>
        <p:nvSpPr>
          <p:cNvPr id="13" name="Text 11"/>
          <p:cNvSpPr txBox="1"/>
          <p:nvPr/>
        </p:nvSpPr>
        <p:spPr>
          <a:xfrm>
            <a:off x="901700" y="22199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Every minute</a:t>
            </a:r>
            <a:endParaRPr lang="en-US" sz="1200" dirty="0"/>
          </a:p>
        </p:txBody>
      </p:sp>
      <p:sp>
        <p:nvSpPr>
          <p:cNvPr id="14" name="Text 12"/>
          <p:cNvSpPr txBox="1"/>
          <p:nvPr/>
        </p:nvSpPr>
        <p:spPr>
          <a:xfrm>
            <a:off x="2803624" y="2131020"/>
            <a:ext cx="4756942"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Minute summary → stream (live) → heads; episode builder opens, extends or closes</a:t>
            </a:r>
            <a:endParaRPr lang="en-US" sz="1200" dirty="0"/>
          </a:p>
        </p:txBody>
      </p:sp>
      <p:sp>
        <p:nvSpPr>
          <p:cNvPr id="15" name="Text 13"/>
          <p:cNvSpPr txBox="1"/>
          <p:nvPr/>
        </p:nvSpPr>
        <p:spPr>
          <a:xfrm>
            <a:off x="7664152" y="2219920"/>
            <a:ext cx="369507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Minute vector → vector store; tags, surprise, people</a:t>
            </a:r>
            <a:endParaRPr lang="en-US" sz="1200" dirty="0"/>
          </a:p>
        </p:txBody>
      </p:sp>
      <p:sp>
        <p:nvSpPr>
          <p:cNvPr id="16" name="Shape 14"/>
          <p:cNvSpPr/>
          <p:nvPr/>
        </p:nvSpPr>
        <p:spPr>
          <a:xfrm>
            <a:off x="812800" y="2550120"/>
            <a:ext cx="10566400" cy="304800"/>
          </a:xfrm>
          <a:prstGeom prst="rect">
            <a:avLst/>
          </a:prstGeom>
          <a:solidFill>
            <a:srgbClr val="FDFCFA"/>
          </a:solidFill>
          <a:ln/>
        </p:spPr>
      </p:sp>
      <p:sp>
        <p:nvSpPr>
          <p:cNvPr id="17" name="Text 15"/>
          <p:cNvSpPr txBox="1"/>
          <p:nvPr/>
        </p:nvSpPr>
        <p:spPr>
          <a:xfrm>
            <a:off x="901700" y="26136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About every hour</a:t>
            </a:r>
            <a:endParaRPr lang="en-US" sz="1200" dirty="0"/>
          </a:p>
        </p:txBody>
      </p:sp>
      <p:sp>
        <p:nvSpPr>
          <p:cNvPr id="18" name="Text 16"/>
          <p:cNvSpPr txBox="1"/>
          <p:nvPr/>
        </p:nvSpPr>
        <p:spPr>
          <a:xfrm>
            <a:off x="2803624" y="2613620"/>
            <a:ext cx="475694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Look-back pass over the last few hours, both directions</a:t>
            </a:r>
            <a:endParaRPr lang="en-US" sz="1200" dirty="0"/>
          </a:p>
        </p:txBody>
      </p:sp>
      <p:sp>
        <p:nvSpPr>
          <p:cNvPr id="19" name="Text 17"/>
          <p:cNvSpPr txBox="1"/>
          <p:nvPr/>
        </p:nvSpPr>
        <p:spPr>
          <a:xfrm>
            <a:off x="7664152" y="2613620"/>
            <a:ext cx="369507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Corrected episode starts and ends</a:t>
            </a:r>
            <a:endParaRPr lang="en-US" sz="1200" dirty="0"/>
          </a:p>
        </p:txBody>
      </p:sp>
      <p:sp>
        <p:nvSpPr>
          <p:cNvPr id="20" name="Shape 18"/>
          <p:cNvSpPr/>
          <p:nvPr/>
        </p:nvSpPr>
        <p:spPr>
          <a:xfrm>
            <a:off x="812800" y="2854920"/>
            <a:ext cx="10566400" cy="304800"/>
          </a:xfrm>
          <a:prstGeom prst="rect">
            <a:avLst/>
          </a:prstGeom>
          <a:solidFill>
            <a:srgbClr val="F6F5F1"/>
          </a:solidFill>
          <a:ln/>
        </p:spPr>
      </p:sp>
      <p:sp>
        <p:nvSpPr>
          <p:cNvPr id="21" name="Text 19"/>
          <p:cNvSpPr txBox="1"/>
          <p:nvPr/>
        </p:nvSpPr>
        <p:spPr>
          <a:xfrm>
            <a:off x="901700" y="29184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Every day</a:t>
            </a:r>
            <a:endParaRPr lang="en-US" sz="1200" dirty="0"/>
          </a:p>
        </p:txBody>
      </p:sp>
      <p:sp>
        <p:nvSpPr>
          <p:cNvPr id="22" name="Text 20"/>
          <p:cNvSpPr txBox="1"/>
          <p:nvPr/>
        </p:nvSpPr>
        <p:spPr>
          <a:xfrm>
            <a:off x="2803624" y="2918420"/>
            <a:ext cx="475694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Day summary; anomaly and device-health checks</a:t>
            </a:r>
            <a:endParaRPr lang="en-US" sz="1200" dirty="0"/>
          </a:p>
        </p:txBody>
      </p:sp>
      <p:sp>
        <p:nvSpPr>
          <p:cNvPr id="23" name="Text 21"/>
          <p:cNvSpPr txBox="1"/>
          <p:nvPr/>
        </p:nvSpPr>
        <p:spPr>
          <a:xfrm>
            <a:off x="7664152" y="2918420"/>
            <a:ext cx="369507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Day vector; flags in anomaly and health tables</a:t>
            </a:r>
            <a:endParaRPr lang="en-US" sz="1200" dirty="0"/>
          </a:p>
        </p:txBody>
      </p:sp>
      <p:sp>
        <p:nvSpPr>
          <p:cNvPr id="24" name="Shape 22"/>
          <p:cNvSpPr/>
          <p:nvPr/>
        </p:nvSpPr>
        <p:spPr>
          <a:xfrm>
            <a:off x="812800" y="3159720"/>
            <a:ext cx="10566400" cy="304800"/>
          </a:xfrm>
          <a:prstGeom prst="rect">
            <a:avLst/>
          </a:prstGeom>
          <a:solidFill>
            <a:srgbClr val="FDFCFA"/>
          </a:solidFill>
          <a:ln/>
        </p:spPr>
      </p:sp>
      <p:sp>
        <p:nvSpPr>
          <p:cNvPr id="25" name="Text 23"/>
          <p:cNvSpPr txBox="1"/>
          <p:nvPr/>
        </p:nvSpPr>
        <p:spPr>
          <a:xfrm>
            <a:off x="901700" y="3223220"/>
            <a:ext cx="1783545"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 a question</a:t>
            </a:r>
            <a:endParaRPr lang="en-US" sz="1200" dirty="0"/>
          </a:p>
        </p:txBody>
      </p:sp>
      <p:sp>
        <p:nvSpPr>
          <p:cNvPr id="26" name="Text 24"/>
          <p:cNvSpPr txBox="1"/>
          <p:nvPr/>
        </p:nvSpPr>
        <p:spPr>
          <a:xfrm>
            <a:off x="2803624" y="3223220"/>
            <a:ext cx="4756942"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Agent resolves words and time, calls tools, answers</a:t>
            </a:r>
            <a:endParaRPr lang="en-US" sz="1200" dirty="0"/>
          </a:p>
        </p:txBody>
      </p:sp>
      <p:sp>
        <p:nvSpPr>
          <p:cNvPr id="27" name="Text 25"/>
          <p:cNvSpPr txBox="1"/>
          <p:nvPr/>
        </p:nvSpPr>
        <p:spPr>
          <a:xfrm>
            <a:off x="7664152" y="3223220"/>
            <a:ext cx="369507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Nothing new, except feedback saved as labels</a:t>
            </a:r>
            <a:endParaRPr lang="en-US" sz="1200" dirty="0"/>
          </a:p>
        </p:txBody>
      </p:sp>
      <p:sp>
        <p:nvSpPr>
          <p:cNvPr id="28" name="Text 26"/>
          <p:cNvSpPr txBox="1"/>
          <p:nvPr/>
        </p:nvSpPr>
        <p:spPr>
          <a:xfrm>
            <a:off x="812800" y="3661370"/>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Two kinds of minute vector: the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minute summary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(this minute's events only, input to the stream) and the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contextual minute vector</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(this minute plus the past; projected and stored for search).</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FROM MODEL TO ANSWERS · END TO END</a:t>
            </a:r>
            <a:endParaRPr lang="en-US" sz="1200" dirty="0"/>
          </a:p>
        </p:txBody>
      </p:sp>
      <p:sp>
        <p:nvSpPr>
          <p:cNvPr id="3" name="Text 1"/>
          <p:cNvSpPr txBox="1"/>
          <p:nvPr/>
        </p:nvSpPr>
        <p:spPr>
          <a:xfrm>
            <a:off x="812800" y="882650"/>
            <a:ext cx="10670032" cy="79117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“How many times did cooking happen in the last 4 hours?” at 20:00</a:t>
            </a:r>
            <a:endParaRPr lang="en-US" sz="2800" dirty="0"/>
          </a:p>
        </p:txBody>
      </p:sp>
      <p:sp>
        <p:nvSpPr>
          <p:cNvPr id="4" name="Shape 2"/>
          <p:cNvSpPr/>
          <p:nvPr/>
        </p:nvSpPr>
        <p:spPr>
          <a:xfrm>
            <a:off x="819150" y="1855391"/>
            <a:ext cx="2918222" cy="586581"/>
          </a:xfrm>
          <a:prstGeom prst="roundRect">
            <a:avLst>
              <a:gd name="adj" fmla="val 11908"/>
            </a:avLst>
          </a:prstGeom>
          <a:solidFill>
            <a:srgbClr val="FDFCFA"/>
          </a:solidFill>
          <a:ln w="12700">
            <a:solidFill>
              <a:srgbClr val="E3E0D7"/>
            </a:solidFill>
            <a:prstDash val="solid"/>
          </a:ln>
        </p:spPr>
      </p:sp>
      <p:sp>
        <p:nvSpPr>
          <p:cNvPr id="5" name="Text 3"/>
          <p:cNvSpPr txBox="1"/>
          <p:nvPr/>
        </p:nvSpPr>
        <p:spPr>
          <a:xfrm>
            <a:off x="894944" y="1963341"/>
            <a:ext cx="2766633"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16:20</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microwave, 1 min</a:t>
            </a:r>
            <a:endParaRPr lang="en-US" sz="1200" dirty="0"/>
          </a:p>
        </p:txBody>
      </p:sp>
      <p:sp>
        <p:nvSpPr>
          <p:cNvPr id="6" name="Shape 4"/>
          <p:cNvSpPr/>
          <p:nvPr/>
        </p:nvSpPr>
        <p:spPr>
          <a:xfrm>
            <a:off x="3826272" y="1855391"/>
            <a:ext cx="2918222" cy="586581"/>
          </a:xfrm>
          <a:prstGeom prst="roundRect">
            <a:avLst>
              <a:gd name="adj" fmla="val 11908"/>
            </a:avLst>
          </a:prstGeom>
          <a:solidFill>
            <a:srgbClr val="FDFCFA"/>
          </a:solidFill>
          <a:ln w="12700">
            <a:solidFill>
              <a:srgbClr val="E3E0D7"/>
            </a:solidFill>
            <a:prstDash val="solid"/>
          </a:ln>
        </p:spPr>
      </p:sp>
      <p:sp>
        <p:nvSpPr>
          <p:cNvPr id="7" name="Text 5"/>
          <p:cNvSpPr txBox="1"/>
          <p:nvPr/>
        </p:nvSpPr>
        <p:spPr>
          <a:xfrm>
            <a:off x="3902066" y="1963341"/>
            <a:ext cx="2766633"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17:05–17:25</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making tea</a:t>
            </a:r>
            <a:endParaRPr lang="en-US" sz="1200" dirty="0"/>
          </a:p>
        </p:txBody>
      </p:sp>
      <p:sp>
        <p:nvSpPr>
          <p:cNvPr id="8" name="Shape 6"/>
          <p:cNvSpPr/>
          <p:nvPr/>
        </p:nvSpPr>
        <p:spPr>
          <a:xfrm>
            <a:off x="6833394" y="1855391"/>
            <a:ext cx="4539555" cy="586581"/>
          </a:xfrm>
          <a:prstGeom prst="roundRect">
            <a:avLst>
              <a:gd name="adj" fmla="val 11908"/>
            </a:avLst>
          </a:prstGeom>
          <a:solidFill>
            <a:srgbClr val="FDFCFA"/>
          </a:solidFill>
          <a:ln w="12700">
            <a:solidFill>
              <a:srgbClr val="E3E0D7"/>
            </a:solidFill>
            <a:prstDash val="solid"/>
          </a:ln>
        </p:spPr>
      </p:sp>
      <p:sp>
        <p:nvSpPr>
          <p:cNvPr id="9" name="Text 7"/>
          <p:cNvSpPr txBox="1"/>
          <p:nvPr/>
        </p:nvSpPr>
        <p:spPr>
          <a:xfrm>
            <a:off x="6905135" y="1963341"/>
            <a:ext cx="4396074" cy="369491"/>
          </a:xfrm>
          <a:prstGeom prst="rect">
            <a:avLst/>
          </a:prstGeom>
          <a:noFill/>
          <a:ln/>
        </p:spPr>
        <p:txBody>
          <a:bodyPr wrap="square" lIns="0" tIns="0" rIns="0" bIns="0" rtlCol="0" anchor="t"/>
          <a:lstStyle/>
          <a:p>
            <a:pPr algn="ctr" indent="0" marL="0">
              <a:lnSpc>
                <a:spcPts val="1560"/>
              </a:lnSpc>
              <a:buNone/>
            </a:pPr>
            <a:r>
              <a:rPr lang="en-US" sz="1200" b="1" dirty="0">
                <a:solidFill>
                  <a:srgbClr val="14213D"/>
                </a:solidFill>
                <a:latin typeface="Arial" pitchFamily="34" charset="0"/>
                <a:ea typeface="Arial" pitchFamily="34" charset="-122"/>
                <a:cs typeface="Arial" pitchFamily="34" charset="-120"/>
              </a:rPr>
              <a:t>18:30–19:25</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dinner; stove off 6 min in the middle</a:t>
            </a:r>
            <a:endParaRPr lang="en-US" sz="1200" dirty="0"/>
          </a:p>
        </p:txBody>
      </p:sp>
      <p:sp>
        <p:nvSpPr>
          <p:cNvPr id="10" name="Shape 8"/>
          <p:cNvSpPr/>
          <p:nvPr/>
        </p:nvSpPr>
        <p:spPr>
          <a:xfrm>
            <a:off x="819150" y="2632472"/>
            <a:ext cx="3407866" cy="1752402"/>
          </a:xfrm>
          <a:prstGeom prst="roundRect">
            <a:avLst>
              <a:gd name="adj" fmla="val 5435"/>
            </a:avLst>
          </a:prstGeom>
          <a:solidFill>
            <a:srgbClr val="FDFCFA"/>
          </a:solidFill>
          <a:ln w="12700">
            <a:solidFill>
              <a:srgbClr val="E3E0D7"/>
            </a:solidFill>
            <a:prstDash val="solid"/>
          </a:ln>
        </p:spPr>
      </p:sp>
      <p:sp>
        <p:nvSpPr>
          <p:cNvPr id="11" name="Shape 9"/>
          <p:cNvSpPr/>
          <p:nvPr/>
        </p:nvSpPr>
        <p:spPr>
          <a:xfrm>
            <a:off x="1003300" y="2816622"/>
            <a:ext cx="1289943" cy="254000"/>
          </a:xfrm>
          <a:prstGeom prst="roundRect">
            <a:avLst>
              <a:gd name="adj" fmla="val 50000"/>
            </a:avLst>
          </a:prstGeom>
          <a:solidFill>
            <a:srgbClr val="E6EEF8"/>
          </a:solidFill>
          <a:ln/>
        </p:spPr>
      </p:sp>
      <p:sp>
        <p:nvSpPr>
          <p:cNvPr id="12" name="Text 10"/>
          <p:cNvSpPr txBox="1"/>
          <p:nvPr/>
        </p:nvSpPr>
        <p:spPr>
          <a:xfrm>
            <a:off x="1104900" y="2854722"/>
            <a:ext cx="1142977"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A · setup, once</a:t>
            </a:r>
            <a:endParaRPr lang="en-US" sz="1200" dirty="0"/>
          </a:p>
        </p:txBody>
      </p:sp>
      <p:sp>
        <p:nvSpPr>
          <p:cNvPr id="13" name="Text 11"/>
          <p:cNvSpPr txBox="1"/>
          <p:nvPr/>
        </p:nvSpPr>
        <p:spPr>
          <a:xfrm>
            <a:off x="1003300" y="3153172"/>
            <a:ext cx="3105564" cy="102473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HomeFM pretrained offline on other homes. Devices registered as sentences (“stove in kitchen, power sensor”). Concept </a:t>
            </a:r>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cooking</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“someone is cooking food in the kitchen”, merge gap 10 min, minimum 3 min.</a:t>
            </a:r>
            <a:endParaRPr lang="en-US" sz="1200" dirty="0"/>
          </a:p>
        </p:txBody>
      </p:sp>
      <p:sp>
        <p:nvSpPr>
          <p:cNvPr id="14" name="Shape 12"/>
          <p:cNvSpPr/>
          <p:nvPr/>
        </p:nvSpPr>
        <p:spPr>
          <a:xfrm>
            <a:off x="4392116" y="2632472"/>
            <a:ext cx="3407866" cy="1752402"/>
          </a:xfrm>
          <a:prstGeom prst="roundRect">
            <a:avLst>
              <a:gd name="adj" fmla="val 5435"/>
            </a:avLst>
          </a:prstGeom>
          <a:solidFill>
            <a:srgbClr val="FDFCFA"/>
          </a:solidFill>
          <a:ln w="12700">
            <a:solidFill>
              <a:srgbClr val="E3E0D7"/>
            </a:solidFill>
            <a:prstDash val="solid"/>
          </a:ln>
        </p:spPr>
      </p:sp>
      <p:sp>
        <p:nvSpPr>
          <p:cNvPr id="15" name="Shape 13"/>
          <p:cNvSpPr/>
          <p:nvPr/>
        </p:nvSpPr>
        <p:spPr>
          <a:xfrm>
            <a:off x="4576266" y="2816622"/>
            <a:ext cx="1397000" cy="254000"/>
          </a:xfrm>
          <a:prstGeom prst="roundRect">
            <a:avLst>
              <a:gd name="adj" fmla="val 50000"/>
            </a:avLst>
          </a:prstGeom>
          <a:solidFill>
            <a:srgbClr val="E6EEF8"/>
          </a:solidFill>
          <a:ln/>
        </p:spPr>
      </p:sp>
      <p:sp>
        <p:nvSpPr>
          <p:cNvPr id="16" name="Text 14"/>
          <p:cNvSpPr txBox="1"/>
          <p:nvPr/>
        </p:nvSpPr>
        <p:spPr>
          <a:xfrm>
            <a:off x="4677866" y="2854722"/>
            <a:ext cx="1250569"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B · continuously</a:t>
            </a:r>
            <a:endParaRPr lang="en-US" sz="1200" dirty="0"/>
          </a:p>
        </p:txBody>
      </p:sp>
      <p:sp>
        <p:nvSpPr>
          <p:cNvPr id="17" name="Text 15"/>
          <p:cNvSpPr txBox="1"/>
          <p:nvPr/>
        </p:nvSpPr>
        <p:spPr>
          <a:xfrm>
            <a:off x="4576266" y="3153172"/>
            <a:ext cx="3105564"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18:31:02 stove plug 1,850 W → Home Token → minute vector → p(cooking) = 0.93 → episode builder. The 6-min stove break is merged; the 1-min microwave is dropped.</a:t>
            </a:r>
            <a:endParaRPr lang="en-US" sz="1200" dirty="0"/>
          </a:p>
        </p:txBody>
      </p:sp>
      <p:sp>
        <p:nvSpPr>
          <p:cNvPr id="18" name="Shape 16"/>
          <p:cNvSpPr/>
          <p:nvPr/>
        </p:nvSpPr>
        <p:spPr>
          <a:xfrm>
            <a:off x="7965083" y="2632472"/>
            <a:ext cx="3407866" cy="1752402"/>
          </a:xfrm>
          <a:prstGeom prst="roundRect">
            <a:avLst>
              <a:gd name="adj" fmla="val 5435"/>
            </a:avLst>
          </a:prstGeom>
          <a:solidFill>
            <a:srgbClr val="FDFCFA"/>
          </a:solidFill>
          <a:ln w="12700">
            <a:solidFill>
              <a:srgbClr val="E3E0D7"/>
            </a:solidFill>
            <a:prstDash val="solid"/>
          </a:ln>
        </p:spPr>
      </p:sp>
      <p:sp>
        <p:nvSpPr>
          <p:cNvPr id="19" name="Shape 17"/>
          <p:cNvSpPr/>
          <p:nvPr/>
        </p:nvSpPr>
        <p:spPr>
          <a:xfrm>
            <a:off x="8149233" y="2816622"/>
            <a:ext cx="1532533" cy="254000"/>
          </a:xfrm>
          <a:prstGeom prst="roundRect">
            <a:avLst>
              <a:gd name="adj" fmla="val 50000"/>
            </a:avLst>
          </a:prstGeom>
          <a:solidFill>
            <a:srgbClr val="E6EEF8"/>
          </a:solidFill>
          <a:ln/>
        </p:spPr>
      </p:sp>
      <p:sp>
        <p:nvSpPr>
          <p:cNvPr id="20" name="Text 18"/>
          <p:cNvSpPr txBox="1"/>
          <p:nvPr/>
        </p:nvSpPr>
        <p:spPr>
          <a:xfrm>
            <a:off x="8250833" y="2854722"/>
            <a:ext cx="1386779" cy="175260"/>
          </a:xfrm>
          <a:prstGeom prst="rect">
            <a:avLst/>
          </a:prstGeom>
          <a:noFill/>
          <a:ln/>
        </p:spPr>
        <p:txBody>
          <a:bodyPr wrap="square" lIns="0" tIns="0" rIns="0" bIns="0" rtlCol="0" anchor="t"/>
          <a:lstStyle/>
          <a:p>
            <a:pPr algn="l" indent="0" marL="0">
              <a:lnSpc>
                <a:spcPts val="1380"/>
              </a:lnSpc>
              <a:buNone/>
            </a:pPr>
            <a:r>
              <a:rPr lang="en-US" sz="1200" b="1" dirty="0">
                <a:solidFill>
                  <a:srgbClr val="1E5AA8"/>
                </a:solidFill>
                <a:latin typeface="Arial" pitchFamily="34" charset="0"/>
                <a:ea typeface="Arial" pitchFamily="34" charset="-122"/>
                <a:cs typeface="Arial" pitchFamily="34" charset="-120"/>
              </a:rPr>
              <a:t>C · at the question</a:t>
            </a:r>
            <a:endParaRPr lang="en-US" sz="1200" dirty="0"/>
          </a:p>
        </p:txBody>
      </p:sp>
      <p:sp>
        <p:nvSpPr>
          <p:cNvPr id="21" name="Text 19"/>
          <p:cNvSpPr txBox="1"/>
          <p:nvPr/>
        </p:nvSpPr>
        <p:spPr>
          <a:xfrm>
            <a:off x="8149233" y="3153172"/>
            <a:ext cx="3105564"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Agent resolves “cooking” (stored) and 16:00–20:00 → query_episodes → 17:05–17:25 (0.78), 18:30–19:22 (0.94).</a:t>
            </a:r>
            <a:endParaRPr lang="en-US" sz="1200" dirty="0"/>
          </a:p>
        </p:txBody>
      </p:sp>
      <p:sp>
        <p:nvSpPr>
          <p:cNvPr id="22" name="Shape 20"/>
          <p:cNvSpPr/>
          <p:nvPr/>
        </p:nvSpPr>
        <p:spPr>
          <a:xfrm>
            <a:off x="819150" y="4575373"/>
            <a:ext cx="10553700" cy="1666677"/>
          </a:xfrm>
          <a:prstGeom prst="roundRect">
            <a:avLst>
              <a:gd name="adj" fmla="val 5715"/>
            </a:avLst>
          </a:prstGeom>
          <a:solidFill>
            <a:srgbClr val="E6EEF8"/>
          </a:solidFill>
          <a:ln w="12700">
            <a:solidFill>
              <a:srgbClr val="B9CDE8"/>
            </a:solidFill>
            <a:prstDash val="solid"/>
          </a:ln>
        </p:spPr>
      </p:sp>
      <p:sp>
        <p:nvSpPr>
          <p:cNvPr id="23" name="Text 21"/>
          <p:cNvSpPr txBox="1"/>
          <p:nvPr/>
        </p:nvSpPr>
        <p:spPr>
          <a:xfrm>
            <a:off x="1003300" y="4784923"/>
            <a:ext cx="10287127" cy="266700"/>
          </a:xfrm>
          <a:prstGeom prst="rect">
            <a:avLst/>
          </a:prstGeom>
          <a:noFill/>
          <a:ln/>
        </p:spPr>
        <p:txBody>
          <a:bodyPr wrap="square" lIns="0" tIns="0" rIns="0" bIns="0" rtlCol="0" anchor="t"/>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Answer:</a:t>
            </a:r>
            <a:pPr algn="l" indent="0" marL="0">
              <a:lnSpc>
                <a:spcPts val="2100"/>
              </a:lnSpc>
              <a:buNone/>
            </a:pPr>
            <a:r>
              <a:rPr lang="en-US" sz="1500" dirty="0">
                <a:solidFill>
                  <a:srgbClr val="14213D"/>
                </a:solidFill>
                <a:latin typeface="Arial" pitchFamily="34" charset="0"/>
                <a:ea typeface="Arial" pitchFamily="34" charset="-122"/>
                <a:cs typeface="Arial" pitchFamily="34" charset="-120"/>
              </a:rPr>
              <a:t> “2 times: 17:05–17:25 and 18:30–19:22”, with the evidence and a confidence for each.</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PLAN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Data, not compute, limits scaling here</a:t>
            </a:r>
            <a:endParaRPr lang="en-US" sz="2800" dirty="0"/>
          </a:p>
        </p:txBody>
      </p:sp>
      <p:sp>
        <p:nvSpPr>
          <p:cNvPr id="4" name="Shape 2"/>
          <p:cNvSpPr/>
          <p:nvPr/>
        </p:nvSpPr>
        <p:spPr>
          <a:xfrm>
            <a:off x="819150" y="1464270"/>
            <a:ext cx="2533650" cy="1437481"/>
          </a:xfrm>
          <a:prstGeom prst="roundRect">
            <a:avLst>
              <a:gd name="adj" fmla="val 6626"/>
            </a:avLst>
          </a:prstGeom>
          <a:solidFill>
            <a:srgbClr val="FDFCFA"/>
          </a:solidFill>
          <a:ln w="12700">
            <a:solidFill>
              <a:srgbClr val="E3E0D7"/>
            </a:solidFill>
            <a:prstDash val="solid"/>
          </a:ln>
        </p:spPr>
      </p:sp>
      <p:sp>
        <p:nvSpPr>
          <p:cNvPr id="5" name="Text 3"/>
          <p:cNvSpPr txBox="1"/>
          <p:nvPr/>
        </p:nvSpPr>
        <p:spPr>
          <a:xfrm>
            <a:off x="96520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Public datasets</a:t>
            </a:r>
            <a:endParaRPr lang="en-US" sz="1500" dirty="0"/>
          </a:p>
        </p:txBody>
      </p:sp>
      <p:sp>
        <p:nvSpPr>
          <p:cNvPr id="6" name="Text 4"/>
          <p:cNvSpPr txBox="1"/>
          <p:nvPr/>
        </p:nvSpPr>
        <p:spPr>
          <a:xfrm>
            <a:off x="965200" y="1921470"/>
            <a:ext cx="2303558"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CASAS, Kasteren, UCI, Orange4Home, ARAS, MuRAL; energy (REFIT, UK-DALE, REDD)</a:t>
            </a:r>
            <a:endParaRPr lang="en-US" sz="1200" dirty="0"/>
          </a:p>
        </p:txBody>
      </p:sp>
      <p:sp>
        <p:nvSpPr>
          <p:cNvPr id="7" name="Shape 5"/>
          <p:cNvSpPr/>
          <p:nvPr/>
        </p:nvSpPr>
        <p:spPr>
          <a:xfrm>
            <a:off x="3492500" y="1464270"/>
            <a:ext cx="2533650" cy="1437481"/>
          </a:xfrm>
          <a:prstGeom prst="roundRect">
            <a:avLst>
              <a:gd name="adj" fmla="val 6626"/>
            </a:avLst>
          </a:prstGeom>
          <a:solidFill>
            <a:srgbClr val="FDFCFA"/>
          </a:solidFill>
          <a:ln w="12700">
            <a:solidFill>
              <a:srgbClr val="E3E0D7"/>
            </a:solidFill>
            <a:prstDash val="solid"/>
          </a:ln>
        </p:spPr>
      </p:sp>
      <p:sp>
        <p:nvSpPr>
          <p:cNvPr id="8" name="Text 6"/>
          <p:cNvSpPr txBox="1"/>
          <p:nvPr/>
        </p:nvSpPr>
        <p:spPr>
          <a:xfrm>
            <a:off x="363855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Simulated homes</a:t>
            </a:r>
            <a:endParaRPr lang="en-US" sz="1500" dirty="0"/>
          </a:p>
        </p:txBody>
      </p:sp>
      <p:sp>
        <p:nvSpPr>
          <p:cNvPr id="9" name="Text 7"/>
          <p:cNvSpPr txBox="1"/>
          <p:nvPr/>
        </p:nvSpPr>
        <p:spPr>
          <a:xfrm>
            <a:off x="3638550" y="1921470"/>
            <a:ext cx="2303558"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LLM-written routines → simulator: several residents, babies, pets, injected faults, free captions</a:t>
            </a:r>
            <a:endParaRPr lang="en-US" sz="1200" dirty="0"/>
          </a:p>
        </p:txBody>
      </p:sp>
      <p:sp>
        <p:nvSpPr>
          <p:cNvPr id="10" name="Shape 8"/>
          <p:cNvSpPr/>
          <p:nvPr/>
        </p:nvSpPr>
        <p:spPr>
          <a:xfrm>
            <a:off x="6165850" y="1464270"/>
            <a:ext cx="2533650" cy="1437481"/>
          </a:xfrm>
          <a:prstGeom prst="roundRect">
            <a:avLst>
              <a:gd name="adj" fmla="val 6626"/>
            </a:avLst>
          </a:prstGeom>
          <a:solidFill>
            <a:srgbClr val="FDFCFA"/>
          </a:solidFill>
          <a:ln w="12700">
            <a:solidFill>
              <a:srgbClr val="E3E0D7"/>
            </a:solidFill>
            <a:prstDash val="solid"/>
          </a:ln>
        </p:spPr>
      </p:sp>
      <p:sp>
        <p:nvSpPr>
          <p:cNvPr id="11" name="Text 9"/>
          <p:cNvSpPr txBox="1"/>
          <p:nvPr/>
        </p:nvSpPr>
        <p:spPr>
          <a:xfrm>
            <a:off x="631190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Pretrained experts</a:t>
            </a:r>
            <a:endParaRPr lang="en-US" sz="1500" dirty="0"/>
          </a:p>
        </p:txBody>
      </p:sp>
      <p:sp>
        <p:nvSpPr>
          <p:cNvPr id="12" name="Text 10"/>
          <p:cNvSpPr txBox="1"/>
          <p:nvPr/>
        </p:nvSpPr>
        <p:spPr>
          <a:xfrm>
            <a:off x="6311900" y="1921470"/>
            <a:ext cx="2303558" cy="81141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Audio (CLAP, YAMNet) and open-vocabulary vision detectors, fine-tuned for home events</a:t>
            </a:r>
            <a:endParaRPr lang="en-US" sz="1200" dirty="0"/>
          </a:p>
        </p:txBody>
      </p:sp>
      <p:sp>
        <p:nvSpPr>
          <p:cNvPr id="13" name="Shape 11"/>
          <p:cNvSpPr/>
          <p:nvPr/>
        </p:nvSpPr>
        <p:spPr>
          <a:xfrm>
            <a:off x="8839200" y="1464270"/>
            <a:ext cx="2533650" cy="1437481"/>
          </a:xfrm>
          <a:prstGeom prst="roundRect">
            <a:avLst>
              <a:gd name="adj" fmla="val 6626"/>
            </a:avLst>
          </a:prstGeom>
          <a:solidFill>
            <a:srgbClr val="FDFCFA"/>
          </a:solidFill>
          <a:ln w="12700">
            <a:solidFill>
              <a:srgbClr val="E3E0D7"/>
            </a:solidFill>
            <a:prstDash val="solid"/>
          </a:ln>
        </p:spPr>
      </p:sp>
      <p:sp>
        <p:nvSpPr>
          <p:cNvPr id="14" name="Text 12"/>
          <p:cNvSpPr txBox="1"/>
          <p:nvPr/>
        </p:nvSpPr>
        <p:spPr>
          <a:xfrm>
            <a:off x="8985250" y="1616670"/>
            <a:ext cx="2303558" cy="228600"/>
          </a:xfrm>
          <a:prstGeom prst="rect">
            <a:avLst/>
          </a:prstGeom>
          <a:noFill/>
          <a:ln/>
        </p:spPr>
        <p:txBody>
          <a:bodyPr wrap="square" lIns="0" tIns="0" rIns="0" bIns="0" rtlCol="0" anchor="t"/>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Real homes</a:t>
            </a:r>
            <a:endParaRPr lang="en-US" sz="1500" dirty="0"/>
          </a:p>
        </p:txBody>
      </p:sp>
      <p:sp>
        <p:nvSpPr>
          <p:cNvPr id="15" name="Text 13"/>
          <p:cNvSpPr txBox="1"/>
          <p:nvPr/>
        </p:nvSpPr>
        <p:spPr>
          <a:xfrm>
            <a:off x="8985250" y="1921470"/>
            <a:ext cx="2303558" cy="598091"/>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10–30 pilot homes; opt-in Home Assistant data donation: hundreds of modern homes</a:t>
            </a:r>
            <a:endParaRPr lang="en-US" sz="1200" dirty="0"/>
          </a:p>
        </p:txBody>
      </p:sp>
      <p:sp>
        <p:nvSpPr>
          <p:cNvPr id="16" name="Shape 14"/>
          <p:cNvSpPr/>
          <p:nvPr/>
        </p:nvSpPr>
        <p:spPr>
          <a:xfrm>
            <a:off x="812800" y="3085902"/>
            <a:ext cx="10566400" cy="304800"/>
          </a:xfrm>
          <a:prstGeom prst="rect">
            <a:avLst/>
          </a:prstGeom>
          <a:solidFill>
            <a:srgbClr val="14213D"/>
          </a:solidFill>
          <a:ln/>
        </p:spPr>
      </p:sp>
      <p:sp>
        <p:nvSpPr>
          <p:cNvPr id="17" name="Text 15"/>
          <p:cNvSpPr txBox="1"/>
          <p:nvPr/>
        </p:nvSpPr>
        <p:spPr>
          <a:xfrm>
            <a:off x="901700" y="3149402"/>
            <a:ext cx="26330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Stage</a:t>
            </a:r>
            <a:endParaRPr lang="en-US" sz="1200" dirty="0"/>
          </a:p>
        </p:txBody>
      </p:sp>
      <p:sp>
        <p:nvSpPr>
          <p:cNvPr id="18" name="Text 16"/>
          <p:cNvSpPr txBox="1"/>
          <p:nvPr/>
        </p:nvSpPr>
        <p:spPr>
          <a:xfrm>
            <a:off x="3648869" y="3149402"/>
            <a:ext cx="135876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Labels?</a:t>
            </a:r>
            <a:endParaRPr lang="en-US" sz="1200" dirty="0"/>
          </a:p>
        </p:txBody>
      </p:sp>
      <p:sp>
        <p:nvSpPr>
          <p:cNvPr id="19" name="Text 17"/>
          <p:cNvSpPr txBox="1"/>
          <p:nvPr/>
        </p:nvSpPr>
        <p:spPr>
          <a:xfrm>
            <a:off x="5128121" y="3149402"/>
            <a:ext cx="624379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Data</a:t>
            </a:r>
            <a:endParaRPr lang="en-US" sz="1200" dirty="0"/>
          </a:p>
        </p:txBody>
      </p:sp>
      <p:sp>
        <p:nvSpPr>
          <p:cNvPr id="20" name="Shape 18"/>
          <p:cNvSpPr/>
          <p:nvPr/>
        </p:nvSpPr>
        <p:spPr>
          <a:xfrm>
            <a:off x="812800" y="3390702"/>
            <a:ext cx="10566400" cy="304800"/>
          </a:xfrm>
          <a:prstGeom prst="rect">
            <a:avLst/>
          </a:prstGeom>
          <a:solidFill>
            <a:srgbClr val="FDFCFA"/>
          </a:solidFill>
          <a:ln/>
        </p:spPr>
      </p:sp>
      <p:sp>
        <p:nvSpPr>
          <p:cNvPr id="21" name="Text 19"/>
          <p:cNvSpPr txBox="1"/>
          <p:nvPr/>
        </p:nvSpPr>
        <p:spPr>
          <a:xfrm>
            <a:off x="901700" y="3454202"/>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Stages 1–2 (games 1, 2)</a:t>
            </a:r>
            <a:endParaRPr lang="en-US" sz="1200" dirty="0"/>
          </a:p>
        </p:txBody>
      </p:sp>
      <p:sp>
        <p:nvSpPr>
          <p:cNvPr id="22" name="Text 20"/>
          <p:cNvSpPr txBox="1"/>
          <p:nvPr/>
        </p:nvSpPr>
        <p:spPr>
          <a:xfrm>
            <a:off x="3648869" y="3454202"/>
            <a:ext cx="135876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a:t>
            </a:r>
            <a:endParaRPr lang="en-US" sz="1200" dirty="0"/>
          </a:p>
        </p:txBody>
      </p:sp>
      <p:sp>
        <p:nvSpPr>
          <p:cNvPr id="23" name="Text 21"/>
          <p:cNvSpPr txBox="1"/>
          <p:nvPr/>
        </p:nvSpPr>
        <p:spPr>
          <a:xfrm>
            <a:off x="5128121" y="3454202"/>
            <a:ext cx="62437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Every home's raw events. The number of homes matters more than labels.</a:t>
            </a:r>
            <a:endParaRPr lang="en-US" sz="1200" dirty="0"/>
          </a:p>
        </p:txBody>
      </p:sp>
      <p:sp>
        <p:nvSpPr>
          <p:cNvPr id="24" name="Shape 22"/>
          <p:cNvSpPr/>
          <p:nvPr/>
        </p:nvSpPr>
        <p:spPr>
          <a:xfrm>
            <a:off x="812800" y="3695502"/>
            <a:ext cx="10566400" cy="304800"/>
          </a:xfrm>
          <a:prstGeom prst="rect">
            <a:avLst/>
          </a:prstGeom>
          <a:solidFill>
            <a:srgbClr val="F6F5F1"/>
          </a:solidFill>
          <a:ln/>
        </p:spPr>
      </p:sp>
      <p:sp>
        <p:nvSpPr>
          <p:cNvPr id="25" name="Text 23"/>
          <p:cNvSpPr txBox="1"/>
          <p:nvPr/>
        </p:nvSpPr>
        <p:spPr>
          <a:xfrm>
            <a:off x="901700" y="3759002"/>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Stage 3 (alignment)</a:t>
            </a:r>
            <a:endParaRPr lang="en-US" sz="1200" dirty="0"/>
          </a:p>
        </p:txBody>
      </p:sp>
      <p:sp>
        <p:nvSpPr>
          <p:cNvPr id="26" name="Text 24"/>
          <p:cNvSpPr txBox="1"/>
          <p:nvPr/>
        </p:nvSpPr>
        <p:spPr>
          <a:xfrm>
            <a:off x="3648869" y="3759002"/>
            <a:ext cx="135876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Captions</a:t>
            </a:r>
            <a:endParaRPr lang="en-US" sz="1200" dirty="0"/>
          </a:p>
        </p:txBody>
      </p:sp>
      <p:sp>
        <p:nvSpPr>
          <p:cNvPr id="27" name="Text 25"/>
          <p:cNvSpPr txBox="1"/>
          <p:nvPr/>
        </p:nvSpPr>
        <p:spPr>
          <a:xfrm>
            <a:off x="5128121" y="3759002"/>
            <a:ext cx="62437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Labels as sentences, MuRAL descriptions, simulator and checked LLM captions</a:t>
            </a:r>
            <a:endParaRPr lang="en-US" sz="1200" dirty="0"/>
          </a:p>
        </p:txBody>
      </p:sp>
      <p:sp>
        <p:nvSpPr>
          <p:cNvPr id="28" name="Shape 26"/>
          <p:cNvSpPr/>
          <p:nvPr/>
        </p:nvSpPr>
        <p:spPr>
          <a:xfrm>
            <a:off x="812800" y="4000302"/>
            <a:ext cx="10566400" cy="304800"/>
          </a:xfrm>
          <a:prstGeom prst="rect">
            <a:avLst/>
          </a:prstGeom>
          <a:solidFill>
            <a:srgbClr val="FDFCFA"/>
          </a:solidFill>
          <a:ln/>
        </p:spPr>
      </p:sp>
      <p:sp>
        <p:nvSpPr>
          <p:cNvPr id="29" name="Text 27"/>
          <p:cNvSpPr txBox="1"/>
          <p:nvPr/>
        </p:nvSpPr>
        <p:spPr>
          <a:xfrm>
            <a:off x="901700" y="4063802"/>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Stage 4 (tuning)</a:t>
            </a:r>
            <a:endParaRPr lang="en-US" sz="1200" dirty="0"/>
          </a:p>
        </p:txBody>
      </p:sp>
      <p:sp>
        <p:nvSpPr>
          <p:cNvPr id="30" name="Text 28"/>
          <p:cNvSpPr txBox="1"/>
          <p:nvPr/>
        </p:nvSpPr>
        <p:spPr>
          <a:xfrm>
            <a:off x="3648869" y="4063802"/>
            <a:ext cx="135876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31" name="Text 29"/>
          <p:cNvSpPr txBox="1"/>
          <p:nvPr/>
        </p:nvSpPr>
        <p:spPr>
          <a:xfrm>
            <a:off x="5128121" y="4063802"/>
            <a:ext cx="62437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Labelled datasets, injected faults, user corrections</a:t>
            </a:r>
            <a:endParaRPr lang="en-US" sz="1200" dirty="0"/>
          </a:p>
        </p:txBody>
      </p:sp>
      <p:sp>
        <p:nvSpPr>
          <p:cNvPr id="32" name="Shape 30"/>
          <p:cNvSpPr/>
          <p:nvPr/>
        </p:nvSpPr>
        <p:spPr>
          <a:xfrm>
            <a:off x="812800" y="4305102"/>
            <a:ext cx="10566400" cy="304800"/>
          </a:xfrm>
          <a:prstGeom prst="rect">
            <a:avLst/>
          </a:prstGeom>
          <a:solidFill>
            <a:srgbClr val="F6F5F1"/>
          </a:solidFill>
          <a:ln/>
        </p:spPr>
      </p:sp>
      <p:sp>
        <p:nvSpPr>
          <p:cNvPr id="33" name="Text 31"/>
          <p:cNvSpPr txBox="1"/>
          <p:nvPr/>
        </p:nvSpPr>
        <p:spPr>
          <a:xfrm>
            <a:off x="901700" y="4368602"/>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Evaluation</a:t>
            </a:r>
            <a:endParaRPr lang="en-US" sz="1200" dirty="0"/>
          </a:p>
        </p:txBody>
      </p:sp>
      <p:sp>
        <p:nvSpPr>
          <p:cNvPr id="34" name="Text 32"/>
          <p:cNvSpPr txBox="1"/>
          <p:nvPr/>
        </p:nvSpPr>
        <p:spPr>
          <a:xfrm>
            <a:off x="3648869" y="4368602"/>
            <a:ext cx="135876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Yes</a:t>
            </a:r>
            <a:endParaRPr lang="en-US" sz="1200" dirty="0"/>
          </a:p>
        </p:txBody>
      </p:sp>
      <p:sp>
        <p:nvSpPr>
          <p:cNvPr id="35" name="Text 33"/>
          <p:cNvSpPr txBox="1"/>
          <p:nvPr/>
        </p:nvSpPr>
        <p:spPr>
          <a:xfrm>
            <a:off x="5128121" y="4368602"/>
            <a:ext cx="62437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Whole homes or datasets held out; SmartHomeQA</a:t>
            </a:r>
            <a:endParaRPr lang="en-US" sz="1200" dirty="0"/>
          </a:p>
        </p:txBody>
      </p:sp>
      <p:sp>
        <p:nvSpPr>
          <p:cNvPr id="36" name="Text 34"/>
          <p:cNvSpPr txBox="1"/>
          <p:nvPr/>
        </p:nvSpPr>
        <p:spPr>
          <a:xfrm>
            <a:off x="812800" y="4806752"/>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In use today (DomusFM runs): 81 labelled CASAS homes + Milan + Aruba + UCI B, and since 28 September Kasteren A, Kasteren C and MuRAL. Orange4Home is by email request.</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PLAN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Gaps no public dataset covers, and the rules we keep</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26330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Gap</a:t>
            </a:r>
            <a:endParaRPr lang="en-US" sz="1200" dirty="0"/>
          </a:p>
        </p:txBody>
      </p:sp>
      <p:sp>
        <p:nvSpPr>
          <p:cNvPr id="6" name="Text 4"/>
          <p:cNvSpPr txBox="1"/>
          <p:nvPr/>
        </p:nvSpPr>
        <p:spPr>
          <a:xfrm>
            <a:off x="3648869" y="1521420"/>
            <a:ext cx="3694979"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Why</a:t>
            </a:r>
            <a:endParaRPr lang="en-US" sz="1200" dirty="0"/>
          </a:p>
        </p:txBody>
      </p:sp>
      <p:sp>
        <p:nvSpPr>
          <p:cNvPr id="7" name="Text 5"/>
          <p:cNvSpPr txBox="1"/>
          <p:nvPr/>
        </p:nvSpPr>
        <p:spPr>
          <a:xfrm>
            <a:off x="7452717" y="1521420"/>
            <a:ext cx="3907571"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Source</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Pets in event streams</a:t>
            </a:r>
            <a:endParaRPr lang="en-US" sz="1200" dirty="0"/>
          </a:p>
        </p:txBody>
      </p:sp>
      <p:sp>
        <p:nvSpPr>
          <p:cNvPr id="10" name="Text 8"/>
          <p:cNvSpPr txBox="1"/>
          <p:nvPr/>
        </p:nvSpPr>
        <p:spPr>
          <a:xfrm>
            <a:off x="3648869" y="18262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No public labelled pet-triggered events</a:t>
            </a:r>
            <a:endParaRPr lang="en-US" sz="1200" dirty="0"/>
          </a:p>
        </p:txBody>
      </p:sp>
      <p:sp>
        <p:nvSpPr>
          <p:cNvPr id="11" name="Text 9"/>
          <p:cNvSpPr txBox="1"/>
          <p:nvPr/>
        </p:nvSpPr>
        <p:spPr>
          <a:xfrm>
            <a:off x="7452717" y="1826220"/>
            <a:ext cx="39075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Simulator + pilot homes with pets</a:t>
            </a:r>
            <a:endParaRPr lang="en-US" sz="1200" dirty="0"/>
          </a:p>
        </p:txBody>
      </p:sp>
      <p:sp>
        <p:nvSpPr>
          <p:cNvPr id="12" name="Shape 10"/>
          <p:cNvSpPr/>
          <p:nvPr/>
        </p:nvSpPr>
        <p:spPr>
          <a:xfrm>
            <a:off x="812800" y="2067520"/>
            <a:ext cx="10566400" cy="304800"/>
          </a:xfrm>
          <a:prstGeom prst="rect">
            <a:avLst/>
          </a:prstGeom>
          <a:solidFill>
            <a:srgbClr val="F6F5F1"/>
          </a:solidFill>
          <a:ln/>
        </p:spPr>
      </p:sp>
      <p:sp>
        <p:nvSpPr>
          <p:cNvPr id="13" name="Text 11"/>
          <p:cNvSpPr txBox="1"/>
          <p:nvPr/>
        </p:nvSpPr>
        <p:spPr>
          <a:xfrm>
            <a:off x="901700" y="2131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Baby crying in context</a:t>
            </a:r>
            <a:endParaRPr lang="en-US" sz="1200" dirty="0"/>
          </a:p>
        </p:txBody>
      </p:sp>
      <p:sp>
        <p:nvSpPr>
          <p:cNvPr id="14" name="Text 12"/>
          <p:cNvSpPr txBox="1"/>
          <p:nvPr/>
        </p:nvSpPr>
        <p:spPr>
          <a:xfrm>
            <a:off x="3648869" y="21310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Clips exist, never inside a home stream</a:t>
            </a:r>
            <a:endParaRPr lang="en-US" sz="1200" dirty="0"/>
          </a:p>
        </p:txBody>
      </p:sp>
      <p:sp>
        <p:nvSpPr>
          <p:cNvPr id="15" name="Text 13"/>
          <p:cNvSpPr txBox="1"/>
          <p:nvPr/>
        </p:nvSpPr>
        <p:spPr>
          <a:xfrm>
            <a:off x="7452717" y="2131020"/>
            <a:ext cx="39075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Simulator places detector outputs in routines</a:t>
            </a:r>
            <a:endParaRPr lang="en-US" sz="1200" dirty="0"/>
          </a:p>
        </p:txBody>
      </p:sp>
      <p:sp>
        <p:nvSpPr>
          <p:cNvPr id="16" name="Shape 14"/>
          <p:cNvSpPr/>
          <p:nvPr/>
        </p:nvSpPr>
        <p:spPr>
          <a:xfrm>
            <a:off x="812800" y="2372320"/>
            <a:ext cx="10566400" cy="304800"/>
          </a:xfrm>
          <a:prstGeom prst="rect">
            <a:avLst/>
          </a:prstGeom>
          <a:solidFill>
            <a:srgbClr val="FDFCFA"/>
          </a:solidFill>
          <a:ln/>
        </p:spPr>
      </p:sp>
      <p:sp>
        <p:nvSpPr>
          <p:cNvPr id="17" name="Text 15"/>
          <p:cNvSpPr txBox="1"/>
          <p:nvPr/>
        </p:nvSpPr>
        <p:spPr>
          <a:xfrm>
            <a:off x="901700" y="24358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Parcels and guests</a:t>
            </a:r>
            <a:endParaRPr lang="en-US" sz="1200" dirty="0"/>
          </a:p>
        </p:txBody>
      </p:sp>
      <p:sp>
        <p:nvSpPr>
          <p:cNvPr id="18" name="Text 16"/>
          <p:cNvSpPr txBox="1"/>
          <p:nvPr/>
        </p:nvSpPr>
        <p:spPr>
          <a:xfrm>
            <a:off x="3648869" y="24358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In no activity dataset</a:t>
            </a:r>
            <a:endParaRPr lang="en-US" sz="1200" dirty="0"/>
          </a:p>
        </p:txBody>
      </p:sp>
      <p:sp>
        <p:nvSpPr>
          <p:cNvPr id="19" name="Text 17"/>
          <p:cNvSpPr txBox="1"/>
          <p:nvPr/>
        </p:nvSpPr>
        <p:spPr>
          <a:xfrm>
            <a:off x="7452717" y="2435820"/>
            <a:ext cx="39075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Simulator + pilot doorbell footage</a:t>
            </a:r>
            <a:endParaRPr lang="en-US" sz="1200" dirty="0"/>
          </a:p>
        </p:txBody>
      </p:sp>
      <p:sp>
        <p:nvSpPr>
          <p:cNvPr id="20" name="Shape 18"/>
          <p:cNvSpPr/>
          <p:nvPr/>
        </p:nvSpPr>
        <p:spPr>
          <a:xfrm>
            <a:off x="812800" y="2677120"/>
            <a:ext cx="10566400" cy="304800"/>
          </a:xfrm>
          <a:prstGeom prst="rect">
            <a:avLst/>
          </a:prstGeom>
          <a:solidFill>
            <a:srgbClr val="F6F5F1"/>
          </a:solidFill>
          <a:ln/>
        </p:spPr>
      </p:sp>
      <p:sp>
        <p:nvSpPr>
          <p:cNvPr id="21" name="Text 19"/>
          <p:cNvSpPr txBox="1"/>
          <p:nvPr/>
        </p:nvSpPr>
        <p:spPr>
          <a:xfrm>
            <a:off x="901700" y="27406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Device faults</a:t>
            </a:r>
            <a:endParaRPr lang="en-US" sz="1200" dirty="0"/>
          </a:p>
        </p:txBody>
      </p:sp>
      <p:sp>
        <p:nvSpPr>
          <p:cNvPr id="22" name="Text 20"/>
          <p:cNvSpPr txBox="1"/>
          <p:nvPr/>
        </p:nvSpPr>
        <p:spPr>
          <a:xfrm>
            <a:off x="3648869" y="27406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Almost no labelled appliance faults</a:t>
            </a:r>
            <a:endParaRPr lang="en-US" sz="1200" dirty="0"/>
          </a:p>
        </p:txBody>
      </p:sp>
      <p:sp>
        <p:nvSpPr>
          <p:cNvPr id="23" name="Text 21"/>
          <p:cNvSpPr txBox="1"/>
          <p:nvPr/>
        </p:nvSpPr>
        <p:spPr>
          <a:xfrm>
            <a:off x="7452717" y="2740620"/>
            <a:ext cx="39075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Faults injected into real signals (REFIT)</a:t>
            </a:r>
            <a:endParaRPr lang="en-US" sz="1200" dirty="0"/>
          </a:p>
        </p:txBody>
      </p:sp>
      <p:sp>
        <p:nvSpPr>
          <p:cNvPr id="24" name="Shape 22"/>
          <p:cNvSpPr/>
          <p:nvPr/>
        </p:nvSpPr>
        <p:spPr>
          <a:xfrm>
            <a:off x="812800" y="2981920"/>
            <a:ext cx="10566400" cy="304800"/>
          </a:xfrm>
          <a:prstGeom prst="rect">
            <a:avLst/>
          </a:prstGeom>
          <a:solidFill>
            <a:srgbClr val="FDFCFA"/>
          </a:solidFill>
          <a:ln/>
        </p:spPr>
      </p:sp>
      <p:sp>
        <p:nvSpPr>
          <p:cNvPr id="25" name="Text 23"/>
          <p:cNvSpPr txBox="1"/>
          <p:nvPr/>
        </p:nvSpPr>
        <p:spPr>
          <a:xfrm>
            <a:off x="901700" y="30454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Elderly decline over weeks</a:t>
            </a:r>
            <a:endParaRPr lang="en-US" sz="1200" dirty="0"/>
          </a:p>
        </p:txBody>
      </p:sp>
      <p:sp>
        <p:nvSpPr>
          <p:cNvPr id="26" name="Text 24"/>
          <p:cNvSpPr txBox="1"/>
          <p:nvPr/>
        </p:nvSpPr>
        <p:spPr>
          <a:xfrm>
            <a:off x="3648869" y="30454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Few long, labelled datasets</a:t>
            </a:r>
            <a:endParaRPr lang="en-US" sz="1200" dirty="0"/>
          </a:p>
        </p:txBody>
      </p:sp>
      <p:sp>
        <p:nvSpPr>
          <p:cNvPr id="27" name="Text 25"/>
          <p:cNvSpPr txBox="1"/>
          <p:nvPr/>
        </p:nvSpPr>
        <p:spPr>
          <a:xfrm>
            <a:off x="7452717" y="3045420"/>
            <a:ext cx="39075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Simulated drift, longest CASAS homes, pilots</a:t>
            </a:r>
            <a:endParaRPr lang="en-US" sz="1200" dirty="0"/>
          </a:p>
        </p:txBody>
      </p:sp>
      <p:sp>
        <p:nvSpPr>
          <p:cNvPr id="28" name="Shape 26"/>
          <p:cNvSpPr/>
          <p:nvPr/>
        </p:nvSpPr>
        <p:spPr>
          <a:xfrm>
            <a:off x="812800" y="3286720"/>
            <a:ext cx="10566400" cy="304800"/>
          </a:xfrm>
          <a:prstGeom prst="rect">
            <a:avLst/>
          </a:prstGeom>
          <a:solidFill>
            <a:srgbClr val="F6F5F1"/>
          </a:solidFill>
          <a:ln/>
        </p:spPr>
      </p:sp>
      <p:sp>
        <p:nvSpPr>
          <p:cNvPr id="29" name="Text 27"/>
          <p:cNvSpPr txBox="1"/>
          <p:nvPr/>
        </p:nvSpPr>
        <p:spPr>
          <a:xfrm>
            <a:off x="901700" y="3350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Modern devices</a:t>
            </a:r>
            <a:endParaRPr lang="en-US" sz="1200" dirty="0"/>
          </a:p>
        </p:txBody>
      </p:sp>
      <p:sp>
        <p:nvSpPr>
          <p:cNvPr id="30" name="Text 28"/>
          <p:cNvSpPr txBox="1"/>
          <p:nvPr/>
        </p:nvSpPr>
        <p:spPr>
          <a:xfrm>
            <a:off x="3648869" y="3350220"/>
            <a:ext cx="3694979"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Public data uses older sensors</a:t>
            </a:r>
            <a:endParaRPr lang="en-US" sz="1200" dirty="0"/>
          </a:p>
        </p:txBody>
      </p:sp>
      <p:sp>
        <p:nvSpPr>
          <p:cNvPr id="31" name="Text 29"/>
          <p:cNvSpPr txBox="1"/>
          <p:nvPr/>
        </p:nvSpPr>
        <p:spPr>
          <a:xfrm>
            <a:off x="7452717" y="3350220"/>
            <a:ext cx="3907571"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Pilot and donated Home Assistant histories</a:t>
            </a:r>
            <a:endParaRPr lang="en-US" sz="1200" dirty="0"/>
          </a:p>
        </p:txBody>
      </p:sp>
      <p:sp>
        <p:nvSpPr>
          <p:cNvPr id="32" name="Shape 30"/>
          <p:cNvSpPr/>
          <p:nvPr/>
        </p:nvSpPr>
        <p:spPr>
          <a:xfrm>
            <a:off x="819150" y="3775670"/>
            <a:ext cx="3424734" cy="1008261"/>
          </a:xfrm>
          <a:prstGeom prst="roundRect">
            <a:avLst>
              <a:gd name="adj" fmla="val 9447"/>
            </a:avLst>
          </a:prstGeom>
          <a:solidFill>
            <a:srgbClr val="FDFCFA"/>
          </a:solidFill>
          <a:ln w="12700">
            <a:solidFill>
              <a:srgbClr val="E3E0D7"/>
            </a:solidFill>
            <a:prstDash val="solid"/>
          </a:ln>
        </p:spPr>
      </p:sp>
      <p:sp>
        <p:nvSpPr>
          <p:cNvPr id="33" name="Text 31"/>
          <p:cNvSpPr txBox="1"/>
          <p:nvPr/>
        </p:nvSpPr>
        <p:spPr>
          <a:xfrm>
            <a:off x="1003300" y="3978870"/>
            <a:ext cx="3122516" cy="598091"/>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Hold out whole homes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never random windows: overlapping windows leak and inflate scores.</a:t>
            </a:r>
            <a:endParaRPr lang="en-US" sz="1200" dirty="0"/>
          </a:p>
        </p:txBody>
      </p:sp>
      <p:sp>
        <p:nvSpPr>
          <p:cNvPr id="34" name="Shape 32"/>
          <p:cNvSpPr/>
          <p:nvPr/>
        </p:nvSpPr>
        <p:spPr>
          <a:xfrm>
            <a:off x="4383584" y="3775670"/>
            <a:ext cx="3424734" cy="1008261"/>
          </a:xfrm>
          <a:prstGeom prst="roundRect">
            <a:avLst>
              <a:gd name="adj" fmla="val 9447"/>
            </a:avLst>
          </a:prstGeom>
          <a:solidFill>
            <a:srgbClr val="FDFCFA"/>
          </a:solidFill>
          <a:ln w="12700">
            <a:solidFill>
              <a:srgbClr val="E3E0D7"/>
            </a:solidFill>
            <a:prstDash val="solid"/>
          </a:ln>
        </p:spPr>
      </p:sp>
      <p:sp>
        <p:nvSpPr>
          <p:cNvPr id="35" name="Text 33"/>
          <p:cNvSpPr txBox="1"/>
          <p:nvPr/>
        </p:nvSpPr>
        <p:spPr>
          <a:xfrm>
            <a:off x="4567734" y="3978870"/>
            <a:ext cx="3122516"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Balance datasets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in pretraining so CASAS or simulated homes do not dominate.</a:t>
            </a:r>
            <a:endParaRPr lang="en-US" sz="1200" dirty="0"/>
          </a:p>
        </p:txBody>
      </p:sp>
      <p:sp>
        <p:nvSpPr>
          <p:cNvPr id="36" name="Shape 34"/>
          <p:cNvSpPr/>
          <p:nvPr/>
        </p:nvSpPr>
        <p:spPr>
          <a:xfrm>
            <a:off x="7948017" y="3775670"/>
            <a:ext cx="3424734" cy="1008261"/>
          </a:xfrm>
          <a:prstGeom prst="roundRect">
            <a:avLst>
              <a:gd name="adj" fmla="val 9447"/>
            </a:avLst>
          </a:prstGeom>
          <a:solidFill>
            <a:srgbClr val="FDFCFA"/>
          </a:solidFill>
          <a:ln w="12700">
            <a:solidFill>
              <a:srgbClr val="E3E0D7"/>
            </a:solidFill>
            <a:prstDash val="solid"/>
          </a:ln>
        </p:spPr>
      </p:sp>
      <p:sp>
        <p:nvSpPr>
          <p:cNvPr id="37" name="Text 35"/>
          <p:cNvSpPr txBox="1"/>
          <p:nvPr/>
        </p:nvSpPr>
        <p:spPr>
          <a:xfrm>
            <a:off x="8132167" y="3978870"/>
            <a:ext cx="3122516"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Report on real held-out homes only</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check every dataset's licence.</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PLAN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How HomeFM will be judged</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263301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Area</a:t>
            </a:r>
            <a:endParaRPr lang="en-US" sz="1200" dirty="0"/>
          </a:p>
        </p:txBody>
      </p:sp>
      <p:sp>
        <p:nvSpPr>
          <p:cNvPr id="6" name="Text 4"/>
          <p:cNvSpPr txBox="1"/>
          <p:nvPr/>
        </p:nvSpPr>
        <p:spPr>
          <a:xfrm>
            <a:off x="3648869" y="1521420"/>
            <a:ext cx="3270193"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Metric</a:t>
            </a:r>
            <a:endParaRPr lang="en-US" sz="1200" dirty="0"/>
          </a:p>
        </p:txBody>
      </p:sp>
      <p:sp>
        <p:nvSpPr>
          <p:cNvPr id="7" name="Text 5"/>
          <p:cNvSpPr txBox="1"/>
          <p:nvPr/>
        </p:nvSpPr>
        <p:spPr>
          <a:xfrm>
            <a:off x="7030045" y="1521420"/>
            <a:ext cx="4332356"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Protocol</a:t>
            </a:r>
            <a:endParaRPr lang="en-US" sz="1200" dirty="0"/>
          </a:p>
        </p:txBody>
      </p:sp>
      <p:sp>
        <p:nvSpPr>
          <p:cNvPr id="8" name="Shape 6"/>
          <p:cNvSpPr/>
          <p:nvPr/>
        </p:nvSpPr>
        <p:spPr>
          <a:xfrm>
            <a:off x="812800" y="1762720"/>
            <a:ext cx="10566400" cy="304800"/>
          </a:xfrm>
          <a:prstGeom prst="rect">
            <a:avLst/>
          </a:prstGeom>
          <a:solidFill>
            <a:srgbClr val="FDFCFA"/>
          </a:solidFill>
          <a:ln/>
        </p:spPr>
      </p:sp>
      <p:sp>
        <p:nvSpPr>
          <p:cNvPr id="9" name="Text 7"/>
          <p:cNvSpPr txBox="1"/>
          <p:nvPr/>
        </p:nvSpPr>
        <p:spPr>
          <a:xfrm>
            <a:off x="901700" y="1826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Activity recognition</a:t>
            </a:r>
            <a:endParaRPr lang="en-US" sz="1200" dirty="0"/>
          </a:p>
        </p:txBody>
      </p:sp>
      <p:sp>
        <p:nvSpPr>
          <p:cNvPr id="10" name="Text 8"/>
          <p:cNvSpPr txBox="1"/>
          <p:nvPr/>
        </p:nvSpPr>
        <p:spPr>
          <a:xfrm>
            <a:off x="3648869" y="18262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Weighted F1</a:t>
            </a:r>
            <a:endParaRPr lang="en-US" sz="1200" dirty="0"/>
          </a:p>
        </p:txBody>
      </p:sp>
      <p:sp>
        <p:nvSpPr>
          <p:cNvPr id="11" name="Text 9"/>
          <p:cNvSpPr txBox="1"/>
          <p:nvPr/>
        </p:nvSpPr>
        <p:spPr>
          <a:xfrm>
            <a:off x="7030045" y="18262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Leave-one-dataset / home-out; 1, 5, 10, 30 % labels</a:t>
            </a:r>
            <a:endParaRPr lang="en-US" sz="1200" dirty="0"/>
          </a:p>
        </p:txBody>
      </p:sp>
      <p:sp>
        <p:nvSpPr>
          <p:cNvPr id="12" name="Shape 10"/>
          <p:cNvSpPr/>
          <p:nvPr/>
        </p:nvSpPr>
        <p:spPr>
          <a:xfrm>
            <a:off x="812800" y="2067520"/>
            <a:ext cx="10566400" cy="304800"/>
          </a:xfrm>
          <a:prstGeom prst="rect">
            <a:avLst/>
          </a:prstGeom>
          <a:solidFill>
            <a:srgbClr val="F6F5F1"/>
          </a:solidFill>
          <a:ln/>
        </p:spPr>
      </p:sp>
      <p:sp>
        <p:nvSpPr>
          <p:cNvPr id="13" name="Text 11"/>
          <p:cNvSpPr txBox="1"/>
          <p:nvPr/>
        </p:nvSpPr>
        <p:spPr>
          <a:xfrm>
            <a:off x="901700" y="2131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Counting / durations</a:t>
            </a:r>
            <a:endParaRPr lang="en-US" sz="1200" dirty="0"/>
          </a:p>
        </p:txBody>
      </p:sp>
      <p:sp>
        <p:nvSpPr>
          <p:cNvPr id="14" name="Text 12"/>
          <p:cNvSpPr txBox="1"/>
          <p:nvPr/>
        </p:nvSpPr>
        <p:spPr>
          <a:xfrm>
            <a:off x="3648869" y="21310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Exact match, MAE</a:t>
            </a:r>
            <a:endParaRPr lang="en-US" sz="1200" dirty="0"/>
          </a:p>
        </p:txBody>
      </p:sp>
      <p:sp>
        <p:nvSpPr>
          <p:cNvPr id="15" name="Text 13"/>
          <p:cNvSpPr txBox="1"/>
          <p:nvPr/>
        </p:nvSpPr>
        <p:spPr>
          <a:xfrm>
            <a:off x="7030045" y="21310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Per concept, per question range</a:t>
            </a:r>
            <a:endParaRPr lang="en-US" sz="1200" dirty="0"/>
          </a:p>
        </p:txBody>
      </p:sp>
      <p:sp>
        <p:nvSpPr>
          <p:cNvPr id="16" name="Shape 14"/>
          <p:cNvSpPr/>
          <p:nvPr/>
        </p:nvSpPr>
        <p:spPr>
          <a:xfrm>
            <a:off x="812800" y="2372320"/>
            <a:ext cx="10566400" cy="304800"/>
          </a:xfrm>
          <a:prstGeom prst="rect">
            <a:avLst/>
          </a:prstGeom>
          <a:solidFill>
            <a:srgbClr val="FDFCFA"/>
          </a:solidFill>
          <a:ln/>
        </p:spPr>
      </p:sp>
      <p:sp>
        <p:nvSpPr>
          <p:cNvPr id="17" name="Text 15"/>
          <p:cNvSpPr txBox="1"/>
          <p:nvPr/>
        </p:nvSpPr>
        <p:spPr>
          <a:xfrm>
            <a:off x="901700" y="24358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Open vocabulary</a:t>
            </a:r>
            <a:endParaRPr lang="en-US" sz="1200" dirty="0"/>
          </a:p>
        </p:txBody>
      </p:sp>
      <p:sp>
        <p:nvSpPr>
          <p:cNvPr id="18" name="Text 16"/>
          <p:cNvSpPr txBox="1"/>
          <p:nvPr/>
        </p:nvSpPr>
        <p:spPr>
          <a:xfrm>
            <a:off x="3648869" y="24358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Retrieval mAP, tagging F1</a:t>
            </a:r>
            <a:endParaRPr lang="en-US" sz="1200" dirty="0"/>
          </a:p>
        </p:txBody>
      </p:sp>
      <p:sp>
        <p:nvSpPr>
          <p:cNvPr id="19" name="Text 17"/>
          <p:cNvSpPr txBox="1"/>
          <p:nvPr/>
        </p:nvSpPr>
        <p:spPr>
          <a:xfrm>
            <a:off x="7030045" y="24358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Concepts never seen in training</a:t>
            </a:r>
            <a:endParaRPr lang="en-US" sz="1200" dirty="0"/>
          </a:p>
        </p:txBody>
      </p:sp>
      <p:sp>
        <p:nvSpPr>
          <p:cNvPr id="20" name="Shape 18"/>
          <p:cNvSpPr/>
          <p:nvPr/>
        </p:nvSpPr>
        <p:spPr>
          <a:xfrm>
            <a:off x="812800" y="2677120"/>
            <a:ext cx="10566400" cy="304800"/>
          </a:xfrm>
          <a:prstGeom prst="rect">
            <a:avLst/>
          </a:prstGeom>
          <a:solidFill>
            <a:srgbClr val="F6F5F1"/>
          </a:solidFill>
          <a:ln/>
        </p:spPr>
      </p:sp>
      <p:sp>
        <p:nvSpPr>
          <p:cNvPr id="21" name="Text 19"/>
          <p:cNvSpPr txBox="1"/>
          <p:nvPr/>
        </p:nvSpPr>
        <p:spPr>
          <a:xfrm>
            <a:off x="901700" y="27406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Anomaly</a:t>
            </a:r>
            <a:endParaRPr lang="en-US" sz="1200" dirty="0"/>
          </a:p>
        </p:txBody>
      </p:sp>
      <p:sp>
        <p:nvSpPr>
          <p:cNvPr id="22" name="Text 20"/>
          <p:cNvSpPr txBox="1"/>
          <p:nvPr/>
        </p:nvSpPr>
        <p:spPr>
          <a:xfrm>
            <a:off x="3648869" y="27406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AUROC, false alarms per home-week</a:t>
            </a:r>
            <a:endParaRPr lang="en-US" sz="1200" dirty="0"/>
          </a:p>
        </p:txBody>
      </p:sp>
      <p:sp>
        <p:nvSpPr>
          <p:cNvPr id="23" name="Text 21"/>
          <p:cNvSpPr txBox="1"/>
          <p:nvPr/>
        </p:nvSpPr>
        <p:spPr>
          <a:xfrm>
            <a:off x="7030045" y="27406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Injected and real faults</a:t>
            </a:r>
            <a:endParaRPr lang="en-US" sz="1200" dirty="0"/>
          </a:p>
        </p:txBody>
      </p:sp>
      <p:sp>
        <p:nvSpPr>
          <p:cNvPr id="24" name="Shape 22"/>
          <p:cNvSpPr/>
          <p:nvPr/>
        </p:nvSpPr>
        <p:spPr>
          <a:xfrm>
            <a:off x="812800" y="2981920"/>
            <a:ext cx="10566400" cy="304800"/>
          </a:xfrm>
          <a:prstGeom prst="rect">
            <a:avLst/>
          </a:prstGeom>
          <a:solidFill>
            <a:srgbClr val="FDFCFA"/>
          </a:solidFill>
          <a:ln/>
        </p:spPr>
      </p:sp>
      <p:sp>
        <p:nvSpPr>
          <p:cNvPr id="25" name="Text 23"/>
          <p:cNvSpPr txBox="1"/>
          <p:nvPr/>
        </p:nvSpPr>
        <p:spPr>
          <a:xfrm>
            <a:off x="901700" y="30454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Device health</a:t>
            </a:r>
            <a:endParaRPr lang="en-US" sz="1200" dirty="0"/>
          </a:p>
        </p:txBody>
      </p:sp>
      <p:sp>
        <p:nvSpPr>
          <p:cNvPr id="26" name="Text 24"/>
          <p:cNvSpPr txBox="1"/>
          <p:nvPr/>
        </p:nvSpPr>
        <p:spPr>
          <a:xfrm>
            <a:off x="3648869" y="30454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Lead time, precision</a:t>
            </a:r>
            <a:endParaRPr lang="en-US" sz="1200" dirty="0"/>
          </a:p>
        </p:txBody>
      </p:sp>
      <p:sp>
        <p:nvSpPr>
          <p:cNvPr id="27" name="Text 25"/>
          <p:cNvSpPr txBox="1"/>
          <p:nvPr/>
        </p:nvSpPr>
        <p:spPr>
          <a:xfrm>
            <a:off x="7030045" y="30454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Injected degradation, real faults</a:t>
            </a:r>
            <a:endParaRPr lang="en-US" sz="1200" dirty="0"/>
          </a:p>
        </p:txBody>
      </p:sp>
      <p:sp>
        <p:nvSpPr>
          <p:cNvPr id="28" name="Shape 26"/>
          <p:cNvSpPr/>
          <p:nvPr/>
        </p:nvSpPr>
        <p:spPr>
          <a:xfrm>
            <a:off x="812800" y="3286720"/>
            <a:ext cx="10566400" cy="304800"/>
          </a:xfrm>
          <a:prstGeom prst="rect">
            <a:avLst/>
          </a:prstGeom>
          <a:solidFill>
            <a:srgbClr val="F6F5F1"/>
          </a:solidFill>
          <a:ln/>
        </p:spPr>
      </p:sp>
      <p:sp>
        <p:nvSpPr>
          <p:cNvPr id="29" name="Text 27"/>
          <p:cNvSpPr txBox="1"/>
          <p:nvPr/>
        </p:nvSpPr>
        <p:spPr>
          <a:xfrm>
            <a:off x="901700" y="33502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Occupancy</a:t>
            </a:r>
            <a:endParaRPr lang="en-US" sz="1200" dirty="0"/>
          </a:p>
        </p:txBody>
      </p:sp>
      <p:sp>
        <p:nvSpPr>
          <p:cNvPr id="30" name="Text 28"/>
          <p:cNvSpPr txBox="1"/>
          <p:nvPr/>
        </p:nvSpPr>
        <p:spPr>
          <a:xfrm>
            <a:off x="3648869" y="33502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Count MAE, identity accuracy</a:t>
            </a:r>
            <a:endParaRPr lang="en-US" sz="1200" dirty="0"/>
          </a:p>
        </p:txBody>
      </p:sp>
      <p:sp>
        <p:nvSpPr>
          <p:cNvPr id="31" name="Text 29"/>
          <p:cNvSpPr txBox="1"/>
          <p:nvPr/>
        </p:nvSpPr>
        <p:spPr>
          <a:xfrm>
            <a:off x="7030045" y="33502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Camera or radar ground truth</a:t>
            </a:r>
            <a:endParaRPr lang="en-US" sz="1200" dirty="0"/>
          </a:p>
        </p:txBody>
      </p:sp>
      <p:sp>
        <p:nvSpPr>
          <p:cNvPr id="32" name="Shape 30"/>
          <p:cNvSpPr/>
          <p:nvPr/>
        </p:nvSpPr>
        <p:spPr>
          <a:xfrm>
            <a:off x="812800" y="3591520"/>
            <a:ext cx="10566400" cy="304800"/>
          </a:xfrm>
          <a:prstGeom prst="rect">
            <a:avLst/>
          </a:prstGeom>
          <a:solidFill>
            <a:srgbClr val="FDFCFA"/>
          </a:solidFill>
          <a:ln/>
        </p:spPr>
      </p:sp>
      <p:sp>
        <p:nvSpPr>
          <p:cNvPr id="33" name="Text 31"/>
          <p:cNvSpPr txBox="1"/>
          <p:nvPr/>
        </p:nvSpPr>
        <p:spPr>
          <a:xfrm>
            <a:off x="901700" y="36550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Forecasting</a:t>
            </a:r>
            <a:endParaRPr lang="en-US" sz="1200" dirty="0"/>
          </a:p>
        </p:txBody>
      </p:sp>
      <p:sp>
        <p:nvSpPr>
          <p:cNvPr id="34" name="Text 32"/>
          <p:cNvSpPr txBox="1"/>
          <p:nvPr/>
        </p:nvSpPr>
        <p:spPr>
          <a:xfrm>
            <a:off x="3648869" y="36550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NLL, next-k multiset F1</a:t>
            </a:r>
            <a:endParaRPr lang="en-US" sz="1200" dirty="0"/>
          </a:p>
        </p:txBody>
      </p:sp>
      <p:sp>
        <p:nvSpPr>
          <p:cNvPr id="35" name="Text 33"/>
          <p:cNvSpPr txBox="1"/>
          <p:nvPr/>
        </p:nvSpPr>
        <p:spPr>
          <a:xfrm>
            <a:off x="7030045" y="36550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Next 5 minutes, next k events</a:t>
            </a:r>
            <a:endParaRPr lang="en-US" sz="1200" dirty="0"/>
          </a:p>
        </p:txBody>
      </p:sp>
      <p:sp>
        <p:nvSpPr>
          <p:cNvPr id="36" name="Shape 34"/>
          <p:cNvSpPr/>
          <p:nvPr/>
        </p:nvSpPr>
        <p:spPr>
          <a:xfrm>
            <a:off x="812800" y="3896320"/>
            <a:ext cx="10566400" cy="304800"/>
          </a:xfrm>
          <a:prstGeom prst="rect">
            <a:avLst/>
          </a:prstGeom>
          <a:solidFill>
            <a:srgbClr val="F6F5F1"/>
          </a:solidFill>
          <a:ln/>
        </p:spPr>
      </p:sp>
      <p:sp>
        <p:nvSpPr>
          <p:cNvPr id="37" name="Text 35"/>
          <p:cNvSpPr txBox="1"/>
          <p:nvPr/>
        </p:nvSpPr>
        <p:spPr>
          <a:xfrm>
            <a:off x="901700" y="39598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End-to-end QA</a:t>
            </a:r>
            <a:endParaRPr lang="en-US" sz="1200" dirty="0"/>
          </a:p>
        </p:txBody>
      </p:sp>
      <p:sp>
        <p:nvSpPr>
          <p:cNvPr id="38" name="Text 36"/>
          <p:cNvSpPr txBox="1"/>
          <p:nvPr/>
        </p:nvSpPr>
        <p:spPr>
          <a:xfrm>
            <a:off x="3648869" y="39598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Answer accuracy</a:t>
            </a:r>
            <a:endParaRPr lang="en-US" sz="1200" dirty="0"/>
          </a:p>
        </p:txBody>
      </p:sp>
      <p:sp>
        <p:nvSpPr>
          <p:cNvPr id="39" name="Text 37"/>
          <p:cNvSpPr txBox="1"/>
          <p:nvPr/>
        </p:nvSpPr>
        <p:spPr>
          <a:xfrm>
            <a:off x="7030045" y="39598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SmartHomeQA benchmark</a:t>
            </a:r>
            <a:endParaRPr lang="en-US" sz="1200" dirty="0"/>
          </a:p>
        </p:txBody>
      </p:sp>
      <p:sp>
        <p:nvSpPr>
          <p:cNvPr id="40" name="Shape 38"/>
          <p:cNvSpPr/>
          <p:nvPr/>
        </p:nvSpPr>
        <p:spPr>
          <a:xfrm>
            <a:off x="812800" y="4201120"/>
            <a:ext cx="10566400" cy="304800"/>
          </a:xfrm>
          <a:prstGeom prst="rect">
            <a:avLst/>
          </a:prstGeom>
          <a:solidFill>
            <a:srgbClr val="FDFCFA"/>
          </a:solidFill>
          <a:ln/>
        </p:spPr>
      </p:sp>
      <p:sp>
        <p:nvSpPr>
          <p:cNvPr id="41" name="Text 39"/>
          <p:cNvSpPr txBox="1"/>
          <p:nvPr/>
        </p:nvSpPr>
        <p:spPr>
          <a:xfrm>
            <a:off x="901700" y="4264620"/>
            <a:ext cx="263301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Edge</a:t>
            </a:r>
            <a:endParaRPr lang="en-US" sz="1200" dirty="0"/>
          </a:p>
        </p:txBody>
      </p:sp>
      <p:sp>
        <p:nvSpPr>
          <p:cNvPr id="42" name="Text 40"/>
          <p:cNvSpPr txBox="1"/>
          <p:nvPr/>
        </p:nvSpPr>
        <p:spPr>
          <a:xfrm>
            <a:off x="3648869" y="4264620"/>
            <a:ext cx="327019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Latency, RAM, energy</a:t>
            </a:r>
            <a:endParaRPr lang="en-US" sz="1200" dirty="0"/>
          </a:p>
        </p:txBody>
      </p:sp>
      <p:sp>
        <p:nvSpPr>
          <p:cNvPr id="43" name="Text 41"/>
          <p:cNvSpPr txBox="1"/>
          <p:nvPr/>
        </p:nvSpPr>
        <p:spPr>
          <a:xfrm>
            <a:off x="7030045" y="4264620"/>
            <a:ext cx="4332356"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Hub-class device</a:t>
            </a:r>
            <a:endParaRPr lang="en-US" sz="1200" dirty="0"/>
          </a:p>
        </p:txBody>
      </p:sp>
      <p:sp>
        <p:nvSpPr>
          <p:cNvPr id="44" name="Text 42"/>
          <p:cNvSpPr txBox="1"/>
          <p:nvPr/>
        </p:nvSpPr>
        <p:spPr>
          <a:xfrm>
            <a:off x="812800" y="4702770"/>
            <a:ext cx="10670032" cy="213360"/>
          </a:xfrm>
          <a:prstGeom prst="rect">
            <a:avLst/>
          </a:prstGeom>
          <a:noFill/>
          <a:ln/>
        </p:spPr>
        <p:txBody>
          <a:bodyPr wrap="square" lIns="0" tIns="0" rIns="0" bIns="0" rtlCol="0" anchor="t"/>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Baselines: the DomusFM reproduction (primary), DeepCASAS, Chronos, a GPT-2-style event model, a zero-shot LLM.</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PLAN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Deployment and privacy: the home hub does the work</a:t>
            </a:r>
            <a:endParaRPr lang="en-US" sz="2800" dirty="0"/>
          </a:p>
        </p:txBody>
      </p:sp>
      <p:sp>
        <p:nvSpPr>
          <p:cNvPr id="4" name="Shape 2"/>
          <p:cNvSpPr/>
          <p:nvPr/>
        </p:nvSpPr>
        <p:spPr>
          <a:xfrm>
            <a:off x="819150" y="1464270"/>
            <a:ext cx="2324100" cy="586581"/>
          </a:xfrm>
          <a:prstGeom prst="roundRect">
            <a:avLst>
              <a:gd name="adj" fmla="val 11908"/>
            </a:avLst>
          </a:prstGeom>
          <a:solidFill>
            <a:srgbClr val="E3F0E7"/>
          </a:solidFill>
          <a:ln w="12700">
            <a:solidFill>
              <a:srgbClr val="BFDCC8"/>
            </a:solidFill>
            <a:prstDash val="solid"/>
          </a:ln>
        </p:spPr>
      </p:sp>
      <p:sp>
        <p:nvSpPr>
          <p:cNvPr id="5" name="Text 3"/>
          <p:cNvSpPr txBox="1"/>
          <p:nvPr/>
        </p:nvSpPr>
        <p:spPr>
          <a:xfrm>
            <a:off x="896429" y="1572220"/>
            <a:ext cx="2169541"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Perception experts on the hub</a:t>
            </a:r>
            <a:endParaRPr lang="en-US" sz="1200" dirty="0"/>
          </a:p>
        </p:txBody>
      </p:sp>
      <p:sp>
        <p:nvSpPr>
          <p:cNvPr id="6" name="Shape 4"/>
          <p:cNvSpPr/>
          <p:nvPr/>
        </p:nvSpPr>
        <p:spPr>
          <a:xfrm>
            <a:off x="3213100" y="1687711"/>
            <a:ext cx="279400" cy="139700"/>
          </a:xfrm>
          <a:prstGeom prst="rightArrow">
            <a:avLst/>
          </a:prstGeom>
          <a:solidFill>
            <a:srgbClr val="9AA3B2"/>
          </a:solidFill>
          <a:ln/>
        </p:spPr>
      </p:sp>
      <p:sp>
        <p:nvSpPr>
          <p:cNvPr id="7" name="Shape 5"/>
          <p:cNvSpPr/>
          <p:nvPr/>
        </p:nvSpPr>
        <p:spPr>
          <a:xfrm>
            <a:off x="3562350" y="1464270"/>
            <a:ext cx="2324100" cy="586581"/>
          </a:xfrm>
          <a:prstGeom prst="roundRect">
            <a:avLst>
              <a:gd name="adj" fmla="val 11908"/>
            </a:avLst>
          </a:prstGeom>
          <a:solidFill>
            <a:srgbClr val="E3F0E7"/>
          </a:solidFill>
          <a:ln w="12700">
            <a:solidFill>
              <a:srgbClr val="BFDCC8"/>
            </a:solidFill>
            <a:prstDash val="solid"/>
          </a:ln>
        </p:spPr>
      </p:sp>
      <p:sp>
        <p:nvSpPr>
          <p:cNvPr id="8" name="Text 6"/>
          <p:cNvSpPr txBox="1"/>
          <p:nvPr/>
        </p:nvSpPr>
        <p:spPr>
          <a:xfrm>
            <a:off x="3639630" y="1572220"/>
            <a:ext cx="2169541"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HomeFM student</a:t>
            </a:r>
            <a:endParaRPr lang="en-US" sz="1200" dirty="0"/>
          </a:p>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int8, streaming</a:t>
            </a:r>
            <a:endParaRPr lang="en-US" sz="1200" dirty="0"/>
          </a:p>
        </p:txBody>
      </p:sp>
      <p:sp>
        <p:nvSpPr>
          <p:cNvPr id="9" name="Shape 7"/>
          <p:cNvSpPr/>
          <p:nvPr/>
        </p:nvSpPr>
        <p:spPr>
          <a:xfrm>
            <a:off x="5956300" y="1687711"/>
            <a:ext cx="279400" cy="139700"/>
          </a:xfrm>
          <a:prstGeom prst="rightArrow">
            <a:avLst/>
          </a:prstGeom>
          <a:solidFill>
            <a:srgbClr val="9AA3B2"/>
          </a:solidFill>
          <a:ln/>
        </p:spPr>
      </p:sp>
      <p:sp>
        <p:nvSpPr>
          <p:cNvPr id="10" name="Shape 8"/>
          <p:cNvSpPr/>
          <p:nvPr/>
        </p:nvSpPr>
        <p:spPr>
          <a:xfrm>
            <a:off x="6305550" y="1464270"/>
            <a:ext cx="2324100" cy="586581"/>
          </a:xfrm>
          <a:prstGeom prst="roundRect">
            <a:avLst>
              <a:gd name="adj" fmla="val 11908"/>
            </a:avLst>
          </a:prstGeom>
          <a:solidFill>
            <a:srgbClr val="E3F0E7"/>
          </a:solidFill>
          <a:ln w="12700">
            <a:solidFill>
              <a:srgbClr val="BFDCC8"/>
            </a:solidFill>
            <a:prstDash val="solid"/>
          </a:ln>
        </p:spPr>
      </p:sp>
      <p:sp>
        <p:nvSpPr>
          <p:cNvPr id="11" name="Text 9"/>
          <p:cNvSpPr txBox="1"/>
          <p:nvPr/>
        </p:nvSpPr>
        <p:spPr>
          <a:xfrm>
            <a:off x="6382830" y="1572220"/>
            <a:ext cx="2169541"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Local stores</a:t>
            </a:r>
            <a:endParaRPr lang="en-US" sz="1200" dirty="0"/>
          </a:p>
        </p:txBody>
      </p:sp>
      <p:sp>
        <p:nvSpPr>
          <p:cNvPr id="12" name="Shape 10"/>
          <p:cNvSpPr/>
          <p:nvPr/>
        </p:nvSpPr>
        <p:spPr>
          <a:xfrm>
            <a:off x="8699500" y="1687711"/>
            <a:ext cx="279400" cy="139700"/>
          </a:xfrm>
          <a:prstGeom prst="rightArrow">
            <a:avLst/>
          </a:prstGeom>
          <a:solidFill>
            <a:srgbClr val="9AA3B2"/>
          </a:solidFill>
          <a:ln/>
        </p:spPr>
      </p:sp>
      <p:sp>
        <p:nvSpPr>
          <p:cNvPr id="13" name="Shape 11"/>
          <p:cNvSpPr/>
          <p:nvPr/>
        </p:nvSpPr>
        <p:spPr>
          <a:xfrm>
            <a:off x="9048750" y="1464270"/>
            <a:ext cx="2324100" cy="586581"/>
          </a:xfrm>
          <a:prstGeom prst="roundRect">
            <a:avLst>
              <a:gd name="adj" fmla="val 11908"/>
            </a:avLst>
          </a:prstGeom>
          <a:solidFill>
            <a:srgbClr val="E3F0E7"/>
          </a:solidFill>
          <a:ln w="12700">
            <a:solidFill>
              <a:srgbClr val="BFDCC8"/>
            </a:solidFill>
            <a:prstDash val="solid"/>
          </a:ln>
        </p:spPr>
      </p:sp>
      <p:sp>
        <p:nvSpPr>
          <p:cNvPr id="14" name="Text 12"/>
          <p:cNvSpPr txBox="1"/>
          <p:nvPr/>
        </p:nvSpPr>
        <p:spPr>
          <a:xfrm>
            <a:off x="9126030" y="1572220"/>
            <a:ext cx="2169541"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Local agent</a:t>
            </a:r>
            <a:endParaRPr lang="en-US" sz="1200" dirty="0"/>
          </a:p>
        </p:txBody>
      </p:sp>
      <p:sp>
        <p:nvSpPr>
          <p:cNvPr id="15" name="Shape 13"/>
          <p:cNvSpPr/>
          <p:nvPr/>
        </p:nvSpPr>
        <p:spPr>
          <a:xfrm>
            <a:off x="819150" y="2241352"/>
            <a:ext cx="3221534" cy="586581"/>
          </a:xfrm>
          <a:prstGeom prst="roundRect">
            <a:avLst>
              <a:gd name="adj" fmla="val 11908"/>
            </a:avLst>
          </a:prstGeom>
          <a:solidFill>
            <a:srgbClr val="E6EEF8"/>
          </a:solidFill>
          <a:ln w="12700">
            <a:solidFill>
              <a:srgbClr val="B9CDE8"/>
            </a:solidFill>
            <a:prstDash val="solid"/>
          </a:ln>
        </p:spPr>
      </p:sp>
      <p:sp>
        <p:nvSpPr>
          <p:cNvPr id="16" name="Text 14"/>
          <p:cNvSpPr txBox="1"/>
          <p:nvPr/>
        </p:nvSpPr>
        <p:spPr>
          <a:xfrm>
            <a:off x="894186" y="2349302"/>
            <a:ext cx="3071462" cy="369491"/>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Teacher on the training cluster (opt-in data only)</a:t>
            </a:r>
            <a:endParaRPr lang="en-US" sz="1200" dirty="0"/>
          </a:p>
        </p:txBody>
      </p:sp>
      <p:sp>
        <p:nvSpPr>
          <p:cNvPr id="17" name="Shape 15"/>
          <p:cNvSpPr/>
          <p:nvPr/>
        </p:nvSpPr>
        <p:spPr>
          <a:xfrm>
            <a:off x="4123234" y="2464792"/>
            <a:ext cx="279400" cy="139700"/>
          </a:xfrm>
          <a:prstGeom prst="rightArrow">
            <a:avLst/>
          </a:prstGeom>
          <a:solidFill>
            <a:srgbClr val="9AA3B2"/>
          </a:solidFill>
          <a:ln/>
        </p:spPr>
      </p:sp>
      <p:sp>
        <p:nvSpPr>
          <p:cNvPr id="18" name="Shape 16"/>
          <p:cNvSpPr/>
          <p:nvPr/>
        </p:nvSpPr>
        <p:spPr>
          <a:xfrm>
            <a:off x="4485184" y="2241352"/>
            <a:ext cx="3221534" cy="586581"/>
          </a:xfrm>
          <a:prstGeom prst="roundRect">
            <a:avLst>
              <a:gd name="adj" fmla="val 11908"/>
            </a:avLst>
          </a:prstGeom>
          <a:solidFill>
            <a:srgbClr val="E6EEF8"/>
          </a:solidFill>
          <a:ln w="12700">
            <a:solidFill>
              <a:srgbClr val="B9CDE8"/>
            </a:solidFill>
            <a:prstDash val="solid"/>
          </a:ln>
        </p:spPr>
      </p:sp>
      <p:sp>
        <p:nvSpPr>
          <p:cNvPr id="19" name="Text 17"/>
          <p:cNvSpPr txBox="1"/>
          <p:nvPr/>
        </p:nvSpPr>
        <p:spPr>
          <a:xfrm>
            <a:off x="4560220" y="2349302"/>
            <a:ext cx="3071462"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Distil → student release</a:t>
            </a:r>
            <a:endParaRPr lang="en-US" sz="1200" dirty="0"/>
          </a:p>
        </p:txBody>
      </p:sp>
      <p:sp>
        <p:nvSpPr>
          <p:cNvPr id="20" name="Shape 18"/>
          <p:cNvSpPr/>
          <p:nvPr/>
        </p:nvSpPr>
        <p:spPr>
          <a:xfrm>
            <a:off x="7789267" y="2464792"/>
            <a:ext cx="279400" cy="139700"/>
          </a:xfrm>
          <a:prstGeom prst="rightArrow">
            <a:avLst/>
          </a:prstGeom>
          <a:solidFill>
            <a:srgbClr val="9AA3B2"/>
          </a:solidFill>
          <a:ln/>
        </p:spPr>
      </p:sp>
      <p:sp>
        <p:nvSpPr>
          <p:cNvPr id="21" name="Shape 19"/>
          <p:cNvSpPr/>
          <p:nvPr/>
        </p:nvSpPr>
        <p:spPr>
          <a:xfrm>
            <a:off x="8151217" y="2241352"/>
            <a:ext cx="3221534" cy="586581"/>
          </a:xfrm>
          <a:prstGeom prst="roundRect">
            <a:avLst>
              <a:gd name="adj" fmla="val 11908"/>
            </a:avLst>
          </a:prstGeom>
          <a:solidFill>
            <a:srgbClr val="E6EEF8"/>
          </a:solidFill>
          <a:ln w="12700">
            <a:solidFill>
              <a:srgbClr val="B9CDE8"/>
            </a:solidFill>
            <a:prstDash val="solid"/>
          </a:ln>
        </p:spPr>
      </p:sp>
      <p:sp>
        <p:nvSpPr>
          <p:cNvPr id="22" name="Text 20"/>
          <p:cNvSpPr txBox="1"/>
          <p:nvPr/>
        </p:nvSpPr>
        <p:spPr>
          <a:xfrm>
            <a:off x="8226253" y="2349302"/>
            <a:ext cx="3071462" cy="198120"/>
          </a:xfrm>
          <a:prstGeom prst="rect">
            <a:avLst/>
          </a:prstGeom>
          <a:noFill/>
          <a:ln/>
        </p:spPr>
        <p:txBody>
          <a:bodyPr wrap="square" lIns="0" tIns="0" rIns="0" bIns="0" rtlCol="0" anchor="t"/>
          <a:lstStyle/>
          <a:p>
            <a:pPr algn="ctr" indent="0" marL="0">
              <a:lnSpc>
                <a:spcPts val="1560"/>
              </a:lnSpc>
              <a:buNone/>
            </a:pPr>
            <a:r>
              <a:rPr lang="en-US" sz="1200" dirty="0">
                <a:solidFill>
                  <a:srgbClr val="14213D"/>
                </a:solidFill>
                <a:latin typeface="Arial" pitchFamily="34" charset="0"/>
                <a:ea typeface="Arial" pitchFamily="34" charset="-122"/>
                <a:cs typeface="Arial" pitchFamily="34" charset="-120"/>
              </a:rPr>
              <a:t>Over-the-air update to every hub</a:t>
            </a:r>
            <a:endParaRPr lang="en-US" sz="1200" dirty="0"/>
          </a:p>
        </p:txBody>
      </p:sp>
      <p:sp>
        <p:nvSpPr>
          <p:cNvPr id="23" name="Shape 21"/>
          <p:cNvSpPr/>
          <p:nvPr/>
        </p:nvSpPr>
        <p:spPr>
          <a:xfrm>
            <a:off x="819150" y="3018433"/>
            <a:ext cx="5207000" cy="794941"/>
          </a:xfrm>
          <a:prstGeom prst="roundRect">
            <a:avLst>
              <a:gd name="adj" fmla="val 11982"/>
            </a:avLst>
          </a:prstGeom>
          <a:solidFill>
            <a:srgbClr val="FDFCFA"/>
          </a:solidFill>
          <a:ln w="12700">
            <a:solidFill>
              <a:srgbClr val="E3E0D7"/>
            </a:solidFill>
            <a:prstDash val="solid"/>
          </a:ln>
        </p:spPr>
      </p:sp>
      <p:sp>
        <p:nvSpPr>
          <p:cNvPr id="24" name="Text 22"/>
          <p:cNvSpPr txBox="1"/>
          <p:nvPr/>
        </p:nvSpPr>
        <p:spPr>
          <a:xfrm>
            <a:off x="1003300" y="3221633"/>
            <a:ext cx="491369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Raw audio and video never leave the device; only events and embeddings are stored.</a:t>
            </a:r>
            <a:endParaRPr lang="en-US" sz="1200" dirty="0"/>
          </a:p>
        </p:txBody>
      </p:sp>
      <p:sp>
        <p:nvSpPr>
          <p:cNvPr id="25" name="Shape 23"/>
          <p:cNvSpPr/>
          <p:nvPr/>
        </p:nvSpPr>
        <p:spPr>
          <a:xfrm>
            <a:off x="6165850" y="3018433"/>
            <a:ext cx="5207000" cy="794941"/>
          </a:xfrm>
          <a:prstGeom prst="roundRect">
            <a:avLst>
              <a:gd name="adj" fmla="val 11982"/>
            </a:avLst>
          </a:prstGeom>
          <a:solidFill>
            <a:srgbClr val="FDFCFA"/>
          </a:solidFill>
          <a:ln w="12700">
            <a:solidFill>
              <a:srgbClr val="E3E0D7"/>
            </a:solidFill>
            <a:prstDash val="solid"/>
          </a:ln>
        </p:spPr>
      </p:sp>
      <p:sp>
        <p:nvSpPr>
          <p:cNvPr id="26" name="Text 24"/>
          <p:cNvSpPr txBox="1"/>
          <p:nvPr/>
        </p:nvSpPr>
        <p:spPr>
          <a:xfrm>
            <a:off x="6350000" y="3221633"/>
            <a:ext cx="491369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Retention limits per data class; history is visible and deletable by the user.</a:t>
            </a:r>
            <a:endParaRPr lang="en-US" sz="1200" dirty="0"/>
          </a:p>
        </p:txBody>
      </p:sp>
      <p:sp>
        <p:nvSpPr>
          <p:cNvPr id="27" name="Shape 25"/>
          <p:cNvSpPr/>
          <p:nvPr/>
        </p:nvSpPr>
        <p:spPr>
          <a:xfrm>
            <a:off x="819150" y="3953073"/>
            <a:ext cx="5207000" cy="794941"/>
          </a:xfrm>
          <a:prstGeom prst="roundRect">
            <a:avLst>
              <a:gd name="adj" fmla="val 11982"/>
            </a:avLst>
          </a:prstGeom>
          <a:solidFill>
            <a:srgbClr val="FDFCFA"/>
          </a:solidFill>
          <a:ln w="12700">
            <a:solidFill>
              <a:srgbClr val="E3E0D7"/>
            </a:solidFill>
            <a:prstDash val="solid"/>
          </a:ln>
        </p:spPr>
      </p:sp>
      <p:sp>
        <p:nvSpPr>
          <p:cNvPr id="28" name="Text 26"/>
          <p:cNvSpPr txBox="1"/>
          <p:nvPr/>
        </p:nvSpPr>
        <p:spPr>
          <a:xfrm>
            <a:off x="1003300" y="4156273"/>
            <a:ext cx="491369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Per-home adapters keep learning on the home's own stream; feedback only by opt-in.</a:t>
            </a:r>
            <a:endParaRPr lang="en-US" sz="1200" dirty="0"/>
          </a:p>
        </p:txBody>
      </p:sp>
      <p:sp>
        <p:nvSpPr>
          <p:cNvPr id="29" name="Shape 27"/>
          <p:cNvSpPr/>
          <p:nvPr/>
        </p:nvSpPr>
        <p:spPr>
          <a:xfrm>
            <a:off x="6165850" y="3953073"/>
            <a:ext cx="5207000" cy="794941"/>
          </a:xfrm>
          <a:prstGeom prst="roundRect">
            <a:avLst>
              <a:gd name="adj" fmla="val 11982"/>
            </a:avLst>
          </a:prstGeom>
          <a:solidFill>
            <a:srgbClr val="FDFCFA"/>
          </a:solidFill>
          <a:ln w="12700">
            <a:solidFill>
              <a:srgbClr val="E3E0D7"/>
            </a:solidFill>
            <a:prstDash val="solid"/>
          </a:ln>
        </p:spPr>
      </p:sp>
      <p:sp>
        <p:nvSpPr>
          <p:cNvPr id="30" name="Text 28"/>
          <p:cNvSpPr txBox="1"/>
          <p:nvPr/>
        </p:nvSpPr>
        <p:spPr>
          <a:xfrm>
            <a:off x="6350000" y="4156273"/>
            <a:ext cx="4913694"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Targets: student under 500 MB, under 20 ms per minute update, ONNX runtime.</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PLAN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Roadmap: model track from October 2026</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1252563"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Milestone</a:t>
            </a:r>
            <a:endParaRPr lang="en-US" sz="1200" dirty="0"/>
          </a:p>
        </p:txBody>
      </p:sp>
      <p:sp>
        <p:nvSpPr>
          <p:cNvPr id="6" name="Text 4"/>
          <p:cNvSpPr txBox="1"/>
          <p:nvPr/>
        </p:nvSpPr>
        <p:spPr>
          <a:xfrm>
            <a:off x="2275284" y="1521420"/>
            <a:ext cx="411976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Scope</a:t>
            </a:r>
            <a:endParaRPr lang="en-US" sz="1200" dirty="0"/>
          </a:p>
        </p:txBody>
      </p:sp>
      <p:sp>
        <p:nvSpPr>
          <p:cNvPr id="7" name="Text 5"/>
          <p:cNvSpPr txBox="1"/>
          <p:nvPr/>
        </p:nvSpPr>
        <p:spPr>
          <a:xfrm>
            <a:off x="6501805" y="1521420"/>
            <a:ext cx="4863238"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Exit criterion</a:t>
            </a:r>
            <a:endParaRPr lang="en-US" sz="1200" dirty="0"/>
          </a:p>
        </p:txBody>
      </p:sp>
      <p:sp>
        <p:nvSpPr>
          <p:cNvPr id="8" name="Shape 6"/>
          <p:cNvSpPr/>
          <p:nvPr/>
        </p:nvSpPr>
        <p:spPr>
          <a:xfrm>
            <a:off x="812800" y="1762720"/>
            <a:ext cx="10566400" cy="482600"/>
          </a:xfrm>
          <a:prstGeom prst="rect">
            <a:avLst/>
          </a:prstGeom>
          <a:solidFill>
            <a:srgbClr val="FDFCFA"/>
          </a:solidFill>
          <a:ln/>
        </p:spPr>
      </p:sp>
      <p:sp>
        <p:nvSpPr>
          <p:cNvPr id="9" name="Text 7"/>
          <p:cNvSpPr txBox="1"/>
          <p:nvPr/>
        </p:nvSpPr>
        <p:spPr>
          <a:xfrm>
            <a:off x="901700" y="1915120"/>
            <a:ext cx="12525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M1</a:t>
            </a:r>
            <a:endParaRPr lang="en-US" sz="1200" dirty="0"/>
          </a:p>
        </p:txBody>
      </p:sp>
      <p:sp>
        <p:nvSpPr>
          <p:cNvPr id="10" name="Text 8"/>
          <p:cNvSpPr txBox="1"/>
          <p:nvPr/>
        </p:nvSpPr>
        <p:spPr>
          <a:xfrm>
            <a:off x="2275284" y="19151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Baseline + data pipeline (6 weeks)</a:t>
            </a:r>
            <a:endParaRPr lang="en-US" sz="1200" dirty="0"/>
          </a:p>
        </p:txBody>
      </p:sp>
      <p:sp>
        <p:nvSpPr>
          <p:cNvPr id="11" name="Text 9"/>
          <p:cNvSpPr txBox="1"/>
          <p:nvPr/>
        </p:nvSpPr>
        <p:spPr>
          <a:xfrm>
            <a:off x="6501805" y="1826220"/>
            <a:ext cx="4863238" cy="34925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Common token format, converters, DomusFM within ±0.03 F1 of the paper</a:t>
            </a:r>
            <a:endParaRPr lang="en-US" sz="1200" dirty="0"/>
          </a:p>
        </p:txBody>
      </p:sp>
      <p:sp>
        <p:nvSpPr>
          <p:cNvPr id="12" name="Shape 10"/>
          <p:cNvSpPr/>
          <p:nvPr/>
        </p:nvSpPr>
        <p:spPr>
          <a:xfrm>
            <a:off x="812800" y="2245320"/>
            <a:ext cx="10566400" cy="304800"/>
          </a:xfrm>
          <a:prstGeom prst="rect">
            <a:avLst/>
          </a:prstGeom>
          <a:solidFill>
            <a:srgbClr val="F6F5F1"/>
          </a:solidFill>
          <a:ln/>
        </p:spPr>
      </p:sp>
      <p:sp>
        <p:nvSpPr>
          <p:cNvPr id="13" name="Text 11"/>
          <p:cNvSpPr txBox="1"/>
          <p:nvPr/>
        </p:nvSpPr>
        <p:spPr>
          <a:xfrm>
            <a:off x="901700" y="2308820"/>
            <a:ext cx="12525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M2</a:t>
            </a:r>
            <a:endParaRPr lang="en-US" sz="1200" dirty="0"/>
          </a:p>
        </p:txBody>
      </p:sp>
      <p:sp>
        <p:nvSpPr>
          <p:cNvPr id="14" name="Text 12"/>
          <p:cNvSpPr txBox="1"/>
          <p:nvPr/>
        </p:nvSpPr>
        <p:spPr>
          <a:xfrm>
            <a:off x="2275284" y="23088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HomeFM v0: moments + stream (8 weeks)</a:t>
            </a:r>
            <a:endParaRPr lang="en-US" sz="1200" dirty="0"/>
          </a:p>
        </p:txBody>
      </p:sp>
      <p:sp>
        <p:nvSpPr>
          <p:cNvPr id="15" name="Text 13"/>
          <p:cNvSpPr txBox="1"/>
          <p:nvPr/>
        </p:nvSpPr>
        <p:spPr>
          <a:xfrm>
            <a:off x="6501805" y="2308820"/>
            <a:ext cx="48632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Beats the DomusFM reproduction leave-one-dataset-out</a:t>
            </a:r>
            <a:endParaRPr lang="en-US" sz="1200" dirty="0"/>
          </a:p>
        </p:txBody>
      </p:sp>
      <p:sp>
        <p:nvSpPr>
          <p:cNvPr id="16" name="Shape 14"/>
          <p:cNvSpPr/>
          <p:nvPr/>
        </p:nvSpPr>
        <p:spPr>
          <a:xfrm>
            <a:off x="812800" y="2550120"/>
            <a:ext cx="10566400" cy="304800"/>
          </a:xfrm>
          <a:prstGeom prst="rect">
            <a:avLst/>
          </a:prstGeom>
          <a:solidFill>
            <a:srgbClr val="FDFCFA"/>
          </a:solidFill>
          <a:ln/>
        </p:spPr>
      </p:sp>
      <p:sp>
        <p:nvSpPr>
          <p:cNvPr id="17" name="Text 15"/>
          <p:cNvSpPr txBox="1"/>
          <p:nvPr/>
        </p:nvSpPr>
        <p:spPr>
          <a:xfrm>
            <a:off x="901700" y="2613620"/>
            <a:ext cx="12525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Ablation</a:t>
            </a:r>
            <a:endParaRPr lang="en-US" sz="1200" dirty="0"/>
          </a:p>
        </p:txBody>
      </p:sp>
      <p:sp>
        <p:nvSpPr>
          <p:cNvPr id="18" name="Text 16"/>
          <p:cNvSpPr txBox="1"/>
          <p:nvPr/>
        </p:nvSpPr>
        <p:spPr>
          <a:xfrm>
            <a:off x="2275284" y="26136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Games A–F (3 weeks)</a:t>
            </a:r>
            <a:endParaRPr lang="en-US" sz="1200" dirty="0"/>
          </a:p>
        </p:txBody>
      </p:sp>
      <p:sp>
        <p:nvSpPr>
          <p:cNvPr id="19" name="Text 17"/>
          <p:cNvSpPr txBox="1"/>
          <p:nvPr/>
        </p:nvSpPr>
        <p:spPr>
          <a:xfrm>
            <a:off x="6501805" y="2613620"/>
            <a:ext cx="48632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Pretraining recipe fixed with evidence</a:t>
            </a:r>
            <a:endParaRPr lang="en-US" sz="1200" dirty="0"/>
          </a:p>
        </p:txBody>
      </p:sp>
      <p:sp>
        <p:nvSpPr>
          <p:cNvPr id="20" name="Shape 18"/>
          <p:cNvSpPr/>
          <p:nvPr/>
        </p:nvSpPr>
        <p:spPr>
          <a:xfrm>
            <a:off x="812800" y="2854920"/>
            <a:ext cx="10566400" cy="304800"/>
          </a:xfrm>
          <a:prstGeom prst="rect">
            <a:avLst/>
          </a:prstGeom>
          <a:solidFill>
            <a:srgbClr val="F6F5F1"/>
          </a:solidFill>
          <a:ln/>
        </p:spPr>
      </p:sp>
      <p:sp>
        <p:nvSpPr>
          <p:cNvPr id="21" name="Text 19"/>
          <p:cNvSpPr txBox="1"/>
          <p:nvPr/>
        </p:nvSpPr>
        <p:spPr>
          <a:xfrm>
            <a:off x="901700" y="2918420"/>
            <a:ext cx="12525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M3</a:t>
            </a:r>
            <a:endParaRPr lang="en-US" sz="1200" dirty="0"/>
          </a:p>
        </p:txBody>
      </p:sp>
      <p:sp>
        <p:nvSpPr>
          <p:cNvPr id="22" name="Text 20"/>
          <p:cNvSpPr txBox="1"/>
          <p:nvPr/>
        </p:nvSpPr>
        <p:spPr>
          <a:xfrm>
            <a:off x="2275284" y="29184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Continuous signals + device health (6 weeks)</a:t>
            </a:r>
            <a:endParaRPr lang="en-US" sz="1200" dirty="0"/>
          </a:p>
        </p:txBody>
      </p:sp>
      <p:sp>
        <p:nvSpPr>
          <p:cNvPr id="23" name="Text 21"/>
          <p:cNvSpPr txBox="1"/>
          <p:nvPr/>
        </p:nvSpPr>
        <p:spPr>
          <a:xfrm>
            <a:off x="6501805" y="2918420"/>
            <a:ext cx="48632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Faults detected on injected data; no binarisation</a:t>
            </a:r>
            <a:endParaRPr lang="en-US" sz="1200" dirty="0"/>
          </a:p>
        </p:txBody>
      </p:sp>
      <p:sp>
        <p:nvSpPr>
          <p:cNvPr id="24" name="Shape 22"/>
          <p:cNvSpPr/>
          <p:nvPr/>
        </p:nvSpPr>
        <p:spPr>
          <a:xfrm>
            <a:off x="812800" y="3159720"/>
            <a:ext cx="10566400" cy="304800"/>
          </a:xfrm>
          <a:prstGeom prst="rect">
            <a:avLst/>
          </a:prstGeom>
          <a:solidFill>
            <a:srgbClr val="FDFCFA"/>
          </a:solidFill>
          <a:ln/>
        </p:spPr>
      </p:sp>
      <p:sp>
        <p:nvSpPr>
          <p:cNvPr id="25" name="Text 23"/>
          <p:cNvSpPr txBox="1"/>
          <p:nvPr/>
        </p:nvSpPr>
        <p:spPr>
          <a:xfrm>
            <a:off x="901700" y="3223220"/>
            <a:ext cx="12525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M4</a:t>
            </a:r>
            <a:endParaRPr lang="en-US" sz="1200" dirty="0"/>
          </a:p>
        </p:txBody>
      </p:sp>
      <p:sp>
        <p:nvSpPr>
          <p:cNvPr id="26" name="Text 24"/>
          <p:cNvSpPr txBox="1"/>
          <p:nvPr/>
        </p:nvSpPr>
        <p:spPr>
          <a:xfrm>
            <a:off x="2275284" y="32232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Language alignment (6 weeks)</a:t>
            </a:r>
            <a:endParaRPr lang="en-US" sz="1200" dirty="0"/>
          </a:p>
        </p:txBody>
      </p:sp>
      <p:sp>
        <p:nvSpPr>
          <p:cNvPr id="27" name="Text 25"/>
          <p:cNvSpPr txBox="1"/>
          <p:nvPr/>
        </p:nvSpPr>
        <p:spPr>
          <a:xfrm>
            <a:off x="6501805" y="3223220"/>
            <a:ext cx="48632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Zero-shot tagging on held-out concepts above threshold</a:t>
            </a:r>
            <a:endParaRPr lang="en-US" sz="1200" dirty="0"/>
          </a:p>
        </p:txBody>
      </p:sp>
      <p:sp>
        <p:nvSpPr>
          <p:cNvPr id="28" name="Shape 26"/>
          <p:cNvSpPr/>
          <p:nvPr/>
        </p:nvSpPr>
        <p:spPr>
          <a:xfrm>
            <a:off x="812800" y="3464520"/>
            <a:ext cx="10566400" cy="304800"/>
          </a:xfrm>
          <a:prstGeom prst="rect">
            <a:avLst/>
          </a:prstGeom>
          <a:solidFill>
            <a:srgbClr val="F6F5F1"/>
          </a:solidFill>
          <a:ln/>
        </p:spPr>
      </p:sp>
      <p:sp>
        <p:nvSpPr>
          <p:cNvPr id="29" name="Text 27"/>
          <p:cNvSpPr txBox="1"/>
          <p:nvPr/>
        </p:nvSpPr>
        <p:spPr>
          <a:xfrm>
            <a:off x="901700" y="3528020"/>
            <a:ext cx="12525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M5</a:t>
            </a:r>
            <a:endParaRPr lang="en-US" sz="1200" dirty="0"/>
          </a:p>
        </p:txBody>
      </p:sp>
      <p:sp>
        <p:nvSpPr>
          <p:cNvPr id="30" name="Text 28"/>
          <p:cNvSpPr txBox="1"/>
          <p:nvPr/>
        </p:nvSpPr>
        <p:spPr>
          <a:xfrm>
            <a:off x="2275284" y="35280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Long horizon + multi-occupant (8 weeks)</a:t>
            </a:r>
            <a:endParaRPr lang="en-US" sz="1200" dirty="0"/>
          </a:p>
        </p:txBody>
      </p:sp>
      <p:sp>
        <p:nvSpPr>
          <p:cNvPr id="31" name="Text 29"/>
          <p:cNvSpPr txBox="1"/>
          <p:nvPr/>
        </p:nvSpPr>
        <p:spPr>
          <a:xfrm>
            <a:off x="6501805" y="3528020"/>
            <a:ext cx="48632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Routine drift and occupancy heads; multi-resident data</a:t>
            </a:r>
            <a:endParaRPr lang="en-US" sz="1200" dirty="0"/>
          </a:p>
        </p:txBody>
      </p:sp>
      <p:sp>
        <p:nvSpPr>
          <p:cNvPr id="32" name="Shape 30"/>
          <p:cNvSpPr/>
          <p:nvPr/>
        </p:nvSpPr>
        <p:spPr>
          <a:xfrm>
            <a:off x="812800" y="3769320"/>
            <a:ext cx="10566400" cy="304800"/>
          </a:xfrm>
          <a:prstGeom prst="rect">
            <a:avLst/>
          </a:prstGeom>
          <a:solidFill>
            <a:srgbClr val="FDFCFA"/>
          </a:solidFill>
          <a:ln/>
        </p:spPr>
      </p:sp>
      <p:sp>
        <p:nvSpPr>
          <p:cNvPr id="33" name="Text 31"/>
          <p:cNvSpPr txBox="1"/>
          <p:nvPr/>
        </p:nvSpPr>
        <p:spPr>
          <a:xfrm>
            <a:off x="901700" y="3832820"/>
            <a:ext cx="1252563"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M6</a:t>
            </a:r>
            <a:endParaRPr lang="en-US" sz="1200" dirty="0"/>
          </a:p>
        </p:txBody>
      </p:sp>
      <p:sp>
        <p:nvSpPr>
          <p:cNvPr id="34" name="Text 32"/>
          <p:cNvSpPr txBox="1"/>
          <p:nvPr/>
        </p:nvSpPr>
        <p:spPr>
          <a:xfrm>
            <a:off x="2275284" y="38328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Edge distillation (4 weeks)</a:t>
            </a:r>
            <a:endParaRPr lang="en-US" sz="1200" dirty="0"/>
          </a:p>
        </p:txBody>
      </p:sp>
      <p:sp>
        <p:nvSpPr>
          <p:cNvPr id="35" name="Text 33"/>
          <p:cNvSpPr txBox="1"/>
          <p:nvPr/>
        </p:nvSpPr>
        <p:spPr>
          <a:xfrm>
            <a:off x="6501805" y="3832820"/>
            <a:ext cx="4863238"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Student under 500 MB, under 20 ms per minute on a hub</a:t>
            </a:r>
            <a:endParaRPr lang="en-US" sz="1200" dirty="0"/>
          </a:p>
        </p:txBody>
      </p:sp>
      <p:sp>
        <p:nvSpPr>
          <p:cNvPr id="36" name="Text 34"/>
          <p:cNvSpPr txBox="1"/>
          <p:nvPr/>
        </p:nvSpPr>
        <p:spPr>
          <a:xfrm>
            <a:off x="812800" y="4270970"/>
            <a:ext cx="10670032" cy="384770"/>
          </a:xfrm>
          <a:prstGeom prst="rect">
            <a:avLst/>
          </a:prstGeom>
          <a:noFill/>
          <a:ln/>
        </p:spPr>
        <p:txBody>
          <a:bodyPr wrap="square" lIns="0" tIns="0" rIns="0" bIns="0" rtlCol="0" anchor="t"/>
          <a:lstStyle/>
          <a:p>
            <a:pPr algn="l" indent="0" marL="0">
              <a:lnSpc>
                <a:spcPts val="1680"/>
              </a:lnSpc>
              <a:buNone/>
            </a:pPr>
            <a:r>
              <a:rPr lang="en-US" sz="1200" dirty="0">
                <a:solidFill>
                  <a:srgbClr val="3D4757"/>
                </a:solidFill>
                <a:latin typeface="Arial" pitchFamily="34" charset="0"/>
                <a:ea typeface="Arial" pitchFamily="34" charset="-122"/>
                <a:cs typeface="Arial" pitchFamily="34" charset="-120"/>
              </a:rPr>
              <a:t>System track in parallel: perception experts (8 weeks from 15 Oct), stores + query agent (6 weeks), SmartHomeQA benchmark (10 weeks from 1 Nov). First end-to-end demo in about 8 weeks, with rule-based episodes, swapping HomeFM in as it matures.</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PLAN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Build status today</a:t>
            </a:r>
            <a:endParaRPr lang="en-US" sz="2800" dirty="0"/>
          </a:p>
        </p:txBody>
      </p:sp>
      <p:sp>
        <p:nvSpPr>
          <p:cNvPr id="4" name="Shape 2"/>
          <p:cNvSpPr/>
          <p:nvPr/>
        </p:nvSpPr>
        <p:spPr>
          <a:xfrm>
            <a:off x="819150" y="1464270"/>
            <a:ext cx="5181600" cy="2646363"/>
          </a:xfrm>
          <a:prstGeom prst="roundRect">
            <a:avLst>
              <a:gd name="adj" fmla="val 3599"/>
            </a:avLst>
          </a:prstGeom>
          <a:solidFill>
            <a:srgbClr val="FDFCFA"/>
          </a:solidFill>
          <a:ln w="12700">
            <a:solidFill>
              <a:srgbClr val="E3E0D7"/>
            </a:solidFill>
            <a:prstDash val="solid"/>
          </a:ln>
        </p:spPr>
      </p:sp>
      <p:sp>
        <p:nvSpPr>
          <p:cNvPr id="5" name="Shape 3"/>
          <p:cNvSpPr/>
          <p:nvPr/>
        </p:nvSpPr>
        <p:spPr>
          <a:xfrm>
            <a:off x="1003300" y="1648420"/>
            <a:ext cx="541834" cy="254000"/>
          </a:xfrm>
          <a:prstGeom prst="roundRect">
            <a:avLst>
              <a:gd name="adj" fmla="val 50000"/>
            </a:avLst>
          </a:prstGeom>
          <a:solidFill>
            <a:srgbClr val="E3F0E7"/>
          </a:solidFill>
          <a:ln/>
        </p:spPr>
      </p:sp>
      <p:sp>
        <p:nvSpPr>
          <p:cNvPr id="6" name="Text 4"/>
          <p:cNvSpPr txBox="1"/>
          <p:nvPr/>
        </p:nvSpPr>
        <p:spPr>
          <a:xfrm>
            <a:off x="1104900" y="1686520"/>
            <a:ext cx="391127" cy="175260"/>
          </a:xfrm>
          <a:prstGeom prst="rect">
            <a:avLst/>
          </a:prstGeom>
          <a:noFill/>
          <a:ln/>
        </p:spPr>
        <p:txBody>
          <a:bodyPr wrap="square" lIns="0" tIns="0" rIns="0" bIns="0" rtlCol="0" anchor="t"/>
          <a:lstStyle/>
          <a:p>
            <a:pPr algn="l" indent="0" marL="0">
              <a:lnSpc>
                <a:spcPts val="1380"/>
              </a:lnSpc>
              <a:buNone/>
            </a:pPr>
            <a:r>
              <a:rPr lang="en-US" sz="1200" b="1" dirty="0">
                <a:solidFill>
                  <a:srgbClr val="2F6B45"/>
                </a:solidFill>
                <a:latin typeface="Arial" pitchFamily="34" charset="0"/>
                <a:ea typeface="Arial" pitchFamily="34" charset="-122"/>
                <a:cs typeface="Arial" pitchFamily="34" charset="-120"/>
              </a:rPr>
              <a:t>Built</a:t>
            </a:r>
            <a:endParaRPr lang="en-US" sz="1200" dirty="0"/>
          </a:p>
        </p:txBody>
      </p:sp>
      <p:sp>
        <p:nvSpPr>
          <p:cNvPr id="7" name="Text 5"/>
          <p:cNvSpPr txBox="1"/>
          <p:nvPr/>
        </p:nvSpPr>
        <p:spPr>
          <a:xfrm>
            <a:off x="1003300" y="1984970"/>
            <a:ext cx="4888167" cy="38477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Home Token schema, batching; converters for CASAS, UCI, Kasteren, MuRAL</a:t>
            </a:r>
            <a:endParaRPr lang="en-US" sz="1200" dirty="0"/>
          </a:p>
        </p:txBody>
      </p:sp>
      <p:sp>
        <p:nvSpPr>
          <p:cNvPr id="8" name="Text 6"/>
          <p:cNvSpPr txBox="1"/>
          <p:nvPr/>
        </p:nvSpPr>
        <p:spPr>
          <a:xfrm>
            <a:off x="1003300" y="2475111"/>
            <a:ext cx="4888167" cy="38477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Attribute fusion, moment encoder, stream transformer (live + look-back)</a:t>
            </a:r>
            <a:endParaRPr lang="en-US" sz="1200" dirty="0"/>
          </a:p>
        </p:txBody>
      </p:sp>
      <p:sp>
        <p:nvSpPr>
          <p:cNvPr id="9" name="Text 7"/>
          <p:cNvSpPr txBox="1"/>
          <p:nvPr/>
        </p:nvSpPr>
        <p:spPr>
          <a:xfrm>
            <a:off x="1003300" y="2965252"/>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Event read-out and next-event head (surprise)</a:t>
            </a:r>
            <a:endParaRPr lang="en-US" sz="1200" dirty="0"/>
          </a:p>
        </p:txBody>
      </p:sp>
      <p:sp>
        <p:nvSpPr>
          <p:cNvPr id="10" name="Text 8"/>
          <p:cNvSpPr txBox="1"/>
          <p:nvPr/>
        </p:nvSpPr>
        <p:spPr>
          <a:xfrm>
            <a:off x="1003300" y="3242072"/>
            <a:ext cx="4888167" cy="38477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Games A–F in code, tested on small data; language alignment per window</a:t>
            </a:r>
            <a:endParaRPr lang="en-US" sz="1200" dirty="0"/>
          </a:p>
        </p:txBody>
      </p:sp>
      <p:sp>
        <p:nvSpPr>
          <p:cNvPr id="11" name="Text 9"/>
          <p:cNvSpPr txBox="1"/>
          <p:nvPr/>
        </p:nvSpPr>
        <p:spPr>
          <a:xfrm>
            <a:off x="1003300" y="3732213"/>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DomusFM reimplementation, corpus runs, fixes, cleaning, EDA</a:t>
            </a:r>
            <a:endParaRPr lang="en-US" sz="1200" dirty="0"/>
          </a:p>
        </p:txBody>
      </p:sp>
      <p:sp>
        <p:nvSpPr>
          <p:cNvPr id="12" name="Shape 10"/>
          <p:cNvSpPr/>
          <p:nvPr/>
        </p:nvSpPr>
        <p:spPr>
          <a:xfrm>
            <a:off x="6191250" y="1464270"/>
            <a:ext cx="5181600" cy="2646363"/>
          </a:xfrm>
          <a:prstGeom prst="roundRect">
            <a:avLst>
              <a:gd name="adj" fmla="val 3599"/>
            </a:avLst>
          </a:prstGeom>
          <a:solidFill>
            <a:srgbClr val="FDFCFA"/>
          </a:solidFill>
          <a:ln w="12700">
            <a:solidFill>
              <a:srgbClr val="E3E0D7"/>
            </a:solidFill>
            <a:prstDash val="solid"/>
          </a:ln>
        </p:spPr>
      </p:sp>
      <p:sp>
        <p:nvSpPr>
          <p:cNvPr id="13" name="Shape 11"/>
          <p:cNvSpPr/>
          <p:nvPr/>
        </p:nvSpPr>
        <p:spPr>
          <a:xfrm>
            <a:off x="6375400" y="1648420"/>
            <a:ext cx="1574800" cy="254000"/>
          </a:xfrm>
          <a:prstGeom prst="roundRect">
            <a:avLst>
              <a:gd name="adj" fmla="val 50000"/>
            </a:avLst>
          </a:prstGeom>
          <a:solidFill>
            <a:srgbClr val="FBEBDD"/>
          </a:solidFill>
          <a:ln/>
        </p:spPr>
      </p:sp>
      <p:sp>
        <p:nvSpPr>
          <p:cNvPr id="14" name="Text 12"/>
          <p:cNvSpPr txBox="1"/>
          <p:nvPr/>
        </p:nvSpPr>
        <p:spPr>
          <a:xfrm>
            <a:off x="6477000" y="1686520"/>
            <a:ext cx="1429258" cy="175260"/>
          </a:xfrm>
          <a:prstGeom prst="rect">
            <a:avLst/>
          </a:prstGeom>
          <a:noFill/>
          <a:ln/>
        </p:spPr>
        <p:txBody>
          <a:bodyPr wrap="square" lIns="0" tIns="0" rIns="0" bIns="0" rtlCol="0" anchor="t"/>
          <a:lstStyle/>
          <a:p>
            <a:pPr algn="l" indent="0" marL="0">
              <a:lnSpc>
                <a:spcPts val="1380"/>
              </a:lnSpc>
              <a:buNone/>
            </a:pPr>
            <a:r>
              <a:rPr lang="en-US" sz="1200" b="1" dirty="0">
                <a:solidFill>
                  <a:srgbClr val="A8470B"/>
                </a:solidFill>
                <a:latin typeface="Arial" pitchFamily="34" charset="0"/>
                <a:ea typeface="Arial" pitchFamily="34" charset="-122"/>
                <a:cs typeface="Arial" pitchFamily="34" charset="-120"/>
              </a:rPr>
              <a:t>Designed, not built</a:t>
            </a:r>
            <a:endParaRPr lang="en-US" sz="1200" dirty="0"/>
          </a:p>
        </p:txBody>
      </p:sp>
      <p:sp>
        <p:nvSpPr>
          <p:cNvPr id="15" name="Text 13"/>
          <p:cNvSpPr txBox="1"/>
          <p:nvPr/>
        </p:nvSpPr>
        <p:spPr>
          <a:xfrm>
            <a:off x="6375400" y="1984970"/>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Detector tag vocabulary; audio and vision experts</a:t>
            </a:r>
            <a:endParaRPr lang="en-US" sz="1200" dirty="0"/>
          </a:p>
        </p:txBody>
      </p:sp>
      <p:sp>
        <p:nvSpPr>
          <p:cNvPr id="16" name="Text 14"/>
          <p:cNvSpPr txBox="1"/>
          <p:nvPr/>
        </p:nvSpPr>
        <p:spPr>
          <a:xfrm>
            <a:off x="6375400" y="2261791"/>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KV-cache streaming, day tokens, entity axis, person cards</a:t>
            </a:r>
            <a:endParaRPr lang="en-US" sz="1200" dirty="0"/>
          </a:p>
        </p:txBody>
      </p:sp>
      <p:sp>
        <p:nvSpPr>
          <p:cNvPr id="17" name="Text 15"/>
          <p:cNvSpPr txBox="1"/>
          <p:nvPr/>
        </p:nvSpPr>
        <p:spPr>
          <a:xfrm>
            <a:off x="6375400" y="2538611"/>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Tagger, start/end, occupancy, device-health heads; episode builder</a:t>
            </a:r>
            <a:endParaRPr lang="en-US" sz="1200" dirty="0"/>
          </a:p>
        </p:txBody>
      </p:sp>
      <p:sp>
        <p:nvSpPr>
          <p:cNvPr id="18" name="Text 16"/>
          <p:cNvSpPr txBox="1"/>
          <p:nvPr/>
        </p:nvSpPr>
        <p:spPr>
          <a:xfrm>
            <a:off x="6375400" y="2815431"/>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Stores, vector index, semantic search, agent; onboarding</a:t>
            </a:r>
            <a:endParaRPr lang="en-US" sz="1200" dirty="0"/>
          </a:p>
        </p:txBody>
      </p:sp>
      <p:sp>
        <p:nvSpPr>
          <p:cNvPr id="19" name="Text 17"/>
          <p:cNvSpPr txBox="1"/>
          <p:nvPr/>
        </p:nvSpPr>
        <p:spPr>
          <a:xfrm>
            <a:off x="6375400" y="3092252"/>
            <a:ext cx="4888167" cy="213360"/>
          </a:xfrm>
          <a:prstGeom prst="rect">
            <a:avLst/>
          </a:prstGeom>
          <a:noFill/>
          <a:ln/>
        </p:spPr>
        <p:txBody>
          <a:bodyPr wrap="square" lIns="0" tIns="0" rIns="0" bIns="0" rtlCol="0" anchor="t"/>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 Per-minute alignment, variant G, teacher → student</a:t>
            </a:r>
            <a:endParaRPr lang="en-US" sz="1200" dirty="0"/>
          </a:p>
        </p:txBody>
      </p:sp>
      <p:sp>
        <p:nvSpPr>
          <p:cNvPr id="20" name="Shape 18"/>
          <p:cNvSpPr/>
          <p:nvPr/>
        </p:nvSpPr>
        <p:spPr>
          <a:xfrm>
            <a:off x="819150" y="4301133"/>
            <a:ext cx="10553700" cy="1940917"/>
          </a:xfrm>
          <a:prstGeom prst="roundRect">
            <a:avLst>
              <a:gd name="adj" fmla="val 4907"/>
            </a:avLst>
          </a:prstGeom>
          <a:solidFill>
            <a:srgbClr val="E6EEF8"/>
          </a:solidFill>
          <a:ln w="12700">
            <a:solidFill>
              <a:srgbClr val="B9CDE8"/>
            </a:solidFill>
            <a:prstDash val="solid"/>
          </a:ln>
        </p:spPr>
      </p:sp>
      <p:sp>
        <p:nvSpPr>
          <p:cNvPr id="21" name="Text 19"/>
          <p:cNvSpPr txBox="1"/>
          <p:nvPr/>
        </p:nvSpPr>
        <p:spPr>
          <a:xfrm>
            <a:off x="1003300" y="4504333"/>
            <a:ext cx="10287127" cy="421580"/>
          </a:xfrm>
          <a:prstGeom prst="rect">
            <a:avLst/>
          </a:prstGeom>
          <a:noFill/>
          <a:ln/>
        </p:spPr>
        <p:txBody>
          <a:bodyPr wrap="square" lIns="0" tIns="0" rIns="0" bIns="0" rtlCol="0" anchor="t"/>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DomusFM baseline done:</a:t>
            </a:r>
            <a:pPr algn="l" indent="0" marL="0">
              <a:lnSpc>
                <a:spcPts val="1820"/>
              </a:lnSpc>
              <a:buNone/>
            </a:pPr>
            <a:r>
              <a:rPr lang="en-US" sz="1300" dirty="0">
                <a:solidFill>
                  <a:srgbClr val="14213D"/>
                </a:solidFill>
                <a:latin typeface="Arial" pitchFamily="34" charset="0"/>
                <a:ea typeface="Arial" pitchFamily="34" charset="-122"/>
                <a:cs typeface="Arial" pitchFamily="34" charset="-120"/>
              </a:rPr>
              <a:t> run 3 finished 29 Sep (34 of 40 settings helped by pretraining). </a:t>
            </a:r>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Not run yet:</a:t>
            </a:r>
            <a:pPr algn="l" indent="0" marL="0">
              <a:lnSpc>
                <a:spcPts val="1820"/>
              </a:lnSpc>
              <a:buNone/>
            </a:pPr>
            <a:r>
              <a:rPr lang="en-US" sz="1300" dirty="0">
                <a:solidFill>
                  <a:srgbClr val="14213D"/>
                </a:solidFill>
                <a:latin typeface="Arial" pitchFamily="34" charset="0"/>
                <a:ea typeface="Arial" pitchFamily="34" charset="-122"/>
                <a:cs typeface="Arial" pitchFamily="34" charset="-120"/>
              </a:rPr>
              <a:t> the HomeFM corpus runs (variant E at 8.0M and size-matched 28.6M).</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5F1"/>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1E5AA8"/>
                </a:solidFill>
                <a:latin typeface="Arial" pitchFamily="34" charset="0"/>
                <a:ea typeface="Arial" pitchFamily="34" charset="-122"/>
                <a:cs typeface="Arial" pitchFamily="34" charset="-120"/>
              </a:rPr>
              <a:t>PLAN</a:t>
            </a:r>
            <a:endParaRPr lang="en-US" sz="1200" dirty="0"/>
          </a:p>
        </p:txBody>
      </p:sp>
      <p:sp>
        <p:nvSpPr>
          <p:cNvPr id="3" name="Text 1"/>
          <p:cNvSpPr txBox="1"/>
          <p:nvPr/>
        </p:nvSpPr>
        <p:spPr>
          <a:xfrm>
            <a:off x="812800" y="882650"/>
            <a:ext cx="10670032" cy="400050"/>
          </a:xfrm>
          <a:prstGeom prst="rect">
            <a:avLst/>
          </a:prstGeom>
          <a:noFill/>
          <a:ln/>
        </p:spPr>
        <p:txBody>
          <a:bodyPr wrap="square" lIns="0" tIns="0" rIns="0" bIns="0" rtlCol="0" anchor="t"/>
          <a:lstStyle/>
          <a:p>
            <a:pPr algn="l" indent="0" marL="0">
              <a:lnSpc>
                <a:spcPts val="3080"/>
              </a:lnSpc>
              <a:buNone/>
            </a:pPr>
            <a:r>
              <a:rPr lang="en-US" sz="2800" b="1" dirty="0">
                <a:solidFill>
                  <a:srgbClr val="14213D"/>
                </a:solidFill>
                <a:latin typeface="Arial" pitchFamily="34" charset="0"/>
                <a:ea typeface="Arial" pitchFamily="34" charset="-122"/>
                <a:cs typeface="Arial" pitchFamily="34" charset="-120"/>
              </a:rPr>
              <a:t>Risks and open decisions</a:t>
            </a:r>
            <a:endParaRPr lang="en-US" sz="2800" dirty="0"/>
          </a:p>
        </p:txBody>
      </p:sp>
      <p:sp>
        <p:nvSpPr>
          <p:cNvPr id="4" name="Shape 2"/>
          <p:cNvSpPr/>
          <p:nvPr/>
        </p:nvSpPr>
        <p:spPr>
          <a:xfrm>
            <a:off x="812800" y="1457920"/>
            <a:ext cx="10566400" cy="304800"/>
          </a:xfrm>
          <a:prstGeom prst="rect">
            <a:avLst/>
          </a:prstGeom>
          <a:solidFill>
            <a:srgbClr val="14213D"/>
          </a:solidFill>
          <a:ln/>
        </p:spPr>
      </p:sp>
      <p:sp>
        <p:nvSpPr>
          <p:cNvPr id="5" name="Text 3"/>
          <p:cNvSpPr txBox="1"/>
          <p:nvPr/>
        </p:nvSpPr>
        <p:spPr>
          <a:xfrm>
            <a:off x="901700" y="1521420"/>
            <a:ext cx="4119764"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Risk</a:t>
            </a:r>
            <a:endParaRPr lang="en-US" sz="1200" dirty="0"/>
          </a:p>
        </p:txBody>
      </p:sp>
      <p:sp>
        <p:nvSpPr>
          <p:cNvPr id="6" name="Text 4"/>
          <p:cNvSpPr txBox="1"/>
          <p:nvPr/>
        </p:nvSpPr>
        <p:spPr>
          <a:xfrm>
            <a:off x="5128220" y="1521420"/>
            <a:ext cx="6243690" cy="175260"/>
          </a:xfrm>
          <a:prstGeom prst="rect">
            <a:avLst/>
          </a:prstGeom>
          <a:noFill/>
          <a:ln/>
        </p:spPr>
        <p:txBody>
          <a:bodyPr wrap="square" lIns="0" tIns="0" rIns="0" bIns="0" rtlCol="0" anchor="t"/>
          <a:lstStyle/>
          <a:p>
            <a:pPr algn="l" indent="0" marL="0">
              <a:lnSpc>
                <a:spcPts val="1380"/>
              </a:lnSpc>
              <a:buNone/>
            </a:pPr>
            <a:r>
              <a:rPr lang="en-US" sz="1200" b="1" dirty="0">
                <a:solidFill>
                  <a:srgbClr val="F6F5F1"/>
                </a:solidFill>
                <a:latin typeface="Arial" pitchFamily="34" charset="0"/>
                <a:ea typeface="Arial" pitchFamily="34" charset="-122"/>
                <a:cs typeface="Arial" pitchFamily="34" charset="-120"/>
              </a:rPr>
              <a:t>Mitigation</a:t>
            </a:r>
            <a:endParaRPr lang="en-US" sz="1200" dirty="0"/>
          </a:p>
        </p:txBody>
      </p:sp>
      <p:sp>
        <p:nvSpPr>
          <p:cNvPr id="7" name="Shape 5"/>
          <p:cNvSpPr/>
          <p:nvPr/>
        </p:nvSpPr>
        <p:spPr>
          <a:xfrm>
            <a:off x="812800" y="1762720"/>
            <a:ext cx="10566400" cy="304800"/>
          </a:xfrm>
          <a:prstGeom prst="rect">
            <a:avLst/>
          </a:prstGeom>
          <a:solidFill>
            <a:srgbClr val="FDFCFA"/>
          </a:solidFill>
          <a:ln/>
        </p:spPr>
      </p:sp>
      <p:sp>
        <p:nvSpPr>
          <p:cNvPr id="8" name="Text 6"/>
          <p:cNvSpPr txBox="1"/>
          <p:nvPr/>
        </p:nvSpPr>
        <p:spPr>
          <a:xfrm>
            <a:off x="901700" y="18262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Pretraining data too small or uniform</a:t>
            </a:r>
            <a:endParaRPr lang="en-US" sz="1200" dirty="0"/>
          </a:p>
        </p:txBody>
      </p:sp>
      <p:sp>
        <p:nvSpPr>
          <p:cNvPr id="9" name="Text 7"/>
          <p:cNvSpPr txBox="1"/>
          <p:nvPr/>
        </p:nvSpPr>
        <p:spPr>
          <a:xfrm>
            <a:off x="5128220" y="18262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Simulated homes, more CASAS homes, pilots, distillation</a:t>
            </a:r>
            <a:endParaRPr lang="en-US" sz="1200" dirty="0"/>
          </a:p>
        </p:txBody>
      </p:sp>
      <p:sp>
        <p:nvSpPr>
          <p:cNvPr id="10" name="Shape 8"/>
          <p:cNvSpPr/>
          <p:nvPr/>
        </p:nvSpPr>
        <p:spPr>
          <a:xfrm>
            <a:off x="812800" y="2067520"/>
            <a:ext cx="10566400" cy="304800"/>
          </a:xfrm>
          <a:prstGeom prst="rect">
            <a:avLst/>
          </a:prstGeom>
          <a:solidFill>
            <a:srgbClr val="F6F5F1"/>
          </a:solidFill>
          <a:ln/>
        </p:spPr>
      </p:sp>
      <p:sp>
        <p:nvSpPr>
          <p:cNvPr id="11" name="Text 9"/>
          <p:cNvSpPr txBox="1"/>
          <p:nvPr/>
        </p:nvSpPr>
        <p:spPr>
          <a:xfrm>
            <a:off x="901700" y="21310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“One occurrence” is ambiguous</a:t>
            </a:r>
            <a:endParaRPr lang="en-US" sz="1200" dirty="0"/>
          </a:p>
        </p:txBody>
      </p:sp>
      <p:sp>
        <p:nvSpPr>
          <p:cNvPr id="12" name="Text 10"/>
          <p:cNvSpPr txBox="1"/>
          <p:nvPr/>
        </p:nvSpPr>
        <p:spPr>
          <a:xfrm>
            <a:off x="5128220" y="21310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Per-concept episode rules in the ontology; feedback tuning</a:t>
            </a:r>
            <a:endParaRPr lang="en-US" sz="1200" dirty="0"/>
          </a:p>
        </p:txBody>
      </p:sp>
      <p:sp>
        <p:nvSpPr>
          <p:cNvPr id="13" name="Shape 11"/>
          <p:cNvSpPr/>
          <p:nvPr/>
        </p:nvSpPr>
        <p:spPr>
          <a:xfrm>
            <a:off x="812800" y="2372320"/>
            <a:ext cx="10566400" cy="304800"/>
          </a:xfrm>
          <a:prstGeom prst="rect">
            <a:avLst/>
          </a:prstGeom>
          <a:solidFill>
            <a:srgbClr val="FDFCFA"/>
          </a:solidFill>
          <a:ln/>
        </p:spPr>
      </p:sp>
      <p:sp>
        <p:nvSpPr>
          <p:cNvPr id="14" name="Text 12"/>
          <p:cNvSpPr txBox="1"/>
          <p:nvPr/>
        </p:nvSpPr>
        <p:spPr>
          <a:xfrm>
            <a:off x="901700" y="24358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Who did it, with several occupants</a:t>
            </a:r>
            <a:endParaRPr lang="en-US" sz="1200" dirty="0"/>
          </a:p>
        </p:txBody>
      </p:sp>
      <p:sp>
        <p:nvSpPr>
          <p:cNvPr id="15" name="Text 13"/>
          <p:cNvSpPr txBox="1"/>
          <p:nvPr/>
        </p:nvSpPr>
        <p:spPr>
          <a:xfrm>
            <a:off x="5128220" y="24358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Identity-bearing sensors where allowed; calibrated ranges otherwise</a:t>
            </a:r>
            <a:endParaRPr lang="en-US" sz="1200" dirty="0"/>
          </a:p>
        </p:txBody>
      </p:sp>
      <p:sp>
        <p:nvSpPr>
          <p:cNvPr id="16" name="Shape 14"/>
          <p:cNvSpPr/>
          <p:nvPr/>
        </p:nvSpPr>
        <p:spPr>
          <a:xfrm>
            <a:off x="812800" y="2677120"/>
            <a:ext cx="10566400" cy="304800"/>
          </a:xfrm>
          <a:prstGeom prst="rect">
            <a:avLst/>
          </a:prstGeom>
          <a:solidFill>
            <a:srgbClr val="F6F5F1"/>
          </a:solidFill>
          <a:ln/>
        </p:spPr>
      </p:sp>
      <p:sp>
        <p:nvSpPr>
          <p:cNvPr id="17" name="Text 15"/>
          <p:cNvSpPr txBox="1"/>
          <p:nvPr/>
        </p:nvSpPr>
        <p:spPr>
          <a:xfrm>
            <a:off x="901700" y="27406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False alarms (care, security)</a:t>
            </a:r>
            <a:endParaRPr lang="en-US" sz="1200" dirty="0"/>
          </a:p>
        </p:txBody>
      </p:sp>
      <p:sp>
        <p:nvSpPr>
          <p:cNvPr id="18" name="Text 16"/>
          <p:cNvSpPr txBox="1"/>
          <p:nvPr/>
        </p:nvSpPr>
        <p:spPr>
          <a:xfrm>
            <a:off x="5128220" y="27406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Per-home calibration, alert budgets, a human confirms</a:t>
            </a:r>
            <a:endParaRPr lang="en-US" sz="1200" dirty="0"/>
          </a:p>
        </p:txBody>
      </p:sp>
      <p:sp>
        <p:nvSpPr>
          <p:cNvPr id="19" name="Shape 17"/>
          <p:cNvSpPr/>
          <p:nvPr/>
        </p:nvSpPr>
        <p:spPr>
          <a:xfrm>
            <a:off x="812800" y="2981920"/>
            <a:ext cx="10566400" cy="304800"/>
          </a:xfrm>
          <a:prstGeom prst="rect">
            <a:avLst/>
          </a:prstGeom>
          <a:solidFill>
            <a:srgbClr val="FDFCFA"/>
          </a:solidFill>
          <a:ln/>
        </p:spPr>
      </p:sp>
      <p:sp>
        <p:nvSpPr>
          <p:cNvPr id="20" name="Text 18"/>
          <p:cNvSpPr txBox="1"/>
          <p:nvPr/>
        </p:nvSpPr>
        <p:spPr>
          <a:xfrm>
            <a:off x="901700" y="30454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Simulated vs real gap</a:t>
            </a:r>
            <a:endParaRPr lang="en-US" sz="1200" dirty="0"/>
          </a:p>
        </p:txBody>
      </p:sp>
      <p:sp>
        <p:nvSpPr>
          <p:cNvPr id="21" name="Text 19"/>
          <p:cNvSpPr txBox="1"/>
          <p:nvPr/>
        </p:nvSpPr>
        <p:spPr>
          <a:xfrm>
            <a:off x="5128220" y="30454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Home-adversarial training; validate on real pilot homes</a:t>
            </a:r>
            <a:endParaRPr lang="en-US" sz="1200" dirty="0"/>
          </a:p>
        </p:txBody>
      </p:sp>
      <p:sp>
        <p:nvSpPr>
          <p:cNvPr id="22" name="Shape 20"/>
          <p:cNvSpPr/>
          <p:nvPr/>
        </p:nvSpPr>
        <p:spPr>
          <a:xfrm>
            <a:off x="812800" y="3286720"/>
            <a:ext cx="10566400" cy="304800"/>
          </a:xfrm>
          <a:prstGeom prst="rect">
            <a:avLst/>
          </a:prstGeom>
          <a:solidFill>
            <a:srgbClr val="F6F5F1"/>
          </a:solidFill>
          <a:ln/>
        </p:spPr>
      </p:sp>
      <p:sp>
        <p:nvSpPr>
          <p:cNvPr id="23" name="Text 21"/>
          <p:cNvSpPr txBox="1"/>
          <p:nvPr/>
        </p:nvSpPr>
        <p:spPr>
          <a:xfrm>
            <a:off x="901700" y="3350220"/>
            <a:ext cx="4119764"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Privacy and trust</a:t>
            </a:r>
            <a:endParaRPr lang="en-US" sz="1200" dirty="0"/>
          </a:p>
        </p:txBody>
      </p:sp>
      <p:sp>
        <p:nvSpPr>
          <p:cNvPr id="24" name="Text 22"/>
          <p:cNvSpPr txBox="1"/>
          <p:nvPr/>
        </p:nvSpPr>
        <p:spPr>
          <a:xfrm>
            <a:off x="5128220" y="3350220"/>
            <a:ext cx="6243690" cy="175260"/>
          </a:xfrm>
          <a:prstGeom prst="rect">
            <a:avLst/>
          </a:prstGeom>
          <a:noFill/>
          <a:ln/>
        </p:spPr>
        <p:txBody>
          <a:bodyPr wrap="square" lIns="0" tIns="0" rIns="0" bIns="0" rtlCol="0" anchor="t"/>
          <a:lstStyle/>
          <a:p>
            <a:pPr algn="l" indent="0" marL="0">
              <a:lnSpc>
                <a:spcPts val="1380"/>
              </a:lnSpc>
              <a:buNone/>
            </a:pPr>
            <a:r>
              <a:rPr lang="en-US" sz="1200" dirty="0">
                <a:solidFill>
                  <a:srgbClr val="3D4757"/>
                </a:solidFill>
                <a:latin typeface="Arial" pitchFamily="34" charset="0"/>
                <a:ea typeface="Arial" pitchFamily="34" charset="-122"/>
                <a:cs typeface="Arial" pitchFamily="34" charset="-120"/>
              </a:rPr>
              <a:t>Edge-only default, events-only storage, visible history</a:t>
            </a:r>
            <a:endParaRPr lang="en-US" sz="1200" dirty="0"/>
          </a:p>
        </p:txBody>
      </p:sp>
      <p:sp>
        <p:nvSpPr>
          <p:cNvPr id="25" name="Text 23"/>
          <p:cNvSpPr txBox="1"/>
          <p:nvPr/>
        </p:nvSpPr>
        <p:spPr>
          <a:xfrm>
            <a:off x="812800" y="3788370"/>
            <a:ext cx="10670032" cy="384770"/>
          </a:xfrm>
          <a:prstGeom prst="rect">
            <a:avLst/>
          </a:prstGeom>
          <a:noFill/>
          <a:ln/>
        </p:spPr>
        <p:txBody>
          <a:bodyPr wrap="square" lIns="0" tIns="0" rIns="0" bIns="0" rtlCol="0" anchor="t"/>
          <a:lstStyle/>
          <a:p>
            <a:pPr algn="l" indent="0" marL="0">
              <a:lnSpc>
                <a:spcPts val="1680"/>
              </a:lnSpc>
              <a:buNone/>
            </a:pPr>
            <a:r>
              <a:rPr lang="en-US" sz="1200" b="1" dirty="0">
                <a:solidFill>
                  <a:srgbClr val="3D4757"/>
                </a:solidFill>
                <a:latin typeface="Arial" pitchFamily="34" charset="0"/>
                <a:ea typeface="Arial" pitchFamily="34" charset="-122"/>
                <a:cs typeface="Arial" pitchFamily="34" charset="-120"/>
              </a:rPr>
              <a:t>Open decisions:</a:t>
            </a:r>
            <a:pPr algn="l" indent="0" marL="0">
              <a:lnSpc>
                <a:spcPts val="1680"/>
              </a:lnSpc>
              <a:buNone/>
            </a:pPr>
            <a:r>
              <a:rPr lang="en-US" sz="1200" dirty="0">
                <a:solidFill>
                  <a:srgbClr val="3D4757"/>
                </a:solidFill>
                <a:latin typeface="Arial" pitchFamily="34" charset="0"/>
                <a:ea typeface="Arial" pitchFamily="34" charset="-122"/>
                <a:cs typeface="Arial" pitchFamily="34" charset="-120"/>
              </a:rPr>
              <a:t> edge-only vs edge + cloud · which hub ecosystem first (Home Assistant, Matter) · 2–3 deep v1 domains · access to pilot homes · free-text messages as tags or text tokens · keep the device registry outside the model file · detector tag field in the Home Token.</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660400"/>
            <a:ext cx="10670032" cy="175260"/>
          </a:xfrm>
          <a:prstGeom prst="rect">
            <a:avLst/>
          </a:prstGeom>
          <a:noFill/>
          <a:ln/>
        </p:spPr>
        <p:txBody>
          <a:bodyPr wrap="square" lIns="0" tIns="0" rIns="0" bIns="0" rtlCol="0" anchor="t"/>
          <a:lstStyle/>
          <a:p>
            <a:pPr algn="l" indent="0" marL="0">
              <a:lnSpc>
                <a:spcPts val="1380"/>
              </a:lnSpc>
              <a:buNone/>
            </a:pPr>
            <a:r>
              <a:rPr lang="en-US" sz="1200" b="1" spc="100" kern="0" dirty="0">
                <a:solidFill>
                  <a:srgbClr val="8DB8F2"/>
                </a:solidFill>
                <a:latin typeface="Arial" pitchFamily="34" charset="0"/>
                <a:ea typeface="Arial" pitchFamily="34" charset="-122"/>
                <a:cs typeface="Arial" pitchFamily="34" charset="-120"/>
              </a:rPr>
              <a:t>NEXT STEPS</a:t>
            </a:r>
            <a:endParaRPr lang="en-US" sz="1200" dirty="0"/>
          </a:p>
        </p:txBody>
      </p:sp>
      <p:sp>
        <p:nvSpPr>
          <p:cNvPr id="3" name="Text 1"/>
          <p:cNvSpPr txBox="1"/>
          <p:nvPr/>
        </p:nvSpPr>
        <p:spPr>
          <a:xfrm>
            <a:off x="812800" y="1009650"/>
            <a:ext cx="10670032" cy="1010841"/>
          </a:xfrm>
          <a:prstGeom prst="rect">
            <a:avLst/>
          </a:prstGeom>
          <a:noFill/>
          <a:ln/>
        </p:spPr>
        <p:txBody>
          <a:bodyPr wrap="square" lIns="0" tIns="0" rIns="0" bIns="0" rtlCol="0" anchor="t"/>
          <a:lstStyle/>
          <a:p>
            <a:pPr algn="l" indent="0" marL="0">
              <a:lnSpc>
                <a:spcPts val="3960"/>
              </a:lnSpc>
              <a:buNone/>
            </a:pPr>
            <a:r>
              <a:rPr lang="en-US" sz="3600" b="1" dirty="0">
                <a:solidFill>
                  <a:srgbClr val="F6F5F1"/>
                </a:solidFill>
                <a:latin typeface="Arial" pitchFamily="34" charset="0"/>
                <a:ea typeface="Arial" pitchFamily="34" charset="-122"/>
                <a:cs typeface="Arial" pitchFamily="34" charset="-120"/>
              </a:rPr>
              <a:t>Prove the games on real homes, one run at a time</a:t>
            </a:r>
            <a:endParaRPr lang="en-US" sz="3600" dirty="0"/>
          </a:p>
        </p:txBody>
      </p:sp>
      <p:sp>
        <p:nvSpPr>
          <p:cNvPr id="4" name="Shape 2"/>
          <p:cNvSpPr/>
          <p:nvPr/>
        </p:nvSpPr>
        <p:spPr>
          <a:xfrm>
            <a:off x="819150" y="3572867"/>
            <a:ext cx="2514600" cy="2242542"/>
          </a:xfrm>
          <a:prstGeom prst="roundRect">
            <a:avLst>
              <a:gd name="adj" fmla="val 4247"/>
            </a:avLst>
          </a:prstGeom>
          <a:solidFill>
            <a:srgbClr val="1F2E4F"/>
          </a:solidFill>
          <a:ln w="12700">
            <a:solidFill>
              <a:srgbClr val="2E4270"/>
            </a:solidFill>
            <a:prstDash val="solid"/>
          </a:ln>
        </p:spPr>
      </p:sp>
      <p:sp>
        <p:nvSpPr>
          <p:cNvPr id="5" name="Text 3"/>
          <p:cNvSpPr txBox="1"/>
          <p:nvPr/>
        </p:nvSpPr>
        <p:spPr>
          <a:xfrm>
            <a:off x="1003300" y="3731617"/>
            <a:ext cx="2207832" cy="457200"/>
          </a:xfrm>
          <a:prstGeom prst="rect">
            <a:avLst/>
          </a:prstGeom>
          <a:noFill/>
          <a:ln/>
        </p:spPr>
        <p:txBody>
          <a:bodyPr wrap="square" lIns="0" tIns="0" rIns="0" bIns="0" rtlCol="0" anchor="t"/>
          <a:lstStyle/>
          <a:p>
            <a:pPr algn="l" indent="0" marL="0">
              <a:lnSpc>
                <a:spcPts val="3200"/>
              </a:lnSpc>
              <a:buNone/>
            </a:pPr>
            <a:r>
              <a:rPr lang="en-US" sz="3200" b="1" dirty="0">
                <a:solidFill>
                  <a:srgbClr val="8DB8F2"/>
                </a:solidFill>
                <a:latin typeface="Arial" pitchFamily="34" charset="0"/>
                <a:ea typeface="Arial" pitchFamily="34" charset="-122"/>
                <a:cs typeface="Arial" pitchFamily="34" charset="-120"/>
              </a:rPr>
              <a:t>1</a:t>
            </a:r>
            <a:endParaRPr lang="en-US" sz="3200" dirty="0"/>
          </a:p>
        </p:txBody>
      </p:sp>
      <p:sp>
        <p:nvSpPr>
          <p:cNvPr id="6" name="Text 4"/>
          <p:cNvSpPr txBox="1"/>
          <p:nvPr/>
        </p:nvSpPr>
        <p:spPr>
          <a:xfrm>
            <a:off x="1003300" y="4233267"/>
            <a:ext cx="2207832" cy="243840"/>
          </a:xfrm>
          <a:prstGeom prst="rect">
            <a:avLst/>
          </a:prstGeom>
          <a:noFill/>
          <a:ln/>
        </p:spPr>
        <p:txBody>
          <a:bodyPr wrap="square" lIns="0" tIns="0" rIns="0" bIns="0" rtlCol="0" anchor="t"/>
          <a:lstStyle/>
          <a:p>
            <a:pPr algn="l" indent="0" marL="0">
              <a:lnSpc>
                <a:spcPts val="1920"/>
              </a:lnSpc>
              <a:buNone/>
            </a:pPr>
            <a:r>
              <a:rPr lang="en-US" sz="1600" b="1" dirty="0">
                <a:solidFill>
                  <a:srgbClr val="F6F5F1"/>
                </a:solidFill>
                <a:latin typeface="Arial" pitchFamily="34" charset="0"/>
                <a:ea typeface="Arial" pitchFamily="34" charset="-122"/>
                <a:cs typeface="Arial" pitchFamily="34" charset="-120"/>
              </a:rPr>
              <a:t>DomusFM run 3: done</a:t>
            </a:r>
            <a:endParaRPr lang="en-US" sz="1600" dirty="0"/>
          </a:p>
        </p:txBody>
      </p:sp>
      <p:sp>
        <p:nvSpPr>
          <p:cNvPr id="7" name="Text 5"/>
          <p:cNvSpPr txBox="1"/>
          <p:nvPr/>
        </p:nvSpPr>
        <p:spPr>
          <a:xfrm>
            <a:off x="1003300" y="4553248"/>
            <a:ext cx="2207832" cy="811411"/>
          </a:xfrm>
          <a:prstGeom prst="rect">
            <a:avLst/>
          </a:prstGeom>
          <a:noFill/>
          <a:ln/>
        </p:spPr>
        <p:txBody>
          <a:bodyPr wrap="square" lIns="0" tIns="0" rIns="0" bIns="0" rtlCol="0" anchor="t"/>
          <a:lstStyle/>
          <a:p>
            <a:pPr algn="l" indent="0" marL="0">
              <a:lnSpc>
                <a:spcPts val="1680"/>
              </a:lnSpc>
              <a:buNone/>
            </a:pPr>
            <a:r>
              <a:rPr lang="en-US" sz="1200" dirty="0">
                <a:solidFill>
                  <a:srgbClr val="C5CFDD"/>
                </a:solidFill>
                <a:latin typeface="Arial" pitchFamily="34" charset="0"/>
                <a:ea typeface="Arial" pitchFamily="34" charset="-122"/>
                <a:cs typeface="Arial" pitchFamily="34" charset="-120"/>
              </a:rPr>
              <a:t>Pretraining helps in 34 of 40 settings on 10 homes. The fixed, cleaned DomusFM is the baseline to beat.</a:t>
            </a:r>
            <a:endParaRPr lang="en-US" sz="1200" dirty="0"/>
          </a:p>
        </p:txBody>
      </p:sp>
      <p:sp>
        <p:nvSpPr>
          <p:cNvPr id="8" name="Shape 6"/>
          <p:cNvSpPr/>
          <p:nvPr/>
        </p:nvSpPr>
        <p:spPr>
          <a:xfrm>
            <a:off x="3498850" y="3572867"/>
            <a:ext cx="2514600" cy="2242542"/>
          </a:xfrm>
          <a:prstGeom prst="roundRect">
            <a:avLst>
              <a:gd name="adj" fmla="val 4247"/>
            </a:avLst>
          </a:prstGeom>
          <a:solidFill>
            <a:srgbClr val="1F2E4F"/>
          </a:solidFill>
          <a:ln w="12700">
            <a:solidFill>
              <a:srgbClr val="2E4270"/>
            </a:solidFill>
            <a:prstDash val="solid"/>
          </a:ln>
        </p:spPr>
      </p:sp>
      <p:sp>
        <p:nvSpPr>
          <p:cNvPr id="9" name="Text 7"/>
          <p:cNvSpPr txBox="1"/>
          <p:nvPr/>
        </p:nvSpPr>
        <p:spPr>
          <a:xfrm>
            <a:off x="3683000" y="3731617"/>
            <a:ext cx="2207832" cy="457200"/>
          </a:xfrm>
          <a:prstGeom prst="rect">
            <a:avLst/>
          </a:prstGeom>
          <a:noFill/>
          <a:ln/>
        </p:spPr>
        <p:txBody>
          <a:bodyPr wrap="square" lIns="0" tIns="0" rIns="0" bIns="0" rtlCol="0" anchor="t"/>
          <a:lstStyle/>
          <a:p>
            <a:pPr algn="l" indent="0" marL="0">
              <a:lnSpc>
                <a:spcPts val="3200"/>
              </a:lnSpc>
              <a:buNone/>
            </a:pPr>
            <a:r>
              <a:rPr lang="en-US" sz="3200" b="1" dirty="0">
                <a:solidFill>
                  <a:srgbClr val="8DB8F2"/>
                </a:solidFill>
                <a:latin typeface="Arial" pitchFamily="34" charset="0"/>
                <a:ea typeface="Arial" pitchFamily="34" charset="-122"/>
                <a:cs typeface="Arial" pitchFamily="34" charset="-120"/>
              </a:rPr>
              <a:t>2</a:t>
            </a:r>
            <a:endParaRPr lang="en-US" sz="3200" dirty="0"/>
          </a:p>
        </p:txBody>
      </p:sp>
      <p:sp>
        <p:nvSpPr>
          <p:cNvPr id="10" name="Text 8"/>
          <p:cNvSpPr txBox="1"/>
          <p:nvPr/>
        </p:nvSpPr>
        <p:spPr>
          <a:xfrm>
            <a:off x="3683000" y="4233267"/>
            <a:ext cx="2207832" cy="472380"/>
          </a:xfrm>
          <a:prstGeom prst="rect">
            <a:avLst/>
          </a:prstGeom>
          <a:noFill/>
          <a:ln/>
        </p:spPr>
        <p:txBody>
          <a:bodyPr wrap="square" lIns="0" tIns="0" rIns="0" bIns="0" rtlCol="0" anchor="t"/>
          <a:lstStyle/>
          <a:p>
            <a:pPr algn="l" indent="0" marL="0">
              <a:lnSpc>
                <a:spcPts val="1920"/>
              </a:lnSpc>
              <a:buNone/>
            </a:pPr>
            <a:r>
              <a:rPr lang="en-US" sz="1600" b="1" dirty="0">
                <a:solidFill>
                  <a:srgbClr val="F6F5F1"/>
                </a:solidFill>
                <a:latin typeface="Arial" pitchFamily="34" charset="0"/>
                <a:ea typeface="Arial" pitchFamily="34" charset="-122"/>
                <a:cs typeface="Arial" pitchFamily="34" charset="-120"/>
              </a:rPr>
              <a:t>HomeFM E corpus runs</a:t>
            </a:r>
            <a:endParaRPr lang="en-US" sz="1600" dirty="0"/>
          </a:p>
        </p:txBody>
      </p:sp>
      <p:sp>
        <p:nvSpPr>
          <p:cNvPr id="11" name="Text 9"/>
          <p:cNvSpPr txBox="1"/>
          <p:nvPr/>
        </p:nvSpPr>
        <p:spPr>
          <a:xfrm>
            <a:off x="3683000" y="4797028"/>
            <a:ext cx="2207832" cy="811411"/>
          </a:xfrm>
          <a:prstGeom prst="rect">
            <a:avLst/>
          </a:prstGeom>
          <a:noFill/>
          <a:ln/>
        </p:spPr>
        <p:txBody>
          <a:bodyPr wrap="square" lIns="0" tIns="0" rIns="0" bIns="0" rtlCol="0" anchor="t"/>
          <a:lstStyle/>
          <a:p>
            <a:pPr algn="l" indent="0" marL="0">
              <a:lnSpc>
                <a:spcPts val="1680"/>
              </a:lnSpc>
              <a:buNone/>
            </a:pPr>
            <a:r>
              <a:rPr lang="en-US" sz="1200" dirty="0">
                <a:solidFill>
                  <a:srgbClr val="C5CFDD"/>
                </a:solidFill>
                <a:latin typeface="Arial" pitchFamily="34" charset="0"/>
                <a:ea typeface="Arial" pitchFamily="34" charset="-122"/>
                <a:cs typeface="Arial" pitchFamily="34" charset="-120"/>
              </a:rPr>
              <a:t>Games 1 + 2 at 8.0M, then size-matched 28.6M, same homes and fine-tuning as DomusFM.</a:t>
            </a:r>
            <a:endParaRPr lang="en-US" sz="1200" dirty="0"/>
          </a:p>
        </p:txBody>
      </p:sp>
      <p:sp>
        <p:nvSpPr>
          <p:cNvPr id="12" name="Shape 10"/>
          <p:cNvSpPr/>
          <p:nvPr/>
        </p:nvSpPr>
        <p:spPr>
          <a:xfrm>
            <a:off x="6178550" y="3572867"/>
            <a:ext cx="2514600" cy="2242542"/>
          </a:xfrm>
          <a:prstGeom prst="roundRect">
            <a:avLst>
              <a:gd name="adj" fmla="val 4247"/>
            </a:avLst>
          </a:prstGeom>
          <a:solidFill>
            <a:srgbClr val="1F2E4F"/>
          </a:solidFill>
          <a:ln w="12700">
            <a:solidFill>
              <a:srgbClr val="2E4270"/>
            </a:solidFill>
            <a:prstDash val="solid"/>
          </a:ln>
        </p:spPr>
      </p:sp>
      <p:sp>
        <p:nvSpPr>
          <p:cNvPr id="13" name="Text 11"/>
          <p:cNvSpPr txBox="1"/>
          <p:nvPr/>
        </p:nvSpPr>
        <p:spPr>
          <a:xfrm>
            <a:off x="6362700" y="3731617"/>
            <a:ext cx="2207832" cy="457200"/>
          </a:xfrm>
          <a:prstGeom prst="rect">
            <a:avLst/>
          </a:prstGeom>
          <a:noFill/>
          <a:ln/>
        </p:spPr>
        <p:txBody>
          <a:bodyPr wrap="square" lIns="0" tIns="0" rIns="0" bIns="0" rtlCol="0" anchor="t"/>
          <a:lstStyle/>
          <a:p>
            <a:pPr algn="l" indent="0" marL="0">
              <a:lnSpc>
                <a:spcPts val="3200"/>
              </a:lnSpc>
              <a:buNone/>
            </a:pPr>
            <a:r>
              <a:rPr lang="en-US" sz="3200" b="1" dirty="0">
                <a:solidFill>
                  <a:srgbClr val="8DB8F2"/>
                </a:solidFill>
                <a:latin typeface="Arial" pitchFamily="34" charset="0"/>
                <a:ea typeface="Arial" pitchFamily="34" charset="-122"/>
                <a:cs typeface="Arial" pitchFamily="34" charset="-120"/>
              </a:rPr>
              <a:t>3</a:t>
            </a:r>
            <a:endParaRPr lang="en-US" sz="3200" dirty="0"/>
          </a:p>
        </p:txBody>
      </p:sp>
      <p:sp>
        <p:nvSpPr>
          <p:cNvPr id="14" name="Text 12"/>
          <p:cNvSpPr txBox="1"/>
          <p:nvPr/>
        </p:nvSpPr>
        <p:spPr>
          <a:xfrm>
            <a:off x="6362700" y="4233267"/>
            <a:ext cx="2207832" cy="243840"/>
          </a:xfrm>
          <a:prstGeom prst="rect">
            <a:avLst/>
          </a:prstGeom>
          <a:noFill/>
          <a:ln/>
        </p:spPr>
        <p:txBody>
          <a:bodyPr wrap="square" lIns="0" tIns="0" rIns="0" bIns="0" rtlCol="0" anchor="t"/>
          <a:lstStyle/>
          <a:p>
            <a:pPr algn="l" indent="0" marL="0">
              <a:lnSpc>
                <a:spcPts val="1920"/>
              </a:lnSpc>
              <a:buNone/>
            </a:pPr>
            <a:r>
              <a:rPr lang="en-US" sz="1600" b="1" dirty="0">
                <a:solidFill>
                  <a:srgbClr val="F6F5F1"/>
                </a:solidFill>
                <a:latin typeface="Arial" pitchFamily="34" charset="0"/>
                <a:ea typeface="Arial" pitchFamily="34" charset="-122"/>
                <a:cs typeface="Arial" pitchFamily="34" charset="-120"/>
              </a:rPr>
              <a:t>Keep E only if</a:t>
            </a:r>
            <a:endParaRPr lang="en-US" sz="1600" dirty="0"/>
          </a:p>
        </p:txBody>
      </p:sp>
      <p:sp>
        <p:nvSpPr>
          <p:cNvPr id="15" name="Text 13"/>
          <p:cNvSpPr txBox="1"/>
          <p:nvPr/>
        </p:nvSpPr>
        <p:spPr>
          <a:xfrm>
            <a:off x="6362700" y="4553248"/>
            <a:ext cx="2207832" cy="811411"/>
          </a:xfrm>
          <a:prstGeom prst="rect">
            <a:avLst/>
          </a:prstGeom>
          <a:noFill/>
          <a:ln/>
        </p:spPr>
        <p:txBody>
          <a:bodyPr wrap="square" lIns="0" tIns="0" rIns="0" bIns="0" rtlCol="0" anchor="t"/>
          <a:lstStyle/>
          <a:p>
            <a:pPr algn="l" indent="0" marL="0">
              <a:lnSpc>
                <a:spcPts val="1680"/>
              </a:lnSpc>
              <a:buNone/>
            </a:pPr>
            <a:r>
              <a:rPr lang="en-US" sz="1200" dirty="0">
                <a:solidFill>
                  <a:srgbClr val="C5CFDD"/>
                </a:solidFill>
                <a:latin typeface="Arial" pitchFamily="34" charset="0"/>
                <a:ea typeface="Arial" pitchFamily="34" charset="-122"/>
                <a:cs typeface="Arial" pitchFamily="34" charset="-120"/>
              </a:rPr>
              <a:t>Its loss falls gradually and pretrained E beats E without pretraining, especially at 5 % labels.</a:t>
            </a:r>
            <a:endParaRPr lang="en-US" sz="1200" dirty="0"/>
          </a:p>
        </p:txBody>
      </p:sp>
      <p:sp>
        <p:nvSpPr>
          <p:cNvPr id="16" name="Shape 14"/>
          <p:cNvSpPr/>
          <p:nvPr/>
        </p:nvSpPr>
        <p:spPr>
          <a:xfrm>
            <a:off x="8858250" y="3572867"/>
            <a:ext cx="2514600" cy="2242542"/>
          </a:xfrm>
          <a:prstGeom prst="roundRect">
            <a:avLst>
              <a:gd name="adj" fmla="val 4247"/>
            </a:avLst>
          </a:prstGeom>
          <a:solidFill>
            <a:srgbClr val="1F2E4F"/>
          </a:solidFill>
          <a:ln w="12700">
            <a:solidFill>
              <a:srgbClr val="2E4270"/>
            </a:solidFill>
            <a:prstDash val="solid"/>
          </a:ln>
        </p:spPr>
      </p:sp>
      <p:sp>
        <p:nvSpPr>
          <p:cNvPr id="17" name="Text 15"/>
          <p:cNvSpPr txBox="1"/>
          <p:nvPr/>
        </p:nvSpPr>
        <p:spPr>
          <a:xfrm>
            <a:off x="9042400" y="3731617"/>
            <a:ext cx="2207832" cy="457200"/>
          </a:xfrm>
          <a:prstGeom prst="rect">
            <a:avLst/>
          </a:prstGeom>
          <a:noFill/>
          <a:ln/>
        </p:spPr>
        <p:txBody>
          <a:bodyPr wrap="square" lIns="0" tIns="0" rIns="0" bIns="0" rtlCol="0" anchor="t"/>
          <a:lstStyle/>
          <a:p>
            <a:pPr algn="l" indent="0" marL="0">
              <a:lnSpc>
                <a:spcPts val="3200"/>
              </a:lnSpc>
              <a:buNone/>
            </a:pPr>
            <a:r>
              <a:rPr lang="en-US" sz="3200" b="1" dirty="0">
                <a:solidFill>
                  <a:srgbClr val="8DB8F2"/>
                </a:solidFill>
                <a:latin typeface="Arial" pitchFamily="34" charset="0"/>
                <a:ea typeface="Arial" pitchFamily="34" charset="-122"/>
                <a:cs typeface="Arial" pitchFamily="34" charset="-120"/>
              </a:rPr>
              <a:t>4</a:t>
            </a:r>
            <a:endParaRPr lang="en-US" sz="3200" dirty="0"/>
          </a:p>
        </p:txBody>
      </p:sp>
      <p:sp>
        <p:nvSpPr>
          <p:cNvPr id="18" name="Text 16"/>
          <p:cNvSpPr txBox="1"/>
          <p:nvPr/>
        </p:nvSpPr>
        <p:spPr>
          <a:xfrm>
            <a:off x="9042400" y="4233267"/>
            <a:ext cx="2207832" cy="243840"/>
          </a:xfrm>
          <a:prstGeom prst="rect">
            <a:avLst/>
          </a:prstGeom>
          <a:noFill/>
          <a:ln/>
        </p:spPr>
        <p:txBody>
          <a:bodyPr wrap="square" lIns="0" tIns="0" rIns="0" bIns="0" rtlCol="0" anchor="t"/>
          <a:lstStyle/>
          <a:p>
            <a:pPr algn="l" indent="0" marL="0">
              <a:lnSpc>
                <a:spcPts val="1920"/>
              </a:lnSpc>
              <a:buNone/>
            </a:pPr>
            <a:r>
              <a:rPr lang="en-US" sz="1600" b="1" dirty="0">
                <a:solidFill>
                  <a:srgbClr val="F6F5F1"/>
                </a:solidFill>
                <a:latin typeface="Arial" pitchFamily="34" charset="0"/>
                <a:ea typeface="Arial" pitchFamily="34" charset="-122"/>
                <a:cs typeface="Arial" pitchFamily="34" charset="-120"/>
              </a:rPr>
              <a:t>Then F and G</a:t>
            </a:r>
            <a:endParaRPr lang="en-US" sz="1600" dirty="0"/>
          </a:p>
        </p:txBody>
      </p:sp>
      <p:sp>
        <p:nvSpPr>
          <p:cNvPr id="19" name="Text 17"/>
          <p:cNvSpPr txBox="1"/>
          <p:nvPr/>
        </p:nvSpPr>
        <p:spPr>
          <a:xfrm>
            <a:off x="9042400" y="4553248"/>
            <a:ext cx="2207832" cy="598091"/>
          </a:xfrm>
          <a:prstGeom prst="rect">
            <a:avLst/>
          </a:prstGeom>
          <a:noFill/>
          <a:ln/>
        </p:spPr>
        <p:txBody>
          <a:bodyPr wrap="square" lIns="0" tIns="0" rIns="0" bIns="0" rtlCol="0" anchor="t"/>
          <a:lstStyle/>
          <a:p>
            <a:pPr algn="l" indent="0" marL="0">
              <a:lnSpc>
                <a:spcPts val="1680"/>
              </a:lnSpc>
              <a:buNone/>
            </a:pPr>
            <a:r>
              <a:rPr lang="en-US" sz="1200" dirty="0">
                <a:solidFill>
                  <a:srgbClr val="C5CFDD"/>
                </a:solidFill>
                <a:latin typeface="Arial" pitchFamily="34" charset="0"/>
                <a:ea typeface="Arial" pitchFamily="34" charset="-122"/>
                <a:cs typeface="Arial" pitchFamily="34" charset="-120"/>
              </a:rPr>
              <a:t>Add game 3 where captions allow; test the five refinements against the measured collapse.</a:t>
            </a:r>
            <a:endParaRPr lang="en-US" sz="1200" dirty="0"/>
          </a:p>
        </p:txBody>
      </p:sp>
      <p:sp>
        <p:nvSpPr>
          <p:cNvPr id="20" name="Text 18"/>
          <p:cNvSpPr txBox="1"/>
          <p:nvPr/>
        </p:nvSpPr>
        <p:spPr>
          <a:xfrm>
            <a:off x="812800" y="6024959"/>
            <a:ext cx="10670032" cy="248920"/>
          </a:xfrm>
          <a:prstGeom prst="rect">
            <a:avLst/>
          </a:prstGeom>
          <a:noFill/>
          <a:ln/>
        </p:spPr>
        <p:txBody>
          <a:bodyPr wrap="square" lIns="0" tIns="0" rIns="0" bIns="0" rtlCol="0" anchor="t"/>
          <a:lstStyle/>
          <a:p>
            <a:pPr algn="l" indent="0" marL="0">
              <a:lnSpc>
                <a:spcPts val="1960"/>
              </a:lnSpc>
              <a:buNone/>
            </a:pPr>
            <a:r>
              <a:rPr lang="en-US" sz="1400" dirty="0">
                <a:solidFill>
                  <a:srgbClr val="F6F5F1"/>
                </a:solidFill>
                <a:latin typeface="Arial" pitchFamily="34" charset="0"/>
                <a:ea typeface="Arial" pitchFamily="34" charset="-122"/>
                <a:cs typeface="Arial" pitchFamily="34" charset="-120"/>
              </a:rPr>
              <a:t>M2 exit criterion: HomeFM v0 beats the DomusFM reproduction on leave-one-dataset-out.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HomeFM: architecture and design</dc:title>
  <dc:subject>PptxGenJS Presentation</dc:subject>
  <dc:creator>PptxGenJS</dc:creator>
  <cp:lastModifiedBy>PptxGenJS</cp:lastModifiedBy>
  <cp:revision>1</cp:revision>
  <dcterms:created xsi:type="dcterms:W3CDTF">2026-09-29T05:54:04Z</dcterms:created>
  <dcterms:modified xsi:type="dcterms:W3CDTF">2026-09-29T05:54:04Z</dcterms:modified>
</cp:coreProperties>
</file>