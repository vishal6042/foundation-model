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F4A5A"/>
                </a:solidFill>
                <a:latin typeface="Arial"/>
              </a:defRPr>
            </a:pPr>
            <a:r>
              <a:rPr sz="1200" b="0" i="0" u="none" strike="noStrike">
                <a:solidFill>
                  <a:srgbClr val="3F4A5A"/>
                </a:solidFill>
                <a:latin typeface="Arial"/>
              </a:rPr>
              <a:t>Loss per 1,000 steps (P1 = attribute masking, P2 = event masking)</a:t>
            </a:r>
          </a:p>
        </c:rich>
      </c:tx>
      <c:layout/>
      <c:overlay val="0"/>
    </c:title>
    <c:autoTitleDeleted val="0"/>
    <c:plotArea>
      <c:layout/>
      <c:lineChart>
        <c:varyColors val="0"/>
        <c:ser>
          <c:idx val="0"/>
          <c:order val="0"/>
          <c:tx>
            <c:strRef>
              <c:f>Sheet1!$B$1</c:f>
              <c:strCache>
                <c:ptCount val="1"/>
                <c:pt idx="0">
                  <c:v>Matching (contrastive) loss</c:v>
                </c:pt>
              </c:strCache>
            </c:strRef>
          </c:tx>
          <c:spPr>
            <a:solidFill>
              <a:srgbClr val="2F6FB0"/>
            </a:solidFill>
            <a:ln w="31750" cap="flat">
              <a:solidFill>
                <a:srgbClr val="2F6F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F6FB0"/>
              </a:solidFill>
              <a:ln w="9525" cap="flat">
                <a:solidFill>
                  <a:srgbClr val="2F6FB0"/>
                </a:solidFill>
                <a:prstDash val="solid"/>
                <a:round/>
              </a:ln>
              <a:effectLst/>
            </c:spPr>
          </c:marker>
          <c:cat>
            <c:multiLvlStrRef>
              <c:f>Sheet1!$A$2:$A$41</c:f>
              <c:multiLvlStrCache>
                <c:ptCount val="40"/>
                <c:lvl>
                  <c:pt idx="0">
                    <c:v>P1 0k</c:v>
                  </c:pt>
                  <c:pt idx="1">
                    <c:v>P1 1k</c:v>
                  </c:pt>
                  <c:pt idx="2">
                    <c:v>P1 2k</c:v>
                  </c:pt>
                  <c:pt idx="3">
                    <c:v>P1 3k</c:v>
                  </c:pt>
                  <c:pt idx="4">
                    <c:v>P1 4k</c:v>
                  </c:pt>
                  <c:pt idx="5">
                    <c:v>P1 5k</c:v>
                  </c:pt>
                  <c:pt idx="6">
                    <c:v>P1 6k</c:v>
                  </c:pt>
                  <c:pt idx="7">
                    <c:v>P1 7k</c:v>
                  </c:pt>
                  <c:pt idx="8">
                    <c:v>P1 8k</c:v>
                  </c:pt>
                  <c:pt idx="9">
                    <c:v>P1 9k</c:v>
                  </c:pt>
                  <c:pt idx="10">
                    <c:v>P1 10k</c:v>
                  </c:pt>
                  <c:pt idx="11">
                    <c:v>P1 11k</c:v>
                  </c:pt>
                  <c:pt idx="12">
                    <c:v>P1 12k</c:v>
                  </c:pt>
                  <c:pt idx="13">
                    <c:v>P1 13k</c:v>
                  </c:pt>
                  <c:pt idx="14">
                    <c:v>P1 14k</c:v>
                  </c:pt>
                  <c:pt idx="15">
                    <c:v>P1 15k</c:v>
                  </c:pt>
                  <c:pt idx="16">
                    <c:v>P1 16k</c:v>
                  </c:pt>
                  <c:pt idx="17">
                    <c:v>P1 17k</c:v>
                  </c:pt>
                  <c:pt idx="18">
                    <c:v>P1 18k</c:v>
                  </c:pt>
                  <c:pt idx="19">
                    <c:v>P1 19k</c:v>
                  </c:pt>
                  <c:pt idx="20">
                    <c:v>P2 0k</c:v>
                  </c:pt>
                  <c:pt idx="21">
                    <c:v>P2 1k</c:v>
                  </c:pt>
                  <c:pt idx="22">
                    <c:v>P2 2k</c:v>
                  </c:pt>
                  <c:pt idx="23">
                    <c:v>P2 3k</c:v>
                  </c:pt>
                  <c:pt idx="24">
                    <c:v>P2 4k</c:v>
                  </c:pt>
                  <c:pt idx="25">
                    <c:v>P2 5k</c:v>
                  </c:pt>
                  <c:pt idx="26">
                    <c:v>P2 6k</c:v>
                  </c:pt>
                  <c:pt idx="27">
                    <c:v>P2 7k</c:v>
                  </c:pt>
                  <c:pt idx="28">
                    <c:v>P2 8k</c:v>
                  </c:pt>
                  <c:pt idx="29">
                    <c:v>P2 9k</c:v>
                  </c:pt>
                  <c:pt idx="30">
                    <c:v>P2 10k</c:v>
                  </c:pt>
                  <c:pt idx="31">
                    <c:v>P2 11k</c:v>
                  </c:pt>
                  <c:pt idx="32">
                    <c:v>P2 12k</c:v>
                  </c:pt>
                  <c:pt idx="33">
                    <c:v>P2 13k</c:v>
                  </c:pt>
                  <c:pt idx="34">
                    <c:v>P2 14k</c:v>
                  </c:pt>
                  <c:pt idx="35">
                    <c:v>P2 15k</c:v>
                  </c:pt>
                  <c:pt idx="36">
                    <c:v>P2 16k</c:v>
                  </c:pt>
                  <c:pt idx="37">
                    <c:v>P2 17k</c:v>
                  </c:pt>
                  <c:pt idx="38">
                    <c:v>P2 18k</c:v>
                  </c:pt>
                  <c:pt idx="39">
                    <c:v>P2 19k</c:v>
                  </c:pt>
                </c:lvl>
              </c:multiLvlStrCache>
            </c:multiLvlStrRef>
          </c:cat>
          <c:val>
            <c:numRef>
              <c:f>Sheet1!$B$2:$B$41</c:f>
              <c:numCache>
                <c:formatCode>General</c:formatCode>
                <c:ptCount val="40"/>
                <c:pt idx="0">
                  <c:v>4.1113</c:v>
                </c:pt>
                <c:pt idx="1">
                  <c:v>0.8586</c:v>
                </c:pt>
                <c:pt idx="2">
                  <c:v>0.7761</c:v>
                </c:pt>
                <c:pt idx="3">
                  <c:v>0.7827</c:v>
                </c:pt>
                <c:pt idx="4">
                  <c:v>0.7914</c:v>
                </c:pt>
                <c:pt idx="5">
                  <c:v>0.7355</c:v>
                </c:pt>
                <c:pt idx="6">
                  <c:v>0.7355</c:v>
                </c:pt>
                <c:pt idx="7">
                  <c:v>0.7125</c:v>
                </c:pt>
                <c:pt idx="8">
                  <c:v>0.7307</c:v>
                </c:pt>
                <c:pt idx="9">
                  <c:v>0.7249</c:v>
                </c:pt>
                <c:pt idx="10">
                  <c:v>0.7228</c:v>
                </c:pt>
                <c:pt idx="11">
                  <c:v>0.7095</c:v>
                </c:pt>
                <c:pt idx="12">
                  <c:v>0.7097</c:v>
                </c:pt>
                <c:pt idx="13">
                  <c:v>0.7151</c:v>
                </c:pt>
                <c:pt idx="14">
                  <c:v>0.7366</c:v>
                </c:pt>
                <c:pt idx="15">
                  <c:v>0.7107</c:v>
                </c:pt>
                <c:pt idx="16">
                  <c:v>0.7049</c:v>
                </c:pt>
                <c:pt idx="17">
                  <c:v>0.7344</c:v>
                </c:pt>
                <c:pt idx="18">
                  <c:v>0.7206</c:v>
                </c:pt>
                <c:pt idx="19">
                  <c:v>0.6977</c:v>
                </c:pt>
                <c:pt idx="20">
                  <c:v>1.6662</c:v>
                </c:pt>
                <c:pt idx="21">
                  <c:v>0.8486</c:v>
                </c:pt>
                <c:pt idx="22">
                  <c:v>0.8038</c:v>
                </c:pt>
                <c:pt idx="23">
                  <c:v>0.7873</c:v>
                </c:pt>
                <c:pt idx="24">
                  <c:v>0.7756</c:v>
                </c:pt>
                <c:pt idx="25">
                  <c:v>0.8029</c:v>
                </c:pt>
                <c:pt idx="26">
                  <c:v>0.8182</c:v>
                </c:pt>
                <c:pt idx="27">
                  <c:v>0.829</c:v>
                </c:pt>
                <c:pt idx="28">
                  <c:v>0.7854</c:v>
                </c:pt>
                <c:pt idx="29">
                  <c:v>0.7798</c:v>
                </c:pt>
                <c:pt idx="30">
                  <c:v>0.784</c:v>
                </c:pt>
                <c:pt idx="31">
                  <c:v>0.8209</c:v>
                </c:pt>
                <c:pt idx="32">
                  <c:v>0.7622</c:v>
                </c:pt>
                <c:pt idx="33">
                  <c:v>0.7762</c:v>
                </c:pt>
                <c:pt idx="34">
                  <c:v>0.8177</c:v>
                </c:pt>
                <c:pt idx="35">
                  <c:v>0.8002</c:v>
                </c:pt>
                <c:pt idx="36">
                  <c:v>0.7874</c:v>
                </c:pt>
                <c:pt idx="37">
                  <c:v>0.797</c:v>
                </c:pt>
                <c:pt idx="38">
                  <c:v>0.7912</c:v>
                </c:pt>
                <c:pt idx="39">
                  <c:v>0.8174</c:v>
                </c:pt>
              </c:numCache>
            </c:numRef>
          </c:val>
          <c:smooth val="0"/>
        </c:ser>
        <c:ser>
          <c:idx val="1"/>
          <c:order val="1"/>
          <c:tx>
            <c:strRef>
              <c:f>Sheet1!$C$1</c:f>
              <c:strCache>
                <c:ptCount val="1"/>
                <c:pt idx="0">
                  <c:v>Fill-in-the-blanks loss</c:v>
                </c:pt>
              </c:strCache>
            </c:strRef>
          </c:tx>
          <c:spPr>
            <a:solidFill>
              <a:srgbClr val="C8691E"/>
            </a:solidFill>
            <a:ln w="31750" cap="flat">
              <a:solidFill>
                <a:srgbClr val="C869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691E"/>
              </a:solidFill>
              <a:ln w="9525" cap="flat">
                <a:solidFill>
                  <a:srgbClr val="C8691E"/>
                </a:solidFill>
                <a:prstDash val="solid"/>
                <a:round/>
              </a:ln>
              <a:effectLst/>
            </c:spPr>
          </c:marker>
          <c:cat>
            <c:multiLvlStrRef>
              <c:f>Sheet1!$A$2:$A$41</c:f>
              <c:multiLvlStrCache>
                <c:ptCount val="40"/>
                <c:lvl>
                  <c:pt idx="0">
                    <c:v>P1 0k</c:v>
                  </c:pt>
                  <c:pt idx="1">
                    <c:v>P1 1k</c:v>
                  </c:pt>
                  <c:pt idx="2">
                    <c:v>P1 2k</c:v>
                  </c:pt>
                  <c:pt idx="3">
                    <c:v>P1 3k</c:v>
                  </c:pt>
                  <c:pt idx="4">
                    <c:v>P1 4k</c:v>
                  </c:pt>
                  <c:pt idx="5">
                    <c:v>P1 5k</c:v>
                  </c:pt>
                  <c:pt idx="6">
                    <c:v>P1 6k</c:v>
                  </c:pt>
                  <c:pt idx="7">
                    <c:v>P1 7k</c:v>
                  </c:pt>
                  <c:pt idx="8">
                    <c:v>P1 8k</c:v>
                  </c:pt>
                  <c:pt idx="9">
                    <c:v>P1 9k</c:v>
                  </c:pt>
                  <c:pt idx="10">
                    <c:v>P1 10k</c:v>
                  </c:pt>
                  <c:pt idx="11">
                    <c:v>P1 11k</c:v>
                  </c:pt>
                  <c:pt idx="12">
                    <c:v>P1 12k</c:v>
                  </c:pt>
                  <c:pt idx="13">
                    <c:v>P1 13k</c:v>
                  </c:pt>
                  <c:pt idx="14">
                    <c:v>P1 14k</c:v>
                  </c:pt>
                  <c:pt idx="15">
                    <c:v>P1 15k</c:v>
                  </c:pt>
                  <c:pt idx="16">
                    <c:v>P1 16k</c:v>
                  </c:pt>
                  <c:pt idx="17">
                    <c:v>P1 17k</c:v>
                  </c:pt>
                  <c:pt idx="18">
                    <c:v>P1 18k</c:v>
                  </c:pt>
                  <c:pt idx="19">
                    <c:v>P1 19k</c:v>
                  </c:pt>
                  <c:pt idx="20">
                    <c:v>P2 0k</c:v>
                  </c:pt>
                  <c:pt idx="21">
                    <c:v>P2 1k</c:v>
                  </c:pt>
                  <c:pt idx="22">
                    <c:v>P2 2k</c:v>
                  </c:pt>
                  <c:pt idx="23">
                    <c:v>P2 3k</c:v>
                  </c:pt>
                  <c:pt idx="24">
                    <c:v>P2 4k</c:v>
                  </c:pt>
                  <c:pt idx="25">
                    <c:v>P2 5k</c:v>
                  </c:pt>
                  <c:pt idx="26">
                    <c:v>P2 6k</c:v>
                  </c:pt>
                  <c:pt idx="27">
                    <c:v>P2 7k</c:v>
                  </c:pt>
                  <c:pt idx="28">
                    <c:v>P2 8k</c:v>
                  </c:pt>
                  <c:pt idx="29">
                    <c:v>P2 9k</c:v>
                  </c:pt>
                  <c:pt idx="30">
                    <c:v>P2 10k</c:v>
                  </c:pt>
                  <c:pt idx="31">
                    <c:v>P2 11k</c:v>
                  </c:pt>
                  <c:pt idx="32">
                    <c:v>P2 12k</c:v>
                  </c:pt>
                  <c:pt idx="33">
                    <c:v>P2 13k</c:v>
                  </c:pt>
                  <c:pt idx="34">
                    <c:v>P2 14k</c:v>
                  </c:pt>
                  <c:pt idx="35">
                    <c:v>P2 15k</c:v>
                  </c:pt>
                  <c:pt idx="36">
                    <c:v>P2 16k</c:v>
                  </c:pt>
                  <c:pt idx="37">
                    <c:v>P2 17k</c:v>
                  </c:pt>
                  <c:pt idx="38">
                    <c:v>P2 18k</c:v>
                  </c:pt>
                  <c:pt idx="39">
                    <c:v>P2 19k</c:v>
                  </c:pt>
                </c:lvl>
              </c:multiLvlStrCache>
            </c:multiLvlStrRef>
          </c:cat>
          <c:val>
            <c:numRef>
              <c:f>Sheet1!$C$2:$C$41</c:f>
              <c:numCache>
                <c:formatCode>General</c:formatCode>
                <c:ptCount val="40"/>
                <c:pt idx="0">
                  <c:v>3.6014</c:v>
                </c:pt>
                <c:pt idx="1">
                  <c:v>0.3935</c:v>
                </c:pt>
                <c:pt idx="2">
                  <c:v>0.3073</c:v>
                </c:pt>
                <c:pt idx="3">
                  <c:v>0.2135</c:v>
                </c:pt>
                <c:pt idx="4">
                  <c:v>0.1953</c:v>
                </c:pt>
                <c:pt idx="5">
                  <c:v>0.181</c:v>
                </c:pt>
                <c:pt idx="6">
                  <c:v>0.1888</c:v>
                </c:pt>
                <c:pt idx="7">
                  <c:v>0.2212</c:v>
                </c:pt>
                <c:pt idx="8">
                  <c:v>0.222</c:v>
                </c:pt>
                <c:pt idx="9">
                  <c:v>0.2409</c:v>
                </c:pt>
                <c:pt idx="10">
                  <c:v>0.2</c:v>
                </c:pt>
                <c:pt idx="11">
                  <c:v>0.2109</c:v>
                </c:pt>
                <c:pt idx="12">
                  <c:v>0.191</c:v>
                </c:pt>
                <c:pt idx="13">
                  <c:v>0.1984</c:v>
                </c:pt>
                <c:pt idx="14">
                  <c:v>0.1771</c:v>
                </c:pt>
                <c:pt idx="15">
                  <c:v>0.2269</c:v>
                </c:pt>
                <c:pt idx="16">
                  <c:v>0.1582</c:v>
                </c:pt>
                <c:pt idx="17">
                  <c:v>0.2431</c:v>
                </c:pt>
                <c:pt idx="18">
                  <c:v>0.1932</c:v>
                </c:pt>
                <c:pt idx="19">
                  <c:v>0.1622</c:v>
                </c:pt>
                <c:pt idx="20">
                  <c:v>2.2802</c:v>
                </c:pt>
                <c:pt idx="21">
                  <c:v>0.6213</c:v>
                </c:pt>
                <c:pt idx="22">
                  <c:v>0.6008</c:v>
                </c:pt>
                <c:pt idx="23">
                  <c:v>0.6942</c:v>
                </c:pt>
                <c:pt idx="24">
                  <c:v>0.5138</c:v>
                </c:pt>
                <c:pt idx="25">
                  <c:v>0.609</c:v>
                </c:pt>
                <c:pt idx="26">
                  <c:v>0.5292</c:v>
                </c:pt>
                <c:pt idx="27">
                  <c:v>0.6549</c:v>
                </c:pt>
                <c:pt idx="28">
                  <c:v>0.5745</c:v>
                </c:pt>
                <c:pt idx="29">
                  <c:v>0.6589</c:v>
                </c:pt>
                <c:pt idx="30">
                  <c:v>0.5073</c:v>
                </c:pt>
                <c:pt idx="31">
                  <c:v>0.5368</c:v>
                </c:pt>
                <c:pt idx="32">
                  <c:v>0.6403</c:v>
                </c:pt>
                <c:pt idx="33">
                  <c:v>0.5132</c:v>
                </c:pt>
                <c:pt idx="34">
                  <c:v>0.5432</c:v>
                </c:pt>
                <c:pt idx="35">
                  <c:v>0.6147</c:v>
                </c:pt>
                <c:pt idx="36">
                  <c:v>0.6703</c:v>
                </c:pt>
                <c:pt idx="37">
                  <c:v>0.5041</c:v>
                </c:pt>
                <c:pt idx="38">
                  <c:v>0.5806</c:v>
                </c:pt>
                <c:pt idx="39">
                  <c:v>0.5765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B7A"/>
                </a:solidFill>
                <a:latin typeface="Arial"/>
              </a:defRPr>
            </a:pPr>
            <a:endParaRPr lang="en-US"/>
          </a:p>
        </c:txPr>
        <c:crossAx val="2094734552"/>
        <c:crosses val="autoZero"/>
        <c:auto val="1"/>
        <c:lblAlgn val="ctr"/>
        <c:noMultiLvlLbl val="1"/>
        <c:tickLblSkip val="5"/>
      </c:catAx>
      <c:valAx>
        <c:axId val="2094734552"/>
        <c:scaling>
          <c:logBase val="10"/>
          <c:orientation val="minMax"/>
          <c:max val="10"/>
          <c:min val="0.1"/>
        </c:scaling>
        <c:delete val="0"/>
        <c:axPos val="l"/>
        <c:majorGridlines>
          <c:spPr>
            <a:ln w="9525" cap="flat">
              <a:solidFill>
                <a:srgbClr val="E1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3F4A5A"/>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3F4A5A"/>
                </a:solidFill>
                <a:latin typeface="Arial"/>
              </a:defRPr>
            </a:pPr>
            <a:r>
              <a:rPr sz="1200" b="0" i="0" u="none" strike="noStrike">
                <a:solidFill>
                  <a:srgbClr val="3F4A5A"/>
                </a:solidFill>
                <a:latin typeface="Arial"/>
              </a:rPr>
              <a:t>Mean F1 gain over 7 held-out homes (pretrained − from scratch)</a:t>
            </a:r>
          </a:p>
        </c:rich>
      </c:tx>
      <c:layout/>
      <c:overlay val="0"/>
    </c:title>
    <c:autoTitleDeleted val="0"/>
    <c:plotArea>
      <c:layout/>
      <c:barChart>
        <c:barDir val="col"/>
        <c:grouping val="clustered"/>
        <c:varyColors val="0"/>
        <c:ser>
          <c:idx val="0"/>
          <c:order val="0"/>
          <c:tx>
            <c:strRef>
              <c:f>Sheet1!$B$1</c:f>
              <c:strCache>
                <c:ptCount val="1"/>
                <c:pt idx="0">
                  <c:v>Gain from pretraining</c:v>
                </c:pt>
              </c:strCache>
            </c:strRef>
          </c:tx>
          <c:spPr>
            <a:solidFill>
              <a:srgbClr val="2F6FB0"/>
            </a:solidFill>
            <a:effectLst/>
          </c:spPr>
          <c:invertIfNegative val="0"/>
          <c:dLbls>
            <c:numFmt formatCode="+0.000" sourceLinked="0"/>
            <c:txPr>
              <a:bodyPr/>
              <a:lstStyle/>
              <a:p>
                <a:pPr>
                  <a:defRPr b="1" i="0" strike="noStrike" sz="1400" u="none">
                    <a:solidFill>
                      <a:srgbClr val="14213D"/>
                    </a:solidFill>
                    <a:latin typeface="Arial"/>
                  </a:defRPr>
                </a:pPr>
              </a:p>
            </c:txPr>
            <c:showLegendKey val="0"/>
            <c:showVal val="1"/>
            <c:showCatName val="0"/>
            <c:showSerName val="0"/>
            <c:showPercent val="0"/>
            <c:showBubbleSize val="0"/>
            <c:showLeaderLines val="0"/>
          </c:dLbls>
          <c:cat>
            <c:multiLvlStrRef>
              <c:f>Sheet1!$A$2:$A$5</c:f>
              <c:multiLvlStrCache>
                <c:ptCount val="4"/>
                <c:lvl>
                  <c:pt idx="0">
                    <c:v>ADL · 5 %</c:v>
                  </c:pt>
                  <c:pt idx="1">
                    <c:v>ADL · 30 %</c:v>
                  </c:pt>
                  <c:pt idx="2">
                    <c:v>Next-30 · 5 %</c:v>
                  </c:pt>
                  <c:pt idx="3">
                    <c:v>Next-30 · 30 %</c:v>
                  </c:pt>
                </c:lvl>
              </c:multiLvlStrCache>
            </c:multiLvlStrRef>
          </c:cat>
          <c:val>
            <c:numRef>
              <c:f>Sheet1!$B$2:$B$5</c:f>
              <c:numCache>
                <c:formatCode>General</c:formatCode>
                <c:ptCount val="4"/>
                <c:pt idx="0">
                  <c:v>0.076</c:v>
                </c:pt>
                <c:pt idx="1">
                  <c:v>0.059</c:v>
                </c:pt>
                <c:pt idx="2">
                  <c:v>0.053</c:v>
                </c:pt>
                <c:pt idx="3">
                  <c:v>0.03</c:v>
                </c:pt>
              </c:numCache>
            </c:numRef>
          </c:val>
        </c:ser>
        <c:dLbls>
          <c:numFmt formatCode="+0.000" sourceLinked="0"/>
          <c:txPr>
            <a:bodyPr/>
            <a:lstStyle/>
            <a:p>
              <a:pPr>
                <a:defRPr b="1" i="0" strike="noStrike" sz="1400" u="none">
                  <a:solidFill>
                    <a:srgbClr val="14213D"/>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F4A5A"/>
                </a:solidFill>
                <a:latin typeface="Arial"/>
              </a:defRPr>
            </a:pPr>
            <a:endParaRPr lang="en-US"/>
          </a:p>
        </c:txPr>
        <c:crossAx val="2094734552"/>
        <c:crosses val="autoZero"/>
        <c:auto val="1"/>
        <c:lblAlgn val="ctr"/>
        <c:noMultiLvlLbl val="1"/>
      </c:catAx>
      <c:valAx>
        <c:axId val="2094734552"/>
        <c:scaling>
          <c:orientation val="minMax"/>
          <c:max val="0.1"/>
          <c:min val="0"/>
        </c:scaling>
        <c:delete val="0"/>
        <c:axPos val="l"/>
        <c:majorGridlines>
          <c:spPr>
            <a:ln w="9525" cap="flat">
              <a:solidFill>
                <a:srgbClr val="E1E5EA"/>
              </a:solidFill>
              <a:prstDash val="solid"/>
              <a:round/>
            </a:ln>
          </c:spPr>
        </c:majorGridlines>
        <c:numFmt formatCode="+0.000;-0.0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A"/>
                </a:solidFill>
                <a:latin typeface="Arial"/>
              </a:defRPr>
            </a:pPr>
            <a:endParaRPr lang="en-US"/>
          </a:p>
        </c:txPr>
        <c:crossAx val="2094734554"/>
        <c:crosses val="autoZero"/>
        <c:crossBetween val="between"/>
        <c:majorUnit val="0.0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reproduction of DomusFM (arXiv 2602.01910), pretrained on 77 homes and tested on 7 homes it never saw. Run finished 25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held-out homes, 2 tasks, 2 label fractions = 28 comparisons. Pretrained wins 26; the two losses are about 0.01 each, within noise. Gains are means over the 7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data from any of the 7 test homes is used in pretraining, which is stricter than the paper's leave-one-dataset-out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does not report masking rate, temperature, pretraining length or learning rates, so those are our choices. The additions are explained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2025 CASAS release, Milan and Aruba have no activity labels and their sensors are merged into 9 to 10 room names, so they are used for pretraining only. Contiguous folds matter: consecutive windows share 29 of 30 events, so random folds put near-copies of test windows into training. On UCI B, random folds raised no-pretraining ADL from 0.28 to 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6 is applied to the from-scratch baseline too, so the comparison stays fair. Why each change is needed is written up in the HomeFM limitations document (docs/LIMITATIONS_AND_REMEDIES.md, 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healthy matching loss stays well above zero: the game is still hard, so the model keeps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gain shrinks as labels grow (ADL +0.076 to +0.059, Next-30 +0.053 to +0.030). That is the expected shape when pretraining is useful: it matters most when labels are scarce.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wins on every home with 5 % labels. The largest gain is on UCI B, the smallest and most unusual home. Without UCI B the mean gain is +0.055 (5 %) and +0.022 (30 %). The hh101 loss at 30 % and the hh119 win at 30 % are both within the fold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helps on 6 of 7 homes at both label amounts. Here UCI B is the exception, not the driver: without it the gain is +0.061 and +0.037.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UCI Home B is the only test home in both the paper and this work, so it is the only direct comparison. Even here, fold protocol and pretraining data differ. Random folds raised our from-scratch ADL at 30 % from 0.28 to 0.40, close to the paper's 0.36.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sets are also subsampled to at most 20,000 windows per fold. Pretraining timing is not representative: a game shared the GPU for most of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L1 and L8 share one remedy: linking sensor activity to words. L6 and L7 share another: predicting what happens next and when. Built means implemented and tested on small data; designed means specified in DESIGN.md but not yet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DomusFM turns every sensor into ON/OFF events and remembers the last 30 events, however long they took. HomeFM keeps real values, reads in 1-minute steps, and adds daily summaries for long-range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game run finished 24 September 2026; harder game run finished 25 September 2026. With the paper's game, pretraining was worse than training from scratch on 6 of 7 homes for activity recognition. Settings where pretraining wins, paper's game: ADL 1 + 1, Next-30 1 + 3 = 6 of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carried over from the DomusFM fix into HomeFM training: batches drawn from a few homes at a time, gentler fine-tuning, and loss health checks. HomeFM must now beat the fixed DomusFM: mean activity F1 0.517 / 0.529 and Next-30 F1 0.649 / 0.613 at 5 % / 30 %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2011680"/>
            <a:ext cx="10911535" cy="320040"/>
          </a:xfrm>
          <a:prstGeom prst="rect">
            <a:avLst/>
          </a:prstGeom>
          <a:noFill/>
          <a:ln/>
        </p:spPr>
        <p:txBody>
          <a:bodyPr wrap="square" lIns="0" tIns="0" rIns="0" bIns="0" rtlCol="0" anchor="t"/>
          <a:lstStyle/>
          <a:p>
            <a:pPr indent="0" marL="0">
              <a:buNone/>
            </a:pPr>
            <a:r>
              <a:rPr lang="en-US" sz="1300" b="1" spc="200" kern="0" dirty="0">
                <a:solidFill>
                  <a:srgbClr val="8FB4E0"/>
                </a:solidFill>
                <a:latin typeface="Calibri" pitchFamily="34" charset="0"/>
                <a:ea typeface="Calibri" pitchFamily="34" charset="-122"/>
                <a:cs typeface="Calibri" pitchFamily="34" charset="-120"/>
              </a:rPr>
              <a:t>EXPERIMENT REPORT · SEPTEMBER 2026</a:t>
            </a:r>
            <a:endParaRPr lang="en-US" sz="1300" dirty="0"/>
          </a:p>
        </p:txBody>
      </p:sp>
      <p:sp>
        <p:nvSpPr>
          <p:cNvPr id="3" name="Text 1"/>
          <p:cNvSpPr txBox="1"/>
          <p:nvPr/>
        </p:nvSpPr>
        <p:spPr>
          <a:xfrm>
            <a:off x="640080" y="2423160"/>
            <a:ext cx="10911535" cy="1005840"/>
          </a:xfrm>
          <a:prstGeom prst="rect">
            <a:avLst/>
          </a:prstGeom>
          <a:noFill/>
          <a:ln/>
        </p:spPr>
        <p:txBody>
          <a:bodyPr wrap="square" lIns="0" tIns="0" rIns="0" bIns="0" rtlCol="0" anchor="t"/>
          <a:lstStyle/>
          <a:p>
            <a:pPr indent="0" marL="0">
              <a:buNone/>
            </a:pPr>
            <a:r>
              <a:rPr lang="en-US" sz="5400" b="1" dirty="0">
                <a:solidFill>
                  <a:srgbClr val="F7F6F2"/>
                </a:solidFill>
                <a:latin typeface="Cambria" pitchFamily="34" charset="0"/>
                <a:ea typeface="Cambria" pitchFamily="34" charset="-122"/>
                <a:cs typeface="Cambria" pitchFamily="34" charset="-120"/>
              </a:rPr>
              <a:t>DomusFM reproduction</a:t>
            </a:r>
            <a:endParaRPr lang="en-US" sz="5400" dirty="0"/>
          </a:p>
        </p:txBody>
      </p:sp>
      <p:sp>
        <p:nvSpPr>
          <p:cNvPr id="4" name="Text 2"/>
          <p:cNvSpPr txBox="1"/>
          <p:nvPr/>
        </p:nvSpPr>
        <p:spPr>
          <a:xfrm>
            <a:off x="640080" y="3520440"/>
            <a:ext cx="9144000" cy="822960"/>
          </a:xfrm>
          <a:prstGeom prst="rect">
            <a:avLst/>
          </a:prstGeom>
          <a:noFill/>
          <a:ln/>
        </p:spPr>
        <p:txBody>
          <a:bodyPr wrap="square" lIns="0" tIns="0" rIns="0" bIns="0" rtlCol="0" anchor="t"/>
          <a:lstStyle/>
          <a:p>
            <a:pPr indent="0" marL="0">
              <a:buNone/>
            </a:pPr>
            <a:r>
              <a:rPr lang="en-US" sz="2200" dirty="0">
                <a:solidFill>
                  <a:srgbClr val="C9D6E8"/>
                </a:solidFill>
                <a:latin typeface="Calibri" pitchFamily="34" charset="0"/>
                <a:ea typeface="Calibri" pitchFamily="34" charset="-122"/>
                <a:cs typeface="Calibri" pitchFamily="34" charset="-120"/>
              </a:rPr>
              <a:t>Setup, results and limitations of our DomusFM pretraining experiment, and how HomeFM addresses DomusFM's limitations</a:t>
            </a:r>
            <a:endParaRPr lang="en-US" sz="2200" dirty="0"/>
          </a:p>
        </p:txBody>
      </p:sp>
      <p:sp>
        <p:nvSpPr>
          <p:cNvPr id="5" name="Text 3"/>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9FB0C8"/>
                </a:solidFill>
                <a:latin typeface="Calibri" pitchFamily="34" charset="0"/>
                <a:ea typeface="Calibri" pitchFamily="34" charset="-122"/>
                <a:cs typeface="Calibri" pitchFamily="34" charset="-120"/>
              </a:rPr>
              <a:t>DomusFM reproduction · 1 · 77-home pretraining · 7 held-out homes · one RTX 4090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F6FB0"/>
        </a:solidFill>
      </p:bgPr>
    </p:bg>
    <p:spTree>
      <p:nvGrpSpPr>
        <p:cNvPr id="1" name=""/>
        <p:cNvGrpSpPr/>
        <p:nvPr/>
      </p:nvGrpSpPr>
      <p:grpSpPr>
        <a:xfrm>
          <a:off x="0" y="0"/>
          <a:ext cx="0" cy="0"/>
          <a:chOff x="0" y="0"/>
          <a:chExt cx="0" cy="0"/>
        </a:xfrm>
      </p:grpSpPr>
      <p:sp>
        <p:nvSpPr>
          <p:cNvPr id="2" name="Text 0"/>
          <p:cNvSpPr txBox="1"/>
          <p:nvPr/>
        </p:nvSpPr>
        <p:spPr>
          <a:xfrm>
            <a:off x="640080" y="822960"/>
            <a:ext cx="10911535" cy="274320"/>
          </a:xfrm>
          <a:prstGeom prst="rect">
            <a:avLst/>
          </a:prstGeom>
          <a:noFill/>
          <a:ln/>
        </p:spPr>
        <p:txBody>
          <a:bodyPr wrap="square" lIns="0" tIns="0" rIns="0" bIns="0" rtlCol="0" anchor="t"/>
          <a:lstStyle/>
          <a:p>
            <a:pPr indent="0" marL="0">
              <a:buNone/>
            </a:pPr>
            <a:r>
              <a:rPr lang="en-US" sz="1300" b="1" spc="200" kern="0" dirty="0">
                <a:solidFill>
                  <a:srgbClr val="E3EDF8"/>
                </a:solidFill>
                <a:latin typeface="Calibri" pitchFamily="34" charset="0"/>
                <a:ea typeface="Calibri" pitchFamily="34" charset="-122"/>
                <a:cs typeface="Calibri" pitchFamily="34" charset="-120"/>
              </a:rPr>
              <a:t>THE SHORT VERSION</a:t>
            </a:r>
            <a:endParaRPr lang="en-US" sz="1300" dirty="0"/>
          </a:p>
        </p:txBody>
      </p:sp>
      <p:sp>
        <p:nvSpPr>
          <p:cNvPr id="3" name="Text 1"/>
          <p:cNvSpPr txBox="1"/>
          <p:nvPr/>
        </p:nvSpPr>
        <p:spPr>
          <a:xfrm>
            <a:off x="640080" y="1188720"/>
            <a:ext cx="10911535" cy="1463040"/>
          </a:xfrm>
          <a:prstGeom prst="rect">
            <a:avLst/>
          </a:prstGeom>
          <a:noFill/>
          <a:ln/>
        </p:spPr>
        <p:txBody>
          <a:bodyPr wrap="square" lIns="0" tIns="0" rIns="0" bIns="0" rtlCol="0" anchor="ctr"/>
          <a:lstStyle/>
          <a:p>
            <a:pPr indent="0" marL="0">
              <a:buNone/>
            </a:pPr>
            <a:r>
              <a:rPr lang="en-US" sz="11000" b="1" dirty="0">
                <a:solidFill>
                  <a:srgbClr val="FFFFFF"/>
                </a:solidFill>
                <a:latin typeface="Cambria" pitchFamily="34" charset="0"/>
                <a:ea typeface="Cambria" pitchFamily="34" charset="-122"/>
                <a:cs typeface="Cambria" pitchFamily="34" charset="-120"/>
              </a:rPr>
              <a:t>26 of 28</a:t>
            </a:r>
            <a:endParaRPr lang="en-US" sz="11000" dirty="0"/>
          </a:p>
        </p:txBody>
      </p:sp>
      <p:sp>
        <p:nvSpPr>
          <p:cNvPr id="4" name="Text 2"/>
          <p:cNvSpPr txBox="1"/>
          <p:nvPr/>
        </p:nvSpPr>
        <p:spPr>
          <a:xfrm>
            <a:off x="640080" y="2788920"/>
            <a:ext cx="9601200" cy="914400"/>
          </a:xfrm>
          <a:prstGeom prst="rect">
            <a:avLst/>
          </a:prstGeom>
          <a:noFill/>
          <a:ln/>
        </p:spPr>
        <p:txBody>
          <a:bodyPr wrap="square" lIns="0" tIns="0" rIns="0" bIns="0" rtlCol="0" anchor="t"/>
          <a:lstStyle/>
          <a:p>
            <a:pPr indent="0" marL="0">
              <a:buNone/>
            </a:pPr>
            <a:r>
              <a:rPr lang="en-US" sz="2200" dirty="0">
                <a:solidFill>
                  <a:srgbClr val="FFFFFF"/>
                </a:solidFill>
                <a:latin typeface="Calibri" pitchFamily="34" charset="0"/>
                <a:ea typeface="Calibri" pitchFamily="34" charset="-122"/>
                <a:cs typeface="Calibri" pitchFamily="34" charset="-120"/>
              </a:rPr>
              <a:t>settings where pretrained DomusFM beats the same model trained from scratch, on 7 homes it never saw during pretraining.</a:t>
            </a:r>
            <a:endParaRPr lang="en-US" sz="2200" dirty="0"/>
          </a:p>
        </p:txBody>
      </p:sp>
      <p:sp>
        <p:nvSpPr>
          <p:cNvPr id="5" name="Text 3"/>
          <p:cNvSpPr txBox="1"/>
          <p:nvPr/>
        </p:nvSpPr>
        <p:spPr>
          <a:xfrm>
            <a:off x="640080" y="4069080"/>
            <a:ext cx="310896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+0.076</a:t>
            </a:r>
            <a:endParaRPr lang="en-US" sz="3800" dirty="0"/>
          </a:p>
        </p:txBody>
      </p:sp>
      <p:sp>
        <p:nvSpPr>
          <p:cNvPr id="6" name="Text 4"/>
          <p:cNvSpPr txBox="1"/>
          <p:nvPr/>
        </p:nvSpPr>
        <p:spPr>
          <a:xfrm>
            <a:off x="640080" y="4800600"/>
            <a:ext cx="3108960" cy="320040"/>
          </a:xfrm>
          <a:prstGeom prst="rect">
            <a:avLst/>
          </a:prstGeom>
          <a:noFill/>
          <a:ln/>
        </p:spPr>
        <p:txBody>
          <a:bodyPr wrap="square" lIns="0" tIns="0" rIns="0" bIns="0" rtlCol="0" anchor="t"/>
          <a:lstStyle/>
          <a:p>
            <a:pPr indent="0" marL="0">
              <a:buNone/>
            </a:pPr>
            <a:r>
              <a:rPr lang="en-US" sz="1300" dirty="0">
                <a:solidFill>
                  <a:srgbClr val="E3EDF8"/>
                </a:solidFill>
                <a:latin typeface="Calibri" pitchFamily="34" charset="0"/>
                <a:ea typeface="Calibri" pitchFamily="34" charset="-122"/>
                <a:cs typeface="Calibri" pitchFamily="34" charset="-120"/>
              </a:rPr>
              <a:t>Activity F1 gain, 5 % labels</a:t>
            </a:r>
            <a:endParaRPr lang="en-US" sz="1300" dirty="0"/>
          </a:p>
        </p:txBody>
      </p:sp>
      <p:sp>
        <p:nvSpPr>
          <p:cNvPr id="7" name="Text 5"/>
          <p:cNvSpPr txBox="1"/>
          <p:nvPr/>
        </p:nvSpPr>
        <p:spPr>
          <a:xfrm>
            <a:off x="3931920" y="4069080"/>
            <a:ext cx="310896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+0.053</a:t>
            </a:r>
            <a:endParaRPr lang="en-US" sz="3800" dirty="0"/>
          </a:p>
        </p:txBody>
      </p:sp>
      <p:sp>
        <p:nvSpPr>
          <p:cNvPr id="8" name="Text 6"/>
          <p:cNvSpPr txBox="1"/>
          <p:nvPr/>
        </p:nvSpPr>
        <p:spPr>
          <a:xfrm>
            <a:off x="3931920" y="4800600"/>
            <a:ext cx="3108960" cy="320040"/>
          </a:xfrm>
          <a:prstGeom prst="rect">
            <a:avLst/>
          </a:prstGeom>
          <a:noFill/>
          <a:ln/>
        </p:spPr>
        <p:txBody>
          <a:bodyPr wrap="square" lIns="0" tIns="0" rIns="0" bIns="0" rtlCol="0" anchor="t"/>
          <a:lstStyle/>
          <a:p>
            <a:pPr indent="0" marL="0">
              <a:buNone/>
            </a:pPr>
            <a:r>
              <a:rPr lang="en-US" sz="1300" dirty="0">
                <a:solidFill>
                  <a:srgbClr val="E3EDF8"/>
                </a:solidFill>
                <a:latin typeface="Calibri" pitchFamily="34" charset="0"/>
                <a:ea typeface="Calibri" pitchFamily="34" charset="-122"/>
                <a:cs typeface="Calibri" pitchFamily="34" charset="-120"/>
              </a:rPr>
              <a:t>Next-30 F1 gain, 5 % labels</a:t>
            </a:r>
            <a:endParaRPr lang="en-US" sz="1300" dirty="0"/>
          </a:p>
        </p:txBody>
      </p:sp>
      <p:sp>
        <p:nvSpPr>
          <p:cNvPr id="9" name="Text 7"/>
          <p:cNvSpPr txBox="1"/>
          <p:nvPr/>
        </p:nvSpPr>
        <p:spPr>
          <a:xfrm>
            <a:off x="7223760" y="4069080"/>
            <a:ext cx="310896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0.70–0.82</a:t>
            </a:r>
            <a:endParaRPr lang="en-US" sz="3800" dirty="0"/>
          </a:p>
        </p:txBody>
      </p:sp>
      <p:sp>
        <p:nvSpPr>
          <p:cNvPr id="10" name="Text 8"/>
          <p:cNvSpPr txBox="1"/>
          <p:nvPr/>
        </p:nvSpPr>
        <p:spPr>
          <a:xfrm>
            <a:off x="7223760" y="4800600"/>
            <a:ext cx="3108960" cy="320040"/>
          </a:xfrm>
          <a:prstGeom prst="rect">
            <a:avLst/>
          </a:prstGeom>
          <a:noFill/>
          <a:ln/>
        </p:spPr>
        <p:txBody>
          <a:bodyPr wrap="square" lIns="0" tIns="0" rIns="0" bIns="0" rtlCol="0" anchor="t"/>
          <a:lstStyle/>
          <a:p>
            <a:pPr indent="0" marL="0">
              <a:buNone/>
            </a:pPr>
            <a:r>
              <a:rPr lang="en-US" sz="1300" dirty="0">
                <a:solidFill>
                  <a:srgbClr val="E3EDF8"/>
                </a:solidFill>
                <a:latin typeface="Calibri" pitchFamily="34" charset="0"/>
                <a:ea typeface="Calibri" pitchFamily="34" charset="-122"/>
                <a:cs typeface="Calibri" pitchFamily="34" charset="-120"/>
              </a:rPr>
              <a:t>Training loss held, no collapse</a:t>
            </a:r>
            <a:endParaRPr lang="en-US" sz="1300" dirty="0"/>
          </a:p>
        </p:txBody>
      </p:sp>
      <p:sp>
        <p:nvSpPr>
          <p:cNvPr id="11" name="Text 9"/>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E3EDF8"/>
                </a:solidFill>
                <a:latin typeface="Calibri" pitchFamily="34" charset="0"/>
                <a:ea typeface="Calibri" pitchFamily="34" charset="-122"/>
                <a:cs typeface="Calibri" pitchFamily="34" charset="-120"/>
              </a:rPr>
              <a:t>DomusFM reproduction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INTRODUCTION</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What DomusFM is</a:t>
            </a:r>
            <a:endParaRPr lang="en-US" sz="3600" dirty="0"/>
          </a:p>
        </p:txBody>
      </p:sp>
      <p:sp>
        <p:nvSpPr>
          <p:cNvPr id="4" name="Text 2"/>
          <p:cNvSpPr txBox="1"/>
          <p:nvPr/>
        </p:nvSpPr>
        <p:spPr>
          <a:xfrm>
            <a:off x="640080" y="1828800"/>
            <a:ext cx="6309360" cy="3291840"/>
          </a:xfrm>
          <a:prstGeom prst="rect">
            <a:avLst/>
          </a:prstGeom>
          <a:noFill/>
          <a:ln/>
        </p:spPr>
        <p:txBody>
          <a:bodyPr wrap="square" lIns="0" tIns="0" rIns="0" bIns="0" rtlCol="0" anchor="t"/>
          <a:lstStyle/>
          <a:p>
            <a:pPr indent="0" marL="0">
              <a:lnSpc>
                <a:spcPct val="115000"/>
              </a:lnSpc>
              <a:spcAft>
                <a:spcPts val="1400"/>
              </a:spcAft>
              <a:buNone/>
            </a:pPr>
            <a:r>
              <a:rPr lang="en-US" sz="1800" dirty="0">
                <a:solidFill>
                  <a:srgbClr val="3F4A5A"/>
                </a:solidFill>
                <a:latin typeface="Calibri" pitchFamily="34" charset="0"/>
                <a:ea typeface="Calibri" pitchFamily="34" charset="-122"/>
                <a:cs typeface="Calibri" pitchFamily="34" charset="-120"/>
              </a:rPr>
              <a:t>DomusFM is a foundation model for smart-home sensor events, by Fiori, Civitarese, Salim and Bettini (arXiv 2602.01910).</a:t>
            </a:r>
            <a:endParaRPr lang="en-US" sz="1800" dirty="0"/>
          </a:p>
          <a:p>
            <a:pPr indent="0" marL="0">
              <a:lnSpc>
                <a:spcPct val="115000"/>
              </a:lnSpc>
              <a:spcAft>
                <a:spcPts val="1400"/>
              </a:spcAft>
              <a:buNone/>
            </a:pPr>
            <a:r>
              <a:rPr lang="en-US" sz="1800" dirty="0">
                <a:solidFill>
                  <a:srgbClr val="3F4A5A"/>
                </a:solidFill>
                <a:latin typeface="Calibri" pitchFamily="34" charset="0"/>
                <a:ea typeface="Calibri" pitchFamily="34" charset="-122"/>
                <a:cs typeface="Calibri" pitchFamily="34" charset="-120"/>
              </a:rPr>
              <a:t>It reads streams of binary ON/OFF sensor events, learns general patterns from unlabelled homes, then adapts to a new home using only a few labels.</a:t>
            </a:r>
            <a:endParaRPr lang="en-US" sz="1800" dirty="0"/>
          </a:p>
          <a:p>
            <a:pPr indent="0" marL="0">
              <a:lnSpc>
                <a:spcPct val="115000"/>
              </a:lnSpc>
              <a:buNone/>
            </a:pPr>
            <a:r>
              <a:rPr lang="en-US" sz="1800" dirty="0">
                <a:solidFill>
                  <a:srgbClr val="3F4A5A"/>
                </a:solidFill>
                <a:latin typeface="Calibri" pitchFamily="34" charset="0"/>
                <a:ea typeface="Calibri" pitchFamily="34" charset="-122"/>
                <a:cs typeface="Calibri" pitchFamily="34" charset="-120"/>
              </a:rPr>
              <a:t>The authors' code is not public, so this is an independent implementation built from the paper's description.</a:t>
            </a:r>
            <a:endParaRPr lang="en-US" sz="1800" dirty="0"/>
          </a:p>
        </p:txBody>
      </p:sp>
      <p:sp>
        <p:nvSpPr>
          <p:cNvPr id="5" name="Shape 3"/>
          <p:cNvSpPr/>
          <p:nvPr/>
        </p:nvSpPr>
        <p:spPr>
          <a:xfrm>
            <a:off x="7406640" y="1828800"/>
            <a:ext cx="4142232" cy="2651760"/>
          </a:xfrm>
          <a:prstGeom prst="roundRect">
            <a:avLst>
              <a:gd name="adj" fmla="val 3448"/>
            </a:avLst>
          </a:prstGeom>
          <a:solidFill>
            <a:srgbClr val="F3F5F8"/>
          </a:solidFill>
          <a:ln w="9525">
            <a:solidFill>
              <a:srgbClr val="D5D9E0"/>
            </a:solidFill>
            <a:prstDash val="solid"/>
          </a:ln>
        </p:spPr>
      </p:sp>
      <p:sp>
        <p:nvSpPr>
          <p:cNvPr id="6" name="Text 4"/>
          <p:cNvSpPr txBox="1"/>
          <p:nvPr/>
        </p:nvSpPr>
        <p:spPr>
          <a:xfrm>
            <a:off x="7726680" y="2103120"/>
            <a:ext cx="3566160" cy="36576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Why it matters here</a:t>
            </a:r>
            <a:endParaRPr lang="en-US" sz="1800" dirty="0"/>
          </a:p>
        </p:txBody>
      </p:sp>
      <p:sp>
        <p:nvSpPr>
          <p:cNvPr id="7" name="Text 5"/>
          <p:cNvSpPr txBox="1"/>
          <p:nvPr/>
        </p:nvSpPr>
        <p:spPr>
          <a:xfrm>
            <a:off x="7726680" y="2560320"/>
            <a:ext cx="3566160" cy="1737360"/>
          </a:xfrm>
          <a:prstGeom prst="rect">
            <a:avLst/>
          </a:prstGeom>
          <a:noFill/>
          <a:ln/>
        </p:spPr>
        <p:txBody>
          <a:bodyPr wrap="square" lIns="0" tIns="0" rIns="0" bIns="0" rtlCol="0" anchor="t"/>
          <a:lstStyle/>
          <a:p>
            <a:pPr indent="0" marL="0">
              <a:lnSpc>
                <a:spcPct val="115000"/>
              </a:lnSpc>
              <a:buNone/>
            </a:pPr>
            <a:r>
              <a:rPr lang="en-US" sz="1500" dirty="0">
                <a:solidFill>
                  <a:srgbClr val="3F4A5A"/>
                </a:solidFill>
                <a:latin typeface="Calibri" pitchFamily="34" charset="0"/>
                <a:ea typeface="Calibri" pitchFamily="34" charset="-122"/>
                <a:cs typeface="Calibri" pitchFamily="34" charset="-120"/>
              </a:rPr>
              <a:t>DomusFM is the main baseline for HomeFM. Before comparing the two, the reproduction must be sound, which means its pretraining has to actually help.</a:t>
            </a:r>
            <a:endParaRPr lang="en-US" sz="1500" dirty="0"/>
          </a:p>
        </p:txBody>
      </p:sp>
      <p:sp>
        <p:nvSpPr>
          <p:cNvPr id="8" name="Text 6"/>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INTRODUCTION · THE MODEL</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How the model reads a home</a:t>
            </a:r>
            <a:endParaRPr lang="en-US" sz="3600" dirty="0"/>
          </a:p>
        </p:txBody>
      </p:sp>
      <p:sp>
        <p:nvSpPr>
          <p:cNvPr id="4" name="Shape 2"/>
          <p:cNvSpPr/>
          <p:nvPr/>
        </p:nvSpPr>
        <p:spPr>
          <a:xfrm>
            <a:off x="640080" y="1828800"/>
            <a:ext cx="2423160" cy="2743200"/>
          </a:xfrm>
          <a:prstGeom prst="roundRect">
            <a:avLst>
              <a:gd name="adj" fmla="val 3774"/>
            </a:avLst>
          </a:prstGeom>
          <a:solidFill>
            <a:srgbClr val="F3F5F8"/>
          </a:solidFill>
          <a:ln w="9525">
            <a:solidFill>
              <a:srgbClr val="D5D9E0"/>
            </a:solidFill>
            <a:prstDash val="solid"/>
          </a:ln>
        </p:spPr>
      </p:sp>
      <p:sp>
        <p:nvSpPr>
          <p:cNvPr id="5" name="Shape 3"/>
          <p:cNvSpPr/>
          <p:nvPr/>
        </p:nvSpPr>
        <p:spPr>
          <a:xfrm>
            <a:off x="868680" y="2057400"/>
            <a:ext cx="384048" cy="384048"/>
          </a:xfrm>
          <a:prstGeom prst="ellipse">
            <a:avLst/>
          </a:prstGeom>
          <a:solidFill>
            <a:srgbClr val="2F6FB0"/>
          </a:solidFill>
          <a:ln w="12700">
            <a:solidFill>
              <a:srgbClr val="2F6FB0"/>
            </a:solidFill>
            <a:prstDash val="solid"/>
          </a:ln>
        </p:spPr>
      </p:sp>
      <p:sp>
        <p:nvSpPr>
          <p:cNvPr id="6" name="Text 4"/>
          <p:cNvSpPr txBox="1"/>
          <p:nvPr/>
        </p:nvSpPr>
        <p:spPr>
          <a:xfrm>
            <a:off x="868680"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68680" y="2560320"/>
            <a:ext cx="1965960" cy="59436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One sensor event</a:t>
            </a:r>
            <a:endParaRPr lang="en-US" sz="1600" dirty="0"/>
          </a:p>
        </p:txBody>
      </p:sp>
      <p:sp>
        <p:nvSpPr>
          <p:cNvPr id="8" name="Text 6"/>
          <p:cNvSpPr txBox="1"/>
          <p:nvPr/>
        </p:nvSpPr>
        <p:spPr>
          <a:xfrm>
            <a:off x="868680" y="3200400"/>
            <a:ext cx="1965960" cy="1280160"/>
          </a:xfrm>
          <a:prstGeom prst="rect">
            <a:avLst/>
          </a:prstGeom>
          <a:noFill/>
          <a:ln/>
        </p:spPr>
        <p:txBody>
          <a:bodyPr wrap="square" lIns="0" tIns="0" rIns="0" bIns="0" rtlCol="0" anchor="t"/>
          <a:lstStyle/>
          <a:p>
            <a:pPr indent="0" marL="0">
              <a:lnSpc>
                <a:spcPct val="110000"/>
              </a:lnSpc>
              <a:buNone/>
            </a:pPr>
            <a:r>
              <a:rPr lang="en-US" sz="1300" dirty="0">
                <a:solidFill>
                  <a:srgbClr val="3F4A5A"/>
                </a:solidFill>
                <a:latin typeface="Calibri" pitchFamily="34" charset="0"/>
                <a:ea typeface="Calibri" pitchFamily="34" charset="-122"/>
                <a:cs typeface="Calibri" pitchFamily="34" charset="-120"/>
              </a:rPr>
              <a:t>Item, type and room as text, embedded by a frozen MiniLM. Status ON or OFF. Time: day, hour, second.</a:t>
            </a:r>
            <a:endParaRPr lang="en-US" sz="1300" dirty="0"/>
          </a:p>
        </p:txBody>
      </p:sp>
      <p:sp>
        <p:nvSpPr>
          <p:cNvPr id="9" name="Shape 7"/>
          <p:cNvSpPr/>
          <p:nvPr/>
        </p:nvSpPr>
        <p:spPr>
          <a:xfrm>
            <a:off x="3136392" y="3063240"/>
            <a:ext cx="283464" cy="274320"/>
          </a:xfrm>
          <a:prstGeom prst="rightArrow">
            <a:avLst/>
          </a:prstGeom>
          <a:solidFill>
            <a:srgbClr val="9AA1AD"/>
          </a:solidFill>
          <a:ln w="12700">
            <a:solidFill>
              <a:srgbClr val="9AA1AD"/>
            </a:solidFill>
            <a:prstDash val="solid"/>
          </a:ln>
        </p:spPr>
      </p:sp>
      <p:sp>
        <p:nvSpPr>
          <p:cNvPr id="10" name="Shape 8"/>
          <p:cNvSpPr/>
          <p:nvPr/>
        </p:nvSpPr>
        <p:spPr>
          <a:xfrm>
            <a:off x="3493008" y="1828800"/>
            <a:ext cx="2423160" cy="2743200"/>
          </a:xfrm>
          <a:prstGeom prst="roundRect">
            <a:avLst>
              <a:gd name="adj" fmla="val 3774"/>
            </a:avLst>
          </a:prstGeom>
          <a:solidFill>
            <a:srgbClr val="F3F5F8"/>
          </a:solidFill>
          <a:ln w="9525">
            <a:solidFill>
              <a:srgbClr val="D5D9E0"/>
            </a:solidFill>
            <a:prstDash val="solid"/>
          </a:ln>
        </p:spPr>
      </p:sp>
      <p:sp>
        <p:nvSpPr>
          <p:cNvPr id="11" name="Shape 9"/>
          <p:cNvSpPr/>
          <p:nvPr/>
        </p:nvSpPr>
        <p:spPr>
          <a:xfrm>
            <a:off x="3721608" y="2057400"/>
            <a:ext cx="384048" cy="384048"/>
          </a:xfrm>
          <a:prstGeom prst="ellipse">
            <a:avLst/>
          </a:prstGeom>
          <a:solidFill>
            <a:srgbClr val="2F6FB0"/>
          </a:solidFill>
          <a:ln w="12700">
            <a:solidFill>
              <a:srgbClr val="2F6FB0"/>
            </a:solidFill>
            <a:prstDash val="solid"/>
          </a:ln>
        </p:spPr>
      </p:sp>
      <p:sp>
        <p:nvSpPr>
          <p:cNvPr id="12" name="Text 10"/>
          <p:cNvSpPr txBox="1"/>
          <p:nvPr/>
        </p:nvSpPr>
        <p:spPr>
          <a:xfrm>
            <a:off x="3721608"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3721608" y="2560320"/>
            <a:ext cx="1965960" cy="59436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Attribute attention</a:t>
            </a:r>
            <a:endParaRPr lang="en-US" sz="1600" dirty="0"/>
          </a:p>
        </p:txBody>
      </p:sp>
      <p:sp>
        <p:nvSpPr>
          <p:cNvPr id="14" name="Text 12"/>
          <p:cNvSpPr txBox="1"/>
          <p:nvPr/>
        </p:nvSpPr>
        <p:spPr>
          <a:xfrm>
            <a:off x="3721608" y="3200400"/>
            <a:ext cx="1965960" cy="1280160"/>
          </a:xfrm>
          <a:prstGeom prst="rect">
            <a:avLst/>
          </a:prstGeom>
          <a:noFill/>
          <a:ln/>
        </p:spPr>
        <p:txBody>
          <a:bodyPr wrap="square" lIns="0" tIns="0" rIns="0" bIns="0" rtlCol="0" anchor="t"/>
          <a:lstStyle/>
          <a:p>
            <a:pPr indent="0" marL="0">
              <a:lnSpc>
                <a:spcPct val="110000"/>
              </a:lnSpc>
              <a:buNone/>
            </a:pPr>
            <a:r>
              <a:rPr lang="en-US" sz="1300" dirty="0">
                <a:solidFill>
                  <a:srgbClr val="3F4A5A"/>
                </a:solidFill>
                <a:latin typeface="Calibri" pitchFamily="34" charset="0"/>
                <a:ea typeface="Calibri" pitchFamily="34" charset="-122"/>
                <a:cs typeface="Calibri" pitchFamily="34" charset="-120"/>
              </a:rPr>
              <a:t>One transformer layer fuses the 5 attributes into a single event vector.</a:t>
            </a:r>
            <a:endParaRPr lang="en-US" sz="1300" dirty="0"/>
          </a:p>
        </p:txBody>
      </p:sp>
      <p:sp>
        <p:nvSpPr>
          <p:cNvPr id="15" name="Shape 13"/>
          <p:cNvSpPr/>
          <p:nvPr/>
        </p:nvSpPr>
        <p:spPr>
          <a:xfrm>
            <a:off x="5989320" y="3063240"/>
            <a:ext cx="283464" cy="274320"/>
          </a:xfrm>
          <a:prstGeom prst="rightArrow">
            <a:avLst/>
          </a:prstGeom>
          <a:solidFill>
            <a:srgbClr val="9AA1AD"/>
          </a:solidFill>
          <a:ln w="12700">
            <a:solidFill>
              <a:srgbClr val="9AA1AD"/>
            </a:solidFill>
            <a:prstDash val="solid"/>
          </a:ln>
        </p:spPr>
      </p:sp>
      <p:sp>
        <p:nvSpPr>
          <p:cNvPr id="16" name="Shape 14"/>
          <p:cNvSpPr/>
          <p:nvPr/>
        </p:nvSpPr>
        <p:spPr>
          <a:xfrm>
            <a:off x="6345936" y="1828800"/>
            <a:ext cx="2423160" cy="2743200"/>
          </a:xfrm>
          <a:prstGeom prst="roundRect">
            <a:avLst>
              <a:gd name="adj" fmla="val 3774"/>
            </a:avLst>
          </a:prstGeom>
          <a:solidFill>
            <a:srgbClr val="F3F5F8"/>
          </a:solidFill>
          <a:ln w="9525">
            <a:solidFill>
              <a:srgbClr val="D5D9E0"/>
            </a:solidFill>
            <a:prstDash val="solid"/>
          </a:ln>
        </p:spPr>
      </p:sp>
      <p:sp>
        <p:nvSpPr>
          <p:cNvPr id="17" name="Shape 15"/>
          <p:cNvSpPr/>
          <p:nvPr/>
        </p:nvSpPr>
        <p:spPr>
          <a:xfrm>
            <a:off x="6574536" y="2057400"/>
            <a:ext cx="384048" cy="384048"/>
          </a:xfrm>
          <a:prstGeom prst="ellipse">
            <a:avLst/>
          </a:prstGeom>
          <a:solidFill>
            <a:srgbClr val="2F6FB0"/>
          </a:solidFill>
          <a:ln w="12700">
            <a:solidFill>
              <a:srgbClr val="2F6FB0"/>
            </a:solidFill>
            <a:prstDash val="solid"/>
          </a:ln>
        </p:spPr>
      </p:sp>
      <p:sp>
        <p:nvSpPr>
          <p:cNvPr id="18" name="Text 16"/>
          <p:cNvSpPr txBox="1"/>
          <p:nvPr/>
        </p:nvSpPr>
        <p:spPr>
          <a:xfrm>
            <a:off x="6574536"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6574536" y="2560320"/>
            <a:ext cx="1965960" cy="59436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Context encoder</a:t>
            </a:r>
            <a:endParaRPr lang="en-US" sz="1600" dirty="0"/>
          </a:p>
        </p:txBody>
      </p:sp>
      <p:sp>
        <p:nvSpPr>
          <p:cNvPr id="20" name="Text 18"/>
          <p:cNvSpPr txBox="1"/>
          <p:nvPr/>
        </p:nvSpPr>
        <p:spPr>
          <a:xfrm>
            <a:off x="6574536" y="3200400"/>
            <a:ext cx="1965960" cy="1280160"/>
          </a:xfrm>
          <a:prstGeom prst="rect">
            <a:avLst/>
          </a:prstGeom>
          <a:noFill/>
          <a:ln/>
        </p:spPr>
        <p:txBody>
          <a:bodyPr wrap="square" lIns="0" tIns="0" rIns="0" bIns="0" rtlCol="0" anchor="t"/>
          <a:lstStyle/>
          <a:p>
            <a:pPr indent="0" marL="0">
              <a:lnSpc>
                <a:spcPct val="110000"/>
              </a:lnSpc>
              <a:buNone/>
            </a:pPr>
            <a:r>
              <a:rPr lang="en-US" sz="1300" dirty="0">
                <a:solidFill>
                  <a:srgbClr val="3F4A5A"/>
                </a:solidFill>
                <a:latin typeface="Calibri" pitchFamily="34" charset="0"/>
                <a:ea typeface="Calibri" pitchFamily="34" charset="-122"/>
                <a:cs typeface="Calibri" pitchFamily="34" charset="-120"/>
              </a:rPr>
              <a:t>A 12-layer transformer, 12 heads, width 384, reads a window of 30 events. No positional encoding.</a:t>
            </a:r>
            <a:endParaRPr lang="en-US" sz="1300" dirty="0"/>
          </a:p>
        </p:txBody>
      </p:sp>
      <p:sp>
        <p:nvSpPr>
          <p:cNvPr id="21" name="Shape 19"/>
          <p:cNvSpPr/>
          <p:nvPr/>
        </p:nvSpPr>
        <p:spPr>
          <a:xfrm>
            <a:off x="8842248" y="3063240"/>
            <a:ext cx="283464" cy="274320"/>
          </a:xfrm>
          <a:prstGeom prst="rightArrow">
            <a:avLst/>
          </a:prstGeom>
          <a:solidFill>
            <a:srgbClr val="9AA1AD"/>
          </a:solidFill>
          <a:ln w="12700">
            <a:solidFill>
              <a:srgbClr val="9AA1AD"/>
            </a:solidFill>
            <a:prstDash val="solid"/>
          </a:ln>
        </p:spPr>
      </p:sp>
      <p:sp>
        <p:nvSpPr>
          <p:cNvPr id="22" name="Shape 20"/>
          <p:cNvSpPr/>
          <p:nvPr/>
        </p:nvSpPr>
        <p:spPr>
          <a:xfrm>
            <a:off x="9198864" y="1828800"/>
            <a:ext cx="2423160" cy="2743200"/>
          </a:xfrm>
          <a:prstGeom prst="roundRect">
            <a:avLst>
              <a:gd name="adj" fmla="val 3774"/>
            </a:avLst>
          </a:prstGeom>
          <a:solidFill>
            <a:srgbClr val="F3F5F8"/>
          </a:solidFill>
          <a:ln w="9525">
            <a:solidFill>
              <a:srgbClr val="D5D9E0"/>
            </a:solidFill>
            <a:prstDash val="solid"/>
          </a:ln>
        </p:spPr>
      </p:sp>
      <p:sp>
        <p:nvSpPr>
          <p:cNvPr id="23" name="Shape 21"/>
          <p:cNvSpPr/>
          <p:nvPr/>
        </p:nvSpPr>
        <p:spPr>
          <a:xfrm>
            <a:off x="9427464" y="2057400"/>
            <a:ext cx="384048" cy="384048"/>
          </a:xfrm>
          <a:prstGeom prst="ellipse">
            <a:avLst/>
          </a:prstGeom>
          <a:solidFill>
            <a:srgbClr val="2F6FB0"/>
          </a:solidFill>
          <a:ln w="12700">
            <a:solidFill>
              <a:srgbClr val="2F6FB0"/>
            </a:solidFill>
            <a:prstDash val="solid"/>
          </a:ln>
        </p:spPr>
      </p:sp>
      <p:sp>
        <p:nvSpPr>
          <p:cNvPr id="24" name="Text 22"/>
          <p:cNvSpPr txBox="1"/>
          <p:nvPr/>
        </p:nvSpPr>
        <p:spPr>
          <a:xfrm>
            <a:off x="9427464"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9427464" y="2560320"/>
            <a:ext cx="1965960" cy="59436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Task heads</a:t>
            </a:r>
            <a:endParaRPr lang="en-US" sz="1600" dirty="0"/>
          </a:p>
        </p:txBody>
      </p:sp>
      <p:sp>
        <p:nvSpPr>
          <p:cNvPr id="26" name="Text 24"/>
          <p:cNvSpPr txBox="1"/>
          <p:nvPr/>
        </p:nvSpPr>
        <p:spPr>
          <a:xfrm>
            <a:off x="9427464" y="3200400"/>
            <a:ext cx="1965960" cy="1280160"/>
          </a:xfrm>
          <a:prstGeom prst="rect">
            <a:avLst/>
          </a:prstGeom>
          <a:noFill/>
          <a:ln/>
        </p:spPr>
        <p:txBody>
          <a:bodyPr wrap="square" lIns="0" tIns="0" rIns="0" bIns="0" rtlCol="0" anchor="t"/>
          <a:lstStyle/>
          <a:p>
            <a:pPr indent="0" marL="0">
              <a:lnSpc>
                <a:spcPct val="110000"/>
              </a:lnSpc>
              <a:buNone/>
            </a:pPr>
            <a:r>
              <a:rPr lang="en-US" sz="1300" dirty="0">
                <a:solidFill>
                  <a:srgbClr val="3F4A5A"/>
                </a:solidFill>
                <a:latin typeface="Calibri" pitchFamily="34" charset="0"/>
                <a:ea typeface="Calibri" pitchFamily="34" charset="-122"/>
                <a:cs typeface="Calibri" pitchFamily="34" charset="-120"/>
              </a:rPr>
              <a:t>ADL: the activity at the last event. Next-30: which events come next, and how many.</a:t>
            </a:r>
            <a:endParaRPr lang="en-US" sz="1300" dirty="0"/>
          </a:p>
        </p:txBody>
      </p:sp>
      <p:sp>
        <p:nvSpPr>
          <p:cNvPr id="27" name="Text 25"/>
          <p:cNvSpPr txBox="1"/>
          <p:nvPr/>
        </p:nvSpPr>
        <p:spPr>
          <a:xfrm>
            <a:off x="640080" y="4892040"/>
            <a:ext cx="10911535" cy="640080"/>
          </a:xfrm>
          <a:prstGeom prst="rect">
            <a:avLst/>
          </a:prstGeom>
          <a:noFill/>
          <a:ln/>
        </p:spPr>
        <p:txBody>
          <a:bodyPr wrap="square" lIns="0" tIns="0" rIns="0" bIns="0" rtlCol="0" anchor="t"/>
          <a:lstStyle/>
          <a:p>
            <a:pPr indent="0" marL="0">
              <a:buNone/>
            </a:pPr>
            <a:r>
              <a:rPr lang="en-US" sz="1500" dirty="0">
                <a:solidFill>
                  <a:srgbClr val="3F4A5A"/>
                </a:solidFill>
                <a:latin typeface="Calibri" pitchFamily="34" charset="0"/>
                <a:ea typeface="Calibri" pitchFamily="34" charset="-122"/>
                <a:cs typeface="Calibri" pitchFamily="34" charset="-120"/>
              </a:rPr>
              <a:t>28.6M parameters in total. The paper reports 36.1M; the gap is unexplained, since layer widths such as the feed-forward size (2048 here) are not reported.</a:t>
            </a:r>
            <a:endParaRPr lang="en-US" sz="1500" dirty="0"/>
          </a:p>
        </p:txBody>
      </p:sp>
      <p:sp>
        <p:nvSpPr>
          <p:cNvPr id="28" name="Text 26"/>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INTRODUCTION · TRAINING AND TESTING</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Pretraining, then two tests</a:t>
            </a:r>
            <a:endParaRPr lang="en-US" sz="3600" dirty="0"/>
          </a:p>
        </p:txBody>
      </p:sp>
      <p:sp>
        <p:nvSpPr>
          <p:cNvPr id="4" name="Shape 2"/>
          <p:cNvSpPr/>
          <p:nvPr/>
        </p:nvSpPr>
        <p:spPr>
          <a:xfrm>
            <a:off x="640080" y="1828800"/>
            <a:ext cx="3454298" cy="2514600"/>
          </a:xfrm>
          <a:prstGeom prst="roundRect">
            <a:avLst>
              <a:gd name="adj" fmla="val 3636"/>
            </a:avLst>
          </a:prstGeom>
          <a:solidFill>
            <a:srgbClr val="E3ECF7"/>
          </a:solidFill>
          <a:ln w="12700">
            <a:solidFill>
              <a:srgbClr val="E3ECF7"/>
            </a:solidFill>
            <a:prstDash val="solid"/>
          </a:ln>
        </p:spPr>
      </p:sp>
      <p:sp>
        <p:nvSpPr>
          <p:cNvPr id="5" name="Text 3"/>
          <p:cNvSpPr txBox="1"/>
          <p:nvPr/>
        </p:nvSpPr>
        <p:spPr>
          <a:xfrm>
            <a:off x="914400" y="2057400"/>
            <a:ext cx="2905658" cy="64008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Pretraining: a matching game</a:t>
            </a:r>
            <a:endParaRPr lang="en-US" sz="1700" dirty="0"/>
          </a:p>
        </p:txBody>
      </p:sp>
      <p:sp>
        <p:nvSpPr>
          <p:cNvPr id="6" name="Text 4"/>
          <p:cNvSpPr txBox="1"/>
          <p:nvPr/>
        </p:nvSpPr>
        <p:spPr>
          <a:xfrm>
            <a:off x="914400" y="2743200"/>
            <a:ext cx="2905658" cy="1508760"/>
          </a:xfrm>
          <a:prstGeom prst="rect">
            <a:avLst/>
          </a:prstGeom>
          <a:noFill/>
          <a:ln/>
        </p:spPr>
        <p:txBody>
          <a:bodyPr wrap="square" lIns="0" tIns="0" rIns="0" bIns="0" rtlCol="0" anchor="t"/>
          <a:lstStyle/>
          <a:p>
            <a:pPr indent="0" marL="0">
              <a:lnSpc>
                <a:spcPct val="112000"/>
              </a:lnSpc>
              <a:buNone/>
            </a:pPr>
            <a:r>
              <a:rPr lang="en-US" sz="1400" dirty="0">
                <a:solidFill>
                  <a:srgbClr val="3F4A5A"/>
                </a:solidFill>
                <a:latin typeface="Calibri" pitchFamily="34" charset="0"/>
                <a:ea typeface="Calibri" pitchFamily="34" charset="-122"/>
                <a:cs typeface="Calibri" pitchFamily="34" charset="-120"/>
              </a:rPr>
              <a:t>Two masked copies of the same 30-event window must find each other among 128 candidates (InfoNCE loss). Phase 1 hides attributes; phase 2 hides whole events.</a:t>
            </a:r>
            <a:endParaRPr lang="en-US" sz="1400" dirty="0"/>
          </a:p>
        </p:txBody>
      </p:sp>
      <p:sp>
        <p:nvSpPr>
          <p:cNvPr id="7" name="Shape 5"/>
          <p:cNvSpPr/>
          <p:nvPr/>
        </p:nvSpPr>
        <p:spPr>
          <a:xfrm>
            <a:off x="4368698" y="1828800"/>
            <a:ext cx="3454298" cy="2514600"/>
          </a:xfrm>
          <a:prstGeom prst="roundRect">
            <a:avLst>
              <a:gd name="adj" fmla="val 3636"/>
            </a:avLst>
          </a:prstGeom>
          <a:solidFill>
            <a:srgbClr val="F3F5F8"/>
          </a:solidFill>
          <a:ln w="12700">
            <a:solidFill>
              <a:srgbClr val="F3F5F8"/>
            </a:solidFill>
            <a:prstDash val="solid"/>
          </a:ln>
        </p:spPr>
      </p:sp>
      <p:sp>
        <p:nvSpPr>
          <p:cNvPr id="8" name="Text 6"/>
          <p:cNvSpPr txBox="1"/>
          <p:nvPr/>
        </p:nvSpPr>
        <p:spPr>
          <a:xfrm>
            <a:off x="4643018" y="2057400"/>
            <a:ext cx="2905658" cy="64008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Test 1 · Activity (ADL)</a:t>
            </a:r>
            <a:endParaRPr lang="en-US" sz="1700" dirty="0"/>
          </a:p>
        </p:txBody>
      </p:sp>
      <p:sp>
        <p:nvSpPr>
          <p:cNvPr id="9" name="Text 7"/>
          <p:cNvSpPr txBox="1"/>
          <p:nvPr/>
        </p:nvSpPr>
        <p:spPr>
          <a:xfrm>
            <a:off x="4643018" y="2743200"/>
            <a:ext cx="2905658" cy="1508760"/>
          </a:xfrm>
          <a:prstGeom prst="rect">
            <a:avLst/>
          </a:prstGeom>
          <a:noFill/>
          <a:ln/>
        </p:spPr>
        <p:txBody>
          <a:bodyPr wrap="square" lIns="0" tIns="0" rIns="0" bIns="0" rtlCol="0" anchor="t"/>
          <a:lstStyle/>
          <a:p>
            <a:pPr indent="0" marL="0">
              <a:lnSpc>
                <a:spcPct val="112000"/>
              </a:lnSpc>
              <a:buNone/>
            </a:pPr>
            <a:r>
              <a:rPr lang="en-US" sz="1400" dirty="0">
                <a:solidFill>
                  <a:srgbClr val="3F4A5A"/>
                </a:solidFill>
                <a:latin typeface="Calibri" pitchFamily="34" charset="0"/>
                <a:ea typeface="Calibri" pitchFamily="34" charset="-122"/>
                <a:cs typeface="Calibri" pitchFamily="34" charset="-120"/>
              </a:rPr>
              <a:t>Name the activity at the last event of a window, such as cooking or sleeping. Scored with weighted F1.</a:t>
            </a:r>
            <a:endParaRPr lang="en-US" sz="1400" dirty="0"/>
          </a:p>
        </p:txBody>
      </p:sp>
      <p:sp>
        <p:nvSpPr>
          <p:cNvPr id="10" name="Shape 8"/>
          <p:cNvSpPr/>
          <p:nvPr/>
        </p:nvSpPr>
        <p:spPr>
          <a:xfrm>
            <a:off x="8097317" y="1828800"/>
            <a:ext cx="3454298" cy="2514600"/>
          </a:xfrm>
          <a:prstGeom prst="roundRect">
            <a:avLst>
              <a:gd name="adj" fmla="val 3636"/>
            </a:avLst>
          </a:prstGeom>
          <a:solidFill>
            <a:srgbClr val="F3F5F8"/>
          </a:solidFill>
          <a:ln w="12700">
            <a:solidFill>
              <a:srgbClr val="F3F5F8"/>
            </a:solidFill>
            <a:prstDash val="solid"/>
          </a:ln>
        </p:spPr>
      </p:sp>
      <p:sp>
        <p:nvSpPr>
          <p:cNvPr id="11" name="Text 9"/>
          <p:cNvSpPr txBox="1"/>
          <p:nvPr/>
        </p:nvSpPr>
        <p:spPr>
          <a:xfrm>
            <a:off x="8371637" y="2057400"/>
            <a:ext cx="2905658" cy="64008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Test 2 · Next-30</a:t>
            </a:r>
            <a:endParaRPr lang="en-US" sz="1700" dirty="0"/>
          </a:p>
        </p:txBody>
      </p:sp>
      <p:sp>
        <p:nvSpPr>
          <p:cNvPr id="12" name="Text 10"/>
          <p:cNvSpPr txBox="1"/>
          <p:nvPr/>
        </p:nvSpPr>
        <p:spPr>
          <a:xfrm>
            <a:off x="8371637" y="2743200"/>
            <a:ext cx="2905658" cy="1508760"/>
          </a:xfrm>
          <a:prstGeom prst="rect">
            <a:avLst/>
          </a:prstGeom>
          <a:noFill/>
          <a:ln/>
        </p:spPr>
        <p:txBody>
          <a:bodyPr wrap="square" lIns="0" tIns="0" rIns="0" bIns="0" rtlCol="0" anchor="t"/>
          <a:lstStyle/>
          <a:p>
            <a:pPr indent="0" marL="0">
              <a:lnSpc>
                <a:spcPct val="112000"/>
              </a:lnSpc>
              <a:buNone/>
            </a:pPr>
            <a:r>
              <a:rPr lang="en-US" sz="1400" dirty="0">
                <a:solidFill>
                  <a:srgbClr val="3F4A5A"/>
                </a:solidFill>
                <a:latin typeface="Calibri" pitchFamily="34" charset="0"/>
                <a:ea typeface="Calibri" pitchFamily="34" charset="-122"/>
                <a:cs typeface="Calibri" pitchFamily="34" charset="-120"/>
              </a:rPr>
              <a:t>Predict which event types occur in the next 30 events, and how often. Scored with multiset F1.</a:t>
            </a:r>
            <a:endParaRPr lang="en-US" sz="1400" dirty="0"/>
          </a:p>
        </p:txBody>
      </p:sp>
      <p:sp>
        <p:nvSpPr>
          <p:cNvPr id="13" name="Shape 11"/>
          <p:cNvSpPr/>
          <p:nvPr/>
        </p:nvSpPr>
        <p:spPr>
          <a:xfrm>
            <a:off x="640080" y="4663440"/>
            <a:ext cx="10911535" cy="1005840"/>
          </a:xfrm>
          <a:prstGeom prst="roundRect">
            <a:avLst>
              <a:gd name="adj" fmla="val 9091"/>
            </a:avLst>
          </a:prstGeom>
          <a:solidFill>
            <a:srgbClr val="F3F5F8"/>
          </a:solidFill>
          <a:ln w="9525">
            <a:solidFill>
              <a:srgbClr val="D5D9E0"/>
            </a:solidFill>
            <a:prstDash val="solid"/>
          </a:ln>
        </p:spPr>
      </p:sp>
      <p:sp>
        <p:nvSpPr>
          <p:cNvPr id="14" name="Text 12"/>
          <p:cNvSpPr txBox="1"/>
          <p:nvPr/>
        </p:nvSpPr>
        <p:spPr>
          <a:xfrm>
            <a:off x="914400" y="4800600"/>
            <a:ext cx="10362895" cy="777240"/>
          </a:xfrm>
          <a:prstGeom prst="rect">
            <a:avLst/>
          </a:prstGeom>
          <a:noFill/>
          <a:ln/>
        </p:spPr>
        <p:txBody>
          <a:bodyPr wrap="square" lIns="0" tIns="0" rIns="0" bIns="0" rtlCol="0" anchor="ctr"/>
          <a:lstStyle/>
          <a:p>
            <a:pPr indent="0" marL="0">
              <a:buNone/>
            </a:pPr>
            <a:r>
              <a:rPr lang="en-US" sz="1500" dirty="0">
                <a:solidFill>
                  <a:srgbClr val="14213D"/>
                </a:solidFill>
                <a:latin typeface="Calibri" pitchFamily="34" charset="0"/>
                <a:ea typeface="Calibri" pitchFamily="34" charset="-122"/>
                <a:cs typeface="Calibri" pitchFamily="34" charset="-120"/>
              </a:rPr>
              <a:t>Every score is compared with the same model trained from random weights ("no pretraining"). Pretraining is only worth having if it beats that. F1 runs from 0 to 1; higher is better.</a:t>
            </a:r>
            <a:endParaRPr lang="en-US" sz="1500" dirty="0"/>
          </a:p>
        </p:txBody>
      </p:sp>
      <p:sp>
        <p:nvSpPr>
          <p:cNvPr id="15" name="Text 13"/>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EXPERIMENTAL SETUP</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Data and protocol</a:t>
            </a:r>
            <a:endParaRPr lang="en-US" sz="3600" dirty="0"/>
          </a:p>
        </p:txBody>
      </p:sp>
      <p:sp>
        <p:nvSpPr>
          <p:cNvPr id="4" name="Text 2"/>
          <p:cNvSpPr txBox="1"/>
          <p:nvPr/>
        </p:nvSpPr>
        <p:spPr>
          <a:xfrm>
            <a:off x="640080" y="1828800"/>
            <a:ext cx="3108960" cy="777240"/>
          </a:xfrm>
          <a:prstGeom prst="rect">
            <a:avLst/>
          </a:prstGeom>
          <a:noFill/>
          <a:ln/>
        </p:spPr>
        <p:txBody>
          <a:bodyPr wrap="square" lIns="0" tIns="0" rIns="0" bIns="0" rtlCol="0" anchor="ctr"/>
          <a:lstStyle/>
          <a:p>
            <a:pPr indent="0" marL="0">
              <a:buNone/>
            </a:pPr>
            <a:r>
              <a:rPr lang="en-US" sz="4800" b="1" dirty="0">
                <a:solidFill>
                  <a:srgbClr val="2F6FB0"/>
                </a:solidFill>
                <a:latin typeface="Cambria" pitchFamily="34" charset="0"/>
                <a:ea typeface="Cambria" pitchFamily="34" charset="-122"/>
                <a:cs typeface="Cambria" pitchFamily="34" charset="-120"/>
              </a:rPr>
              <a:t>77</a:t>
            </a:r>
            <a:endParaRPr lang="en-US" sz="4800" dirty="0"/>
          </a:p>
        </p:txBody>
      </p:sp>
      <p:sp>
        <p:nvSpPr>
          <p:cNvPr id="5" name="Text 3"/>
          <p:cNvSpPr txBox="1"/>
          <p:nvPr/>
        </p:nvSpPr>
        <p:spPr>
          <a:xfrm>
            <a:off x="640080" y="2606040"/>
            <a:ext cx="3108960" cy="320040"/>
          </a:xfrm>
          <a:prstGeom prst="rect">
            <a:avLst/>
          </a:prstGeom>
          <a:noFill/>
          <a:ln/>
        </p:spPr>
        <p:txBody>
          <a:bodyPr wrap="square" lIns="0" tIns="0" rIns="0" bIns="0" rtlCol="0" anchor="t"/>
          <a:lstStyle/>
          <a:p>
            <a:pPr indent="0" marL="0">
              <a:buNone/>
            </a:pPr>
            <a:r>
              <a:rPr lang="en-US" sz="1300" dirty="0">
                <a:solidFill>
                  <a:srgbClr val="3F4A5A"/>
                </a:solidFill>
                <a:latin typeface="Calibri" pitchFamily="34" charset="0"/>
                <a:ea typeface="Calibri" pitchFamily="34" charset="-122"/>
                <a:cs typeface="Calibri" pitchFamily="34" charset="-120"/>
              </a:rPr>
              <a:t>homes used for pretraining</a:t>
            </a:r>
            <a:endParaRPr lang="en-US" sz="1300" dirty="0"/>
          </a:p>
        </p:txBody>
      </p:sp>
      <p:sp>
        <p:nvSpPr>
          <p:cNvPr id="6" name="Text 4"/>
          <p:cNvSpPr txBox="1"/>
          <p:nvPr/>
        </p:nvSpPr>
        <p:spPr>
          <a:xfrm>
            <a:off x="640080" y="3200400"/>
            <a:ext cx="3108960" cy="777240"/>
          </a:xfrm>
          <a:prstGeom prst="rect">
            <a:avLst/>
          </a:prstGeom>
          <a:noFill/>
          <a:ln/>
        </p:spPr>
        <p:txBody>
          <a:bodyPr wrap="square" lIns="0" tIns="0" rIns="0" bIns="0" rtlCol="0" anchor="ctr"/>
          <a:lstStyle/>
          <a:p>
            <a:pPr indent="0" marL="0">
              <a:buNone/>
            </a:pPr>
            <a:r>
              <a:rPr lang="en-US" sz="4800" b="1" dirty="0">
                <a:solidFill>
                  <a:srgbClr val="2F6FB0"/>
                </a:solidFill>
                <a:latin typeface="Cambria" pitchFamily="34" charset="0"/>
                <a:ea typeface="Cambria" pitchFamily="34" charset="-122"/>
                <a:cs typeface="Cambria" pitchFamily="34" charset="-120"/>
              </a:rPr>
              <a:t>27.3M</a:t>
            </a:r>
            <a:endParaRPr lang="en-US" sz="4800" dirty="0"/>
          </a:p>
        </p:txBody>
      </p:sp>
      <p:sp>
        <p:nvSpPr>
          <p:cNvPr id="7" name="Text 5"/>
          <p:cNvSpPr txBox="1"/>
          <p:nvPr/>
        </p:nvSpPr>
        <p:spPr>
          <a:xfrm>
            <a:off x="640080" y="3977640"/>
            <a:ext cx="3108960" cy="320040"/>
          </a:xfrm>
          <a:prstGeom prst="rect">
            <a:avLst/>
          </a:prstGeom>
          <a:noFill/>
          <a:ln/>
        </p:spPr>
        <p:txBody>
          <a:bodyPr wrap="square" lIns="0" tIns="0" rIns="0" bIns="0" rtlCol="0" anchor="t"/>
          <a:lstStyle/>
          <a:p>
            <a:pPr indent="0" marL="0">
              <a:buNone/>
            </a:pPr>
            <a:r>
              <a:rPr lang="en-US" sz="1300" dirty="0">
                <a:solidFill>
                  <a:srgbClr val="3F4A5A"/>
                </a:solidFill>
                <a:latin typeface="Calibri" pitchFamily="34" charset="0"/>
                <a:ea typeface="Calibri" pitchFamily="34" charset="-122"/>
                <a:cs typeface="Calibri" pitchFamily="34" charset="-120"/>
              </a:rPr>
              <a:t>sensor events, unlabelled</a:t>
            </a:r>
            <a:endParaRPr lang="en-US" sz="1300" dirty="0"/>
          </a:p>
        </p:txBody>
      </p:sp>
      <p:sp>
        <p:nvSpPr>
          <p:cNvPr id="8" name="Text 6"/>
          <p:cNvSpPr txBox="1"/>
          <p:nvPr/>
        </p:nvSpPr>
        <p:spPr>
          <a:xfrm>
            <a:off x="640080" y="4572000"/>
            <a:ext cx="3108960" cy="777240"/>
          </a:xfrm>
          <a:prstGeom prst="rect">
            <a:avLst/>
          </a:prstGeom>
          <a:noFill/>
          <a:ln/>
        </p:spPr>
        <p:txBody>
          <a:bodyPr wrap="square" lIns="0" tIns="0" rIns="0" bIns="0" rtlCol="0" anchor="ctr"/>
          <a:lstStyle/>
          <a:p>
            <a:pPr indent="0" marL="0">
              <a:buNone/>
            </a:pPr>
            <a:r>
              <a:rPr lang="en-US" sz="4800" b="1" dirty="0">
                <a:solidFill>
                  <a:srgbClr val="2F6FB0"/>
                </a:solidFill>
                <a:latin typeface="Cambria" pitchFamily="34" charset="0"/>
                <a:ea typeface="Cambria" pitchFamily="34" charset="-122"/>
                <a:cs typeface="Cambria" pitchFamily="34" charset="-120"/>
              </a:rPr>
              <a:t>7</a:t>
            </a:r>
            <a:endParaRPr lang="en-US" sz="4800" dirty="0"/>
          </a:p>
        </p:txBody>
      </p:sp>
      <p:sp>
        <p:nvSpPr>
          <p:cNvPr id="9" name="Text 7"/>
          <p:cNvSpPr txBox="1"/>
          <p:nvPr/>
        </p:nvSpPr>
        <p:spPr>
          <a:xfrm>
            <a:off x="640080" y="5349240"/>
            <a:ext cx="3108960" cy="320040"/>
          </a:xfrm>
          <a:prstGeom prst="rect">
            <a:avLst/>
          </a:prstGeom>
          <a:noFill/>
          <a:ln/>
        </p:spPr>
        <p:txBody>
          <a:bodyPr wrap="square" lIns="0" tIns="0" rIns="0" bIns="0" rtlCol="0" anchor="t"/>
          <a:lstStyle/>
          <a:p>
            <a:pPr indent="0" marL="0">
              <a:buNone/>
            </a:pPr>
            <a:r>
              <a:rPr lang="en-US" sz="1300" dirty="0">
                <a:solidFill>
                  <a:srgbClr val="3F4A5A"/>
                </a:solidFill>
                <a:latin typeface="Calibri" pitchFamily="34" charset="0"/>
                <a:ea typeface="Calibri" pitchFamily="34" charset="-122"/>
                <a:cs typeface="Calibri" pitchFamily="34" charset="-120"/>
              </a:rPr>
              <a:t>held-out homes for testing</a:t>
            </a:r>
            <a:endParaRPr lang="en-US" sz="1300" dirty="0"/>
          </a:p>
        </p:txBody>
      </p:sp>
      <p:sp>
        <p:nvSpPr>
          <p:cNvPr id="10" name="Shape 8"/>
          <p:cNvSpPr/>
          <p:nvPr/>
        </p:nvSpPr>
        <p:spPr>
          <a:xfrm>
            <a:off x="4206240" y="1828800"/>
            <a:ext cx="7342632" cy="4069080"/>
          </a:xfrm>
          <a:prstGeom prst="roundRect">
            <a:avLst>
              <a:gd name="adj" fmla="val 2247"/>
            </a:avLst>
          </a:prstGeom>
          <a:solidFill>
            <a:srgbClr val="FFFFFF"/>
          </a:solidFill>
          <a:ln w="9525">
            <a:solidFill>
              <a:srgbClr val="D5D9E0"/>
            </a:solidFill>
            <a:prstDash val="solid"/>
          </a:ln>
        </p:spPr>
      </p:sp>
      <p:sp>
        <p:nvSpPr>
          <p:cNvPr id="11" name="Text 9"/>
          <p:cNvSpPr txBox="1"/>
          <p:nvPr/>
        </p:nvSpPr>
        <p:spPr>
          <a:xfrm>
            <a:off x="4480560" y="2057400"/>
            <a:ext cx="6812280"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3F4A5A"/>
                </a:solidFill>
                <a:latin typeface="Calibri" pitchFamily="34" charset="0"/>
                <a:ea typeface="Calibri" pitchFamily="34" charset="-122"/>
                <a:cs typeface="Calibri" pitchFamily="34" charset="-120"/>
              </a:rPr>
              <a:t>Pretrain once on 77 homes: every labelled CASAS home except the 7 test homes, plus Milan and Aruba.</a:t>
            </a:r>
            <a:endParaRPr lang="en-US" sz="1600" dirty="0"/>
          </a:p>
          <a:p>
            <a:pPr marL="342900" indent="-342900">
              <a:spcAft>
                <a:spcPts val="1000"/>
              </a:spcAft>
              <a:buSzPct val="100000"/>
              <a:buChar char="•"/>
            </a:pPr>
            <a:r>
              <a:rPr lang="en-US" sz="1600" dirty="0">
                <a:solidFill>
                  <a:srgbClr val="3F4A5A"/>
                </a:solidFill>
                <a:latin typeface="Calibri" pitchFamily="34" charset="0"/>
                <a:ea typeface="Calibri" pitchFamily="34" charset="-122"/>
                <a:cs typeface="Calibri" pitchFamily="34" charset="-120"/>
              </a:rPr>
              <a:t>No data from a test home is seen during pretraining.</a:t>
            </a:r>
            <a:endParaRPr lang="en-US" sz="1600" dirty="0"/>
          </a:p>
          <a:p>
            <a:pPr marL="342900" indent="-342900">
              <a:spcAft>
                <a:spcPts val="1000"/>
              </a:spcAft>
              <a:buSzPct val="100000"/>
              <a:buChar char="•"/>
            </a:pPr>
            <a:r>
              <a:rPr lang="en-US" sz="1600" dirty="0">
                <a:solidFill>
                  <a:srgbClr val="3F4A5A"/>
                </a:solidFill>
                <a:latin typeface="Calibri" pitchFamily="34" charset="0"/>
                <a:ea typeface="Calibri" pitchFamily="34" charset="-122"/>
                <a:cs typeface="Calibri" pitchFamily="34" charset="-120"/>
              </a:rPr>
              <a:t>Test homes: UCI Home B and CASAS hh101, hh103, hh105, hh110, hh119, hh122.</a:t>
            </a:r>
            <a:endParaRPr lang="en-US" sz="1600" dirty="0"/>
          </a:p>
          <a:p>
            <a:pPr marL="342900" indent="-342900">
              <a:spcAft>
                <a:spcPts val="1000"/>
              </a:spcAft>
              <a:buSzPct val="100000"/>
              <a:buChar char="•"/>
            </a:pPr>
            <a:r>
              <a:rPr lang="en-US" sz="1600" dirty="0">
                <a:solidFill>
                  <a:srgbClr val="3F4A5A"/>
                </a:solidFill>
                <a:latin typeface="Calibri" pitchFamily="34" charset="0"/>
                <a:ea typeface="Calibri" pitchFamily="34" charset="-122"/>
                <a:cs typeface="Calibri" pitchFamily="34" charset="-120"/>
              </a:rPr>
              <a:t>Fine-tune on 5 % or 30 % of a test home's labels, for 10 epochs.</a:t>
            </a:r>
            <a:endParaRPr lang="en-US" sz="1600" dirty="0"/>
          </a:p>
          <a:p>
            <a:pPr marL="342900" indent="-342900">
              <a:spcAft>
                <a:spcPts val="1000"/>
              </a:spcAft>
              <a:buSzPct val="100000"/>
              <a:buChar char="•"/>
            </a:pPr>
            <a:r>
              <a:rPr lang="en-US" sz="1600" dirty="0">
                <a:solidFill>
                  <a:srgbClr val="3F4A5A"/>
                </a:solidFill>
                <a:latin typeface="Calibri" pitchFamily="34" charset="0"/>
                <a:ea typeface="Calibri" pitchFamily="34" charset="-122"/>
                <a:cs typeface="Calibri" pitchFamily="34" charset="-120"/>
              </a:rPr>
              <a:t>3 time-contiguous folds per home; results are mean ± std.</a:t>
            </a:r>
            <a:endParaRPr lang="en-US" sz="1600" dirty="0"/>
          </a:p>
          <a:p>
            <a:pPr marL="342900" indent="-342900">
              <a:spcAft>
                <a:spcPts val="1000"/>
              </a:spcAft>
              <a:buSzPct val="100000"/>
              <a:buChar char="•"/>
            </a:pPr>
            <a:r>
              <a:rPr lang="en-US" sz="1600" dirty="0">
                <a:solidFill>
                  <a:srgbClr val="3F4A5A"/>
                </a:solidFill>
                <a:latin typeface="Calibri" pitchFamily="34" charset="0"/>
                <a:ea typeface="Calibri" pitchFamily="34" charset="-122"/>
                <a:cs typeface="Calibri" pitchFamily="34" charset="-120"/>
              </a:rPr>
              <a:t>Up to 20,000 test windows per fold.</a:t>
            </a:r>
            <a:endParaRPr lang="en-US" sz="1600" dirty="0"/>
          </a:p>
        </p:txBody>
      </p:sp>
      <p:sp>
        <p:nvSpPr>
          <p:cNvPr id="12" name="Text 10"/>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EXPERIMENTAL SETUP</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Experimental parameters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377440"/>
                <a:gridCol w="5760720"/>
                <a:gridCol w="2770632"/>
              </a:tblGrid>
              <a:tr h="36576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28.6M params · 12 layers · 12 heads · d 384</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Paper (widths guessed)</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Input window</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30 events, sliding by 1</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Paper</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Pretraining</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20,000 + 20,000 steps, batch 128, AdamW 1e-4</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Our choice (not reported)</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Batch make-up</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4 homes × 32 windows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b="1" dirty="0">
                          <a:solidFill>
                            <a:srgbClr val="1F5A96"/>
                          </a:solidFill>
                          <a:latin typeface="Calibri" pitchFamily="34" charset="0"/>
                          <a:ea typeface="Calibri" pitchFamily="34" charset="-122"/>
                          <a:cs typeface="Calibri" pitchFamily="34" charset="-120"/>
                        </a:rPr>
                        <a:t>Our addition</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Masking</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40 % of both copies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b="1" dirty="0">
                          <a:solidFill>
                            <a:srgbClr val="1F5A96"/>
                          </a:solidFill>
                          <a:latin typeface="Calibri" pitchFamily="34" charset="0"/>
                          <a:ea typeface="Calibri" pitchFamily="34" charset="-122"/>
                          <a:cs typeface="Calibri" pitchFamily="34" charset="-120"/>
                        </a:rPr>
                        <a:t>Our choice (not reported)</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Temperature</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b="1" dirty="0">
                          <a:solidFill>
                            <a:srgbClr val="1F5A96"/>
                          </a:solidFill>
                          <a:latin typeface="Calibri" pitchFamily="34" charset="0"/>
                          <a:ea typeface="Calibri" pitchFamily="34" charset="-122"/>
                          <a:cs typeface="Calibri" pitchFamily="34" charset="-120"/>
                        </a:rPr>
                        <a:t>Our choice (not reported)</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Clock jitter</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±15 minutes per copy</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b="1" dirty="0">
                          <a:solidFill>
                            <a:srgbClr val="1F5A96"/>
                          </a:solidFill>
                          <a:latin typeface="Calibri" pitchFamily="34" charset="0"/>
                          <a:ea typeface="Calibri" pitchFamily="34" charset="-122"/>
                          <a:cs typeface="Calibri" pitchFamily="34" charset="-120"/>
                        </a:rPr>
                        <a:t>Our addition</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Projection head</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MLP, dropped after pretraining</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b="1" dirty="0">
                          <a:solidFill>
                            <a:srgbClr val="1F5A96"/>
                          </a:solidFill>
                          <a:latin typeface="Calibri" pitchFamily="34" charset="0"/>
                          <a:ea typeface="Calibri" pitchFamily="34" charset="-122"/>
                          <a:cs typeface="Calibri" pitchFamily="34" charset="-120"/>
                        </a:rPr>
                        <a:t>Our addition</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Extra loss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Predict hidden attributes (weight 1.0)</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b="1" dirty="0">
                          <a:solidFill>
                            <a:srgbClr val="1F5A96"/>
                          </a:solidFill>
                          <a:latin typeface="Calibri" pitchFamily="34" charset="0"/>
                          <a:ea typeface="Calibri" pitchFamily="34" charset="-122"/>
                          <a:cs typeface="Calibri" pitchFamily="34" charset="-120"/>
                        </a:rPr>
                        <a:t>Our addition</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Fine-tuning</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10 epochs, batch 64; backbone LR 5e-5, head 1e-3, 10 % warm-up</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Paper (epochs) + our choice</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7 · Config: configs/domusfm_corpus_fixed.yaml · Bold blue = our change to the paper's pretraining game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PAPER VS THIS WORK</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How this differs from the paper</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194560"/>
                <a:gridCol w="4361688"/>
                <a:gridCol w="4352544"/>
              </a:tblGrid>
              <a:tr h="365760">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Aspect</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Paper</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300" b="1" dirty="0">
                          <a:solidFill>
                            <a:srgbClr val="14213D"/>
                          </a:solidFill>
                          <a:latin typeface="Calibri" pitchFamily="34" charset="0"/>
                          <a:ea typeface="Calibri" pitchFamily="34" charset="-122"/>
                          <a:cs typeface="Calibri" pitchFamily="34" charset="-120"/>
                        </a:rPr>
                        <a:t>This reproduction</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Authors' implementation (not public)</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Independent, from the paper text</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Model size</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36.1M parameters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28.6M (unreported widths guessed)</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Test datasets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Milan, Aruba, UCI B, Kasteren A/C, MuRAL, Orange4Home</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UCI B + 6 CASAS homes (others unavailable)</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Pretraining data</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Leave-one-out: the other 6 datasets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Once, on 77 other homes (27.3M events)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CASAS data</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Original: one id per sensor, labelled</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2025 release: sensors merged per room</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CV folds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5-fold cross-validation</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3 time-contiguous folds (no leakage)</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Label amounts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5, 10, 15 and 30 %</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5 and 30 %</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Tasks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ADL, Next-10, Next-30, clustering</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ADL and Next-30</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Pretraining game</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Masking, temperature, steps not reported</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Our choices, plus a harder game (slide 9)</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Comparisons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DeepCASAS, GPT-2, Chronos, ablations</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No-pretraining ablation only</a:t>
                      </a:r>
                      <a:endParaRPr lang="en-US" sz="13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8 · Only UCI Home B is directly comparable with the paper (slide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PRETRAINING DESIGN</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A harder matching game</a:t>
            </a:r>
            <a:endParaRPr lang="en-US" sz="3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743200"/>
                <a:gridCol w="5605272"/>
                <a:gridCol w="2560320"/>
              </a:tblGrid>
              <a:tr h="457200">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Change</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Config setting</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1 · Same-home candidates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Each batch holds 4 homes × 32 windows, so sensor names give nothing away</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homes_per_batch: 4</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2 · Clock jitter</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Shifts each copy's clock by up to ±15 min; gaps and time of day are kept</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time_jitter_s: 900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3 · Mask both copies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Hides 40 % of both copies, with a softer temperature</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mask_both_views, 0.4, τ 0.2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4 · Projection head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 small MLP plays the game and is dropped after pretraining</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projector: true</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5 · Fill in the blanks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Predicts the hidden item, type, room and ON/OFF status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mlm_weight: 1.0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6 · Gentler fine-tuning</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Backbone LR 5e-5, head 1e-3, 10 % warm-up; also used for the baseline</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backbone_lr, head_lr</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440680"/>
            <a:ext cx="10911535" cy="640080"/>
          </a:xfrm>
          <a:prstGeom prst="rect">
            <a:avLst/>
          </a:prstGeom>
          <a:noFill/>
          <a:ln/>
        </p:spPr>
        <p:txBody>
          <a:bodyPr wrap="square" lIns="0" tIns="0" rIns="0" bIns="0" rtlCol="0" anchor="t"/>
          <a:lstStyle/>
          <a:p>
            <a:pPr indent="0" marL="0">
              <a:buNone/>
            </a:pPr>
            <a:r>
              <a:rPr lang="en-US" sz="1500" dirty="0">
                <a:solidFill>
                  <a:srgbClr val="3F4A5A"/>
                </a:solidFill>
                <a:latin typeface="Calibri" pitchFamily="34" charset="0"/>
                <a:ea typeface="Calibri" pitchFamily="34" charset="-122"/>
                <a:cs typeface="Calibri" pitchFamily="34" charset="-120"/>
              </a:rPr>
              <a:t>Each change stops the model from matching copies by surface clues, so it has to learn how the home behaves. With all six off, the code runs the paper's recipe.</a:t>
            </a:r>
            <a:endParaRPr lang="en-US" sz="1500" dirty="0"/>
          </a:p>
        </p:txBody>
      </p:sp>
      <p:sp>
        <p:nvSpPr>
          <p:cNvPr id="6" name="Text 3"/>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TRAINING HEALTH · PRETRAINING LOSS, LOG SCALE</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Pretraining stayed healthy</a:t>
            </a:r>
            <a:endParaRPr lang="en-US" sz="3600" dirty="0"/>
          </a:p>
        </p:txBody>
      </p:sp>
      <p:graphicFrame>
        <p:nvGraphicFramePr>
          <p:cNvPr id="4" name="Chart 0" descr=""/>
          <p:cNvGraphicFramePr/>
          <p:nvPr/>
        </p:nvGraphicFramePr>
        <p:xfrm>
          <a:off x="640080" y="1600200"/>
          <a:ext cx="822960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9144000" y="1737360"/>
            <a:ext cx="2404872" cy="4206240"/>
          </a:xfrm>
          <a:prstGeom prst="roundRect">
            <a:avLst>
              <a:gd name="adj" fmla="val 3802"/>
            </a:avLst>
          </a:prstGeom>
          <a:solidFill>
            <a:srgbClr val="F3F5F8"/>
          </a:solidFill>
          <a:ln w="9525">
            <a:solidFill>
              <a:srgbClr val="D5D9E0"/>
            </a:solidFill>
            <a:prstDash val="solid"/>
          </a:ln>
        </p:spPr>
      </p:sp>
      <p:sp>
        <p:nvSpPr>
          <p:cNvPr id="6" name="Text 3"/>
          <p:cNvSpPr txBox="1"/>
          <p:nvPr/>
        </p:nvSpPr>
        <p:spPr>
          <a:xfrm>
            <a:off x="9372600" y="1965960"/>
            <a:ext cx="1965960" cy="384048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Matching loss</a:t>
            </a:r>
            <a:endParaRPr lang="en-US" sz="1300" dirty="0"/>
          </a:p>
          <a:p>
            <a:pPr indent="0" marL="0">
              <a:spcAft>
                <a:spcPts val="1200"/>
              </a:spcAft>
              <a:buNone/>
            </a:pPr>
            <a:r>
              <a:rPr lang="en-US" sz="1300" dirty="0">
                <a:solidFill>
                  <a:srgbClr val="3F4A5A"/>
                </a:solidFill>
                <a:latin typeface="Calibri" pitchFamily="34" charset="0"/>
                <a:ea typeface="Calibri" pitchFamily="34" charset="-122"/>
                <a:cs typeface="Calibri" pitchFamily="34" charset="-120"/>
              </a:rPr>
              <a:t>Stays at 0.70–0.82 for all 40,000 steps. Chance is 4.85.</a:t>
            </a:r>
            <a:endParaRPr lang="en-US" sz="1300" dirty="0"/>
          </a:p>
          <a:p>
            <a:pPr indent="0" marL="0">
              <a:buNone/>
            </a:pPr>
            <a:r>
              <a:rPr lang="en-US" sz="1300" b="1" dirty="0">
                <a:solidFill>
                  <a:srgbClr val="14213D"/>
                </a:solidFill>
                <a:latin typeface="Calibri" pitchFamily="34" charset="0"/>
                <a:ea typeface="Calibri" pitchFamily="34" charset="-122"/>
                <a:cs typeface="Calibri" pitchFamily="34" charset="-120"/>
              </a:rPr>
              <a:t>Fill-in-the-blanks loss</a:t>
            </a:r>
            <a:endParaRPr lang="en-US" sz="1300" dirty="0"/>
          </a:p>
          <a:p>
            <a:pPr indent="0" marL="0">
              <a:spcAft>
                <a:spcPts val="1200"/>
              </a:spcAft>
              <a:buNone/>
            </a:pPr>
            <a:r>
              <a:rPr lang="en-US" sz="1300" dirty="0">
                <a:solidFill>
                  <a:srgbClr val="3F4A5A"/>
                </a:solidFill>
                <a:latin typeface="Calibri" pitchFamily="34" charset="0"/>
                <a:ea typeface="Calibri" pitchFamily="34" charset="-122"/>
                <a:cs typeface="Calibri" pitchFamily="34" charset="-120"/>
              </a:rPr>
              <a:t>3.60 → 0.16 in phase 1; 2.28 → about 0.58 in phase 2.</a:t>
            </a:r>
            <a:endParaRPr lang="en-US" sz="1300" dirty="0"/>
          </a:p>
          <a:p>
            <a:pPr indent="0" marL="0">
              <a:buNone/>
            </a:pPr>
            <a:r>
              <a:rPr lang="en-US" sz="1300" b="1" dirty="0">
                <a:solidFill>
                  <a:srgbClr val="14213D"/>
                </a:solidFill>
                <a:latin typeface="Calibri" pitchFamily="34" charset="0"/>
                <a:ea typeface="Calibri" pitchFamily="34" charset="-122"/>
                <a:cs typeface="Calibri" pitchFamily="34" charset="-120"/>
              </a:rPr>
              <a:t>Embedding spread</a:t>
            </a:r>
            <a:endParaRPr lang="en-US" sz="1300" dirty="0"/>
          </a:p>
          <a:p>
            <a:pPr indent="0" marL="0">
              <a:buNone/>
            </a:pPr>
            <a:r>
              <a:rPr lang="en-US" sz="1300" dirty="0">
                <a:solidFill>
                  <a:srgbClr val="3F4A5A"/>
                </a:solidFill>
                <a:latin typeface="Calibri" pitchFamily="34" charset="0"/>
                <a:ea typeface="Calibri" pitchFamily="34" charset="-122"/>
                <a:cs typeface="Calibri" pitchFamily="34" charset="-120"/>
              </a:rPr>
              <a:t>z_std 0.088, far from collapse.</a:t>
            </a:r>
            <a:endParaRPr lang="en-US" sz="1300" dirty="0"/>
          </a:p>
        </p:txBody>
      </p:sp>
      <p:sp>
        <p:nvSpPr>
          <p:cNvPr id="7" name="Text 4"/>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10 · Losses logged every 1,000 steps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RESULTS · GAIN FROM PRETRAINING</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Pretraining helps in every setting</a:t>
            </a:r>
            <a:endParaRPr lang="en-US" sz="3600" dirty="0"/>
          </a:p>
        </p:txBody>
      </p:sp>
      <p:graphicFrame>
        <p:nvGraphicFramePr>
          <p:cNvPr id="4" name="Chart 0" descr=""/>
          <p:cNvGraphicFramePr/>
          <p:nvPr/>
        </p:nvGraphicFramePr>
        <p:xfrm>
          <a:off x="640080" y="1600200"/>
          <a:ext cx="78638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869680" y="1737360"/>
            <a:ext cx="2679192" cy="3017520"/>
          </a:xfrm>
          <a:prstGeom prst="roundRect">
            <a:avLst>
              <a:gd name="adj" fmla="val 3413"/>
            </a:avLst>
          </a:prstGeom>
          <a:solidFill>
            <a:srgbClr val="F3F5F8"/>
          </a:solidFill>
          <a:ln w="9525">
            <a:solidFill>
              <a:srgbClr val="D5D9E0"/>
            </a:solidFill>
            <a:prstDash val="solid"/>
          </a:ln>
        </p:spPr>
      </p:sp>
      <p:sp>
        <p:nvSpPr>
          <p:cNvPr id="6" name="Text 3"/>
          <p:cNvSpPr txBox="1"/>
          <p:nvPr/>
        </p:nvSpPr>
        <p:spPr>
          <a:xfrm>
            <a:off x="9098280" y="1920240"/>
            <a:ext cx="2240280" cy="64008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Homes where pretraining wins</a:t>
            </a:r>
            <a:endParaRPr lang="en-US" sz="1600" dirty="0"/>
          </a:p>
        </p:txBody>
      </p:sp>
      <p:sp>
        <p:nvSpPr>
          <p:cNvPr id="7" name="Text 4"/>
          <p:cNvSpPr txBox="1"/>
          <p:nvPr/>
        </p:nvSpPr>
        <p:spPr>
          <a:xfrm>
            <a:off x="9098280" y="2606040"/>
            <a:ext cx="2240280" cy="2011680"/>
          </a:xfrm>
          <a:prstGeom prst="rect">
            <a:avLst/>
          </a:prstGeom>
          <a:noFill/>
          <a:ln/>
        </p:spPr>
        <p:txBody>
          <a:bodyPr wrap="square" lIns="0" tIns="0" rIns="0" bIns="0" rtlCol="0" anchor="t"/>
          <a:lstStyle/>
          <a:p>
            <a:pPr indent="0" marL="0">
              <a:spcAft>
                <a:spcPts val="800"/>
              </a:spcAft>
              <a:buNone/>
            </a:pPr>
            <a:r>
              <a:rPr lang="en-US" sz="1500" dirty="0">
                <a:solidFill>
                  <a:srgbClr val="3F4A5A"/>
                </a:solidFill>
                <a:latin typeface="Calibri" pitchFamily="34" charset="0"/>
                <a:ea typeface="Calibri" pitchFamily="34" charset="-122"/>
                <a:cs typeface="Calibri" pitchFamily="34" charset="-120"/>
              </a:rPr>
              <a:t>ADL 5 %: </a:t>
            </a:r>
            <a:pPr indent="0" marL="0">
              <a:spcAft>
                <a:spcPts val="800"/>
              </a:spcAft>
              <a:buNone/>
            </a:pPr>
            <a:r>
              <a:rPr lang="en-US" sz="1500" b="1" dirty="0">
                <a:solidFill>
                  <a:srgbClr val="14213D"/>
                </a:solidFill>
                <a:latin typeface="Calibri" pitchFamily="34" charset="0"/>
                <a:ea typeface="Calibri" pitchFamily="34" charset="-122"/>
                <a:cs typeface="Calibri" pitchFamily="34" charset="-120"/>
              </a:rPr>
              <a:t>7 of 7</a:t>
            </a:r>
            <a:endParaRPr lang="en-US" sz="1500" dirty="0"/>
          </a:p>
          <a:p>
            <a:pPr indent="0" marL="0">
              <a:spcAft>
                <a:spcPts val="800"/>
              </a:spcAft>
              <a:buNone/>
            </a:pPr>
            <a:r>
              <a:rPr lang="en-US" sz="1500" dirty="0">
                <a:solidFill>
                  <a:srgbClr val="3F4A5A"/>
                </a:solidFill>
                <a:latin typeface="Calibri" pitchFamily="34" charset="0"/>
                <a:ea typeface="Calibri" pitchFamily="34" charset="-122"/>
                <a:cs typeface="Calibri" pitchFamily="34" charset="-120"/>
              </a:rPr>
              <a:t>ADL 30 %: </a:t>
            </a:r>
            <a:pPr indent="0" marL="0">
              <a:spcAft>
                <a:spcPts val="800"/>
              </a:spcAft>
              <a:buNone/>
            </a:pPr>
            <a:r>
              <a:rPr lang="en-US" sz="1500" b="1" dirty="0">
                <a:solidFill>
                  <a:srgbClr val="14213D"/>
                </a:solidFill>
                <a:latin typeface="Calibri" pitchFamily="34" charset="0"/>
                <a:ea typeface="Calibri" pitchFamily="34" charset="-122"/>
                <a:cs typeface="Calibri" pitchFamily="34" charset="-120"/>
              </a:rPr>
              <a:t>6 of 7</a:t>
            </a:r>
            <a:endParaRPr lang="en-US" sz="1500" dirty="0"/>
          </a:p>
          <a:p>
            <a:pPr indent="0" marL="0">
              <a:spcAft>
                <a:spcPts val="800"/>
              </a:spcAft>
              <a:buNone/>
            </a:pPr>
            <a:r>
              <a:rPr lang="en-US" sz="1500" dirty="0">
                <a:solidFill>
                  <a:srgbClr val="3F4A5A"/>
                </a:solidFill>
                <a:latin typeface="Calibri" pitchFamily="34" charset="0"/>
                <a:ea typeface="Calibri" pitchFamily="34" charset="-122"/>
                <a:cs typeface="Calibri" pitchFamily="34" charset="-120"/>
              </a:rPr>
              <a:t>Next-30 5 %: </a:t>
            </a:r>
            <a:pPr indent="0" marL="0">
              <a:spcAft>
                <a:spcPts val="800"/>
              </a:spcAft>
              <a:buNone/>
            </a:pPr>
            <a:r>
              <a:rPr lang="en-US" sz="1500" b="1" dirty="0">
                <a:solidFill>
                  <a:srgbClr val="14213D"/>
                </a:solidFill>
                <a:latin typeface="Calibri" pitchFamily="34" charset="0"/>
                <a:ea typeface="Calibri" pitchFamily="34" charset="-122"/>
                <a:cs typeface="Calibri" pitchFamily="34" charset="-120"/>
              </a:rPr>
              <a:t>7 of 7</a:t>
            </a:r>
            <a:endParaRPr lang="en-US" sz="1500" dirty="0"/>
          </a:p>
          <a:p>
            <a:pPr indent="0" marL="0">
              <a:spcAft>
                <a:spcPts val="800"/>
              </a:spcAft>
              <a:buNone/>
            </a:pPr>
            <a:r>
              <a:rPr lang="en-US" sz="1500" dirty="0">
                <a:solidFill>
                  <a:srgbClr val="3F4A5A"/>
                </a:solidFill>
                <a:latin typeface="Calibri" pitchFamily="34" charset="0"/>
                <a:ea typeface="Calibri" pitchFamily="34" charset="-122"/>
                <a:cs typeface="Calibri" pitchFamily="34" charset="-120"/>
              </a:rPr>
              <a:t>Next-30 30 %: </a:t>
            </a:r>
            <a:pPr indent="0" marL="0">
              <a:spcAft>
                <a:spcPts val="800"/>
              </a:spcAft>
              <a:buNone/>
            </a:pPr>
            <a:r>
              <a:rPr lang="en-US" sz="1500" b="1" dirty="0">
                <a:solidFill>
                  <a:srgbClr val="14213D"/>
                </a:solidFill>
                <a:latin typeface="Calibri" pitchFamily="34" charset="0"/>
                <a:ea typeface="Calibri" pitchFamily="34" charset="-122"/>
                <a:cs typeface="Calibri" pitchFamily="34" charset="-120"/>
              </a:rPr>
              <a:t>6 of 7</a:t>
            </a:r>
            <a:endParaRPr lang="en-US" sz="1500" dirty="0"/>
          </a:p>
        </p:txBody>
      </p:sp>
      <p:sp>
        <p:nvSpPr>
          <p:cNvPr id="8" name="Text 5"/>
          <p:cNvSpPr txBox="1"/>
          <p:nvPr/>
        </p:nvSpPr>
        <p:spPr>
          <a:xfrm>
            <a:off x="8869680" y="4937760"/>
            <a:ext cx="2679192" cy="822960"/>
          </a:xfrm>
          <a:prstGeom prst="rect">
            <a:avLst/>
          </a:prstGeom>
          <a:noFill/>
          <a:ln/>
        </p:spPr>
        <p:txBody>
          <a:bodyPr wrap="square" lIns="0" tIns="0" rIns="0" bIns="0" rtlCol="0" anchor="t"/>
          <a:lstStyle/>
          <a:p>
            <a:pPr indent="0" marL="0">
              <a:buNone/>
            </a:pPr>
            <a:r>
              <a:rPr lang="en-US" sz="1300" dirty="0">
                <a:solidFill>
                  <a:srgbClr val="3F4A5A"/>
                </a:solidFill>
                <a:latin typeface="Calibri" pitchFamily="34" charset="0"/>
                <a:ea typeface="Calibri" pitchFamily="34" charset="-122"/>
                <a:cs typeface="Calibri" pitchFamily="34" charset="-120"/>
              </a:rPr>
              <a:t>Total: 26 of 28 settings. The two losses are about 0.01, within noise.</a:t>
            </a:r>
            <a:endParaRPr lang="en-US" sz="1300" dirty="0"/>
          </a:p>
        </p:txBody>
      </p:sp>
      <p:sp>
        <p:nvSpPr>
          <p:cNvPr id="9" name="Text 6"/>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11 · Gain = pretrained F1 − from-scratch F1, mean over 7 held-out homes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RESULTS · ABSOLUTE SCORES</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Scores across the 7 test homes</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3593592"/>
                <a:gridCol w="2441448"/>
                <a:gridCol w="2441448"/>
                <a:gridCol w="2432304"/>
              </a:tblGrid>
              <a:tr h="438912">
                <a:tc>
                  <a:txBody>
                    <a:bodyPr/>
                    <a:lstStyle/>
                    <a:p>
                      <a:pPr algn="l" indent="0" marL="0">
                        <a:buNone/>
                      </a:pPr>
                      <a:r>
                        <a:rPr lang="en-US" sz="1600" b="1" dirty="0">
                          <a:solidFill>
                            <a:srgbClr val="14213D"/>
                          </a:solidFill>
                          <a:latin typeface="Calibri" pitchFamily="34" charset="0"/>
                          <a:ea typeface="Calibri" pitchFamily="34" charset="-122"/>
                          <a:cs typeface="Calibri" pitchFamily="34" charset="-120"/>
                        </a:rPr>
                        <a:t>Mean F1, 7 homes</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600" b="1" dirty="0">
                          <a:solidFill>
                            <a:srgbClr val="14213D"/>
                          </a:solidFill>
                          <a:latin typeface="Calibri" pitchFamily="34" charset="0"/>
                          <a:ea typeface="Calibri" pitchFamily="34" charset="-122"/>
                          <a:cs typeface="Calibri" pitchFamily="34" charset="-120"/>
                        </a:rPr>
                        <a:t>Pretrained</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600" b="1" dirty="0">
                          <a:solidFill>
                            <a:srgbClr val="14213D"/>
                          </a:solidFill>
                          <a:latin typeface="Calibri" pitchFamily="34" charset="0"/>
                          <a:ea typeface="Calibri" pitchFamily="34" charset="-122"/>
                          <a:cs typeface="Calibri" pitchFamily="34" charset="-120"/>
                        </a:rPr>
                        <a:t>From scratch</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600" b="1" dirty="0">
                          <a:solidFill>
                            <a:srgbClr val="14213D"/>
                          </a:solidFill>
                          <a:latin typeface="Calibri" pitchFamily="34" charset="0"/>
                          <a:ea typeface="Calibri" pitchFamily="34" charset="-122"/>
                          <a:cs typeface="Calibri" pitchFamily="34" charset="-120"/>
                        </a:rPr>
                        <a:t>Gain</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438912">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ADL · 5 %</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0.517</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0.441</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b="1" dirty="0">
                          <a:solidFill>
                            <a:srgbClr val="1F5A96"/>
                          </a:solidFill>
                          <a:latin typeface="Calibri" pitchFamily="34" charset="0"/>
                          <a:ea typeface="Calibri" pitchFamily="34" charset="-122"/>
                          <a:cs typeface="Calibri" pitchFamily="34" charset="-120"/>
                        </a:rPr>
                        <a:t>+0.076</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438912">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ADL · 30 %</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0.529</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0.470</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b="1" dirty="0">
                          <a:solidFill>
                            <a:srgbClr val="1F5A96"/>
                          </a:solidFill>
                          <a:latin typeface="Calibri" pitchFamily="34" charset="0"/>
                          <a:ea typeface="Calibri" pitchFamily="34" charset="-122"/>
                          <a:cs typeface="Calibri" pitchFamily="34" charset="-120"/>
                        </a:rPr>
                        <a:t>+0.059</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438912">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Next-30 · 5 %</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0.649</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0.597</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b="1" dirty="0">
                          <a:solidFill>
                            <a:srgbClr val="1F5A96"/>
                          </a:solidFill>
                          <a:latin typeface="Calibri" pitchFamily="34" charset="0"/>
                          <a:ea typeface="Calibri" pitchFamily="34" charset="-122"/>
                          <a:cs typeface="Calibri" pitchFamily="34" charset="-120"/>
                        </a:rPr>
                        <a:t>+0.053</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438912">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Next-30 · 30 %</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0.613</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0.583</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b="1" dirty="0">
                          <a:solidFill>
                            <a:srgbClr val="1F5A96"/>
                          </a:solidFill>
                          <a:latin typeface="Calibri" pitchFamily="34" charset="0"/>
                          <a:ea typeface="Calibri" pitchFamily="34" charset="-122"/>
                          <a:cs typeface="Calibri" pitchFamily="34" charset="-120"/>
                        </a:rPr>
                        <a:t>+0.030</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bl>
          </a:graphicData>
        </a:graphic>
      </p:graphicFrame>
      <p:sp>
        <p:nvSpPr>
          <p:cNvPr id="5" name="Shape 2"/>
          <p:cNvSpPr/>
          <p:nvPr/>
        </p:nvSpPr>
        <p:spPr>
          <a:xfrm>
            <a:off x="640080" y="4206240"/>
            <a:ext cx="5318608" cy="1600200"/>
          </a:xfrm>
          <a:prstGeom prst="roundRect">
            <a:avLst>
              <a:gd name="adj" fmla="val 5714"/>
            </a:avLst>
          </a:prstGeom>
          <a:solidFill>
            <a:srgbClr val="E3ECF7"/>
          </a:solidFill>
          <a:ln w="12700">
            <a:solidFill>
              <a:srgbClr val="E3ECF7"/>
            </a:solidFill>
            <a:prstDash val="solid"/>
          </a:ln>
        </p:spPr>
      </p:sp>
      <p:sp>
        <p:nvSpPr>
          <p:cNvPr id="6" name="Text 3"/>
          <p:cNvSpPr txBox="1"/>
          <p:nvPr/>
        </p:nvSpPr>
        <p:spPr>
          <a:xfrm>
            <a:off x="914400" y="4389120"/>
            <a:ext cx="4769968" cy="36576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The gain shrinks as labels grow</a:t>
            </a:r>
            <a:endParaRPr lang="en-US" sz="1700" dirty="0"/>
          </a:p>
        </p:txBody>
      </p:sp>
      <p:sp>
        <p:nvSpPr>
          <p:cNvPr id="7" name="Text 4"/>
          <p:cNvSpPr txBox="1"/>
          <p:nvPr/>
        </p:nvSpPr>
        <p:spPr>
          <a:xfrm>
            <a:off x="914400" y="4800600"/>
            <a:ext cx="4769968" cy="914400"/>
          </a:xfrm>
          <a:prstGeom prst="rect">
            <a:avLst/>
          </a:prstGeom>
          <a:noFill/>
          <a:ln/>
        </p:spPr>
        <p:txBody>
          <a:bodyPr wrap="square" lIns="0" tIns="0" rIns="0" bIns="0" rtlCol="0" anchor="t"/>
          <a:lstStyle/>
          <a:p>
            <a:pPr indent="0" marL="0">
              <a:buNone/>
            </a:pPr>
            <a:r>
              <a:rPr lang="en-US" sz="1400" dirty="0">
                <a:solidFill>
                  <a:srgbClr val="3F4A5A"/>
                </a:solidFill>
                <a:latin typeface="Calibri" pitchFamily="34" charset="0"/>
                <a:ea typeface="Calibri" pitchFamily="34" charset="-122"/>
                <a:cs typeface="Calibri" pitchFamily="34" charset="-120"/>
              </a:rPr>
              <a:t>ADL +0.076 → +0.059, Next-30 +0.053 → +0.030. Pretraining matters most when labels are scarce.</a:t>
            </a:r>
            <a:endParaRPr lang="en-US" sz="1400" dirty="0"/>
          </a:p>
        </p:txBody>
      </p:sp>
      <p:sp>
        <p:nvSpPr>
          <p:cNvPr id="8" name="Shape 5"/>
          <p:cNvSpPr/>
          <p:nvPr/>
        </p:nvSpPr>
        <p:spPr>
          <a:xfrm>
            <a:off x="6233008" y="4206240"/>
            <a:ext cx="5318608" cy="1600200"/>
          </a:xfrm>
          <a:prstGeom prst="roundRect">
            <a:avLst>
              <a:gd name="adj" fmla="val 5714"/>
            </a:avLst>
          </a:prstGeom>
          <a:solidFill>
            <a:srgbClr val="F3F5F8"/>
          </a:solidFill>
          <a:ln w="9525">
            <a:solidFill>
              <a:srgbClr val="D5D9E0"/>
            </a:solidFill>
            <a:prstDash val="solid"/>
          </a:ln>
        </p:spPr>
      </p:sp>
      <p:sp>
        <p:nvSpPr>
          <p:cNvPr id="9" name="Text 6"/>
          <p:cNvSpPr txBox="1"/>
          <p:nvPr/>
        </p:nvSpPr>
        <p:spPr>
          <a:xfrm>
            <a:off x="6507328" y="4389120"/>
            <a:ext cx="4769968" cy="36576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Without UCI Home B</a:t>
            </a:r>
            <a:endParaRPr lang="en-US" sz="1700" dirty="0"/>
          </a:p>
        </p:txBody>
      </p:sp>
      <p:sp>
        <p:nvSpPr>
          <p:cNvPr id="10" name="Text 7"/>
          <p:cNvSpPr txBox="1"/>
          <p:nvPr/>
        </p:nvSpPr>
        <p:spPr>
          <a:xfrm>
            <a:off x="6507328" y="4800600"/>
            <a:ext cx="4769968" cy="914400"/>
          </a:xfrm>
          <a:prstGeom prst="rect">
            <a:avLst/>
          </a:prstGeom>
          <a:noFill/>
          <a:ln/>
        </p:spPr>
        <p:txBody>
          <a:bodyPr wrap="square" lIns="0" tIns="0" rIns="0" bIns="0" rtlCol="0" anchor="t"/>
          <a:lstStyle/>
          <a:p>
            <a:pPr indent="0" marL="0">
              <a:buNone/>
            </a:pPr>
            <a:r>
              <a:rPr lang="en-US" sz="1400" dirty="0">
                <a:solidFill>
                  <a:srgbClr val="3F4A5A"/>
                </a:solidFill>
                <a:latin typeface="Calibri" pitchFamily="34" charset="0"/>
                <a:ea typeface="Calibri" pitchFamily="34" charset="-122"/>
                <a:cs typeface="Calibri" pitchFamily="34" charset="-120"/>
              </a:rPr>
              <a:t>ADL gain +0.055 / +0.022, Next-30 gain +0.061 / +0.037 (5 % / 30 % labels).</a:t>
            </a:r>
            <a:endParaRPr lang="en-US" sz="1400" dirty="0"/>
          </a:p>
        </p:txBody>
      </p:sp>
      <p:sp>
        <p:nvSpPr>
          <p:cNvPr id="11" name="Text 8"/>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12 · From scratch = same model trained from random weights, same fine-tuning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RESULTS PER HOME</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Activity recognition (ADL)</a:t>
            </a:r>
            <a:endParaRPr lang="en-US" sz="3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1399032"/>
                <a:gridCol w="1783080"/>
                <a:gridCol w="1783080"/>
                <a:gridCol w="1188720"/>
                <a:gridCol w="1783080"/>
                <a:gridCol w="1783080"/>
                <a:gridCol w="1188720"/>
              </a:tblGrid>
              <a:tr h="429768">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Home</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5 % pretrained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5 % scratch</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Gain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30 % pretrained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30 % scratch</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Gain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uci_b</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0.452 ± 0.021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0.252 ± 0.041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+0.200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0.568 ± 0.030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0.285 ± 0.036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+0.283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hh101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0.581 ± 0.020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0.550 ± 0.023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+0.031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0.555 ± 0.025</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0.567 ± 0.001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4520F"/>
                          </a:solidFill>
                          <a:latin typeface="Calibri" pitchFamily="34" charset="0"/>
                          <a:ea typeface="Calibri" pitchFamily="34" charset="-122"/>
                          <a:cs typeface="Calibri" pitchFamily="34" charset="-120"/>
                        </a:rPr>
                        <a:t>−0.012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hh103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0.744 ± 0.023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0.683 ± 0.006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+0.061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0.758 ± 0.020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0.729 ± 0.013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+0.029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hh105</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0.453 ± 0.027</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0.397 ± 0.021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+0.056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0.443 ± 0.032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0.433 ± 0.028</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+0.010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hh110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0.433 ± 0.006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0.341 ± 0.027</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+0.092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0.427 ± 0.009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0.369 ± 0.027</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+0.058</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hh119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0.472 ± 0.047</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0.411 ± 0.048</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+0.061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0.463 ± 0.065</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0.441 ± 0.037</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+0.022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hh122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0.484 ± 0.009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0.453 ± 0.024</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+0.031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0.491 ± 0.020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0.465 ± 0.013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+0.026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Mean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0.517</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0.441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+0.076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0.529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0.470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+0.059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bl>
          </a:graphicData>
        </a:graphic>
      </p:graphicFrame>
      <p:sp>
        <p:nvSpPr>
          <p:cNvPr id="5" name="Text 2"/>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13 · Weighted F1, mean ± std over 3 contiguous folds · Red = pretraining lost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RESULTS PER HOME</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Next-30 event prediction</a:t>
            </a:r>
            <a:endParaRPr lang="en-US" sz="3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1399032"/>
                <a:gridCol w="1783080"/>
                <a:gridCol w="1783080"/>
                <a:gridCol w="1188720"/>
                <a:gridCol w="1783080"/>
                <a:gridCol w="1783080"/>
                <a:gridCol w="1188720"/>
              </a:tblGrid>
              <a:tr h="429768">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Home</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5 % pretrained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5 % scratch</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Gain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30 % pretrained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30 % scratch</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Gain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uci_b</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0.705 ± 0.022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0.703 ± 0.008</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+0.002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0.695 ± 0.002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0.708 ± 0.012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4520F"/>
                          </a:solidFill>
                          <a:latin typeface="Calibri" pitchFamily="34" charset="0"/>
                          <a:ea typeface="Calibri" pitchFamily="34" charset="-122"/>
                          <a:cs typeface="Calibri" pitchFamily="34" charset="-120"/>
                        </a:rPr>
                        <a:t>−0.013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hh101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0.714 ± 0.015</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0.635 ± 0.014</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+0.079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0.649 ± 0.016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0.616 ± 0.021</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+0.033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hh103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0.670 ± 0.005</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0.610 ± 0.009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+0.060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0.680 ± 0.007</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0.621 ± 0.003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+0.059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hh105</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0.581 ± 0.005</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0.534 ± 0.003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+0.047</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0.530 ± 0.003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0.498 ± 0.004</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+0.032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hh110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0.650 ± 0.015</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0.576 ± 0.010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+0.074</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0.607 ± 0.019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0.554 ± 0.016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+0.053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hh119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0.573 ± 0.026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0.509 ± 0.022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+0.064</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0.527 ± 0.016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0.499 ± 0.022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+0.028</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hh122</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0.653 ± 0.003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0.608 ± 0.007</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+0.045</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0.600 ± 0.008</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4213D"/>
                          </a:solidFill>
                          <a:latin typeface="Calibri" pitchFamily="34" charset="0"/>
                          <a:ea typeface="Calibri" pitchFamily="34" charset="-122"/>
                          <a:cs typeface="Calibri" pitchFamily="34" charset="-120"/>
                        </a:rPr>
                        <a:t>0.585 ± 0.006</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+0.015</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2976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Mean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0.649</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0.597</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+0.053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0.613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4213D"/>
                          </a:solidFill>
                          <a:latin typeface="Calibri" pitchFamily="34" charset="0"/>
                          <a:ea typeface="Calibri" pitchFamily="34" charset="-122"/>
                          <a:cs typeface="Calibri" pitchFamily="34" charset="-120"/>
                        </a:rPr>
                        <a:t>0.583</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400" b="1" dirty="0">
                          <a:solidFill>
                            <a:srgbClr val="1F5A96"/>
                          </a:solidFill>
                          <a:latin typeface="Calibri" pitchFamily="34" charset="0"/>
                          <a:ea typeface="Calibri" pitchFamily="34" charset="-122"/>
                          <a:cs typeface="Calibri" pitchFamily="34" charset="-120"/>
                        </a:rPr>
                        <a:t>+0.030</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bl>
          </a:graphicData>
        </a:graphic>
      </p:graphicFrame>
      <p:sp>
        <p:nvSpPr>
          <p:cNvPr id="5" name="Text 2"/>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14 · Multiset F1, mean ± std over 3 contiguous folds · Red = pretraining lost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PAPER VS THIS WORK · THE ONE SHARED HOME</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UCI Home B against the paper</a:t>
            </a:r>
            <a:endParaRPr lang="en-US" sz="3600" dirty="0"/>
          </a:p>
        </p:txBody>
      </p:sp>
      <p:sp>
        <p:nvSpPr>
          <p:cNvPr id="4" name="Text 2"/>
          <p:cNvSpPr txBox="1"/>
          <p:nvPr/>
        </p:nvSpPr>
        <p:spPr>
          <a:xfrm>
            <a:off x="640080" y="1645920"/>
            <a:ext cx="6400800" cy="274320"/>
          </a:xfrm>
          <a:prstGeom prst="rect">
            <a:avLst/>
          </a:prstGeom>
          <a:noFill/>
          <a:ln/>
        </p:spPr>
        <p:txBody>
          <a:bodyPr wrap="square" lIns="0" tIns="0" rIns="0" bIns="0" rtlCol="0" anchor="t"/>
          <a:lstStyle/>
          <a:p>
            <a:pPr indent="0" marL="0">
              <a:buNone/>
            </a:pPr>
            <a:r>
              <a:rPr lang="en-US" sz="1300" dirty="0">
                <a:solidFill>
                  <a:srgbClr val="5F6B7A"/>
                </a:solidFill>
                <a:latin typeface="Calibri" pitchFamily="34" charset="0"/>
                <a:ea typeface="Calibri" pitchFamily="34" charset="-122"/>
                <a:cs typeface="Calibri" pitchFamily="34" charset="-120"/>
              </a:rPr>
              <a:t>Each cell: pretrained / from scratch</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6400800" cy="914400"/>
        </p:xfrm>
        <a:graphic>
          <a:graphicData uri="http://schemas.openxmlformats.org/drawingml/2006/table">
            <a:tbl>
              <a:tblPr/>
              <a:tblGrid>
                <a:gridCol w="2377440"/>
                <a:gridCol w="2011680"/>
                <a:gridCol w="2011680"/>
              </a:tblGrid>
              <a:tr h="457200">
                <a:tc>
                  <a:txBody>
                    <a:bodyPr/>
                    <a:lstStyle/>
                    <a:p>
                      <a:pPr algn="l" indent="0" marL="0">
                        <a:buNone/>
                      </a:pPr>
                      <a:r>
                        <a:rPr lang="en-US" sz="1600" b="1" dirty="0">
                          <a:solidFill>
                            <a:srgbClr val="14213D"/>
                          </a:solidFill>
                          <a:latin typeface="Calibri" pitchFamily="34" charset="0"/>
                          <a:ea typeface="Calibri" pitchFamily="34" charset="-122"/>
                          <a:cs typeface="Calibri" pitchFamily="34" charset="-120"/>
                        </a:rPr>
                        <a:t>Setting</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600" b="1" dirty="0">
                          <a:solidFill>
                            <a:srgbClr val="14213D"/>
                          </a:solidFill>
                          <a:latin typeface="Calibri" pitchFamily="34" charset="0"/>
                          <a:ea typeface="Calibri" pitchFamily="34" charset="-122"/>
                          <a:cs typeface="Calibri" pitchFamily="34" charset="-120"/>
                        </a:rPr>
                        <a:t>Paper</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600" b="1" dirty="0">
                          <a:solidFill>
                            <a:srgbClr val="14213D"/>
                          </a:solidFill>
                          <a:latin typeface="Calibri" pitchFamily="34" charset="0"/>
                          <a:ea typeface="Calibri" pitchFamily="34" charset="-122"/>
                          <a:cs typeface="Calibri" pitchFamily="34" charset="-120"/>
                        </a:rPr>
                        <a:t>Ours</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45720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ADL · 5 %</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0.38 / 0.30</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0.45 / 0.25</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45720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ADL · 30 %</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0.60 / 0.36</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0.57 / 0.29</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45720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Next-30 · 5 %</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0.76 / 0.53</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0.71 / 0.70</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45720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Next-30 · 30 %</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0.90 / 0.65</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algn="r" indent="0" marL="0">
                        <a:buNone/>
                      </a:pPr>
                      <a:r>
                        <a:rPr lang="en-US" sz="1600" dirty="0">
                          <a:solidFill>
                            <a:srgbClr val="14213D"/>
                          </a:solidFill>
                          <a:latin typeface="Calibri" pitchFamily="34" charset="0"/>
                          <a:ea typeface="Calibri" pitchFamily="34" charset="-122"/>
                          <a:cs typeface="Calibri" pitchFamily="34" charset="-120"/>
                        </a:rPr>
                        <a:t>0.70 / 0.71</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bl>
          </a:graphicData>
        </a:graphic>
      </p:graphicFrame>
      <p:sp>
        <p:nvSpPr>
          <p:cNvPr id="6" name="Shape 3"/>
          <p:cNvSpPr/>
          <p:nvPr/>
        </p:nvSpPr>
        <p:spPr>
          <a:xfrm>
            <a:off x="7406640" y="2011680"/>
            <a:ext cx="384048" cy="384048"/>
          </a:xfrm>
          <a:prstGeom prst="ellipse">
            <a:avLst/>
          </a:prstGeom>
          <a:solidFill>
            <a:srgbClr val="2F6FB0"/>
          </a:solidFill>
          <a:ln w="12700">
            <a:solidFill>
              <a:srgbClr val="2F6FB0"/>
            </a:solidFill>
            <a:prstDash val="solid"/>
          </a:ln>
        </p:spPr>
      </p:sp>
      <p:sp>
        <p:nvSpPr>
          <p:cNvPr id="7" name="Text 4"/>
          <p:cNvSpPr txBox="1"/>
          <p:nvPr/>
        </p:nvSpPr>
        <p:spPr>
          <a:xfrm>
            <a:off x="7406640" y="20116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7955280" y="1993392"/>
            <a:ext cx="3593592" cy="109728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ADL follows the paper's pattern. </a:t>
            </a:r>
            <a:pPr indent="0" marL="0">
              <a:buNone/>
            </a:pPr>
            <a:r>
              <a:rPr lang="en-US" sz="1400" dirty="0">
                <a:solidFill>
                  <a:srgbClr val="3F4A5A"/>
                </a:solidFill>
                <a:latin typeface="Calibri" pitchFamily="34" charset="0"/>
                <a:ea typeface="Calibri" pitchFamily="34" charset="-122"/>
                <a:cs typeface="Calibri" pitchFamily="34" charset="-120"/>
              </a:rPr>
              <a:t>Gain +0.20 / +0.28, against the paper's +0.08 / +0.24.</a:t>
            </a:r>
            <a:endParaRPr lang="en-US" sz="1400" dirty="0"/>
          </a:p>
        </p:txBody>
      </p:sp>
      <p:sp>
        <p:nvSpPr>
          <p:cNvPr id="9" name="Shape 6"/>
          <p:cNvSpPr/>
          <p:nvPr/>
        </p:nvSpPr>
        <p:spPr>
          <a:xfrm>
            <a:off x="7406640" y="3291840"/>
            <a:ext cx="384048" cy="384048"/>
          </a:xfrm>
          <a:prstGeom prst="ellipse">
            <a:avLst/>
          </a:prstGeom>
          <a:solidFill>
            <a:srgbClr val="2F6FB0"/>
          </a:solidFill>
          <a:ln w="12700">
            <a:solidFill>
              <a:srgbClr val="2F6FB0"/>
            </a:solidFill>
            <a:prstDash val="solid"/>
          </a:ln>
        </p:spPr>
      </p:sp>
      <p:sp>
        <p:nvSpPr>
          <p:cNvPr id="10" name="Text 7"/>
          <p:cNvSpPr txBox="1"/>
          <p:nvPr/>
        </p:nvSpPr>
        <p:spPr>
          <a:xfrm>
            <a:off x="7406640" y="32918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8"/>
          <p:cNvSpPr txBox="1"/>
          <p:nvPr/>
        </p:nvSpPr>
        <p:spPr>
          <a:xfrm>
            <a:off x="7955280" y="3273552"/>
            <a:ext cx="3593592" cy="109728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The Next-30 gain does not reproduce. </a:t>
            </a:r>
            <a:pPr indent="0" marL="0">
              <a:buNone/>
            </a:pPr>
            <a:r>
              <a:rPr lang="en-US" sz="1400" dirty="0">
                <a:solidFill>
                  <a:srgbClr val="3F4A5A"/>
                </a:solidFill>
                <a:latin typeface="Calibri" pitchFamily="34" charset="0"/>
                <a:ea typeface="Calibri" pitchFamily="34" charset="-122"/>
                <a:cs typeface="Calibri" pitchFamily="34" charset="-120"/>
              </a:rPr>
              <a:t>The paper gains about +0.24; our from-scratch model already scores 0.70.</a:t>
            </a:r>
            <a:endParaRPr lang="en-US" sz="1400" dirty="0"/>
          </a:p>
        </p:txBody>
      </p:sp>
      <p:sp>
        <p:nvSpPr>
          <p:cNvPr id="12" name="Shape 9"/>
          <p:cNvSpPr/>
          <p:nvPr/>
        </p:nvSpPr>
        <p:spPr>
          <a:xfrm>
            <a:off x="7406640" y="4572000"/>
            <a:ext cx="384048" cy="384048"/>
          </a:xfrm>
          <a:prstGeom prst="ellipse">
            <a:avLst/>
          </a:prstGeom>
          <a:solidFill>
            <a:srgbClr val="2F6FB0"/>
          </a:solidFill>
          <a:ln w="12700">
            <a:solidFill>
              <a:srgbClr val="2F6FB0"/>
            </a:solidFill>
            <a:prstDash val="solid"/>
          </a:ln>
        </p:spPr>
      </p:sp>
      <p:sp>
        <p:nvSpPr>
          <p:cNvPr id="13" name="Text 10"/>
          <p:cNvSpPr txBox="1"/>
          <p:nvPr/>
        </p:nvSpPr>
        <p:spPr>
          <a:xfrm>
            <a:off x="7406640" y="4572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1"/>
          <p:cNvSpPr txBox="1"/>
          <p:nvPr/>
        </p:nvSpPr>
        <p:spPr>
          <a:xfrm>
            <a:off x="7955280" y="4553712"/>
            <a:ext cx="3593592" cy="109728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Folds differ. </a:t>
            </a:r>
            <a:pPr indent="0" marL="0">
              <a:buNone/>
            </a:pPr>
            <a:r>
              <a:rPr lang="en-US" sz="1400" dirty="0">
                <a:solidFill>
                  <a:srgbClr val="3F4A5A"/>
                </a:solidFill>
                <a:latin typeface="Calibri" pitchFamily="34" charset="0"/>
                <a:ea typeface="Calibri" pitchFamily="34" charset="-122"/>
                <a:cs typeface="Calibri" pitchFamily="34" charset="-120"/>
              </a:rPr>
              <a:t>Random folds leak near-copies of test windows; on our from-scratch ADL they add about 0.12.</a:t>
            </a:r>
            <a:endParaRPr lang="en-US" sz="1400" dirty="0"/>
          </a:p>
        </p:txBody>
      </p:sp>
      <p:sp>
        <p:nvSpPr>
          <p:cNvPr id="15" name="Text 12"/>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15 · Paper: 5-fold CV · Ours: 3 contiguous folds · Two decimals for comparison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A4520F"/>
                </a:solidFill>
                <a:latin typeface="Calibri" pitchFamily="34" charset="0"/>
                <a:ea typeface="Calibri" pitchFamily="34" charset="-122"/>
                <a:cs typeface="Calibri" pitchFamily="34" charset="-120"/>
              </a:rPr>
              <a:t>LIMITATIONS</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What these results do not show</a:t>
            </a:r>
            <a:endParaRPr lang="en-US" sz="3600" dirty="0"/>
          </a:p>
        </p:txBody>
      </p:sp>
      <p:sp>
        <p:nvSpPr>
          <p:cNvPr id="4" name="Shape 2"/>
          <p:cNvSpPr/>
          <p:nvPr/>
        </p:nvSpPr>
        <p:spPr>
          <a:xfrm>
            <a:off x="640080" y="1691640"/>
            <a:ext cx="5318608" cy="4343400"/>
          </a:xfrm>
          <a:prstGeom prst="roundRect">
            <a:avLst>
              <a:gd name="adj" fmla="val 2105"/>
            </a:avLst>
          </a:prstGeom>
          <a:solidFill>
            <a:srgbClr val="FFFFFF"/>
          </a:solidFill>
          <a:ln w="9525">
            <a:solidFill>
              <a:srgbClr val="D5D9E0"/>
            </a:solidFill>
            <a:prstDash val="solid"/>
          </a:ln>
        </p:spPr>
      </p:sp>
      <p:sp>
        <p:nvSpPr>
          <p:cNvPr id="5" name="Text 3"/>
          <p:cNvSpPr txBox="1"/>
          <p:nvPr/>
        </p:nvSpPr>
        <p:spPr>
          <a:xfrm>
            <a:off x="914400" y="1874520"/>
            <a:ext cx="4769968" cy="36576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Setup</a:t>
            </a:r>
            <a:endParaRPr lang="en-US" sz="1800" dirty="0"/>
          </a:p>
        </p:txBody>
      </p:sp>
      <p:sp>
        <p:nvSpPr>
          <p:cNvPr id="6" name="Text 4"/>
          <p:cNvSpPr txBox="1"/>
          <p:nvPr/>
        </p:nvSpPr>
        <p:spPr>
          <a:xfrm>
            <a:off x="914400" y="2331720"/>
            <a:ext cx="4769968"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F4A5A"/>
                </a:solidFill>
                <a:latin typeface="Calibri" pitchFamily="34" charset="0"/>
                <a:ea typeface="Calibri" pitchFamily="34" charset="-122"/>
                <a:cs typeface="Calibri" pitchFamily="34" charset="-120"/>
              </a:rPr>
              <a:t>Not directly comparable to the paper: 6 of 7 test homes differ, and the 2025 CASAS release merges sensors per room.</a:t>
            </a:r>
            <a:endParaRPr lang="en-US" sz="1400" dirty="0"/>
          </a:p>
          <a:p>
            <a:pPr marL="342900" indent="-342900">
              <a:spcAft>
                <a:spcPts val="800"/>
              </a:spcAft>
              <a:buSzPct val="100000"/>
              <a:buChar char="•"/>
            </a:pPr>
            <a:r>
              <a:rPr lang="en-US" sz="1400" dirty="0">
                <a:solidFill>
                  <a:srgbClr val="3F4A5A"/>
                </a:solidFill>
                <a:latin typeface="Calibri" pitchFamily="34" charset="0"/>
                <a:ea typeface="Calibri" pitchFamily="34" charset="-122"/>
                <a:cs typeface="Calibri" pitchFamily="34" charset="-120"/>
              </a:rPr>
              <a:t>Independent code: 28.6M vs 36.1M parameters, and many settings are our guesses.</a:t>
            </a:r>
            <a:endParaRPr lang="en-US" sz="1400" dirty="0"/>
          </a:p>
          <a:p>
            <a:pPr marL="342900" indent="-342900">
              <a:spcAft>
                <a:spcPts val="800"/>
              </a:spcAft>
              <a:buSzPct val="100000"/>
              <a:buChar char="•"/>
            </a:pPr>
            <a:r>
              <a:rPr lang="en-US" sz="1400" dirty="0">
                <a:solidFill>
                  <a:srgbClr val="3F4A5A"/>
                </a:solidFill>
                <a:latin typeface="Calibri" pitchFamily="34" charset="0"/>
                <a:ea typeface="Calibri" pitchFamily="34" charset="-122"/>
                <a:cs typeface="Calibri" pitchFamily="34" charset="-120"/>
              </a:rPr>
              <a:t>Our pretraining game adds six changes, so this is a modified DomusFM, not an exact copy of the paper's recipe.</a:t>
            </a:r>
            <a:endParaRPr lang="en-US" sz="1400" dirty="0"/>
          </a:p>
          <a:p>
            <a:pPr marL="342900" indent="-342900">
              <a:spcAft>
                <a:spcPts val="800"/>
              </a:spcAft>
              <a:buSzPct val="100000"/>
              <a:buChar char="•"/>
            </a:pPr>
            <a:r>
              <a:rPr lang="en-US" sz="1400" dirty="0">
                <a:solidFill>
                  <a:srgbClr val="3F4A5A"/>
                </a:solidFill>
                <a:latin typeface="Calibri" pitchFamily="34" charset="0"/>
                <a:ea typeface="Calibri" pitchFamily="34" charset="-122"/>
                <a:cs typeface="Calibri" pitchFamily="34" charset="-120"/>
              </a:rPr>
              <a:t>Only ADL and Next-30, at 5 % and 30 % labels. No Next-10, clustering or other baselines.</a:t>
            </a:r>
            <a:endParaRPr lang="en-US" sz="1400" dirty="0"/>
          </a:p>
        </p:txBody>
      </p:sp>
      <p:sp>
        <p:nvSpPr>
          <p:cNvPr id="7" name="Shape 5"/>
          <p:cNvSpPr/>
          <p:nvPr/>
        </p:nvSpPr>
        <p:spPr>
          <a:xfrm>
            <a:off x="6233008" y="1691640"/>
            <a:ext cx="5318608" cy="4343400"/>
          </a:xfrm>
          <a:prstGeom prst="roundRect">
            <a:avLst>
              <a:gd name="adj" fmla="val 2105"/>
            </a:avLst>
          </a:prstGeom>
          <a:solidFill>
            <a:srgbClr val="FFFFFF"/>
          </a:solidFill>
          <a:ln w="9525">
            <a:solidFill>
              <a:srgbClr val="D5D9E0"/>
            </a:solidFill>
            <a:prstDash val="solid"/>
          </a:ln>
        </p:spPr>
      </p:sp>
      <p:sp>
        <p:nvSpPr>
          <p:cNvPr id="8" name="Text 6"/>
          <p:cNvSpPr txBox="1"/>
          <p:nvPr/>
        </p:nvSpPr>
        <p:spPr>
          <a:xfrm>
            <a:off x="6507328" y="1874520"/>
            <a:ext cx="4769968" cy="36576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Findings</a:t>
            </a:r>
            <a:endParaRPr lang="en-US" sz="1800" dirty="0"/>
          </a:p>
        </p:txBody>
      </p:sp>
      <p:sp>
        <p:nvSpPr>
          <p:cNvPr id="9" name="Text 7"/>
          <p:cNvSpPr txBox="1"/>
          <p:nvPr/>
        </p:nvSpPr>
        <p:spPr>
          <a:xfrm>
            <a:off x="6507328" y="2331720"/>
            <a:ext cx="4769968"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F4A5A"/>
                </a:solidFill>
                <a:latin typeface="Calibri" pitchFamily="34" charset="0"/>
                <a:ea typeface="Calibri" pitchFamily="34" charset="-122"/>
                <a:cs typeface="Calibri" pitchFamily="34" charset="-120"/>
              </a:rPr>
              <a:t>A single pretraining run and 3 folds per home. Differences under about 0.03 on one home are noise.</a:t>
            </a:r>
            <a:endParaRPr lang="en-US" sz="1400" dirty="0"/>
          </a:p>
          <a:p>
            <a:pPr marL="342900" indent="-342900">
              <a:spcAft>
                <a:spcPts val="800"/>
              </a:spcAft>
              <a:buSzPct val="100000"/>
              <a:buChar char="•"/>
            </a:pPr>
            <a:r>
              <a:rPr lang="en-US" sz="1400" dirty="0">
                <a:solidFill>
                  <a:srgbClr val="3F4A5A"/>
                </a:solidFill>
                <a:latin typeface="Calibri" pitchFamily="34" charset="0"/>
                <a:ea typeface="Calibri" pitchFamily="34" charset="-122"/>
                <a:cs typeface="Calibri" pitchFamily="34" charset="-120"/>
              </a:rPr>
              <a:t>UCI Home B drives much of the ADL gain. Without it: +0.055 and +0.022.</a:t>
            </a:r>
            <a:endParaRPr lang="en-US" sz="1400" dirty="0"/>
          </a:p>
          <a:p>
            <a:pPr marL="342900" indent="-342900">
              <a:spcAft>
                <a:spcPts val="800"/>
              </a:spcAft>
              <a:buSzPct val="100000"/>
              <a:buChar char="•"/>
            </a:pPr>
            <a:r>
              <a:rPr lang="en-US" sz="1400" dirty="0">
                <a:solidFill>
                  <a:srgbClr val="3F4A5A"/>
                </a:solidFill>
                <a:latin typeface="Calibri" pitchFamily="34" charset="0"/>
                <a:ea typeface="Calibri" pitchFamily="34" charset="-122"/>
                <a:cs typeface="Calibri" pitchFamily="34" charset="-120"/>
              </a:rPr>
              <a:t>The six changes were applied together; we don't yet know which ones matter.</a:t>
            </a:r>
            <a:endParaRPr lang="en-US" sz="1400" dirty="0"/>
          </a:p>
          <a:p>
            <a:pPr marL="342900" indent="-342900">
              <a:spcAft>
                <a:spcPts val="800"/>
              </a:spcAft>
              <a:buSzPct val="100000"/>
              <a:buChar char="•"/>
            </a:pPr>
            <a:r>
              <a:rPr lang="en-US" sz="1400" dirty="0">
                <a:solidFill>
                  <a:srgbClr val="3F4A5A"/>
                </a:solidFill>
                <a:latin typeface="Calibri" pitchFamily="34" charset="0"/>
                <a:ea typeface="Calibri" pitchFamily="34" charset="-122"/>
                <a:cs typeface="Calibri" pitchFamily="34" charset="-120"/>
              </a:rPr>
              <a:t>Embedding spread (z_std) sat at exactly 0.088 from step 1,000 on; check it before trusting it.</a:t>
            </a:r>
            <a:endParaRPr lang="en-US" sz="1400" dirty="0"/>
          </a:p>
          <a:p>
            <a:pPr marL="342900" indent="-342900">
              <a:spcAft>
                <a:spcPts val="800"/>
              </a:spcAft>
              <a:buSzPct val="100000"/>
              <a:buChar char="•"/>
            </a:pPr>
            <a:r>
              <a:rPr lang="en-US" sz="1400" dirty="0">
                <a:solidFill>
                  <a:srgbClr val="3F4A5A"/>
                </a:solidFill>
                <a:latin typeface="Calibri" pitchFamily="34" charset="0"/>
                <a:ea typeface="Calibri" pitchFamily="34" charset="-122"/>
                <a:cs typeface="Calibri" pitchFamily="34" charset="-120"/>
              </a:rPr>
              <a:t>ADL is still only about 0.5 weighted F1.</a:t>
            </a:r>
            <a:endParaRPr lang="en-US" sz="1400" dirty="0"/>
          </a:p>
        </p:txBody>
      </p:sp>
      <p:sp>
        <p:nvSpPr>
          <p:cNvPr id="10" name="Text 8"/>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DOMUSFM LIMITATIONS → HOMEFM REMEDIES · 1 OF 3</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Limits on what it can answer</a:t>
            </a:r>
            <a:endParaRPr lang="en-US" sz="3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331720"/>
                <a:gridCol w="3154680"/>
                <a:gridCol w="3383280"/>
                <a:gridCol w="2039112"/>
              </a:tblGrid>
              <a:tr h="566928">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Limitation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What goes wrong</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HomeFM remedy</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L1 · Closed label set</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Can only name activities it was shown examples of</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Link sensor activity to words, so any activity can be described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Designed; text alignment built</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L5 · No start or end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Cannot count "cooked 3 times" or see two things at once</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Several tags at once, start and end detection, counting rules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Designed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L6 · No anomaly output</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Cannot say "this is unusual" or "this sensor is broken"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Surprise score, anomaly and device-health engines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Surprise score built; engines designed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L7 · No timing</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Knows what comes next, not when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Predicts each next event with a range of likely times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Head built; overdue checks designed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L8 · Not searchable</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Its knowledge cannot be searched with a question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 "map of meanings" shared by minutes and sentences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Designed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bl>
          </a:graphicData>
        </a:graphic>
      </p:graphicFrame>
      <p:sp>
        <p:nvSpPr>
          <p:cNvPr id="5" name="Text 2"/>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17 · Source: docs/LIMITATIONS_AND_REMEDIES.md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DOMUSFM LIMITATIONS → HOMEFM REMEDIES · 2 OF 3</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Limits on what it can see</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331720"/>
                <a:gridCol w="3154680"/>
                <a:gridCol w="3383280"/>
                <a:gridCol w="2039112"/>
              </a:tblGrid>
              <a:tr h="566928">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Limitation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What goes wrong</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HomeFM remedy</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L2 · On/off only</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Sees "fridge ON", not "fridge draws 180 W"</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Keep real numbers as input</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Input built; device health designed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L3 · 30-event window</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Memory is sometimes 2 minutes, sometimes 6 hours, never weeks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1-minute steps, hours of context, daily summaries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Minutes built; days designed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L4 · One person assumed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Cannot tell people apart or count them</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Person cards, identity clues, per-room counts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Designed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L9 · No sound or camera</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Cannot hear a baby cry or see a parcel</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On-hub sound and camera detectors send short tags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Designed; event format built</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bl>
          </a:graphicData>
        </a:graphic>
      </p:graphicFrame>
      <p:sp>
        <p:nvSpPr>
          <p:cNvPr id="5" name="Text 2"/>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18 · Source: docs/LIMITATIONS_AND_REMEDIES.md</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DOMUSFM LIMITATIONS → HOMEFM REMEDIES · 3 OF 3</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Limits on how it learns</a:t>
            </a:r>
            <a:endParaRPr lang="en-US" sz="3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331720"/>
                <a:gridCol w="3154680"/>
                <a:gridCol w="3383280"/>
                <a:gridCol w="2039112"/>
              </a:tblGrid>
              <a:tr h="566928">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Limitation</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What goes wrong</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HomeFM remedy</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l" indent="0" marL="0">
                        <a:buNone/>
                      </a:pPr>
                      <a:r>
                        <a:rPr lang="en-US" sz="1400" b="1" dirty="0">
                          <a:solidFill>
                            <a:srgbClr val="14213D"/>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L10 · Small, old data</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Never saw smart locks, cameras or robot vacuums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Many more homes, a simulator, pilot and donated homes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84 homes built; rest designed</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r h="566928">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L11 · Game too easy</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Learns sensor tricks instead of behaviour</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Three harder, more useful practice games</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c>
                  <a:txBody>
                    <a:bodyPr/>
                    <a:lstStyle/>
                    <a:p>
                      <a:pPr indent="0" marL="0">
                        <a:buNone/>
                      </a:pPr>
                      <a:r>
                        <a:rPr lang="en-US" sz="1400" dirty="0">
                          <a:solidFill>
                            <a:srgbClr val="5F6B7A"/>
                          </a:solidFill>
                          <a:latin typeface="Calibri" pitchFamily="34" charset="0"/>
                          <a:ea typeface="Calibri" pitchFamily="34" charset="-122"/>
                          <a:cs typeface="Calibri" pitchFamily="34" charset="-120"/>
                        </a:rPr>
                        <a:t>Games built on small data; corpus run next</a:t>
                      </a:r>
                      <a:endParaRPr lang="en-US" sz="14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tcPr>
                </a:tc>
              </a:tr>
            </a:tbl>
          </a:graphicData>
        </a:graphic>
      </p:graphicFrame>
      <p:sp>
        <p:nvSpPr>
          <p:cNvPr id="5" name="Shape 2"/>
          <p:cNvSpPr/>
          <p:nvPr/>
        </p:nvSpPr>
        <p:spPr>
          <a:xfrm>
            <a:off x="640080" y="4023360"/>
            <a:ext cx="5318608" cy="1645920"/>
          </a:xfrm>
          <a:prstGeom prst="roundRect">
            <a:avLst>
              <a:gd name="adj" fmla="val 5556"/>
            </a:avLst>
          </a:prstGeom>
          <a:solidFill>
            <a:srgbClr val="E3ECF7"/>
          </a:solidFill>
          <a:ln w="12700">
            <a:solidFill>
              <a:srgbClr val="E3ECF7"/>
            </a:solidFill>
            <a:prstDash val="solid"/>
          </a:ln>
        </p:spPr>
      </p:sp>
      <p:sp>
        <p:nvSpPr>
          <p:cNvPr id="6" name="Text 3"/>
          <p:cNvSpPr txBox="1"/>
          <p:nvPr/>
        </p:nvSpPr>
        <p:spPr>
          <a:xfrm>
            <a:off x="914400" y="4206240"/>
            <a:ext cx="4769968" cy="36576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L10 and L11 are linked</a:t>
            </a:r>
            <a:endParaRPr lang="en-US" sz="1700" dirty="0"/>
          </a:p>
        </p:txBody>
      </p:sp>
      <p:sp>
        <p:nvSpPr>
          <p:cNvPr id="7" name="Text 4"/>
          <p:cNvSpPr txBox="1"/>
          <p:nvPr/>
        </p:nvSpPr>
        <p:spPr>
          <a:xfrm>
            <a:off x="914400" y="4617720"/>
            <a:ext cx="4769968" cy="914400"/>
          </a:xfrm>
          <a:prstGeom prst="rect">
            <a:avLst/>
          </a:prstGeom>
          <a:noFill/>
          <a:ln/>
        </p:spPr>
        <p:txBody>
          <a:bodyPr wrap="square" lIns="0" tIns="0" rIns="0" bIns="0" rtlCol="0" anchor="t"/>
          <a:lstStyle/>
          <a:p>
            <a:pPr indent="0" marL="0">
              <a:buNone/>
            </a:pPr>
            <a:r>
              <a:rPr lang="en-US" sz="1400" dirty="0">
                <a:solidFill>
                  <a:srgbClr val="3F4A5A"/>
                </a:solidFill>
                <a:latin typeface="Calibri" pitchFamily="34" charset="0"/>
                <a:ea typeface="Calibri" pitchFamily="34" charset="-122"/>
                <a:cs typeface="Calibri" pitchFamily="34" charset="-120"/>
              </a:rPr>
              <a:t>More data does not help while the game is too easy. With a harder game, the same 77 homes do help.</a:t>
            </a:r>
            <a:endParaRPr lang="en-US" sz="1400" dirty="0"/>
          </a:p>
        </p:txBody>
      </p:sp>
      <p:sp>
        <p:nvSpPr>
          <p:cNvPr id="8" name="Shape 5"/>
          <p:cNvSpPr/>
          <p:nvPr/>
        </p:nvSpPr>
        <p:spPr>
          <a:xfrm>
            <a:off x="6233008" y="4023360"/>
            <a:ext cx="5318608" cy="1645920"/>
          </a:xfrm>
          <a:prstGeom prst="roundRect">
            <a:avLst>
              <a:gd name="adj" fmla="val 5556"/>
            </a:avLst>
          </a:prstGeom>
          <a:solidFill>
            <a:srgbClr val="F3F5F8"/>
          </a:solidFill>
          <a:ln w="9525">
            <a:solidFill>
              <a:srgbClr val="D5D9E0"/>
            </a:solidFill>
            <a:prstDash val="solid"/>
          </a:ln>
        </p:spPr>
      </p:sp>
      <p:sp>
        <p:nvSpPr>
          <p:cNvPr id="9" name="Text 6"/>
          <p:cNvSpPr txBox="1"/>
          <p:nvPr/>
        </p:nvSpPr>
        <p:spPr>
          <a:xfrm>
            <a:off x="6507328" y="4206240"/>
            <a:ext cx="4769968" cy="36576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We tested L11 on DomusFM</a:t>
            </a:r>
            <a:endParaRPr lang="en-US" sz="1700" dirty="0"/>
          </a:p>
        </p:txBody>
      </p:sp>
      <p:sp>
        <p:nvSpPr>
          <p:cNvPr id="10" name="Text 7"/>
          <p:cNvSpPr txBox="1"/>
          <p:nvPr/>
        </p:nvSpPr>
        <p:spPr>
          <a:xfrm>
            <a:off x="6507328" y="4617720"/>
            <a:ext cx="4769968" cy="914400"/>
          </a:xfrm>
          <a:prstGeom prst="rect">
            <a:avLst/>
          </a:prstGeom>
          <a:noFill/>
          <a:ln/>
        </p:spPr>
        <p:txBody>
          <a:bodyPr wrap="square" lIns="0" tIns="0" rIns="0" bIns="0" rtlCol="0" anchor="t"/>
          <a:lstStyle/>
          <a:p>
            <a:pPr indent="0" marL="0">
              <a:buNone/>
            </a:pPr>
            <a:r>
              <a:rPr lang="en-US" sz="1400" dirty="0">
                <a:solidFill>
                  <a:srgbClr val="3F4A5A"/>
                </a:solidFill>
                <a:latin typeface="Calibri" pitchFamily="34" charset="0"/>
                <a:ea typeface="Calibri" pitchFamily="34" charset="-122"/>
                <a:cs typeface="Calibri" pitchFamily="34" charset="-120"/>
              </a:rPr>
              <a:t>The paper's game and a harder game, same model and data. Results on the next slide.</a:t>
            </a:r>
            <a:endParaRPr lang="en-US" sz="1400" dirty="0"/>
          </a:p>
        </p:txBody>
      </p:sp>
      <p:sp>
        <p:nvSpPr>
          <p:cNvPr id="11" name="Text 8"/>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19 · Source: docs/LIMITATIONS_AND_REMEDIES.md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L11 IN OUR OWN RUNS · SAME MODEL, SAME 77 HOMES</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An easy game hurts; a harder one helps</a:t>
            </a:r>
            <a:endParaRPr lang="en-US" sz="3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5056632"/>
                <a:gridCol w="2926080"/>
                <a:gridCol w="2926080"/>
              </a:tblGrid>
              <a:tr h="457200">
                <a:tc>
                  <a:txBody>
                    <a:bodyPr/>
                    <a:lstStyle/>
                    <a:p>
                      <a:pPr algn="l" indent="0" marL="0">
                        <a:buNone/>
                      </a:pPr>
                      <a:r>
                        <a:rPr lang="en-US" sz="1600" b="1" dirty="0">
                          <a:solidFill>
                            <a:srgbClr val="14213D"/>
                          </a:solidFill>
                          <a:latin typeface="Calibri" pitchFamily="34" charset="0"/>
                          <a:ea typeface="Calibri" pitchFamily="34" charset="-122"/>
                          <a:cs typeface="Calibri" pitchFamily="34" charset="-120"/>
                        </a:rPr>
                        <a:t>Measure</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600" b="1" dirty="0">
                          <a:solidFill>
                            <a:srgbClr val="14213D"/>
                          </a:solidFill>
                          <a:latin typeface="Calibri" pitchFamily="34" charset="0"/>
                          <a:ea typeface="Calibri" pitchFamily="34" charset="-122"/>
                          <a:cs typeface="Calibri" pitchFamily="34" charset="-120"/>
                        </a:rPr>
                        <a:t>Paper's game</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c>
                  <a:txBody>
                    <a:bodyPr/>
                    <a:lstStyle/>
                    <a:p>
                      <a:pPr algn="r" indent="0" marL="0">
                        <a:buNone/>
                      </a:pPr>
                      <a:r>
                        <a:rPr lang="en-US" sz="1600" b="1" dirty="0">
                          <a:solidFill>
                            <a:srgbClr val="14213D"/>
                          </a:solidFill>
                          <a:latin typeface="Calibri" pitchFamily="34" charset="0"/>
                          <a:ea typeface="Calibri" pitchFamily="34" charset="-122"/>
                          <a:cs typeface="Calibri" pitchFamily="34" charset="-120"/>
                        </a:rPr>
                        <a:t>Harder game</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DDE3EC"/>
                    </a:solidFill>
                  </a:tcPr>
                </a:tc>
              </a:tr>
              <a:tr h="45720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Matching loss, end of training</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A4520F"/>
                          </a:solidFill>
                          <a:latin typeface="Calibri" pitchFamily="34" charset="0"/>
                          <a:ea typeface="Calibri" pitchFamily="34" charset="-122"/>
                          <a:cs typeface="Calibri" pitchFamily="34" charset="-120"/>
                        </a:rPr>
                        <a:t>about 0.0005</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1F5A96"/>
                          </a:solidFill>
                          <a:latin typeface="Calibri" pitchFamily="34" charset="0"/>
                          <a:ea typeface="Calibri" pitchFamily="34" charset="-122"/>
                          <a:cs typeface="Calibri" pitchFamily="34" charset="-120"/>
                        </a:rPr>
                        <a:t>0.70–0.82</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Settings where pretraining wins</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A4520F"/>
                          </a:solidFill>
                          <a:latin typeface="Calibri" pitchFamily="34" charset="0"/>
                          <a:ea typeface="Calibri" pitchFamily="34" charset="-122"/>
                          <a:cs typeface="Calibri" pitchFamily="34" charset="-120"/>
                        </a:rPr>
                        <a:t>6 of 28</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1F5A96"/>
                          </a:solidFill>
                          <a:latin typeface="Calibri" pitchFamily="34" charset="0"/>
                          <a:ea typeface="Calibri" pitchFamily="34" charset="-122"/>
                          <a:cs typeface="Calibri" pitchFamily="34" charset="-120"/>
                        </a:rPr>
                        <a:t>26 of 28</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ADL gain · 5 % / 30 % labels</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A4520F"/>
                          </a:solidFill>
                          <a:latin typeface="Calibri" pitchFamily="34" charset="0"/>
                          <a:ea typeface="Calibri" pitchFamily="34" charset="-122"/>
                          <a:cs typeface="Calibri" pitchFamily="34" charset="-120"/>
                        </a:rPr>
                        <a:t>−0.050 / −0.068</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1F5A96"/>
                          </a:solidFill>
                          <a:latin typeface="Calibri" pitchFamily="34" charset="0"/>
                          <a:ea typeface="Calibri" pitchFamily="34" charset="-122"/>
                          <a:cs typeface="Calibri" pitchFamily="34" charset="-120"/>
                        </a:rPr>
                        <a:t>+0.076 / +0.059</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4213D"/>
                          </a:solidFill>
                          <a:latin typeface="Calibri" pitchFamily="34" charset="0"/>
                          <a:ea typeface="Calibri" pitchFamily="34" charset="-122"/>
                          <a:cs typeface="Calibri" pitchFamily="34" charset="-120"/>
                        </a:rPr>
                        <a:t>Next-30 gain · 5 % / 30 % labels</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A4520F"/>
                          </a:solidFill>
                          <a:latin typeface="Calibri" pitchFamily="34" charset="0"/>
                          <a:ea typeface="Calibri" pitchFamily="34" charset="-122"/>
                          <a:cs typeface="Calibri" pitchFamily="34" charset="-120"/>
                        </a:rPr>
                        <a:t>−0.009 / +0.002</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c>
                  <a:txBody>
                    <a:bodyPr/>
                    <a:lstStyle/>
                    <a:p>
                      <a:pPr algn="r" indent="0" marL="0">
                        <a:buNone/>
                      </a:pPr>
                      <a:r>
                        <a:rPr lang="en-US" sz="1600" b="1" dirty="0">
                          <a:solidFill>
                            <a:srgbClr val="1F5A96"/>
                          </a:solidFill>
                          <a:latin typeface="Calibri" pitchFamily="34" charset="0"/>
                          <a:ea typeface="Calibri" pitchFamily="34" charset="-122"/>
                          <a:cs typeface="Calibri" pitchFamily="34" charset="-120"/>
                        </a:rPr>
                        <a:t>+0.053 / +0.030</a:t>
                      </a:r>
                      <a:endParaRPr lang="en-US" sz="1600" dirty="0">
                        <a:latin typeface="Calibri" charset="0"/>
                        <a:ea typeface="Calibri" charset="0"/>
                        <a:cs typeface="Calibri" charset="0"/>
                      </a:endParaRPr>
                    </a:p>
                  </a:txBody>
                  <a:tcPr marL="73152" marR="73152" marT="36576" marB="36576" anchor="ctr">
                    <a:lnL w="9525" cap="flat" cmpd="sng" algn="ctr">
                      <a:solidFill>
                        <a:srgbClr val="C9CFD8"/>
                      </a:solidFill>
                      <a:prstDash val="solid"/>
                      <a:round/>
                      <a:headEnd type="none" w="med" len="med"/>
                      <a:tailEnd type="none" w="med" len="med"/>
                    </a:lnL>
                    <a:lnR w="9525" cap="flat" cmpd="sng" algn="ctr">
                      <a:solidFill>
                        <a:srgbClr val="C9CFD8"/>
                      </a:solidFill>
                      <a:prstDash val="solid"/>
                      <a:round/>
                      <a:headEnd type="none" w="med" len="med"/>
                      <a:tailEnd type="none" w="med" len="med"/>
                    </a:lnR>
                    <a:lnT w="9525" cap="flat" cmpd="sng" algn="ctr">
                      <a:solidFill>
                        <a:srgbClr val="C9CFD8"/>
                      </a:solidFill>
                      <a:prstDash val="solid"/>
                      <a:round/>
                      <a:headEnd type="none" w="med" len="med"/>
                      <a:tailEnd type="none" w="med" len="med"/>
                    </a:lnT>
                    <a:lnB w="9525" cap="flat" cmpd="sng" algn="ctr">
                      <a:solidFill>
                        <a:srgbClr val="C9CFD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4251960"/>
            <a:ext cx="10911535" cy="146304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Tricks the paper's game allowed: </a:t>
            </a:r>
            <a:pPr indent="0" marL="0">
              <a:spcAft>
                <a:spcPts val="1000"/>
              </a:spcAft>
              <a:buNone/>
            </a:pPr>
            <a:r>
              <a:rPr lang="en-US" sz="1500" dirty="0">
                <a:solidFill>
                  <a:srgbClr val="3F4A5A"/>
                </a:solidFill>
                <a:latin typeface="Calibri" pitchFamily="34" charset="0"/>
                <a:ea typeface="Calibri" pitchFamily="34" charset="-122"/>
                <a:cs typeface="Calibri" pitchFamily="34" charset="-120"/>
              </a:rPr>
              <a:t>candidates from other homes, exact-second timestamps, one copy never hidden, no separate head for the game, nothing to predict.</a:t>
            </a:r>
            <a:endParaRPr lang="en-US" sz="1500" dirty="0"/>
          </a:p>
          <a:p>
            <a:pPr indent="0" marL="0">
              <a:buNone/>
            </a:pPr>
            <a:r>
              <a:rPr lang="en-US" sz="1500" b="1" dirty="0">
                <a:solidFill>
                  <a:srgbClr val="14213D"/>
                </a:solidFill>
                <a:latin typeface="Calibri" pitchFamily="34" charset="0"/>
                <a:ea typeface="Calibri" pitchFamily="34" charset="-122"/>
                <a:cs typeface="Calibri" pitchFamily="34" charset="-120"/>
              </a:rPr>
              <a:t>Remedies: </a:t>
            </a:r>
            <a:pPr indent="0" marL="0">
              <a:buNone/>
            </a:pPr>
            <a:r>
              <a:rPr lang="en-US" sz="1500" dirty="0">
                <a:solidFill>
                  <a:srgbClr val="3F4A5A"/>
                </a:solidFill>
                <a:latin typeface="Calibri" pitchFamily="34" charset="0"/>
                <a:ea typeface="Calibri" pitchFamily="34" charset="-122"/>
                <a:cs typeface="Calibri" pitchFamily="34" charset="-120"/>
              </a:rPr>
              <a:t>the six changes on slide 9. The from-scratch baseline barely moved, so the gain comes from the harder game.</a:t>
            </a:r>
            <a:endParaRPr lang="en-US" sz="1500" dirty="0"/>
          </a:p>
        </p:txBody>
      </p:sp>
      <p:sp>
        <p:nvSpPr>
          <p:cNvPr id="6" name="Text 3"/>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20 · Gain = pretrained F1 − from-scratch F1, mean over 7 held-out homes · Red = paper's game, blue = harder game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F1F5"/>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HOMEFM'S REMEDY FOR L11</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Three harder practice games</a:t>
            </a:r>
            <a:endParaRPr lang="en-US" sz="3600" dirty="0"/>
          </a:p>
        </p:txBody>
      </p:sp>
      <p:sp>
        <p:nvSpPr>
          <p:cNvPr id="4" name="Shape 2"/>
          <p:cNvSpPr/>
          <p:nvPr/>
        </p:nvSpPr>
        <p:spPr>
          <a:xfrm>
            <a:off x="640080" y="1737360"/>
            <a:ext cx="3454298" cy="3154680"/>
          </a:xfrm>
          <a:prstGeom prst="roundRect">
            <a:avLst>
              <a:gd name="adj" fmla="val 2899"/>
            </a:avLst>
          </a:prstGeom>
          <a:solidFill>
            <a:srgbClr val="FFFFFF"/>
          </a:solidFill>
          <a:ln w="9525">
            <a:solidFill>
              <a:srgbClr val="D5D9E0"/>
            </a:solidFill>
            <a:prstDash val="solid"/>
          </a:ln>
        </p:spPr>
      </p:sp>
      <p:sp>
        <p:nvSpPr>
          <p:cNvPr id="5" name="Shape 3"/>
          <p:cNvSpPr/>
          <p:nvPr/>
        </p:nvSpPr>
        <p:spPr>
          <a:xfrm>
            <a:off x="914400" y="1965960"/>
            <a:ext cx="384048" cy="384048"/>
          </a:xfrm>
          <a:prstGeom prst="ellipse">
            <a:avLst/>
          </a:prstGeom>
          <a:solidFill>
            <a:srgbClr val="2F6FB0"/>
          </a:solidFill>
          <a:ln w="12700">
            <a:solidFill>
              <a:srgbClr val="2F6FB0"/>
            </a:solidFill>
            <a:prstDash val="solid"/>
          </a:ln>
        </p:spPr>
      </p:sp>
      <p:sp>
        <p:nvSpPr>
          <p:cNvPr id="6" name="Text 4"/>
          <p:cNvSpPr txBox="1"/>
          <p:nvPr/>
        </p:nvSpPr>
        <p:spPr>
          <a:xfrm>
            <a:off x="914400" y="1965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417320" y="2020824"/>
            <a:ext cx="2448458" cy="274320"/>
          </a:xfrm>
          <a:prstGeom prst="rect">
            <a:avLst/>
          </a:prstGeom>
          <a:noFill/>
          <a:ln/>
        </p:spPr>
        <p:txBody>
          <a:bodyPr wrap="square" lIns="0" tIns="0" rIns="0" bIns="0" rtlCol="0" anchor="t"/>
          <a:lstStyle/>
          <a:p>
            <a:pPr indent="0" marL="0">
              <a:buNone/>
            </a:pPr>
            <a:r>
              <a:rPr lang="en-US" sz="1200" b="1" spc="200" kern="0" dirty="0">
                <a:solidFill>
                  <a:srgbClr val="1F5A96"/>
                </a:solidFill>
                <a:latin typeface="Calibri" pitchFamily="34" charset="0"/>
                <a:ea typeface="Calibri" pitchFamily="34" charset="-122"/>
                <a:cs typeface="Calibri" pitchFamily="34" charset="-120"/>
              </a:rPr>
              <a:t>GAME 1</a:t>
            </a:r>
            <a:endParaRPr lang="en-US" sz="1200" dirty="0"/>
          </a:p>
        </p:txBody>
      </p:sp>
      <p:sp>
        <p:nvSpPr>
          <p:cNvPr id="8" name="Text 6"/>
          <p:cNvSpPr txBox="1"/>
          <p:nvPr/>
        </p:nvSpPr>
        <p:spPr>
          <a:xfrm>
            <a:off x="914400" y="2514600"/>
            <a:ext cx="2905658" cy="6858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What happens next, and when?</a:t>
            </a:r>
            <a:endParaRPr lang="en-US" sz="1700" dirty="0"/>
          </a:p>
        </p:txBody>
      </p:sp>
      <p:sp>
        <p:nvSpPr>
          <p:cNvPr id="9" name="Text 7"/>
          <p:cNvSpPr txBox="1"/>
          <p:nvPr/>
        </p:nvSpPr>
        <p:spPr>
          <a:xfrm>
            <a:off x="914400" y="3246120"/>
            <a:ext cx="2905658" cy="1371600"/>
          </a:xfrm>
          <a:prstGeom prst="rect">
            <a:avLst/>
          </a:prstGeom>
          <a:noFill/>
          <a:ln/>
        </p:spPr>
        <p:txBody>
          <a:bodyPr wrap="square" lIns="0" tIns="0" rIns="0" bIns="0" rtlCol="0" anchor="t"/>
          <a:lstStyle/>
          <a:p>
            <a:pPr indent="0" marL="0">
              <a:lnSpc>
                <a:spcPct val="110000"/>
              </a:lnSpc>
              <a:buNone/>
            </a:pPr>
            <a:r>
              <a:rPr lang="en-US" sz="1400" dirty="0">
                <a:solidFill>
                  <a:srgbClr val="3F4A5A"/>
                </a:solidFill>
                <a:latin typeface="Calibri" pitchFamily="34" charset="0"/>
                <a:ea typeface="Calibri" pitchFamily="34" charset="-122"/>
                <a:cs typeface="Calibri" pitchFamily="34" charset="-120"/>
              </a:rPr>
              <a:t>Predict the next event and the time until it. The future is unseen, so the model must learn routines. Also gives the surprise score (L6) and timing (L7).</a:t>
            </a:r>
            <a:endParaRPr lang="en-US" sz="1400" dirty="0"/>
          </a:p>
        </p:txBody>
      </p:sp>
      <p:sp>
        <p:nvSpPr>
          <p:cNvPr id="10" name="Shape 8"/>
          <p:cNvSpPr/>
          <p:nvPr/>
        </p:nvSpPr>
        <p:spPr>
          <a:xfrm>
            <a:off x="4368698" y="1737360"/>
            <a:ext cx="3454298" cy="3154680"/>
          </a:xfrm>
          <a:prstGeom prst="roundRect">
            <a:avLst>
              <a:gd name="adj" fmla="val 2899"/>
            </a:avLst>
          </a:prstGeom>
          <a:solidFill>
            <a:srgbClr val="FFFFFF"/>
          </a:solidFill>
          <a:ln w="9525">
            <a:solidFill>
              <a:srgbClr val="D5D9E0"/>
            </a:solidFill>
            <a:prstDash val="solid"/>
          </a:ln>
        </p:spPr>
      </p:sp>
      <p:sp>
        <p:nvSpPr>
          <p:cNvPr id="11" name="Shape 9"/>
          <p:cNvSpPr/>
          <p:nvPr/>
        </p:nvSpPr>
        <p:spPr>
          <a:xfrm>
            <a:off x="4643018" y="1965960"/>
            <a:ext cx="384048" cy="384048"/>
          </a:xfrm>
          <a:prstGeom prst="ellipse">
            <a:avLst/>
          </a:prstGeom>
          <a:solidFill>
            <a:srgbClr val="2F6FB0"/>
          </a:solidFill>
          <a:ln w="12700">
            <a:solidFill>
              <a:srgbClr val="2F6FB0"/>
            </a:solidFill>
            <a:prstDash val="solid"/>
          </a:ln>
        </p:spPr>
      </p:sp>
      <p:sp>
        <p:nvSpPr>
          <p:cNvPr id="12" name="Text 10"/>
          <p:cNvSpPr txBox="1"/>
          <p:nvPr/>
        </p:nvSpPr>
        <p:spPr>
          <a:xfrm>
            <a:off x="4643018" y="1965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5145938" y="2020824"/>
            <a:ext cx="2448458" cy="274320"/>
          </a:xfrm>
          <a:prstGeom prst="rect">
            <a:avLst/>
          </a:prstGeom>
          <a:noFill/>
          <a:ln/>
        </p:spPr>
        <p:txBody>
          <a:bodyPr wrap="square" lIns="0" tIns="0" rIns="0" bIns="0" rtlCol="0" anchor="t"/>
          <a:lstStyle/>
          <a:p>
            <a:pPr indent="0" marL="0">
              <a:buNone/>
            </a:pPr>
            <a:r>
              <a:rPr lang="en-US" sz="1200" b="1" spc="200" kern="0" dirty="0">
                <a:solidFill>
                  <a:srgbClr val="1F5A96"/>
                </a:solidFill>
                <a:latin typeface="Calibri" pitchFamily="34" charset="0"/>
                <a:ea typeface="Calibri" pitchFamily="34" charset="-122"/>
                <a:cs typeface="Calibri" pitchFamily="34" charset="-120"/>
              </a:rPr>
              <a:t>GAME 2</a:t>
            </a:r>
            <a:endParaRPr lang="en-US" sz="1200" dirty="0"/>
          </a:p>
        </p:txBody>
      </p:sp>
      <p:sp>
        <p:nvSpPr>
          <p:cNvPr id="14" name="Text 12"/>
          <p:cNvSpPr txBox="1"/>
          <p:nvPr/>
        </p:nvSpPr>
        <p:spPr>
          <a:xfrm>
            <a:off x="4643018" y="2514600"/>
            <a:ext cx="2905658" cy="6858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Hide a big chunk, guess its meaning</a:t>
            </a:r>
            <a:endParaRPr lang="en-US" sz="1700" dirty="0"/>
          </a:p>
        </p:txBody>
      </p:sp>
      <p:sp>
        <p:nvSpPr>
          <p:cNvPr id="15" name="Text 13"/>
          <p:cNvSpPr txBox="1"/>
          <p:nvPr/>
        </p:nvSpPr>
        <p:spPr>
          <a:xfrm>
            <a:off x="4643018" y="3246120"/>
            <a:ext cx="2905658" cy="1371600"/>
          </a:xfrm>
          <a:prstGeom prst="rect">
            <a:avLst/>
          </a:prstGeom>
          <a:noFill/>
          <a:ln/>
        </p:spPr>
        <p:txBody>
          <a:bodyPr wrap="square" lIns="0" tIns="0" rIns="0" bIns="0" rtlCol="0" anchor="t"/>
          <a:lstStyle/>
          <a:p>
            <a:pPr indent="0" marL="0">
              <a:lnSpc>
                <a:spcPct val="110000"/>
              </a:lnSpc>
              <a:buNone/>
            </a:pPr>
            <a:r>
              <a:rPr lang="en-US" sz="1400" dirty="0">
                <a:solidFill>
                  <a:srgbClr val="3F4A5A"/>
                </a:solidFill>
                <a:latin typeface="Calibri" pitchFamily="34" charset="0"/>
                <a:ea typeface="Calibri" pitchFamily="34" charset="-122"/>
                <a:cs typeface="Calibri" pitchFamily="34" charset="-120"/>
              </a:rPr>
              <a:t>Hide 10 minutes, a room or a device type, and predict what it meant. No ON/OFF partner or timestamp is left to copy.</a:t>
            </a:r>
            <a:endParaRPr lang="en-US" sz="1400" dirty="0"/>
          </a:p>
        </p:txBody>
      </p:sp>
      <p:sp>
        <p:nvSpPr>
          <p:cNvPr id="16" name="Shape 14"/>
          <p:cNvSpPr/>
          <p:nvPr/>
        </p:nvSpPr>
        <p:spPr>
          <a:xfrm>
            <a:off x="8097317" y="1737360"/>
            <a:ext cx="3454298" cy="3154680"/>
          </a:xfrm>
          <a:prstGeom prst="roundRect">
            <a:avLst>
              <a:gd name="adj" fmla="val 2899"/>
            </a:avLst>
          </a:prstGeom>
          <a:solidFill>
            <a:srgbClr val="FFFFFF"/>
          </a:solidFill>
          <a:ln w="9525">
            <a:solidFill>
              <a:srgbClr val="D5D9E0"/>
            </a:solidFill>
            <a:prstDash val="solid"/>
          </a:ln>
        </p:spPr>
      </p:sp>
      <p:sp>
        <p:nvSpPr>
          <p:cNvPr id="17" name="Shape 15"/>
          <p:cNvSpPr/>
          <p:nvPr/>
        </p:nvSpPr>
        <p:spPr>
          <a:xfrm>
            <a:off x="8371637" y="1965960"/>
            <a:ext cx="384048" cy="384048"/>
          </a:xfrm>
          <a:prstGeom prst="ellipse">
            <a:avLst/>
          </a:prstGeom>
          <a:solidFill>
            <a:srgbClr val="2F6FB0"/>
          </a:solidFill>
          <a:ln w="12700">
            <a:solidFill>
              <a:srgbClr val="2F6FB0"/>
            </a:solidFill>
            <a:prstDash val="solid"/>
          </a:ln>
        </p:spPr>
      </p:sp>
      <p:sp>
        <p:nvSpPr>
          <p:cNvPr id="18" name="Text 16"/>
          <p:cNvSpPr txBox="1"/>
          <p:nvPr/>
        </p:nvSpPr>
        <p:spPr>
          <a:xfrm>
            <a:off x="8371637" y="1965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874557" y="2020824"/>
            <a:ext cx="2448458" cy="274320"/>
          </a:xfrm>
          <a:prstGeom prst="rect">
            <a:avLst/>
          </a:prstGeom>
          <a:noFill/>
          <a:ln/>
        </p:spPr>
        <p:txBody>
          <a:bodyPr wrap="square" lIns="0" tIns="0" rIns="0" bIns="0" rtlCol="0" anchor="t"/>
          <a:lstStyle/>
          <a:p>
            <a:pPr indent="0" marL="0">
              <a:buNone/>
            </a:pPr>
            <a:r>
              <a:rPr lang="en-US" sz="1200" b="1" spc="200" kern="0" dirty="0">
                <a:solidFill>
                  <a:srgbClr val="1F5A96"/>
                </a:solidFill>
                <a:latin typeface="Calibri" pitchFamily="34" charset="0"/>
                <a:ea typeface="Calibri" pitchFamily="34" charset="-122"/>
                <a:cs typeface="Calibri" pitchFamily="34" charset="-120"/>
              </a:rPr>
              <a:t>GAME 3</a:t>
            </a:r>
            <a:endParaRPr lang="en-US" sz="1200" dirty="0"/>
          </a:p>
        </p:txBody>
      </p:sp>
      <p:sp>
        <p:nvSpPr>
          <p:cNvPr id="20" name="Text 18"/>
          <p:cNvSpPr txBox="1"/>
          <p:nvPr/>
        </p:nvSpPr>
        <p:spPr>
          <a:xfrm>
            <a:off x="8371637" y="2514600"/>
            <a:ext cx="2905658" cy="6858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Match minutes with sentences</a:t>
            </a:r>
            <a:endParaRPr lang="en-US" sz="1700" dirty="0"/>
          </a:p>
        </p:txBody>
      </p:sp>
      <p:sp>
        <p:nvSpPr>
          <p:cNvPr id="21" name="Text 19"/>
          <p:cNvSpPr txBox="1"/>
          <p:nvPr/>
        </p:nvSpPr>
        <p:spPr>
          <a:xfrm>
            <a:off x="8371637" y="3246120"/>
            <a:ext cx="2905658" cy="1371600"/>
          </a:xfrm>
          <a:prstGeom prst="rect">
            <a:avLst/>
          </a:prstGeom>
          <a:noFill/>
          <a:ln/>
        </p:spPr>
        <p:txBody>
          <a:bodyPr wrap="square" lIns="0" tIns="0" rIns="0" bIns="0" rtlCol="0" anchor="t"/>
          <a:lstStyle/>
          <a:p>
            <a:pPr indent="0" marL="0">
              <a:lnSpc>
                <a:spcPct val="110000"/>
              </a:lnSpc>
              <a:buNone/>
            </a:pPr>
            <a:r>
              <a:rPr lang="en-US" sz="1400" dirty="0">
                <a:solidFill>
                  <a:srgbClr val="3F4A5A"/>
                </a:solidFill>
                <a:latin typeface="Calibri" pitchFamily="34" charset="0"/>
                <a:ea typeface="Calibri" pitchFamily="34" charset="-122"/>
                <a:cs typeface="Calibri" pitchFamily="34" charset="-120"/>
              </a:rPr>
              <a:t>Pair minutes with descriptions, allowing many right answers, so two nights of sleep end up together (L1, L8).</a:t>
            </a:r>
            <a:endParaRPr lang="en-US" sz="1400" dirty="0"/>
          </a:p>
        </p:txBody>
      </p:sp>
      <p:sp>
        <p:nvSpPr>
          <p:cNvPr id="22" name="Shape 20"/>
          <p:cNvSpPr/>
          <p:nvPr/>
        </p:nvSpPr>
        <p:spPr>
          <a:xfrm>
            <a:off x="640080" y="5120640"/>
            <a:ext cx="10911535" cy="868680"/>
          </a:xfrm>
          <a:prstGeom prst="roundRect">
            <a:avLst>
              <a:gd name="adj" fmla="val 10526"/>
            </a:avLst>
          </a:prstGeom>
          <a:solidFill>
            <a:srgbClr val="E3ECF7"/>
          </a:solidFill>
          <a:ln w="12700">
            <a:solidFill>
              <a:srgbClr val="E3ECF7"/>
            </a:solidFill>
            <a:prstDash val="solid"/>
          </a:ln>
        </p:spPr>
      </p:sp>
      <p:sp>
        <p:nvSpPr>
          <p:cNvPr id="23" name="Text 21"/>
          <p:cNvSpPr txBox="1"/>
          <p:nvPr/>
        </p:nvSpPr>
        <p:spPr>
          <a:xfrm>
            <a:off x="914400" y="5189220"/>
            <a:ext cx="10362895" cy="731520"/>
          </a:xfrm>
          <a:prstGeom prst="rect">
            <a:avLst/>
          </a:prstGeom>
          <a:noFill/>
          <a:ln/>
        </p:spPr>
        <p:txBody>
          <a:bodyPr wrap="square" lIns="0" tIns="0" rIns="0" bIns="0" rtlCol="0" anchor="ctr"/>
          <a:lstStyle/>
          <a:p>
            <a:pPr indent="0" marL="0">
              <a:buNone/>
            </a:pPr>
            <a:r>
              <a:rPr lang="en-US" sz="1500" dirty="0">
                <a:solidFill>
                  <a:srgbClr val="14213D"/>
                </a:solidFill>
                <a:latin typeface="Calibri" pitchFamily="34" charset="0"/>
                <a:ea typeface="Calibri" pitchFamily="34" charset="-122"/>
                <a:cs typeface="Calibri" pitchFamily="34" charset="-120"/>
              </a:rPr>
              <a:t>Built and tested on small data. Next: HomeFM against the fixed DomusFM on the same 77 homes. The DomusFM "fill in the blanks" change is a small version of game 2.</a:t>
            </a:r>
            <a:endParaRPr lang="en-US" sz="1500" dirty="0"/>
          </a:p>
        </p:txBody>
      </p:sp>
      <p:sp>
        <p:nvSpPr>
          <p:cNvPr id="24" name="Text 22"/>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21 · Details: docs/LIMITATIONS_AND_REMEDIES.md (L11), docs/DESIGN.md §8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ctr"/>
          <a:lstStyle/>
          <a:p>
            <a:pPr indent="0" marL="0">
              <a:buNone/>
            </a:pPr>
            <a:r>
              <a:rPr lang="en-US" sz="1200" b="1" spc="200" kern="0" dirty="0">
                <a:solidFill>
                  <a:srgbClr val="2F6FB0"/>
                </a:solidFill>
                <a:latin typeface="Calibri" pitchFamily="34" charset="0"/>
                <a:ea typeface="Calibri" pitchFamily="34" charset="-122"/>
                <a:cs typeface="Calibri" pitchFamily="34" charset="-120"/>
              </a:rPr>
              <a:t>NEXT STEPS</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ctr"/>
          <a:lstStyle/>
          <a:p>
            <a:pPr indent="0" marL="0">
              <a:buNone/>
            </a:pPr>
            <a:r>
              <a:rPr lang="en-US" sz="3600" b="1" dirty="0">
                <a:solidFill>
                  <a:srgbClr val="14213D"/>
                </a:solidFill>
                <a:latin typeface="Cambria" pitchFamily="34" charset="0"/>
                <a:ea typeface="Cambria" pitchFamily="34" charset="-122"/>
                <a:cs typeface="Cambria" pitchFamily="34" charset="-120"/>
              </a:rPr>
              <a:t>What comes next</a:t>
            </a:r>
            <a:endParaRPr lang="en-US" sz="3600" dirty="0"/>
          </a:p>
        </p:txBody>
      </p:sp>
      <p:sp>
        <p:nvSpPr>
          <p:cNvPr id="4" name="Shape 2"/>
          <p:cNvSpPr/>
          <p:nvPr/>
        </p:nvSpPr>
        <p:spPr>
          <a:xfrm>
            <a:off x="640080" y="1828800"/>
            <a:ext cx="3454298" cy="3108960"/>
          </a:xfrm>
          <a:prstGeom prst="roundRect">
            <a:avLst>
              <a:gd name="adj" fmla="val 2941"/>
            </a:avLst>
          </a:prstGeom>
          <a:solidFill>
            <a:srgbClr val="E3ECF7"/>
          </a:solidFill>
          <a:ln w="12700">
            <a:solidFill>
              <a:srgbClr val="E3ECF7"/>
            </a:solidFill>
            <a:prstDash val="solid"/>
          </a:ln>
        </p:spPr>
      </p:sp>
      <p:sp>
        <p:nvSpPr>
          <p:cNvPr id="5" name="Shape 3"/>
          <p:cNvSpPr/>
          <p:nvPr/>
        </p:nvSpPr>
        <p:spPr>
          <a:xfrm>
            <a:off x="914400" y="2103120"/>
            <a:ext cx="384048" cy="384048"/>
          </a:xfrm>
          <a:prstGeom prst="ellipse">
            <a:avLst/>
          </a:prstGeom>
          <a:solidFill>
            <a:srgbClr val="2F6FB0"/>
          </a:solidFill>
          <a:ln w="12700">
            <a:solidFill>
              <a:srgbClr val="2F6FB0"/>
            </a:solidFill>
            <a:prstDash val="solid"/>
          </a:ln>
        </p:spPr>
      </p:sp>
      <p:sp>
        <p:nvSpPr>
          <p:cNvPr id="6" name="Text 4"/>
          <p:cNvSpPr txBox="1"/>
          <p:nvPr/>
        </p:nvSpPr>
        <p:spPr>
          <a:xfrm>
            <a:off x="914400"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417320" y="2157984"/>
            <a:ext cx="2448458" cy="274320"/>
          </a:xfrm>
          <a:prstGeom prst="rect">
            <a:avLst/>
          </a:prstGeom>
          <a:noFill/>
          <a:ln/>
        </p:spPr>
        <p:txBody>
          <a:bodyPr wrap="square" lIns="0" tIns="0" rIns="0" bIns="0" rtlCol="0" anchor="t"/>
          <a:lstStyle/>
          <a:p>
            <a:pPr indent="0" marL="0">
              <a:buNone/>
            </a:pPr>
            <a:r>
              <a:rPr lang="en-US" sz="1200" b="1" spc="200" kern="0" dirty="0">
                <a:solidFill>
                  <a:srgbClr val="1F5A96"/>
                </a:solidFill>
                <a:latin typeface="Calibri" pitchFamily="34" charset="0"/>
                <a:ea typeface="Calibri" pitchFamily="34" charset="-122"/>
                <a:cs typeface="Calibri" pitchFamily="34" charset="-120"/>
              </a:rPr>
              <a:t>PLANNED</a:t>
            </a:r>
            <a:endParaRPr lang="en-US" sz="1200" dirty="0"/>
          </a:p>
        </p:txBody>
      </p:sp>
      <p:sp>
        <p:nvSpPr>
          <p:cNvPr id="8" name="Text 6"/>
          <p:cNvSpPr txBox="1"/>
          <p:nvPr/>
        </p:nvSpPr>
        <p:spPr>
          <a:xfrm>
            <a:off x="914400" y="2651760"/>
            <a:ext cx="2905658" cy="68580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Compare against HomeFM</a:t>
            </a:r>
            <a:endParaRPr lang="en-US" sz="1800" dirty="0"/>
          </a:p>
        </p:txBody>
      </p:sp>
      <p:sp>
        <p:nvSpPr>
          <p:cNvPr id="9" name="Text 7"/>
          <p:cNvSpPr txBox="1"/>
          <p:nvPr/>
        </p:nvSpPr>
        <p:spPr>
          <a:xfrm>
            <a:off x="914400" y="3429000"/>
            <a:ext cx="2905658" cy="1371600"/>
          </a:xfrm>
          <a:prstGeom prst="rect">
            <a:avLst/>
          </a:prstGeom>
          <a:noFill/>
          <a:ln/>
        </p:spPr>
        <p:txBody>
          <a:bodyPr wrap="square" lIns="0" tIns="0" rIns="0" bIns="0" rtlCol="0" anchor="t"/>
          <a:lstStyle/>
          <a:p>
            <a:pPr indent="0" marL="0">
              <a:lnSpc>
                <a:spcPct val="112000"/>
              </a:lnSpc>
              <a:buNone/>
            </a:pPr>
            <a:r>
              <a:rPr lang="en-US" sz="1500" dirty="0">
                <a:solidFill>
                  <a:srgbClr val="3F4A5A"/>
                </a:solidFill>
                <a:latin typeface="Calibri" pitchFamily="34" charset="0"/>
                <a:ea typeface="Calibri" pitchFamily="34" charset="-122"/>
                <a:cs typeface="Calibri" pitchFamily="34" charset="-120"/>
              </a:rPr>
              <a:t>Run strong-masking DomusFM, and HomeFM at 8.0M and at a size-matched 28.6M, on this same protocol.</a:t>
            </a:r>
            <a:endParaRPr lang="en-US" sz="1500" dirty="0"/>
          </a:p>
        </p:txBody>
      </p:sp>
      <p:sp>
        <p:nvSpPr>
          <p:cNvPr id="10" name="Shape 8"/>
          <p:cNvSpPr/>
          <p:nvPr/>
        </p:nvSpPr>
        <p:spPr>
          <a:xfrm>
            <a:off x="4368698" y="1828800"/>
            <a:ext cx="3454298" cy="3108960"/>
          </a:xfrm>
          <a:prstGeom prst="roundRect">
            <a:avLst>
              <a:gd name="adj" fmla="val 2941"/>
            </a:avLst>
          </a:prstGeom>
          <a:solidFill>
            <a:srgbClr val="E3ECF7"/>
          </a:solidFill>
          <a:ln w="12700">
            <a:solidFill>
              <a:srgbClr val="E3ECF7"/>
            </a:solidFill>
            <a:prstDash val="solid"/>
          </a:ln>
        </p:spPr>
      </p:sp>
      <p:sp>
        <p:nvSpPr>
          <p:cNvPr id="11" name="Shape 9"/>
          <p:cNvSpPr/>
          <p:nvPr/>
        </p:nvSpPr>
        <p:spPr>
          <a:xfrm>
            <a:off x="4643018" y="2103120"/>
            <a:ext cx="384048" cy="384048"/>
          </a:xfrm>
          <a:prstGeom prst="ellipse">
            <a:avLst/>
          </a:prstGeom>
          <a:solidFill>
            <a:srgbClr val="2F6FB0"/>
          </a:solidFill>
          <a:ln w="12700">
            <a:solidFill>
              <a:srgbClr val="2F6FB0"/>
            </a:solidFill>
            <a:prstDash val="solid"/>
          </a:ln>
        </p:spPr>
      </p:sp>
      <p:sp>
        <p:nvSpPr>
          <p:cNvPr id="12" name="Text 10"/>
          <p:cNvSpPr txBox="1"/>
          <p:nvPr/>
        </p:nvSpPr>
        <p:spPr>
          <a:xfrm>
            <a:off x="4643018"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5145938" y="2157984"/>
            <a:ext cx="2448458" cy="274320"/>
          </a:xfrm>
          <a:prstGeom prst="rect">
            <a:avLst/>
          </a:prstGeom>
          <a:noFill/>
          <a:ln/>
        </p:spPr>
        <p:txBody>
          <a:bodyPr wrap="square" lIns="0" tIns="0" rIns="0" bIns="0" rtlCol="0" anchor="t"/>
          <a:lstStyle/>
          <a:p>
            <a:pPr indent="0" marL="0">
              <a:buNone/>
            </a:pPr>
            <a:r>
              <a:rPr lang="en-US" sz="1200" b="1" spc="200" kern="0" dirty="0">
                <a:solidFill>
                  <a:srgbClr val="1F5A96"/>
                </a:solidFill>
                <a:latin typeface="Calibri" pitchFamily="34" charset="0"/>
                <a:ea typeface="Calibri" pitchFamily="34" charset="-122"/>
                <a:cs typeface="Calibri" pitchFamily="34" charset="-120"/>
              </a:rPr>
              <a:t>PLANNED</a:t>
            </a:r>
            <a:endParaRPr lang="en-US" sz="1200" dirty="0"/>
          </a:p>
        </p:txBody>
      </p:sp>
      <p:sp>
        <p:nvSpPr>
          <p:cNvPr id="14" name="Text 12"/>
          <p:cNvSpPr txBox="1"/>
          <p:nvPr/>
        </p:nvSpPr>
        <p:spPr>
          <a:xfrm>
            <a:off x="4643018" y="2651760"/>
            <a:ext cx="2905658" cy="68580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Ablate the six changes</a:t>
            </a:r>
            <a:endParaRPr lang="en-US" sz="1800" dirty="0"/>
          </a:p>
        </p:txBody>
      </p:sp>
      <p:sp>
        <p:nvSpPr>
          <p:cNvPr id="15" name="Text 13"/>
          <p:cNvSpPr txBox="1"/>
          <p:nvPr/>
        </p:nvSpPr>
        <p:spPr>
          <a:xfrm>
            <a:off x="4643018" y="3429000"/>
            <a:ext cx="2905658" cy="1371600"/>
          </a:xfrm>
          <a:prstGeom prst="rect">
            <a:avLst/>
          </a:prstGeom>
          <a:noFill/>
          <a:ln/>
        </p:spPr>
        <p:txBody>
          <a:bodyPr wrap="square" lIns="0" tIns="0" rIns="0" bIns="0" rtlCol="0" anchor="t"/>
          <a:lstStyle/>
          <a:p>
            <a:pPr indent="0" marL="0">
              <a:lnSpc>
                <a:spcPct val="112000"/>
              </a:lnSpc>
              <a:buNone/>
            </a:pPr>
            <a:r>
              <a:rPr lang="en-US" sz="1500" dirty="0">
                <a:solidFill>
                  <a:srgbClr val="3F4A5A"/>
                </a:solidFill>
                <a:latin typeface="Calibri" pitchFamily="34" charset="0"/>
                <a:ea typeface="Calibri" pitchFamily="34" charset="-122"/>
                <a:cs typeface="Calibri" pitchFamily="34" charset="-120"/>
              </a:rPr>
              <a:t>Turn each change off in turn to see which ones carry the gain and which can go.</a:t>
            </a:r>
            <a:endParaRPr lang="en-US" sz="1500" dirty="0"/>
          </a:p>
        </p:txBody>
      </p:sp>
      <p:sp>
        <p:nvSpPr>
          <p:cNvPr id="16" name="Shape 14"/>
          <p:cNvSpPr/>
          <p:nvPr/>
        </p:nvSpPr>
        <p:spPr>
          <a:xfrm>
            <a:off x="8097317" y="1828800"/>
            <a:ext cx="3454298" cy="3108960"/>
          </a:xfrm>
          <a:prstGeom prst="roundRect">
            <a:avLst>
              <a:gd name="adj" fmla="val 2941"/>
            </a:avLst>
          </a:prstGeom>
          <a:solidFill>
            <a:srgbClr val="F3F5F8"/>
          </a:solidFill>
          <a:ln w="9525">
            <a:solidFill>
              <a:srgbClr val="D5D9E0"/>
            </a:solidFill>
            <a:prstDash val="solid"/>
          </a:ln>
        </p:spPr>
      </p:sp>
      <p:sp>
        <p:nvSpPr>
          <p:cNvPr id="17" name="Shape 15"/>
          <p:cNvSpPr/>
          <p:nvPr/>
        </p:nvSpPr>
        <p:spPr>
          <a:xfrm>
            <a:off x="8371637" y="2103120"/>
            <a:ext cx="384048" cy="384048"/>
          </a:xfrm>
          <a:prstGeom prst="ellipse">
            <a:avLst/>
          </a:prstGeom>
          <a:solidFill>
            <a:srgbClr val="9AA1AD"/>
          </a:solidFill>
          <a:ln w="12700">
            <a:solidFill>
              <a:srgbClr val="9AA1AD"/>
            </a:solidFill>
            <a:prstDash val="solid"/>
          </a:ln>
        </p:spPr>
      </p:sp>
      <p:sp>
        <p:nvSpPr>
          <p:cNvPr id="18" name="Text 16"/>
          <p:cNvSpPr txBox="1"/>
          <p:nvPr/>
        </p:nvSpPr>
        <p:spPr>
          <a:xfrm>
            <a:off x="8371637"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874557" y="2157984"/>
            <a:ext cx="2448458" cy="274320"/>
          </a:xfrm>
          <a:prstGeom prst="rect">
            <a:avLst/>
          </a:prstGeom>
          <a:noFill/>
          <a:ln/>
        </p:spPr>
        <p:txBody>
          <a:bodyPr wrap="square" lIns="0" tIns="0" rIns="0" bIns="0" rtlCol="0" anchor="t"/>
          <a:lstStyle/>
          <a:p>
            <a:pPr indent="0" marL="0">
              <a:buNone/>
            </a:pPr>
            <a:r>
              <a:rPr lang="en-US" sz="1200" b="1" spc="200" kern="0" dirty="0">
                <a:solidFill>
                  <a:srgbClr val="5F6B7A"/>
                </a:solidFill>
                <a:latin typeface="Calibri" pitchFamily="34" charset="0"/>
                <a:ea typeface="Calibri" pitchFamily="34" charset="-122"/>
                <a:cs typeface="Calibri" pitchFamily="34" charset="-120"/>
              </a:rPr>
              <a:t>SUGGESTED</a:t>
            </a:r>
            <a:endParaRPr lang="en-US" sz="1200" dirty="0"/>
          </a:p>
        </p:txBody>
      </p:sp>
      <p:sp>
        <p:nvSpPr>
          <p:cNvPr id="20" name="Text 18"/>
          <p:cNvSpPr txBox="1"/>
          <p:nvPr/>
        </p:nvSpPr>
        <p:spPr>
          <a:xfrm>
            <a:off x="8371637" y="2651760"/>
            <a:ext cx="2905658" cy="68580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Harden the numbers</a:t>
            </a:r>
            <a:endParaRPr lang="en-US" sz="1800" dirty="0"/>
          </a:p>
        </p:txBody>
      </p:sp>
      <p:sp>
        <p:nvSpPr>
          <p:cNvPr id="21" name="Text 19"/>
          <p:cNvSpPr txBox="1"/>
          <p:nvPr/>
        </p:nvSpPr>
        <p:spPr>
          <a:xfrm>
            <a:off x="8371637" y="3429000"/>
            <a:ext cx="2905658" cy="1371600"/>
          </a:xfrm>
          <a:prstGeom prst="rect">
            <a:avLst/>
          </a:prstGeom>
          <a:noFill/>
          <a:ln/>
        </p:spPr>
        <p:txBody>
          <a:bodyPr wrap="square" lIns="0" tIns="0" rIns="0" bIns="0" rtlCol="0" anchor="t"/>
          <a:lstStyle/>
          <a:p>
            <a:pPr indent="0" marL="0">
              <a:lnSpc>
                <a:spcPct val="112000"/>
              </a:lnSpc>
              <a:buNone/>
            </a:pPr>
            <a:r>
              <a:rPr lang="en-US" sz="1500" dirty="0">
                <a:solidFill>
                  <a:srgbClr val="3F4A5A"/>
                </a:solidFill>
                <a:latin typeface="Calibri" pitchFamily="34" charset="0"/>
                <a:ea typeface="Calibri" pitchFamily="34" charset="-122"/>
                <a:cs typeface="Calibri" pitchFamily="34" charset="-120"/>
              </a:rPr>
              <a:t>Repeat runs with new seeds, look into the flat z_std, and add the paper's missing tasks and baselines.</a:t>
            </a:r>
            <a:endParaRPr lang="en-US" sz="1500" dirty="0"/>
          </a:p>
        </p:txBody>
      </p:sp>
      <p:sp>
        <p:nvSpPr>
          <p:cNvPr id="22" name="Text 20"/>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5F6B7A"/>
                </a:solidFill>
                <a:latin typeface="Calibri" pitchFamily="34" charset="0"/>
                <a:ea typeface="Calibri" pitchFamily="34" charset="-122"/>
                <a:cs typeface="Calibri" pitchFamily="34" charset="-120"/>
              </a:rPr>
              <a:t>DomusFM reproduction · 22 · Configs: homefm_corpus.yaml (8.0M), homefm_corpus_384.yaml (28.6M)</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274320"/>
          </a:xfrm>
          <a:prstGeom prst="rect">
            <a:avLst/>
          </a:prstGeom>
          <a:noFill/>
          <a:ln/>
        </p:spPr>
        <p:txBody>
          <a:bodyPr wrap="square" lIns="0" tIns="0" rIns="0" bIns="0" rtlCol="0" anchor="t"/>
          <a:lstStyle/>
          <a:p>
            <a:pPr indent="0" marL="0">
              <a:buNone/>
            </a:pPr>
            <a:r>
              <a:rPr lang="en-US" sz="1200" b="1" spc="200" kern="0" dirty="0">
                <a:solidFill>
                  <a:srgbClr val="8FB4E0"/>
                </a:solidFill>
                <a:latin typeface="Calibri" pitchFamily="34" charset="0"/>
                <a:ea typeface="Calibri" pitchFamily="34" charset="-122"/>
                <a:cs typeface="Calibri" pitchFamily="34" charset="-120"/>
              </a:rPr>
              <a:t>TAKEAWAYS</a:t>
            </a:r>
            <a:endParaRPr lang="en-US" sz="1200" dirty="0"/>
          </a:p>
        </p:txBody>
      </p:sp>
      <p:sp>
        <p:nvSpPr>
          <p:cNvPr id="3" name="Text 1"/>
          <p:cNvSpPr txBox="1"/>
          <p:nvPr/>
        </p:nvSpPr>
        <p:spPr>
          <a:xfrm>
            <a:off x="640080" y="749808"/>
            <a:ext cx="10911535" cy="685800"/>
          </a:xfrm>
          <a:prstGeom prst="rect">
            <a:avLst/>
          </a:prstGeom>
          <a:noFill/>
          <a:ln/>
        </p:spPr>
        <p:txBody>
          <a:bodyPr wrap="square" lIns="0" tIns="0" rIns="0" bIns="0" rtlCol="0" anchor="t"/>
          <a:lstStyle/>
          <a:p>
            <a:pPr indent="0" marL="0">
              <a:buNone/>
            </a:pPr>
            <a:r>
              <a:rPr lang="en-US" sz="3600" b="1" dirty="0">
                <a:solidFill>
                  <a:srgbClr val="F7F6F2"/>
                </a:solidFill>
                <a:latin typeface="Cambria" pitchFamily="34" charset="0"/>
                <a:ea typeface="Cambria" pitchFamily="34" charset="-122"/>
                <a:cs typeface="Cambria" pitchFamily="34" charset="-120"/>
              </a:rPr>
              <a:t>Three things to remember</a:t>
            </a:r>
            <a:endParaRPr lang="en-US" sz="3600" dirty="0"/>
          </a:p>
        </p:txBody>
      </p:sp>
      <p:sp>
        <p:nvSpPr>
          <p:cNvPr id="4" name="Shape 2"/>
          <p:cNvSpPr/>
          <p:nvPr/>
        </p:nvSpPr>
        <p:spPr>
          <a:xfrm>
            <a:off x="640080" y="2011680"/>
            <a:ext cx="548640" cy="548640"/>
          </a:xfrm>
          <a:prstGeom prst="ellipse">
            <a:avLst/>
          </a:prstGeom>
          <a:solidFill>
            <a:srgbClr val="8FB4E0"/>
          </a:solidFill>
          <a:ln w="12700">
            <a:solidFill>
              <a:srgbClr val="8FB4E0"/>
            </a:solidFill>
            <a:prstDash val="solid"/>
          </a:ln>
        </p:spPr>
      </p:sp>
      <p:sp>
        <p:nvSpPr>
          <p:cNvPr id="5" name="Text 3"/>
          <p:cNvSpPr txBox="1"/>
          <p:nvPr/>
        </p:nvSpPr>
        <p:spPr>
          <a:xfrm>
            <a:off x="640080" y="2011680"/>
            <a:ext cx="54864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463040" y="1965960"/>
            <a:ext cx="9875520" cy="731520"/>
          </a:xfrm>
          <a:prstGeom prst="rect">
            <a:avLst/>
          </a:prstGeom>
          <a:noFill/>
          <a:ln/>
        </p:spPr>
        <p:txBody>
          <a:bodyPr wrap="square" lIns="0" tIns="0" rIns="0" bIns="0" rtlCol="0" anchor="ctr"/>
          <a:lstStyle/>
          <a:p>
            <a:pPr indent="0" marL="0">
              <a:buNone/>
            </a:pPr>
            <a:r>
              <a:rPr lang="en-US" sz="2200" dirty="0">
                <a:solidFill>
                  <a:srgbClr val="E6ECF5"/>
                </a:solidFill>
                <a:latin typeface="Calibri" pitchFamily="34" charset="0"/>
                <a:ea typeface="Calibri" pitchFamily="34" charset="-122"/>
                <a:cs typeface="Calibri" pitchFamily="34" charset="-120"/>
              </a:rPr>
              <a:t>Pretrained on 77 homes, DomusFM beats training from scratch in 26 of 28 settings.</a:t>
            </a:r>
            <a:endParaRPr lang="en-US" sz="2200" dirty="0"/>
          </a:p>
        </p:txBody>
      </p:sp>
      <p:sp>
        <p:nvSpPr>
          <p:cNvPr id="7" name="Shape 5"/>
          <p:cNvSpPr/>
          <p:nvPr/>
        </p:nvSpPr>
        <p:spPr>
          <a:xfrm>
            <a:off x="640080" y="3246120"/>
            <a:ext cx="548640" cy="548640"/>
          </a:xfrm>
          <a:prstGeom prst="ellipse">
            <a:avLst/>
          </a:prstGeom>
          <a:solidFill>
            <a:srgbClr val="8FB4E0"/>
          </a:solidFill>
          <a:ln w="12700">
            <a:solidFill>
              <a:srgbClr val="8FB4E0"/>
            </a:solidFill>
            <a:prstDash val="solid"/>
          </a:ln>
        </p:spPr>
      </p:sp>
      <p:sp>
        <p:nvSpPr>
          <p:cNvPr id="8" name="Text 6"/>
          <p:cNvSpPr txBox="1"/>
          <p:nvPr/>
        </p:nvSpPr>
        <p:spPr>
          <a:xfrm>
            <a:off x="640080" y="3246120"/>
            <a:ext cx="54864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463040" y="3200400"/>
            <a:ext cx="9875520" cy="731520"/>
          </a:xfrm>
          <a:prstGeom prst="rect">
            <a:avLst/>
          </a:prstGeom>
          <a:noFill/>
          <a:ln/>
        </p:spPr>
        <p:txBody>
          <a:bodyPr wrap="square" lIns="0" tIns="0" rIns="0" bIns="0" rtlCol="0" anchor="ctr"/>
          <a:lstStyle/>
          <a:p>
            <a:pPr indent="0" marL="0">
              <a:buNone/>
            </a:pPr>
            <a:r>
              <a:rPr lang="en-US" sz="2200" dirty="0">
                <a:solidFill>
                  <a:srgbClr val="E6ECF5"/>
                </a:solidFill>
                <a:latin typeface="Calibri" pitchFamily="34" charset="0"/>
                <a:ea typeface="Calibri" pitchFamily="34" charset="-122"/>
                <a:cs typeface="Calibri" pitchFamily="34" charset="-120"/>
              </a:rPr>
              <a:t>The gain is largest when labels are scarce: +0.076 activity F1 with 5 % labels.</a:t>
            </a:r>
            <a:endParaRPr lang="en-US" sz="2200" dirty="0"/>
          </a:p>
        </p:txBody>
      </p:sp>
      <p:sp>
        <p:nvSpPr>
          <p:cNvPr id="10" name="Shape 8"/>
          <p:cNvSpPr/>
          <p:nvPr/>
        </p:nvSpPr>
        <p:spPr>
          <a:xfrm>
            <a:off x="640080" y="4480560"/>
            <a:ext cx="548640" cy="548640"/>
          </a:xfrm>
          <a:prstGeom prst="ellipse">
            <a:avLst/>
          </a:prstGeom>
          <a:solidFill>
            <a:srgbClr val="8FB4E0"/>
          </a:solidFill>
          <a:ln w="12700">
            <a:solidFill>
              <a:srgbClr val="8FB4E0"/>
            </a:solidFill>
            <a:prstDash val="solid"/>
          </a:ln>
        </p:spPr>
      </p:sp>
      <p:sp>
        <p:nvSpPr>
          <p:cNvPr id="11" name="Text 9"/>
          <p:cNvSpPr txBox="1"/>
          <p:nvPr/>
        </p:nvSpPr>
        <p:spPr>
          <a:xfrm>
            <a:off x="640080" y="4480560"/>
            <a:ext cx="54864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463040" y="4434840"/>
            <a:ext cx="9875520" cy="731520"/>
          </a:xfrm>
          <a:prstGeom prst="rect">
            <a:avLst/>
          </a:prstGeom>
          <a:noFill/>
          <a:ln/>
        </p:spPr>
        <p:txBody>
          <a:bodyPr wrap="square" lIns="0" tIns="0" rIns="0" bIns="0" rtlCol="0" anchor="ctr"/>
          <a:lstStyle/>
          <a:p>
            <a:pPr indent="0" marL="0">
              <a:buNone/>
            </a:pPr>
            <a:r>
              <a:rPr lang="en-US" sz="2200" dirty="0">
                <a:solidFill>
                  <a:srgbClr val="E6ECF5"/>
                </a:solidFill>
                <a:latin typeface="Calibri" pitchFamily="34" charset="0"/>
                <a:ea typeface="Calibri" pitchFamily="34" charset="-122"/>
                <a:cs typeface="Calibri" pitchFamily="34" charset="-120"/>
              </a:rPr>
              <a:t>HomeFM targets DomusFM's 11 limitations; its first test is to beat this fixed DomusFM.</a:t>
            </a:r>
            <a:endParaRPr lang="en-US" sz="2200" dirty="0"/>
          </a:p>
        </p:txBody>
      </p:sp>
      <p:sp>
        <p:nvSpPr>
          <p:cNvPr id="13" name="Text 11"/>
          <p:cNvSpPr txBox="1"/>
          <p:nvPr/>
        </p:nvSpPr>
        <p:spPr>
          <a:xfrm>
            <a:off x="640080" y="6355080"/>
            <a:ext cx="10911535" cy="274320"/>
          </a:xfrm>
          <a:prstGeom prst="rect">
            <a:avLst/>
          </a:prstGeom>
          <a:noFill/>
          <a:ln/>
        </p:spPr>
        <p:txBody>
          <a:bodyPr wrap="square" lIns="0" tIns="0" rIns="0" bIns="0" rtlCol="0" anchor="ctr"/>
          <a:lstStyle/>
          <a:p>
            <a:pPr indent="0" marL="0">
              <a:buNone/>
            </a:pPr>
            <a:r>
              <a:rPr lang="en-US" sz="1100" dirty="0">
                <a:solidFill>
                  <a:srgbClr val="9FB0C8"/>
                </a:solidFill>
                <a:latin typeface="Calibri" pitchFamily="34" charset="0"/>
                <a:ea typeface="Calibri" pitchFamily="34" charset="-122"/>
                <a:cs typeface="Calibri" pitchFamily="34" charset="-120"/>
              </a:rPr>
              <a:t>DomusFM reproduction · 23 · Full results: results/domusfm_corpus_fixed/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DomusFM Reproduction: Results</dc:title>
  <dc:subject>PptxGenJS Presentation</dc:subject>
  <dc:creator>PptxGenJS</dc:creator>
  <cp:lastModifiedBy>PptxGenJS</cp:lastModifiedBy>
  <cp:revision>1</cp:revision>
  <dcterms:created xsi:type="dcterms:W3CDTF">2026-09-28T05:54:01Z</dcterms:created>
  <dcterms:modified xsi:type="dcterms:W3CDTF">2026-09-28T05:54:01Z</dcterms:modified>
</cp:coreProperties>
</file>